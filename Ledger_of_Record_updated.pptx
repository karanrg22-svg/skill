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8" r:id="rId19"/>
    <p:sldId id="263" r:id="rId9"/>
    <p:sldId id="264" r:id="rId10"/>
    <p:sldId id="265" r:id="rId11"/>
    <p:sldId id="267" r:id="rId18"/>
    <p:sldId id="266" r:id="rId12"/>
    <p:sldId id="269"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67" d="100"/>
          <a:sy n="67" d="100"/>
        </p:scale>
        <p:origin x="644" y="40"/>
      </p:cViewPr>
      <p:guideLst/>
    </p:cSldViewPr>
  </p:slideViewPr>
  <p:notesTextViewPr>
    <p:cViewPr>
      <p:scale>
        <a:sx n="1" d="1"/>
        <a:sy n="1" d="1"/>
      </p:scale>
      <p:origin x="0" y="0"/>
    </p:cViewPr>
  </p:notesTextViewPr>
  <p:notesViewPr>
    <p:cSldViewPr snapToGrid="0">
      <p:cViewPr varScale="1">
        <p:scale>
          <a:sx n="50" d="100"/>
          <a:sy n="50" d="100"/>
        </p:scale>
        <p:origin x="2708" y="2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3.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8.xml"/><Relationship Id="rId2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4E18BC3-2222-440E-AB91-9A8CE351996B}" type="datetimeFigureOut">
              <a:rPr lang="en-US" smtClean="0"/>
              <a:t>9/13/2026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7EE36C-32F0-453E-AA58-9E3F94E74BD8}" type="slidenum">
              <a:rPr lang="en-US" smtClean="0"/>
              <a:t>‹#›</a:t>
            </a:fld>
            <a:endParaRPr lang="en-US"/>
          </a:p>
        </p:txBody>
      </p:sp>
    </p:spTree>
    <p:extLst>
      <p:ext uri="{BB962C8B-B14F-4D97-AF65-F5344CB8AC3E}">
        <p14:creationId xmlns:p14="http://schemas.microsoft.com/office/powerpoint/2010/main" val="3755773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This briefing is presented from the perspective of Apple TV+’s Digital Transformation Consultant. The central question is whether blockchain-based smart contracts can help Apple TV+ pay royalties accurately as it grows. The technology is treated as infrastructure, not hype: it gives legal and rights teams a record they can trust. The real risk is not whether it works technically, but whether the law and the organisation are ready for it.</a:t>
            </a:r>
          </a:p>
          <a:p>
            <a:r>
              <a:rPr>
                <a:latin typeface="Times New Roman"/>
              </a:rPr>
              <a:t>The briefing begins with the problem, then explains the technology in plain terms and weighs the benefits and limits. It then covers the people involved, the fit with Apple’s strategy, and the recommendations.</a:t>
            </a:r>
          </a:p>
        </p:txBody>
      </p:sp>
      <p:sp>
        <p:nvSpPr>
          <p:cNvPr id="4" name="Slide Number Placeholder 3"/>
          <p:cNvSpPr>
            <a:spLocks noGrp="1"/>
          </p:cNvSpPr>
          <p:nvPr>
            <p:ph type="sldNum" sz="quarter" idx="5"/>
          </p:nvPr>
        </p:nvSpPr>
        <p:spPr/>
        <p:txBody>
          <a:bodyPr/>
          <a:lstStyle/>
          <a:p>
            <a:fld id="{5D7EE36C-32F0-453E-AA58-9E3F94E74BD8}" type="slidenum">
              <a:rPr lang="en-US" smtClean="0"/>
              <a:t>1</a:t>
            </a:fld>
            <a:endParaRPr lang="en-US"/>
          </a:p>
        </p:txBody>
      </p:sp>
    </p:spTree>
    <p:extLst>
      <p:ext uri="{BB962C8B-B14F-4D97-AF65-F5344CB8AC3E}">
        <p14:creationId xmlns:p14="http://schemas.microsoft.com/office/powerpoint/2010/main" val="3168921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Apple TV+ is growing. It clears music rights for its shows and negotiates talent deals across the same territories, and in 2024 it hired a licensing executive to take its originals to other platforms (9to5Mac, 2024). Every new platform and territory adds more parties and more rights windows, and Legal, Rights Ops and Finance still reconcile most of this by hand. The question is how Apple TV+ keeps payments accurate and trusted as it grows, instead of paying for disputes afterwards.</a:t>
            </a:r>
          </a:p>
          <a:p>
            <a:r>
              <a:rPr>
                <a:latin typeface="Times New Roman"/>
              </a:rPr>
              <a:t>The music industry shows what can go wrong, so it is used here as an example. The Mechanical Licensing Collective is holding over $424 million in streaming royalties that were collected but never matched to the people owed them (Billboard, 2023). Sharp (2023) argues this is what manual matching looks like when there are too many rights holders and territories. That is a music figure, not Apple TV+’s own loss. What carries over is the pattern: manual matching breaks down as the number of parties grows.</a:t>
            </a:r>
          </a:p>
          <a:p>
            <a:r>
              <a:rPr>
                <a:latin typeface="Times New Roman"/>
              </a:rPr>
              <a:t>Disputes also take a long time to settle. The Copyright Royalty Board set a streaming rate in 2018, it was appealed within months, and it was not final until August 2023 (U.S. Copyright Royalty Board, 2023). A private dispute across several countries has no referee like that.</a:t>
            </a:r>
          </a:p>
          <a:p>
            <a:r>
              <a:rPr>
                <a:latin typeface="Times New Roman"/>
              </a:rPr>
              <a:t>It could be argued that this is a music problem, not a film and TV one. But Apple TV+ clears music rights and talent deals in the same territories, so the same structure applies, and it grows with the licensing plan. Before any pilot, therefore, Apple TV+ should measure its own dispute rate and reconciliation cost, so that any benefit claimed later can be checked against a real baseline.</a:t>
            </a:r>
          </a:p>
        </p:txBody>
      </p:sp>
      <p:sp>
        <p:nvSpPr>
          <p:cNvPr id="4" name="Slide Number Placeholder 3"/>
          <p:cNvSpPr>
            <a:spLocks noGrp="1"/>
          </p:cNvSpPr>
          <p:nvPr>
            <p:ph type="sldNum" sz="quarter" idx="5"/>
          </p:nvPr>
        </p:nvSpPr>
        <p:spPr/>
        <p:txBody>
          <a:bodyPr/>
          <a:lstStyle/>
          <a:p>
            <a:fld id="{5D7EE36C-32F0-453E-AA58-9E3F94E74BD8}" type="slidenum">
              <a:rPr lang="en-US" smtClean="0"/>
              <a:t>2</a:t>
            </a:fld>
            <a:endParaRPr lang="en-US"/>
          </a:p>
        </p:txBody>
      </p:sp>
    </p:spTree>
    <p:extLst>
      <p:ext uri="{BB962C8B-B14F-4D97-AF65-F5344CB8AC3E}">
        <p14:creationId xmlns:p14="http://schemas.microsoft.com/office/powerpoint/2010/main" val="6308717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A blockchain has three ideas. First, blocks. Each record sits in a block linked to the one before it, so if an old record is changed, the chain breaks and everyone can see it. Second, shared copies. Talent, rights holders and Apple TV+ each hold a copy, so nobody has to simply trust one administrator. Third, the smart contract. The licensing rules are written as code, so when a rights window opens the royalty calculation and payment can start without anyone checking by hand.</a:t>
            </a:r>
          </a:p>
          <a:p>
            <a:r>
              <a:rPr>
                <a:latin typeface="Times New Roman"/>
              </a:rPr>
              <a:t>A fair question is why this is not simply a better rights database. The problem with a normal database is that everyone has to trust whoever runs it, and in a multi-party deal that is often one of the counterparties. A shared ledger lets each party check the record for themselves. Zhao and O’Mahony (2018) built a working prototype for music rights, so the approach is known to be workable. García et al. (2023) say research has moved on from whether it works to the legal and business questions, which is where this briefing sits. But a shared ledger is only useful if the other parties actually join it. Its value depends on talent and rights holders taking part, which is as much a relationship job as a technical one.</a:t>
            </a:r>
          </a:p>
          <a:p>
            <a:r>
              <a:rPr>
                <a:latin typeface="Times New Roman"/>
              </a:rPr>
              <a:t>For a definition, Iansiti and Lakhani (2017) describe an open, distributed ledger that records transactions between two parties in a way that can be verified and cannot be changed, and that can be programmed to trigger transactions automatically. They call it a foundational technology, like the internet, which changes things slowly rather than overnight. That fits here. Apple TV+ is not replacing its business. It is changing how a record is shared.</a:t>
            </a:r>
          </a:p>
        </p:txBody>
      </p:sp>
      <p:sp>
        <p:nvSpPr>
          <p:cNvPr id="4" name="Slide Number Placeholder 3"/>
          <p:cNvSpPr>
            <a:spLocks noGrp="1"/>
          </p:cNvSpPr>
          <p:nvPr>
            <p:ph type="sldNum" sz="quarter" idx="5"/>
          </p:nvPr>
        </p:nvSpPr>
        <p:spPr/>
        <p:txBody>
          <a:bodyPr/>
          <a:lstStyle/>
          <a:p>
            <a:fld id="{5D7EE36C-32F0-453E-AA58-9E3F94E74BD8}" type="slidenum">
              <a:rPr lang="en-US" smtClean="0"/>
              <a:t>3</a:t>
            </a:fld>
            <a:endParaRPr lang="en-US"/>
          </a:p>
        </p:txBody>
      </p:sp>
    </p:spTree>
    <p:extLst>
      <p:ext uri="{BB962C8B-B14F-4D97-AF65-F5344CB8AC3E}">
        <p14:creationId xmlns:p14="http://schemas.microsoft.com/office/powerpoint/2010/main" val="34028268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The key point is that the contract does not wait for someone to enforce it. The trigger sits inside the ledger. When a rights window opens in a territory, the calculation and payment can start right then. At the moment, the EU, APAC and US windows open on different dates, and each one needs someone to confirm it and someone to pay it.</a:t>
            </a:r>
          </a:p>
          <a:p>
            <a:r>
              <a:rPr>
                <a:latin typeface="Times New Roman"/>
              </a:rPr>
              <a:t>Williamson’s (1979) transaction cost economics helps explain why that matters. The idea is that firms organise a deal so that contracting costs stay low, including the cost of monitoring and enforcing it. Checking that a window has opened is a monitoring cost, so automating the trigger changes how the deal is governed, not just how fast it runs. But the theory cuts both ways. Writing terms as code, auditing the code and running the platform are costs too, so the ledger only pays off where the monitoring it saves is worth more than that. That points to territories with frequent, standard payments, and away from rare, heavily negotiated deals. In practice, Apple TV+ can count the saving as fewer manual confirmation steps per territory.</a:t>
            </a:r>
          </a:p>
          <a:p>
            <a:r>
              <a:rPr>
                <a:latin typeface="Times New Roman"/>
              </a:rPr>
              <a:t>There is one limit. Williamson can show the ledger may be a cheaper way to govern a deal, but not whether a court in every country would accept an automatic payment as legally binding. That legal gap is what the next slides deal with.</a:t>
            </a:r>
          </a:p>
        </p:txBody>
      </p:sp>
      <p:sp>
        <p:nvSpPr>
          <p:cNvPr id="4" name="Slide Number Placeholder 3"/>
          <p:cNvSpPr>
            <a:spLocks noGrp="1"/>
          </p:cNvSpPr>
          <p:nvPr>
            <p:ph type="sldNum" sz="quarter" idx="5"/>
          </p:nvPr>
        </p:nvSpPr>
        <p:spPr/>
        <p:txBody>
          <a:bodyPr/>
          <a:lstStyle/>
          <a:p>
            <a:fld id="{5D7EE36C-32F0-453E-AA58-9E3F94E74BD8}" type="slidenum">
              <a:rPr lang="en-US" smtClean="0"/>
              <a:t>4</a:t>
            </a:fld>
            <a:endParaRPr lang="en-US"/>
          </a:p>
        </p:txBody>
      </p:sp>
    </p:spTree>
    <p:extLst>
      <p:ext uri="{BB962C8B-B14F-4D97-AF65-F5344CB8AC3E}">
        <p14:creationId xmlns:p14="http://schemas.microsoft.com/office/powerpoint/2010/main" val="17465115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The slide sets the benefits and the limits side by side. The benefits are fewer errors and disputes, because automatic triggers take away discretion over when and how royalties are paid; one record that everyone can audit; and faster payment that scales, because a new territory just adds a trigger. The limits are legal enforceability, cost and integration, and skills and coding risk.</a:t>
            </a:r>
          </a:p>
          <a:p>
            <a:r>
              <a:rPr>
                <a:latin typeface="Times New Roman"/>
              </a:rPr>
              <a:t>Jensen and Meckling’s (1976) agency theory explains the first benefit. Agency costs appear when someone hands decisions to another party whose interests may differ. Taking discretion out of the payment calculation reduces that cost, and the $424 million on slide two is really an example of it. But the theory only goes so far. Removing discretion helps with routine payments, yet many royalty disputes come from unclear terms, and code cannot fix unclear terms.</a:t>
            </a:r>
          </a:p>
          <a:p>
            <a:r>
              <a:rPr>
                <a:latin typeface="Times New Roman"/>
              </a:rPr>
              <a:t>The biggest limit is legal, not technical. A payment can execute correctly and still not be legally binding if someone disputes the underlying terms (Werbach and Cornell, 2017; Levy, 2017). Turning contract terms into code also creates a smaller new risk, because whoever translates them can make a mistake. That is why slide eleven has a specific control for it.</a:t>
            </a:r>
          </a:p>
          <a:p>
            <a:r>
              <a:rPr>
                <a:latin typeface="Times New Roman"/>
              </a:rPr>
              <a:t>On cost and skills, Deloitte’s 2019 Global Blockchain Survey found that 28% of executives cite uncertain return on investment and 28% cite a lack of in-house skills (figures taken from secondary coverage). These matter for Apple TV+ too. The ledger has to connect to the contract and finance systems already in use, or it becomes a fourth record. And someone has to translate legal terms into code, which is where lawyers and developers can talk past each other. Each limit therefore needs an answer, and the later slides give one: sign-off for the coding risk, a phased rollout for enforceability, and a one-territory pilot to test integration.</a:t>
            </a:r>
          </a:p>
          <a:p>
            <a:r>
              <a:rPr>
                <a:latin typeface="Times New Roman"/>
              </a:rPr>
              <a:t>Finally, timing. Gartner’s 2024 Hype Cycle for Web3 and Blockchain put most blockchain technologies past the peak and sliding into the Trough of Disillusionment, with smart contracts just entering it. For Apple TV+ that means a staged pilot, not a big launch. Gartner may not publish another blockchain cycle, and its 2025 emerging-technologies cycle covers tokenisation and smart contracts under programmable money, as part of Autonomous Business. The technology works, but the legal and business setting is still maturing, so the case rests on narrow, well-defined payment rules, not on blockchain in general.</a:t>
            </a:r>
          </a:p>
        </p:txBody>
      </p:sp>
      <p:sp>
        <p:nvSpPr>
          <p:cNvPr id="4" name="Slide Number Placeholder 3"/>
          <p:cNvSpPr>
            <a:spLocks noGrp="1"/>
          </p:cNvSpPr>
          <p:nvPr>
            <p:ph type="sldNum" sz="quarter" idx="5"/>
          </p:nvPr>
        </p:nvSpPr>
        <p:spPr/>
        <p:txBody>
          <a:bodyPr/>
          <a:lstStyle/>
          <a:p>
            <a:fld id="{5D7EE36C-32F0-453E-AA58-9E3F94E74BD8}" type="slidenum">
              <a:rPr lang="en-US" smtClean="0"/>
              <a:t>5</a:t>
            </a:fld>
            <a:endParaRPr lang="en-US"/>
          </a:p>
        </p:txBody>
      </p:sp>
    </p:spTree>
    <p:extLst>
      <p:ext uri="{BB962C8B-B14F-4D97-AF65-F5344CB8AC3E}">
        <p14:creationId xmlns:p14="http://schemas.microsoft.com/office/powerpoint/2010/main" val="2889686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Right now, three teams each keep their own version of the same royalty information. Legal holds the contract terms, Rights Ops tracks territories and windows, and Finance holds the payments. They only check against each other from time to time. A shared ledger does not just make that check faster. It removes most of the need for it.</a:t>
            </a:r>
          </a:p>
          <a:p>
            <a:r>
              <a:rPr>
                <a:latin typeface="Times New Roman"/>
              </a:rPr>
              <a:t>The work itself changes, not only the speed. Legal stops reviewing after the event and starts checking terms as they are written into the system. Rights Ops stops chasing people to confirm a window has opened and watches the ledger triggers instead. Finance stops sorting out disputed claims and audits a record that is already reconciled. That is a real change in skills, so the concerns on the next slide are not just resistance to change.</a:t>
            </a:r>
          </a:p>
          <a:p>
            <a:r>
              <a:rPr>
                <a:latin typeface="Times New Roman"/>
              </a:rPr>
              <a:t>On structure and culture, the proposal is one small team with a single named owner in place of three separate reconciliations. Culturally, people have to trust a record they did not create themselves, and that takes training and shared accountability.</a:t>
            </a:r>
          </a:p>
          <a:p>
            <a:r>
              <a:rPr>
                <a:latin typeface="Times New Roman"/>
              </a:rPr>
              <a:t>Porter’s (1985) value chain shows where the ledger has its effect. In technology development, royalty rules become tested code that Legal and engineers sign off together. In inbound logistics, which for a streamer means receiving content and talent rights, windows and payment terms come from one shared record instead of being re-confirmed by hand in each territory. Porter’s point is that the benefit is spread across activities, which is why one named owner matters. Without one, each function improves its own step and the ledger becomes a fourth record. This makes it an organisational design choice, not only a technology choice.</a:t>
            </a:r>
          </a:p>
        </p:txBody>
      </p:sp>
      <p:sp>
        <p:nvSpPr>
          <p:cNvPr id="4" name="Slide Number Placeholder 3"/>
          <p:cNvSpPr>
            <a:spLocks noGrp="1"/>
          </p:cNvSpPr>
          <p:nvPr>
            <p:ph type="sldNum" sz="quarter" idx="5"/>
          </p:nvPr>
        </p:nvSpPr>
        <p:spPr/>
        <p:txBody>
          <a:bodyPr/>
          <a:lstStyle/>
          <a:p>
            <a:fld id="{5D7EE36C-32F0-453E-AA58-9E3F94E74BD8}" type="slidenum">
              <a:rPr lang="en-US" smtClean="0"/>
              <a:t>6</a:t>
            </a:fld>
            <a:endParaRPr lang="en-US"/>
          </a:p>
        </p:txBody>
      </p:sp>
    </p:spTree>
    <p:extLst>
      <p:ext uri="{BB962C8B-B14F-4D97-AF65-F5344CB8AC3E}">
        <p14:creationId xmlns:p14="http://schemas.microsoft.com/office/powerpoint/2010/main" val="3143013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The focus is legal and rights teams. They are not against change by habit. They are the people who would have to answer to a regulator or a court if something went wrong, so their concerns are professional ones.</a:t>
            </a:r>
          </a:p>
          <a:p>
            <a:r>
              <a:rPr>
                <a:latin typeface="Times New Roman"/>
              </a:rPr>
              <a:t>There are three. The first is regulation: which country’s law applies to a cross-border smart-contract payment dispute, and an unchangeable ledger can clash with GDPR rights to correct or delete personal data (European Parliament and Council, 2016; Finck, 2018). The second is enforceability. Correct execution does not guarantee a binding payment, and Werbach and Cornell (2017) and Levy (2017) both argue that smart contracts do not replace contract law. The third is integration. The ledger has to work with the contract and finance systems already in use, or it recreates the three-way reconciliation problem.</a:t>
            </a:r>
          </a:p>
          <a:p>
            <a:r>
              <a:rPr>
                <a:latin typeface="Times New Roman"/>
              </a:rPr>
              <a:t>Underneath all three is the same gap: there is little settled case law on smart-contract royalties. Legal teams are being asked to approve something the law has not caught up with.</a:t>
            </a:r>
          </a:p>
          <a:p>
            <a:r>
              <a:rPr>
                <a:latin typeface="Times New Roman"/>
              </a:rPr>
              <a:t>The response is about sequencing, not reassurance. Start in territories where digital-contract rules are clearer, keep personal data off the ledger, pilot in one territory with Legal in the design team, and keep a standing legal review as territories are added. The written contract stays the master and the ledger just carries it out. This follows from Werbach and Cornell: the ledger can only run a contract the law already recognises. Legal should therefore be a design authority, not a late reviewer, and its approval is the real gate for each new territory.</a:t>
            </a:r>
          </a:p>
        </p:txBody>
      </p:sp>
      <p:sp>
        <p:nvSpPr>
          <p:cNvPr id="4" name="Slide Number Placeholder 3"/>
          <p:cNvSpPr>
            <a:spLocks noGrp="1"/>
          </p:cNvSpPr>
          <p:nvPr>
            <p:ph type="sldNum" sz="quarter" idx="5"/>
          </p:nvPr>
        </p:nvSpPr>
        <p:spPr/>
        <p:txBody>
          <a:bodyPr/>
          <a:lstStyle/>
          <a:p>
            <a:fld id="{5D7EE36C-32F0-453E-AA58-9E3F94E74BD8}" type="slidenum">
              <a:rPr lang="en-US" smtClean="0"/>
              <a:t>7</a:t>
            </a:fld>
            <a:endParaRPr lang="en-US"/>
          </a:p>
        </p:txBody>
      </p:sp>
    </p:spTree>
    <p:extLst>
      <p:ext uri="{BB962C8B-B14F-4D97-AF65-F5344CB8AC3E}">
        <p14:creationId xmlns:p14="http://schemas.microsoft.com/office/powerpoint/2010/main" val="5103692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a:latin typeface="Times New Roman"/>
              </a:rPr>
              <a:t>The idea on this slide is simple. Every verified payment is a small deposit of trust with talent, and that trust is tied to how quickly Apple TV+ can license. If rights holders see payments that are accurate, on time and traceable, they have less reason to hesitate over the next deal.</a:t>
            </a:r>
          </a:p>
          <a:p>
            <a:r>
              <a:rPr>
                <a:latin typeface="Times New Roman"/>
              </a:rPr>
              <a:t>This ties to Apple’s strategy. Apple TV+ has committed to expanding third-party licensing, with an executive hired in 2024 (9to5Mac, 2024). As partners and territories grow, it needs a system that scales without disputes growing at the same rate. That makes the ledger more a condition of the strategy than a bonus. There are two links. On talent retention, originals draw people into the wider Services ecosystem, and creators who can verify every payment have less reason to take their next project elsewhere. On agility, if partners already trust the record, adding a platform or a territory means adding a trigger, not starting a new reconciliation.</a:t>
            </a:r>
          </a:p>
          <a:p>
            <a:r>
              <a:rPr>
                <a:latin typeface="Times New Roman"/>
              </a:rPr>
              <a:t>This is a resource-based argument rather than a technology one. Accurate payments build a track record that rivals cannot simply buy. But it cuts both ways. One visible error damages trust faster than many correct payments build it, so the sign-off controls on slide eleven protect the strategy as well as the money. The link can also be tested: do dispute numbers fall, and can new territories and partners be added faster?</a:t>
            </a:r>
          </a:p>
          <a:p>
            <a:r>
              <a:rPr>
                <a:latin typeface="Times New Roman"/>
              </a:rPr>
              <a:t>One assumption needs checking. The ledger is only a differentiator while competitors do not have one. Whether the advantage lasts is the subject of the next slide.</a:t>
            </a:r>
          </a:p>
        </p:txBody>
      </p:sp>
      <p:sp>
        <p:nvSpPr>
          <p:cNvPr id="4" name="Slide Number Placeholder 3"/>
          <p:cNvSpPr>
            <a:spLocks noGrp="1"/>
          </p:cNvSpPr>
          <p:nvPr>
            <p:ph type="sldNum" sz="quarter" idx="5"/>
          </p:nvPr>
        </p:nvSpPr>
        <p:spPr/>
        <p:txBody>
          <a:bodyPr/>
          <a:lstStyle/>
          <a:p>
            <a:fld id="{5D7EE36C-32F0-453E-AA58-9E3F94E74BD8}" type="slidenum">
              <a:rPr lang="en-US" smtClean="0"/>
              <a:t>8</a:t>
            </a:fld>
            <a:endParaRPr lang="en-US"/>
          </a:p>
        </p:txBody>
      </p:sp>
    </p:spTree>
    <p:extLst>
      <p:ext uri="{BB962C8B-B14F-4D97-AF65-F5344CB8AC3E}">
        <p14:creationId xmlns:p14="http://schemas.microsoft.com/office/powerpoint/2010/main" val="1674104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a:latin typeface="Times New Roman"/>
              </a:rPr>
              <a:t>Being early is a real advantage, but staying ahead is a different claim, and the evidence does not support it without qualification.</a:t>
            </a:r>
          </a:p>
          <a:p>
            <a:r>
              <a:rPr>
                <a:latin typeface="Times New Roman"/>
              </a:rPr>
              <a:t>DiMaggio and Powell’s (1983) institutional isomorphism says organisations in the same field become more alike over time, through pressure from regulators, copying under uncertainty, and professional norms. Copying could happen if a rival simply follows Apple TV+. Regulators could also push for more transparent royalty reporting, as the Copyright Royalty Board cycle on slide two suggests. Since the technology is easy to copy, only the organisation and the relationships can be a lasting source of advantage.</a:t>
            </a:r>
          </a:p>
          <a:p>
            <a:r>
              <a:rPr>
                <a:latin typeface="Times New Roman"/>
              </a:rPr>
              <a:t>There is a fair counterargument. Talent already on Apple’s ledger has a payment history and little reason to leave just because a rival adopts something similar. The technology advantage may therefore fade while the relationship advantage lasts longer. That is the claim made here: the advantage is built on relationships and builds up over time. It is not built on technology. Trust is also lopsided. Talent will judge Apple TV+ on its worst payment, not its average one, so the advantage is only as strong as the error controls on slide eleven. The ledger is therefore treated as the foundation of a relationship strategy, not the advantage itself, and the position should be reviewed every year.</a:t>
            </a:r>
          </a:p>
          <a:p>
            <a:r>
              <a:rPr>
                <a:latin typeface="Times New Roman"/>
              </a:rPr>
              <a:t>Using Barney’s (1991) VRIO test: is it valuable? Yes, mainly because it means fewer disputes. Is it rare? Yes, for now. Searches found no major video streamer running a rights ledger, only music efforts such as Spotify’s 2017 purchase of Mediachain and vendor platforms like Tech Mahindra’s bCRMS. That is not proof that none exist. Is it hard to imitate? The code is easy to copy. The payment history is not. Is Apple TV+ organised to capture it? Not yet. A named owner and team are proposed on slide six, but dual sign-off and a standing legal review still need to be set up, so this is the weakest test today. Barney assumes a stable resource, but here the record of payments grows with use, so the advantage depends on starting early and running without visible errors. The verdict is that the advantage is temporary until the organisation and the trust are built.</a:t>
            </a:r>
          </a:p>
        </p:txBody>
      </p:sp>
      <p:sp>
        <p:nvSpPr>
          <p:cNvPr id="4" name="Slide Number Placeholder 3"/>
          <p:cNvSpPr>
            <a:spLocks noGrp="1"/>
          </p:cNvSpPr>
          <p:nvPr>
            <p:ph type="sldNum" sz="quarter" idx="5"/>
          </p:nvPr>
        </p:nvSpPr>
        <p:spPr/>
        <p:txBody>
          <a:bodyPr/>
          <a:lstStyle/>
          <a:p>
            <a:fld id="{5D7EE36C-32F0-453E-AA58-9E3F94E74BD8}" type="slidenum">
              <a:rPr lang="en-US" smtClean="0"/>
              <a:t>9</a:t>
            </a:fld>
            <a:endParaRPr lang="en-US"/>
          </a:p>
        </p:txBody>
      </p:sp>
    </p:spTree>
    <p:extLst>
      <p:ext uri="{BB962C8B-B14F-4D97-AF65-F5344CB8AC3E}">
        <p14:creationId xmlns:p14="http://schemas.microsoft.com/office/powerpoint/2010/main" val="14669842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There are three risks, each with its own cause and its own fix, but they affect each other.</a:t>
            </a:r>
          </a:p>
          <a:p>
            <a:r>
              <a:rPr>
                <a:latin typeface="Times New Roman"/>
              </a:rPr>
              <a:t>The first is data privacy. Ledger entries can hold sensitive commercial data or personal data, and some laws let people correct or delete their data, which clashes with a ledger that cannot be changed (European Parliament and Council, 2016; Finck, 2018). The fix is in the design: keep personal data off the ledger and record only a verification hash.</a:t>
            </a:r>
          </a:p>
          <a:p>
            <a:r>
              <a:rPr>
                <a:latin typeface="Times New Roman"/>
              </a:rPr>
              <a:t>The second is cross-border regulation. There is no settled international standard for enforcing smart-contract royalties. The fix is the phased rollout from slide seven, starting where digital-contract law is clearer. This is the risk Apple TV+ cannot fully control, which is why the order of rollout matters.</a:t>
            </a:r>
          </a:p>
          <a:p>
            <a:r>
              <a:rPr>
                <a:latin typeface="Times New Roman"/>
              </a:rPr>
              <a:t>The third is smart-contract error, and it is the most serious. It connects to the coding gap on slide five. A wrong term in the code keeps paying the wrong party until someone notices, so legal and technical sign-off should be required before go-live, together with a manual override and a dispute freeze. The risks interact. An error is harder to fix on a ledger that cannot be changed, and fixing it may involve personal data. The controls therefore work as a set: personal data kept off the ledger, sign-off, and a freeze, each covering a gap in the others. The practical test is whether Apple TV+ can find and stop a wrong payment before it reaches talent, and the pilot can rehearse that before go-live.</a:t>
            </a:r>
          </a:p>
        </p:txBody>
      </p:sp>
      <p:sp>
        <p:nvSpPr>
          <p:cNvPr id="4" name="Slide Number Placeholder 3"/>
          <p:cNvSpPr>
            <a:spLocks noGrp="1"/>
          </p:cNvSpPr>
          <p:nvPr>
            <p:ph type="sldNum" sz="quarter" idx="5"/>
          </p:nvPr>
        </p:nvSpPr>
        <p:spPr/>
        <p:txBody>
          <a:bodyPr/>
          <a:lstStyle/>
          <a:p>
            <a:fld id="{5D7EE36C-32F0-453E-AA58-9E3F94E74BD8}" type="slidenum">
              <a:rPr lang="en-US" smtClean="0"/>
              <a:t>10</a:t>
            </a:fld>
            <a:endParaRPr lang="en-US"/>
          </a:p>
        </p:txBody>
      </p:sp>
    </p:spTree>
    <p:extLst>
      <p:ext uri="{BB962C8B-B14F-4D97-AF65-F5344CB8AC3E}">
        <p14:creationId xmlns:p14="http://schemas.microsoft.com/office/powerpoint/2010/main" val="18936553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Slide two started with a $424 million problem and a choice: fix royalty accuracy properly, or keep paying for disputes. The answer is yes, fix it, but only if the ledger is treated as a legal and organisational commitment, not a technical fix left to run on its own.</a:t>
            </a:r>
          </a:p>
          <a:p>
            <a:r>
              <a:rPr>
                <a:latin typeface="Times New Roman"/>
              </a:rPr>
              <a:t>That depends on three things. For enforceability, a phased rollout by jurisdiction, as on slide seven. For coding risk, dual sign-off, as on slide eleven. And for competitive advantage, it has to be accepted that the advantage is relationship-based and time-limited, as on slide ten, because competitors will be pushed to follow.</a:t>
            </a:r>
          </a:p>
          <a:p>
            <a:r>
              <a:rPr>
                <a:latin typeface="Times New Roman"/>
              </a:rPr>
              <a:t>Against the three questions set at the start: on feasibility, the mechanism cuts real monitoring and agency costs but adds a coding risk. On people and processes, the concerns of legal and rights teams are legitimate, and they need governance, not reassurance. On lasting advantage, the edge is accumulated trust and payment history, which Apple TV+ has to keep building. The conclusion is therefore conditional, not enthusiastic.</a:t>
            </a:r>
          </a:p>
          <a:p>
            <a:r>
              <a:rPr>
                <a:latin typeface="Times New Roman"/>
              </a:rPr>
              <a:t>In practice, three steps follow. First, measure the current dispute rate and reconciliation cost. Second, pick one territory with clearer digital-contract rules and run the pilot with Legal in the design team. Third, judge it on fewer disputes, faster payments and legal sign-off, not just technical success, before moving to the next territory. The limits of the analysis should also be clear. The evidence on competitors is thin, the Deloitte figures cover many industries, and the music example is an analogy. That is why a governed pilot with clear tests is recommended, not a guaranteed return.</a:t>
            </a:r>
          </a:p>
        </p:txBody>
      </p:sp>
      <p:sp>
        <p:nvSpPr>
          <p:cNvPr id="4" name="Slide Number Placeholder 3"/>
          <p:cNvSpPr>
            <a:spLocks noGrp="1"/>
          </p:cNvSpPr>
          <p:nvPr>
            <p:ph type="sldNum" sz="quarter" idx="5"/>
          </p:nvPr>
        </p:nvSpPr>
        <p:spPr/>
        <p:txBody>
          <a:bodyPr/>
          <a:lstStyle/>
          <a:p>
            <a:fld id="{5D7EE36C-32F0-453E-AA58-9E3F94E74BD8}" type="slidenum">
              <a:rPr lang="en-US" smtClean="0"/>
              <a:t>11</a:t>
            </a:fld>
            <a:endParaRPr lang="en-US"/>
          </a:p>
        </p:txBody>
      </p:sp>
    </p:spTree>
    <p:extLst>
      <p:ext uri="{BB962C8B-B14F-4D97-AF65-F5344CB8AC3E}">
        <p14:creationId xmlns:p14="http://schemas.microsoft.com/office/powerpoint/2010/main" val="1730434069"/>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Times New Roman"/>
              </a:rPr>
              <a:t>There are three recommendations, and each one turns a theory from earlier into something with an owner.</a:t>
            </a:r>
          </a:p>
          <a:p>
            <a:r>
              <a:rPr>
                <a:latin typeface="Times New Roman"/>
              </a:rPr>
              <a:t>First, set up a standing governance review. Transaction cost economics says to keep checking that the system still lowers contracting costs as new territories and rights types are added. Second, require dual sign-off before go-live. Agency theory warns that translating terms into code creates a new risk, and two sign-offs control it. Third, invest in relationships, not just technology. Institutional isomorphism says competitors will copy the technology, so the first-mover edge is temporary by design. What lasts is trust built through visible payment history and clear timelines. None of these costs much compared with the technology, and they are where management effort changes the outcome.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Times New Roman"/>
              </a:rPr>
              <a:t>The answer is yes, legal and rights teams can be brought along, but only if three things happen. Legal helps shape the design, a one-territory pilot proves the value, and people are trained before go-live.</a:t>
            </a:r>
          </a:p>
          <a:p>
            <a:r>
              <a:rPr>
                <a:latin typeface="Times New Roman"/>
              </a:rPr>
              <a:t>Davis’s (1989) technology acceptance model says people adopt a tool if it seems useful and easy to use. The ledger will seem useful if it answers the concerns from slide seven: a record that can be shown to a regulator, the written contract kept as master, and no extra version of the truth. It will seem hard to use if it brings unfamiliar tools, coding and awkward system links, and easy if it plugs into current systems, needs no coding from users, and gives a simple read-only view. One more point is that these teams carry personal accountability, so trust in the output matters as much as ease of use. That is why the barrier box focuses on the ability to stop a payment.</a:t>
            </a:r>
          </a:p>
          <a:p>
            <a:r>
              <a:rPr>
                <a:latin typeface="Times New Roman"/>
              </a:rPr>
              <a:t>For change, three of Kotter’s (1996) eight steps are used, in order. Step two, build a guiding coalition: Legal, Rights Ops and Finance sit in the design team under one named owner. Step six, create short-term wins: pilot in one territory and share the results. Step eight, anchor the change in the culture: make the quarterly review permanent. Kotter assumes there is a sponsor who can drive change, and the named owner is that person. Both models describe attitudes, though. Neither shows whether the law will accept the ledger.</a:t>
            </a:r>
          </a:p>
          <a:p>
            <a:r>
              <a:rPr>
                <a:latin typeface="Times New Roman"/>
              </a:rPr>
              <a:t>The main barrier is fear of answering for a wrongly coded payment, so the plan uses dual sign-off, a manual override and a dispute freeze. Legal, Rights Ops and Finance staff should also be trained before the pilot on how the record works, how to read a smart-contract term, and when to freeze a payment.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750A1C-FB04-490A-8257-266F5BE5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A63BF4A-7036-4342-B5DC-BAD675D60AD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0845292-36BE-4CDC-8ED2-7035DD711D0B}"/>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87847562-A877-4A45-A5B8-269789029C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E46E20-93AA-45FD-9234-1B6AD0E28386}"/>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11030856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983A88-1D49-41DB-BCE8-82DF3D48D17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B5CDFE0-09D4-4E79-BBB5-4D9043A53F46}"/>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B0D84CF-1BDF-47DA-8442-1BFF2F7BFA49}"/>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CE9E2996-391F-4F32-9789-BF54F2AB80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A8479D-B6EB-4C68-927F-D1ABF6A3C72B}"/>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30981249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5EDD81-AFA2-4D24-81EB-24B6AB9A994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4DD5EE1-9D48-48B9-B3F1-81C61673AB5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BE337BFB-B92C-4D59-BCD1-D6DD5DCA7E7A}"/>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82834C1E-E216-4345-A3C3-66113F2E95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0C9BBA-46B2-42F5-A286-3992A012EE6E}"/>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18730228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1B52A3-8AB4-43C9-9531-DBE7F8FBD86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2D187A4-0A98-4133-ADA9-F4E926297C6A}"/>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87CD23E-90EF-4A9D-9DA0-E4E8033446A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64C8C9C-19C1-4255-B662-439F02904811}"/>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6" name="Footer Placeholder 5">
            <a:extLst>
              <a:ext uri="{FF2B5EF4-FFF2-40B4-BE49-F238E27FC236}">
                <a16:creationId xmlns:a16="http://schemas.microsoft.com/office/drawing/2014/main" id="{F8FA1A8F-2107-4B69-8065-CF05A94694F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644144-010F-4E97-A3B4-55C0E07777A1}"/>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41740068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96050-B796-445A-88E0-92EA336388B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B8FCA86-37DC-4425-AF77-F2946A1196E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217950A9-FA91-43B1-A715-D7786D1DE189}"/>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9B53257-18F1-4416-97FA-4F765146B2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CD1FB526-1A41-4764-9EA1-44C8A3D92FEB}"/>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58EB8F2-883A-4D7A-9C4E-A83823F59E59}"/>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8" name="Footer Placeholder 7">
            <a:extLst>
              <a:ext uri="{FF2B5EF4-FFF2-40B4-BE49-F238E27FC236}">
                <a16:creationId xmlns:a16="http://schemas.microsoft.com/office/drawing/2014/main" id="{27BE7FBE-E6DB-44FE-BBBA-B02CE10CCC1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C5ADD4D-3FD8-4D1F-873E-6351F7462123}"/>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27078487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BEEF5-73E5-4D8F-83B4-69EC44B495F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A9E2A03-0A1A-4B45-A80B-339B6401AC02}"/>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4" name="Footer Placeholder 3">
            <a:extLst>
              <a:ext uri="{FF2B5EF4-FFF2-40B4-BE49-F238E27FC236}">
                <a16:creationId xmlns:a16="http://schemas.microsoft.com/office/drawing/2014/main" id="{667C7154-9FED-4A8B-8675-B1A574D5AB8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9EF5EE-6CAF-438F-BA04-00BEDAA9F08E}"/>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4777498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72B3E89-45E8-4D51-914F-6DE50399683D}"/>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3" name="Footer Placeholder 2">
            <a:extLst>
              <a:ext uri="{FF2B5EF4-FFF2-40B4-BE49-F238E27FC236}">
                <a16:creationId xmlns:a16="http://schemas.microsoft.com/office/drawing/2014/main" id="{E7E3D6E5-27AB-41A5-81DE-9F6337F3BD5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2AFC037-67AB-4D06-9FB8-09CD34F5D2B0}"/>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616247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E47B0F-D75A-45A5-8D33-EA77812B483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3B77E7A-AB40-4A7D-BD9C-D868EEAF18A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4D5864F-64B9-447C-8A7F-9227400F18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65BFAEA8-BF91-48E5-988A-1D71DA1A4626}"/>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6" name="Footer Placeholder 5">
            <a:extLst>
              <a:ext uri="{FF2B5EF4-FFF2-40B4-BE49-F238E27FC236}">
                <a16:creationId xmlns:a16="http://schemas.microsoft.com/office/drawing/2014/main" id="{622C09C8-2F43-43CC-9706-9A2658BB94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619408B-BEBD-46E5-9E4C-DA18F75471A6}"/>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4196007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43C15-D588-4E00-BC36-73E7142596E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53C5E05-8BC3-4F73-AB4A-C15D4F36BEF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E9AD55E-F49F-4C8E-B3ED-C01FE3890F1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94F16538-97B7-4AD9-82D6-EAF9B5EF6780}"/>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6" name="Footer Placeholder 5">
            <a:extLst>
              <a:ext uri="{FF2B5EF4-FFF2-40B4-BE49-F238E27FC236}">
                <a16:creationId xmlns:a16="http://schemas.microsoft.com/office/drawing/2014/main" id="{E4941B7E-5195-4B4D-A509-23AFCB5920F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9D749DF-869E-4FA3-A2F3-56EAE1DFDB34}"/>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1797188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4E133-55A5-4B27-9550-4D97F657EC3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5238B88-6238-4108-8861-C09A9A8439E8}"/>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E5DFC7-2A32-4B79-8BF9-D28358EF2DD0}"/>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123A1CDE-A1A2-4DB7-841F-E15BBE850D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FD7C5D-5E42-4F59-AA54-C54F5877A25B}"/>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3301208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5B23DA5-8C2D-4EBE-B284-F83B7C3A2B7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4028949-5D9C-486B-82DE-E1ADB21FD817}"/>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7730625-7934-4EDF-AB93-C9432972C11E}"/>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35512AE8-8FB1-4107-96CE-23584FF5B4A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9BFB4A-C38A-4B48-BC0F-BE58AD58DF50}"/>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22955584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62B6B-41C0-4ECA-B9C9-6E1FB613FBD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A67B138-42F5-4140-90C5-66E16C2A51F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2CC4E0-6DF8-4412-A629-CF43E74B1E4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5E335DEA-8493-4E9A-AAC9-CE1E18B6F41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C00FDC-AB4E-4D8E-B920-2699BC6F74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55841E8-F9C4-409C-9489-46320D3E221B}" type="slidenum">
              <a:rPr lang="en-US" smtClean="0"/>
              <a:t>‹#›</a:t>
            </a:fld>
            <a:endParaRPr lang="en-US"/>
          </a:p>
        </p:txBody>
      </p:sp>
    </p:spTree>
    <p:extLst>
      <p:ext uri="{BB962C8B-B14F-4D97-AF65-F5344CB8AC3E}">
        <p14:creationId xmlns:p14="http://schemas.microsoft.com/office/powerpoint/2010/main" val="5416933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0D04B22-E6BD-4B21-A21C-BD329868059F}"/>
              </a:ext>
            </a:extLst>
          </p:cNvPr>
          <p:cNvSpPr txBox="1"/>
          <p:nvPr/>
        </p:nvSpPr>
        <p:spPr>
          <a:xfrm>
            <a:off x="548640" y="1234440"/>
            <a:ext cx="11064240" cy="769441"/>
          </a:xfrm>
          <a:prstGeom prst="rect">
            <a:avLst/>
          </a:prstGeom>
          <a:noFill/>
        </p:spPr>
        <p:txBody>
          <a:bodyPr wrap="square">
            <a:spAutoFit/>
          </a:bodyPr>
          <a:lstStyle/>
          <a:p>
            <a:pPr algn="ctr"/>
            <a:r>
              <a:rPr sz="4400" b="1" i="0">
                <a:solidFill>
                  <a:srgbClr val="2A2218"/>
                </a:solidFill>
                <a:latin typeface="Times New Roman" panose="02020603050405020304" pitchFamily="18" charset="0"/>
                <a:cs typeface="Times New Roman" panose="02020603050405020304" pitchFamily="18" charset="0"/>
              </a:rPr>
              <a:t>THE LEDGER OF RECORD</a:t>
            </a:r>
          </a:p>
        </p:txBody>
      </p:sp>
      <p:sp>
        <p:nvSpPr>
          <p:cNvPr id="5" name="Oval 4">
            <a:extLst>
              <a:ext uri="{FF2B5EF4-FFF2-40B4-BE49-F238E27FC236}">
                <a16:creationId xmlns:a16="http://schemas.microsoft.com/office/drawing/2014/main" id="{B3E7EE7F-60FB-4487-96CC-B397697FE42E}"/>
              </a:ext>
            </a:extLst>
          </p:cNvPr>
          <p:cNvSpPr/>
          <p:nvPr/>
        </p:nvSpPr>
        <p:spPr>
          <a:xfrm>
            <a:off x="384048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6" name="Oval 5">
            <a:extLst>
              <a:ext uri="{FF2B5EF4-FFF2-40B4-BE49-F238E27FC236}">
                <a16:creationId xmlns:a16="http://schemas.microsoft.com/office/drawing/2014/main" id="{185F8744-376D-4318-A85C-7E00A3D4D432}"/>
              </a:ext>
            </a:extLst>
          </p:cNvPr>
          <p:cNvSpPr/>
          <p:nvPr/>
        </p:nvSpPr>
        <p:spPr>
          <a:xfrm>
            <a:off x="395199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81E5B0B5-5A53-4CF9-9BD7-F0604E28EB97}"/>
              </a:ext>
            </a:extLst>
          </p:cNvPr>
          <p:cNvSpPr/>
          <p:nvPr/>
        </p:nvSpPr>
        <p:spPr>
          <a:xfrm>
            <a:off x="406350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8" name="Oval 7">
            <a:extLst>
              <a:ext uri="{FF2B5EF4-FFF2-40B4-BE49-F238E27FC236}">
                <a16:creationId xmlns:a16="http://schemas.microsoft.com/office/drawing/2014/main" id="{EF1E3E44-281F-4B02-B638-775745694A28}"/>
              </a:ext>
            </a:extLst>
          </p:cNvPr>
          <p:cNvSpPr/>
          <p:nvPr/>
        </p:nvSpPr>
        <p:spPr>
          <a:xfrm>
            <a:off x="417501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113BAFE1-EB5F-4139-90AA-13C8C21B5501}"/>
              </a:ext>
            </a:extLst>
          </p:cNvPr>
          <p:cNvSpPr/>
          <p:nvPr/>
        </p:nvSpPr>
        <p:spPr>
          <a:xfrm>
            <a:off x="428652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82BC516D-C148-459C-BA2E-B3BAEBD3A8D0}"/>
              </a:ext>
            </a:extLst>
          </p:cNvPr>
          <p:cNvSpPr/>
          <p:nvPr/>
        </p:nvSpPr>
        <p:spPr>
          <a:xfrm>
            <a:off x="439804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8EB0471B-1D28-46EB-B0DF-B4A32A558547}"/>
              </a:ext>
            </a:extLst>
          </p:cNvPr>
          <p:cNvSpPr/>
          <p:nvPr/>
        </p:nvSpPr>
        <p:spPr>
          <a:xfrm>
            <a:off x="450955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2" name="Oval 11">
            <a:extLst>
              <a:ext uri="{FF2B5EF4-FFF2-40B4-BE49-F238E27FC236}">
                <a16:creationId xmlns:a16="http://schemas.microsoft.com/office/drawing/2014/main" id="{F41C484B-3EA8-42DF-ADE1-A35588866B1B}"/>
              </a:ext>
            </a:extLst>
          </p:cNvPr>
          <p:cNvSpPr/>
          <p:nvPr/>
        </p:nvSpPr>
        <p:spPr>
          <a:xfrm>
            <a:off x="462106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3" name="Oval 12">
            <a:extLst>
              <a:ext uri="{FF2B5EF4-FFF2-40B4-BE49-F238E27FC236}">
                <a16:creationId xmlns:a16="http://schemas.microsoft.com/office/drawing/2014/main" id="{3AC2036F-2C3D-4268-911F-9247C25DA29B}"/>
              </a:ext>
            </a:extLst>
          </p:cNvPr>
          <p:cNvSpPr/>
          <p:nvPr/>
        </p:nvSpPr>
        <p:spPr>
          <a:xfrm>
            <a:off x="473257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4" name="Oval 13">
            <a:extLst>
              <a:ext uri="{FF2B5EF4-FFF2-40B4-BE49-F238E27FC236}">
                <a16:creationId xmlns:a16="http://schemas.microsoft.com/office/drawing/2014/main" id="{69DC4AC2-6B4F-4CB2-9834-59A9F3562492}"/>
              </a:ext>
            </a:extLst>
          </p:cNvPr>
          <p:cNvSpPr/>
          <p:nvPr/>
        </p:nvSpPr>
        <p:spPr>
          <a:xfrm>
            <a:off x="484408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5" name="Oval 14">
            <a:extLst>
              <a:ext uri="{FF2B5EF4-FFF2-40B4-BE49-F238E27FC236}">
                <a16:creationId xmlns:a16="http://schemas.microsoft.com/office/drawing/2014/main" id="{32070F83-49AC-448E-8AE8-8BC3297AAF0F}"/>
              </a:ext>
            </a:extLst>
          </p:cNvPr>
          <p:cNvSpPr/>
          <p:nvPr/>
        </p:nvSpPr>
        <p:spPr>
          <a:xfrm>
            <a:off x="495560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6" name="Oval 15">
            <a:extLst>
              <a:ext uri="{FF2B5EF4-FFF2-40B4-BE49-F238E27FC236}">
                <a16:creationId xmlns:a16="http://schemas.microsoft.com/office/drawing/2014/main" id="{BB7065CB-86C0-4A96-9380-78FF3CC15ABF}"/>
              </a:ext>
            </a:extLst>
          </p:cNvPr>
          <p:cNvSpPr/>
          <p:nvPr/>
        </p:nvSpPr>
        <p:spPr>
          <a:xfrm>
            <a:off x="506711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7" name="Oval 16">
            <a:extLst>
              <a:ext uri="{FF2B5EF4-FFF2-40B4-BE49-F238E27FC236}">
                <a16:creationId xmlns:a16="http://schemas.microsoft.com/office/drawing/2014/main" id="{7A3477B8-7B7A-45C6-AD2E-9FC96C68EBEE}"/>
              </a:ext>
            </a:extLst>
          </p:cNvPr>
          <p:cNvSpPr/>
          <p:nvPr/>
        </p:nvSpPr>
        <p:spPr>
          <a:xfrm>
            <a:off x="517862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8" name="Oval 17">
            <a:extLst>
              <a:ext uri="{FF2B5EF4-FFF2-40B4-BE49-F238E27FC236}">
                <a16:creationId xmlns:a16="http://schemas.microsoft.com/office/drawing/2014/main" id="{769FAF07-A50B-4B09-86D5-8A864B7F6CB0}"/>
              </a:ext>
            </a:extLst>
          </p:cNvPr>
          <p:cNvSpPr/>
          <p:nvPr/>
        </p:nvSpPr>
        <p:spPr>
          <a:xfrm>
            <a:off x="529013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20103617-7E62-4892-B335-CECBFD3DC7DA}"/>
              </a:ext>
            </a:extLst>
          </p:cNvPr>
          <p:cNvSpPr/>
          <p:nvPr/>
        </p:nvSpPr>
        <p:spPr>
          <a:xfrm>
            <a:off x="540165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0" name="Oval 19">
            <a:extLst>
              <a:ext uri="{FF2B5EF4-FFF2-40B4-BE49-F238E27FC236}">
                <a16:creationId xmlns:a16="http://schemas.microsoft.com/office/drawing/2014/main" id="{30C0791C-4F75-4D03-9D4F-2FBE92ADDEA0}"/>
              </a:ext>
            </a:extLst>
          </p:cNvPr>
          <p:cNvSpPr/>
          <p:nvPr/>
        </p:nvSpPr>
        <p:spPr>
          <a:xfrm>
            <a:off x="551316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1" name="Oval 20">
            <a:extLst>
              <a:ext uri="{FF2B5EF4-FFF2-40B4-BE49-F238E27FC236}">
                <a16:creationId xmlns:a16="http://schemas.microsoft.com/office/drawing/2014/main" id="{230F5697-CDE1-4D02-B1BD-09AE037C9A32}"/>
              </a:ext>
            </a:extLst>
          </p:cNvPr>
          <p:cNvSpPr/>
          <p:nvPr/>
        </p:nvSpPr>
        <p:spPr>
          <a:xfrm>
            <a:off x="562467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2" name="Oval 21">
            <a:extLst>
              <a:ext uri="{FF2B5EF4-FFF2-40B4-BE49-F238E27FC236}">
                <a16:creationId xmlns:a16="http://schemas.microsoft.com/office/drawing/2014/main" id="{F47F5382-54AD-41F6-A216-3073448D9D8E}"/>
              </a:ext>
            </a:extLst>
          </p:cNvPr>
          <p:cNvSpPr/>
          <p:nvPr/>
        </p:nvSpPr>
        <p:spPr>
          <a:xfrm>
            <a:off x="573618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3" name="Oval 22">
            <a:extLst>
              <a:ext uri="{FF2B5EF4-FFF2-40B4-BE49-F238E27FC236}">
                <a16:creationId xmlns:a16="http://schemas.microsoft.com/office/drawing/2014/main" id="{FB995963-ED53-434D-815A-96B227D6304B}"/>
              </a:ext>
            </a:extLst>
          </p:cNvPr>
          <p:cNvSpPr/>
          <p:nvPr/>
        </p:nvSpPr>
        <p:spPr>
          <a:xfrm>
            <a:off x="584769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4" name="Oval 23">
            <a:extLst>
              <a:ext uri="{FF2B5EF4-FFF2-40B4-BE49-F238E27FC236}">
                <a16:creationId xmlns:a16="http://schemas.microsoft.com/office/drawing/2014/main" id="{16CED76E-26FA-4A15-8FC9-62B37F0E4857}"/>
              </a:ext>
            </a:extLst>
          </p:cNvPr>
          <p:cNvSpPr/>
          <p:nvPr/>
        </p:nvSpPr>
        <p:spPr>
          <a:xfrm>
            <a:off x="595921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5" name="Oval 24">
            <a:extLst>
              <a:ext uri="{FF2B5EF4-FFF2-40B4-BE49-F238E27FC236}">
                <a16:creationId xmlns:a16="http://schemas.microsoft.com/office/drawing/2014/main" id="{1A15C107-96C9-49F2-856C-814F7CCF8ED4}"/>
              </a:ext>
            </a:extLst>
          </p:cNvPr>
          <p:cNvSpPr/>
          <p:nvPr/>
        </p:nvSpPr>
        <p:spPr>
          <a:xfrm>
            <a:off x="607072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6" name="Oval 25">
            <a:extLst>
              <a:ext uri="{FF2B5EF4-FFF2-40B4-BE49-F238E27FC236}">
                <a16:creationId xmlns:a16="http://schemas.microsoft.com/office/drawing/2014/main" id="{0FE38F5F-18E9-459A-B6B7-B3C314ABED26}"/>
              </a:ext>
            </a:extLst>
          </p:cNvPr>
          <p:cNvSpPr/>
          <p:nvPr/>
        </p:nvSpPr>
        <p:spPr>
          <a:xfrm>
            <a:off x="618223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7" name="Oval 26">
            <a:extLst>
              <a:ext uri="{FF2B5EF4-FFF2-40B4-BE49-F238E27FC236}">
                <a16:creationId xmlns:a16="http://schemas.microsoft.com/office/drawing/2014/main" id="{D7B7E8BA-3400-4428-A9B1-D628E2FC6FDB}"/>
              </a:ext>
            </a:extLst>
          </p:cNvPr>
          <p:cNvSpPr/>
          <p:nvPr/>
        </p:nvSpPr>
        <p:spPr>
          <a:xfrm>
            <a:off x="629374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8" name="Oval 27">
            <a:extLst>
              <a:ext uri="{FF2B5EF4-FFF2-40B4-BE49-F238E27FC236}">
                <a16:creationId xmlns:a16="http://schemas.microsoft.com/office/drawing/2014/main" id="{8085438F-CC1A-4065-BB6A-596C804CDBAE}"/>
              </a:ext>
            </a:extLst>
          </p:cNvPr>
          <p:cNvSpPr/>
          <p:nvPr/>
        </p:nvSpPr>
        <p:spPr>
          <a:xfrm>
            <a:off x="640526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9" name="Oval 28">
            <a:extLst>
              <a:ext uri="{FF2B5EF4-FFF2-40B4-BE49-F238E27FC236}">
                <a16:creationId xmlns:a16="http://schemas.microsoft.com/office/drawing/2014/main" id="{9AC8FC38-B0B5-4340-9101-5AA56F792421}"/>
              </a:ext>
            </a:extLst>
          </p:cNvPr>
          <p:cNvSpPr/>
          <p:nvPr/>
        </p:nvSpPr>
        <p:spPr>
          <a:xfrm>
            <a:off x="651677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0" name="Oval 29">
            <a:extLst>
              <a:ext uri="{FF2B5EF4-FFF2-40B4-BE49-F238E27FC236}">
                <a16:creationId xmlns:a16="http://schemas.microsoft.com/office/drawing/2014/main" id="{D10175E2-9266-45D0-AF10-1CDD4D579D58}"/>
              </a:ext>
            </a:extLst>
          </p:cNvPr>
          <p:cNvSpPr/>
          <p:nvPr/>
        </p:nvSpPr>
        <p:spPr>
          <a:xfrm>
            <a:off x="662828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1" name="Oval 30">
            <a:extLst>
              <a:ext uri="{FF2B5EF4-FFF2-40B4-BE49-F238E27FC236}">
                <a16:creationId xmlns:a16="http://schemas.microsoft.com/office/drawing/2014/main" id="{DEC4F92C-A426-43F5-9EA5-372CE7A72911}"/>
              </a:ext>
            </a:extLst>
          </p:cNvPr>
          <p:cNvSpPr/>
          <p:nvPr/>
        </p:nvSpPr>
        <p:spPr>
          <a:xfrm>
            <a:off x="673979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2" name="Oval 31">
            <a:extLst>
              <a:ext uri="{FF2B5EF4-FFF2-40B4-BE49-F238E27FC236}">
                <a16:creationId xmlns:a16="http://schemas.microsoft.com/office/drawing/2014/main" id="{B311DCDB-4006-4F1E-84E0-70633D2366B1}"/>
              </a:ext>
            </a:extLst>
          </p:cNvPr>
          <p:cNvSpPr/>
          <p:nvPr/>
        </p:nvSpPr>
        <p:spPr>
          <a:xfrm>
            <a:off x="685130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3" name="Oval 32">
            <a:extLst>
              <a:ext uri="{FF2B5EF4-FFF2-40B4-BE49-F238E27FC236}">
                <a16:creationId xmlns:a16="http://schemas.microsoft.com/office/drawing/2014/main" id="{515FB23A-CE7E-4B00-9F1F-B947327448AA}"/>
              </a:ext>
            </a:extLst>
          </p:cNvPr>
          <p:cNvSpPr/>
          <p:nvPr/>
        </p:nvSpPr>
        <p:spPr>
          <a:xfrm>
            <a:off x="696282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4" name="Oval 33">
            <a:extLst>
              <a:ext uri="{FF2B5EF4-FFF2-40B4-BE49-F238E27FC236}">
                <a16:creationId xmlns:a16="http://schemas.microsoft.com/office/drawing/2014/main" id="{E9390363-26CE-4DCC-94F9-8DCB89A4AF1F}"/>
              </a:ext>
            </a:extLst>
          </p:cNvPr>
          <p:cNvSpPr/>
          <p:nvPr/>
        </p:nvSpPr>
        <p:spPr>
          <a:xfrm>
            <a:off x="707433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5" name="Oval 34">
            <a:extLst>
              <a:ext uri="{FF2B5EF4-FFF2-40B4-BE49-F238E27FC236}">
                <a16:creationId xmlns:a16="http://schemas.microsoft.com/office/drawing/2014/main" id="{0FF2156B-91D6-432F-8343-47F270324E14}"/>
              </a:ext>
            </a:extLst>
          </p:cNvPr>
          <p:cNvSpPr/>
          <p:nvPr/>
        </p:nvSpPr>
        <p:spPr>
          <a:xfrm>
            <a:off x="718584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6" name="Oval 35">
            <a:extLst>
              <a:ext uri="{FF2B5EF4-FFF2-40B4-BE49-F238E27FC236}">
                <a16:creationId xmlns:a16="http://schemas.microsoft.com/office/drawing/2014/main" id="{2E9AAE85-7FE2-4D18-BE1F-BA6EEA6B9689}"/>
              </a:ext>
            </a:extLst>
          </p:cNvPr>
          <p:cNvSpPr/>
          <p:nvPr/>
        </p:nvSpPr>
        <p:spPr>
          <a:xfrm>
            <a:off x="729735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7" name="Oval 36">
            <a:extLst>
              <a:ext uri="{FF2B5EF4-FFF2-40B4-BE49-F238E27FC236}">
                <a16:creationId xmlns:a16="http://schemas.microsoft.com/office/drawing/2014/main" id="{9E1B9412-B2E6-480D-BD85-6DB1D35E03F3}"/>
              </a:ext>
            </a:extLst>
          </p:cNvPr>
          <p:cNvSpPr/>
          <p:nvPr/>
        </p:nvSpPr>
        <p:spPr>
          <a:xfrm>
            <a:off x="740887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8" name="Oval 37">
            <a:extLst>
              <a:ext uri="{FF2B5EF4-FFF2-40B4-BE49-F238E27FC236}">
                <a16:creationId xmlns:a16="http://schemas.microsoft.com/office/drawing/2014/main" id="{7740451E-4D6B-4773-8AC9-98EAD02C3900}"/>
              </a:ext>
            </a:extLst>
          </p:cNvPr>
          <p:cNvSpPr/>
          <p:nvPr/>
        </p:nvSpPr>
        <p:spPr>
          <a:xfrm>
            <a:off x="752038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9" name="Oval 38">
            <a:extLst>
              <a:ext uri="{FF2B5EF4-FFF2-40B4-BE49-F238E27FC236}">
                <a16:creationId xmlns:a16="http://schemas.microsoft.com/office/drawing/2014/main" id="{86491C0E-BF34-47BC-8203-8CB744FAB531}"/>
              </a:ext>
            </a:extLst>
          </p:cNvPr>
          <p:cNvSpPr/>
          <p:nvPr/>
        </p:nvSpPr>
        <p:spPr>
          <a:xfrm>
            <a:off x="763189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0" name="Oval 39">
            <a:extLst>
              <a:ext uri="{FF2B5EF4-FFF2-40B4-BE49-F238E27FC236}">
                <a16:creationId xmlns:a16="http://schemas.microsoft.com/office/drawing/2014/main" id="{B73ADB26-BF44-46F2-8C88-96910B1714D0}"/>
              </a:ext>
            </a:extLst>
          </p:cNvPr>
          <p:cNvSpPr/>
          <p:nvPr/>
        </p:nvSpPr>
        <p:spPr>
          <a:xfrm>
            <a:off x="774340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1" name="Oval 40">
            <a:extLst>
              <a:ext uri="{FF2B5EF4-FFF2-40B4-BE49-F238E27FC236}">
                <a16:creationId xmlns:a16="http://schemas.microsoft.com/office/drawing/2014/main" id="{DD32512C-82B6-43CD-B147-A63F3BD44F65}"/>
              </a:ext>
            </a:extLst>
          </p:cNvPr>
          <p:cNvSpPr/>
          <p:nvPr/>
        </p:nvSpPr>
        <p:spPr>
          <a:xfrm>
            <a:off x="785491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2" name="Oval 41">
            <a:extLst>
              <a:ext uri="{FF2B5EF4-FFF2-40B4-BE49-F238E27FC236}">
                <a16:creationId xmlns:a16="http://schemas.microsoft.com/office/drawing/2014/main" id="{A1E06E9D-045B-449D-847D-018845B7C3A0}"/>
              </a:ext>
            </a:extLst>
          </p:cNvPr>
          <p:cNvSpPr/>
          <p:nvPr/>
        </p:nvSpPr>
        <p:spPr>
          <a:xfrm>
            <a:off x="796643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3" name="Oval 42">
            <a:extLst>
              <a:ext uri="{FF2B5EF4-FFF2-40B4-BE49-F238E27FC236}">
                <a16:creationId xmlns:a16="http://schemas.microsoft.com/office/drawing/2014/main" id="{04B6A25B-C3F2-4C56-8DD0-F92840826543}"/>
              </a:ext>
            </a:extLst>
          </p:cNvPr>
          <p:cNvSpPr/>
          <p:nvPr/>
        </p:nvSpPr>
        <p:spPr>
          <a:xfrm>
            <a:off x="807794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4" name="Oval 43">
            <a:extLst>
              <a:ext uri="{FF2B5EF4-FFF2-40B4-BE49-F238E27FC236}">
                <a16:creationId xmlns:a16="http://schemas.microsoft.com/office/drawing/2014/main" id="{AD8E9FB2-96E9-4EB6-9466-9E189E5D40F7}"/>
              </a:ext>
            </a:extLst>
          </p:cNvPr>
          <p:cNvSpPr/>
          <p:nvPr/>
        </p:nvSpPr>
        <p:spPr>
          <a:xfrm>
            <a:off x="818945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5" name="Oval 44">
            <a:extLst>
              <a:ext uri="{FF2B5EF4-FFF2-40B4-BE49-F238E27FC236}">
                <a16:creationId xmlns:a16="http://schemas.microsoft.com/office/drawing/2014/main" id="{93FCA801-77DC-4881-9589-BAF8063E1D44}"/>
              </a:ext>
            </a:extLst>
          </p:cNvPr>
          <p:cNvSpPr/>
          <p:nvPr/>
        </p:nvSpPr>
        <p:spPr>
          <a:xfrm>
            <a:off x="830096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6" name="TextBox 45">
            <a:extLst>
              <a:ext uri="{FF2B5EF4-FFF2-40B4-BE49-F238E27FC236}">
                <a16:creationId xmlns:a16="http://schemas.microsoft.com/office/drawing/2014/main" id="{8F90F292-F750-47C1-A698-1F1CF4B14D8A}"/>
              </a:ext>
            </a:extLst>
          </p:cNvPr>
          <p:cNvSpPr txBox="1"/>
          <p:nvPr/>
        </p:nvSpPr>
        <p:spPr>
          <a:xfrm>
            <a:off x="548640" y="2240280"/>
            <a:ext cx="11064240" cy="338554"/>
          </a:xfrm>
          <a:prstGeom prst="rect">
            <a:avLst/>
          </a:prstGeom>
          <a:noFill/>
        </p:spPr>
        <p:txBody>
          <a:bodyPr wrap="square">
            <a:spAutoFit/>
          </a:bodyPr>
          <a:lstStyle/>
          <a:p>
            <a:pPr algn="ctr"/>
            <a:r>
              <a:rPr sz="1600" b="1" i="0">
                <a:solidFill>
                  <a:srgbClr val="6E1E2A"/>
                </a:solidFill>
                <a:latin typeface="Times New Roman" panose="02020603050405020304" pitchFamily="18" charset="0"/>
                <a:cs typeface="Times New Roman" panose="02020603050405020304" pitchFamily="18" charset="0"/>
              </a:rPr>
              <a:t>BLOCKCHAIN AS APPLE TV+'S TRUST LAYER FOR ROYALTY ACCURACY</a:t>
            </a:r>
          </a:p>
        </p:txBody>
      </p:sp>
      <p:sp>
        <p:nvSpPr>
          <p:cNvPr id="47" name="TextBox 46">
            <a:extLst>
              <a:ext uri="{FF2B5EF4-FFF2-40B4-BE49-F238E27FC236}">
                <a16:creationId xmlns:a16="http://schemas.microsoft.com/office/drawing/2014/main" id="{3A60F2AA-F911-4388-A10A-5963D857B9CA}"/>
              </a:ext>
            </a:extLst>
          </p:cNvPr>
          <p:cNvSpPr txBox="1"/>
          <p:nvPr/>
        </p:nvSpPr>
        <p:spPr>
          <a:xfrm>
            <a:off x="548640" y="2743200"/>
            <a:ext cx="11064240" cy="338554"/>
          </a:xfrm>
          <a:prstGeom prst="rect">
            <a:avLst/>
          </a:prstGeom>
          <a:noFill/>
        </p:spPr>
        <p:txBody>
          <a:bodyPr wrap="square">
            <a:spAutoFit/>
          </a:bodyPr>
          <a:lstStyle/>
          <a:p>
            <a:pPr algn="ctr"/>
            <a:r>
              <a:rPr sz="1600" b="0" i="0">
                <a:solidFill>
                  <a:srgbClr val="7A7060"/>
                </a:solidFill>
                <a:latin typeface="Times New Roman" panose="02020603050405020304" pitchFamily="18" charset="0"/>
                <a:cs typeface="Times New Roman" panose="02020603050405020304" pitchFamily="18" charset="0"/>
              </a:rPr>
              <a:t>Apple TV+ | Digital Transformation Consultant Briefing</a:t>
            </a:r>
          </a:p>
        </p:txBody>
      </p:sp>
      <p:sp>
        <p:nvSpPr>
          <p:cNvPr id="48" name="TextBox 47"/>
          <p:cNvSpPr txBox="1"/>
          <p:nvPr/>
        </p:nvSpPr>
        <p:spPr>
          <a:xfrm>
            <a:off x="548640" y="3108960"/>
            <a:ext cx="11064240" cy="320040"/>
          </a:xfrm>
          <a:prstGeom prst="rect">
            <a:avLst/>
          </a:prstGeom>
          <a:noFill/>
        </p:spPr>
        <p:txBody>
          <a:bodyPr wrap="square" lIns="45720" rIns="45720" tIns="27432" bIns="27432" anchor="t">
            <a:spAutoFit/>
          </a:bodyPr>
          <a:lstStyle/>
          <a:p>
            <a:pPr algn="ctr">
              <a:lnSpc>
                <a:spcPct val="105000"/>
              </a:lnSpc>
              <a:spcAft>
                <a:spcPts val="0"/>
              </a:spcAft>
            </a:pPr>
            <a:r>
              <a:rPr sz="1400" b="0" i="0">
                <a:solidFill>
                  <a:srgbClr val="7A7060"/>
                </a:solidFill>
                <a:latin typeface="Times New Roman"/>
              </a:rPr>
              <a:t>SRN: BP0322660</a:t>
            </a:r>
          </a:p>
        </p:txBody>
      </p:sp>
      <p:sp>
        <p:nvSpPr>
          <p:cNvPr id="49" name="TextBox 48"/>
          <p:cNvSpPr txBox="1"/>
          <p:nvPr/>
        </p:nvSpPr>
        <p:spPr>
          <a:xfrm>
            <a:off x="548640" y="3977639"/>
            <a:ext cx="11064240" cy="320040"/>
          </a:xfrm>
          <a:prstGeom prst="rect">
            <a:avLst/>
          </a:prstGeom>
          <a:noFill/>
        </p:spPr>
        <p:txBody>
          <a:bodyPr wrap="square" lIns="45720" rIns="45720" tIns="27432" bIns="27432" anchor="t">
            <a:spAutoFit/>
          </a:bodyPr>
          <a:lstStyle/>
          <a:p>
            <a:pPr algn="ctr">
              <a:lnSpc>
                <a:spcPct val="105000"/>
              </a:lnSpc>
              <a:spcAft>
                <a:spcPts val="0"/>
              </a:spcAft>
            </a:pPr>
            <a:r>
              <a:rPr sz="1300" b="1" i="0">
                <a:solidFill>
                  <a:srgbClr val="6E1E2A"/>
                </a:solidFill>
                <a:latin typeface="Times New Roman"/>
              </a:rPr>
              <a:t>ROADMAP</a:t>
            </a:r>
          </a:p>
        </p:txBody>
      </p:sp>
      <p:sp>
        <p:nvSpPr>
          <p:cNvPr id="50" name="Rectangle 49"/>
          <p:cNvSpPr/>
          <p:nvPr/>
        </p:nvSpPr>
        <p:spPr>
          <a:xfrm>
            <a:off x="56372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746607" y="4526280"/>
            <a:ext cx="365760" cy="36576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16101"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0380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1</a:t>
            </a:r>
          </a:p>
        </p:txBody>
      </p:sp>
      <p:sp>
        <p:nvSpPr>
          <p:cNvPr id="54" name="TextBox 53"/>
          <p:cNvSpPr txBox="1"/>
          <p:nvPr/>
        </p:nvSpPr>
        <p:spPr>
          <a:xfrm>
            <a:off x="65516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Context</a:t>
            </a:r>
          </a:p>
        </p:txBody>
      </p:sp>
      <p:sp>
        <p:nvSpPr>
          <p:cNvPr id="55" name="TextBox 54"/>
          <p:cNvSpPr txBox="1"/>
          <p:nvPr/>
        </p:nvSpPr>
        <p:spPr>
          <a:xfrm>
            <a:off x="65516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Apple TV+ and the royalty challenge</a:t>
            </a:r>
          </a:p>
        </p:txBody>
      </p:sp>
      <p:sp>
        <p:nvSpPr>
          <p:cNvPr id="56" name="Rectangle 55"/>
          <p:cNvSpPr/>
          <p:nvPr/>
        </p:nvSpPr>
        <p:spPr>
          <a:xfrm>
            <a:off x="243824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2621127" y="4526280"/>
            <a:ext cx="365760" cy="36576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2690621"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07832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2</a:t>
            </a:r>
          </a:p>
        </p:txBody>
      </p:sp>
      <p:sp>
        <p:nvSpPr>
          <p:cNvPr id="60" name="TextBox 59"/>
          <p:cNvSpPr txBox="1"/>
          <p:nvPr/>
        </p:nvSpPr>
        <p:spPr>
          <a:xfrm>
            <a:off x="252968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The technology</a:t>
            </a:r>
          </a:p>
        </p:txBody>
      </p:sp>
      <p:sp>
        <p:nvSpPr>
          <p:cNvPr id="61" name="TextBox 60"/>
          <p:cNvSpPr txBox="1"/>
          <p:nvPr/>
        </p:nvSpPr>
        <p:spPr>
          <a:xfrm>
            <a:off x="252968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What a ledger and smart contract are</a:t>
            </a:r>
          </a:p>
        </p:txBody>
      </p:sp>
      <p:sp>
        <p:nvSpPr>
          <p:cNvPr id="62" name="Rectangle 61"/>
          <p:cNvSpPr/>
          <p:nvPr/>
        </p:nvSpPr>
        <p:spPr>
          <a:xfrm>
            <a:off x="431276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4495647" y="4526280"/>
            <a:ext cx="365760" cy="36576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456514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95284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3</a:t>
            </a:r>
          </a:p>
        </p:txBody>
      </p:sp>
      <p:sp>
        <p:nvSpPr>
          <p:cNvPr id="66" name="TextBox 65"/>
          <p:cNvSpPr txBox="1"/>
          <p:nvPr/>
        </p:nvSpPr>
        <p:spPr>
          <a:xfrm>
            <a:off x="440420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Benefits &amp; limits</a:t>
            </a:r>
          </a:p>
        </p:txBody>
      </p:sp>
      <p:sp>
        <p:nvSpPr>
          <p:cNvPr id="67" name="TextBox 66"/>
          <p:cNvSpPr txBox="1"/>
          <p:nvPr/>
        </p:nvSpPr>
        <p:spPr>
          <a:xfrm>
            <a:off x="440420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What is gained, what holds it back</a:t>
            </a:r>
          </a:p>
        </p:txBody>
      </p:sp>
      <p:sp>
        <p:nvSpPr>
          <p:cNvPr id="68" name="Rectangle 67"/>
          <p:cNvSpPr/>
          <p:nvPr/>
        </p:nvSpPr>
        <p:spPr>
          <a:xfrm>
            <a:off x="618728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6370167" y="4526280"/>
            <a:ext cx="365760" cy="36576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643966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82736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4</a:t>
            </a:r>
          </a:p>
        </p:txBody>
      </p:sp>
      <p:sp>
        <p:nvSpPr>
          <p:cNvPr id="72" name="TextBox 71"/>
          <p:cNvSpPr txBox="1"/>
          <p:nvPr/>
        </p:nvSpPr>
        <p:spPr>
          <a:xfrm>
            <a:off x="627872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People</a:t>
            </a:r>
          </a:p>
        </p:txBody>
      </p:sp>
      <p:sp>
        <p:nvSpPr>
          <p:cNvPr id="73" name="TextBox 72"/>
          <p:cNvSpPr txBox="1"/>
          <p:nvPr/>
        </p:nvSpPr>
        <p:spPr>
          <a:xfrm>
            <a:off x="627872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Impact on teams and the stakeholder view</a:t>
            </a:r>
          </a:p>
        </p:txBody>
      </p:sp>
      <p:sp>
        <p:nvSpPr>
          <p:cNvPr id="74" name="Rectangle 73"/>
          <p:cNvSpPr/>
          <p:nvPr/>
        </p:nvSpPr>
        <p:spPr>
          <a:xfrm>
            <a:off x="806180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8244687" y="4526280"/>
            <a:ext cx="365760" cy="36576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831418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70188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5</a:t>
            </a:r>
          </a:p>
        </p:txBody>
      </p:sp>
      <p:sp>
        <p:nvSpPr>
          <p:cNvPr id="78" name="TextBox 77"/>
          <p:cNvSpPr txBox="1"/>
          <p:nvPr/>
        </p:nvSpPr>
        <p:spPr>
          <a:xfrm>
            <a:off x="815324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Strategy</a:t>
            </a:r>
          </a:p>
        </p:txBody>
      </p:sp>
      <p:sp>
        <p:nvSpPr>
          <p:cNvPr id="79" name="TextBox 78"/>
          <p:cNvSpPr txBox="1"/>
          <p:nvPr/>
        </p:nvSpPr>
        <p:spPr>
          <a:xfrm>
            <a:off x="815324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Fit and lasting advantage</a:t>
            </a:r>
          </a:p>
        </p:txBody>
      </p:sp>
      <p:sp>
        <p:nvSpPr>
          <p:cNvPr id="80" name="Rectangle 79"/>
          <p:cNvSpPr/>
          <p:nvPr/>
        </p:nvSpPr>
        <p:spPr>
          <a:xfrm>
            <a:off x="993632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0119207" y="4526280"/>
            <a:ext cx="365760" cy="36576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018870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57640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6</a:t>
            </a:r>
          </a:p>
        </p:txBody>
      </p:sp>
      <p:sp>
        <p:nvSpPr>
          <p:cNvPr id="84" name="TextBox 83"/>
          <p:cNvSpPr txBox="1"/>
          <p:nvPr/>
        </p:nvSpPr>
        <p:spPr>
          <a:xfrm>
            <a:off x="1002776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Decisions</a:t>
            </a:r>
          </a:p>
        </p:txBody>
      </p:sp>
      <p:sp>
        <p:nvSpPr>
          <p:cNvPr id="85" name="TextBox 84"/>
          <p:cNvSpPr txBox="1"/>
          <p:nvPr/>
        </p:nvSpPr>
        <p:spPr>
          <a:xfrm>
            <a:off x="1002776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Risks, actions, takeaways</a:t>
            </a:r>
          </a:p>
        </p:txBody>
      </p:sp>
    </p:spTree>
    <p:extLst>
      <p:ext uri="{BB962C8B-B14F-4D97-AF65-F5344CB8AC3E}">
        <p14:creationId xmlns:p14="http://schemas.microsoft.com/office/powerpoint/2010/main" val="459973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12F1670-AA19-461B-96D8-9BE123F11BDC}"/>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CONTEXT &amp; PROBLEM</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Apple TV+ is growing its licensing footprint faster than manual royalty processes can follow.</a:t>
            </a:r>
          </a:p>
        </p:txBody>
      </p:sp>
      <p:sp>
        <p:nvSpPr>
          <p:cNvPr id="6" name="Rectangle 5"/>
          <p:cNvSpPr/>
          <p:nvPr/>
        </p:nvSpPr>
        <p:spPr>
          <a:xfrm>
            <a:off x="548640" y="2148840"/>
            <a:ext cx="5394960" cy="23317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240280"/>
            <a:ext cx="5029200" cy="36576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APPLE TV+ TODAY</a:t>
            </a:r>
          </a:p>
        </p:txBody>
      </p:sp>
      <p:sp>
        <p:nvSpPr>
          <p:cNvPr id="8" name="TextBox 7"/>
          <p:cNvSpPr txBox="1"/>
          <p:nvPr/>
        </p:nvSpPr>
        <p:spPr>
          <a:xfrm>
            <a:off x="731520" y="2651760"/>
            <a:ext cx="5029200" cy="1828800"/>
          </a:xfrm>
          <a:prstGeom prst="rect">
            <a:avLst/>
          </a:prstGeom>
          <a:noFill/>
        </p:spPr>
        <p:txBody>
          <a:bodyPr wrap="square" lIns="45720" rIns="45720" tIns="27432" bIns="27432" anchor="t">
            <a:spAutoFit/>
          </a:bodyPr>
          <a:lstStyle/>
          <a:p>
            <a:pPr algn="l">
              <a:lnSpc>
                <a:spcPct val="105000"/>
              </a:lnSpc>
              <a:spcAft>
                <a:spcPts val="600"/>
              </a:spcAft>
            </a:pPr>
            <a:r>
              <a:rPr sz="1400" b="0" i="0">
                <a:solidFill>
                  <a:srgbClr val="2A2218"/>
                </a:solidFill>
                <a:latin typeface="Times New Roman"/>
              </a:rPr>
              <a:t>Clears music synchronisation rights for scripted and unscripted programmes.</a:t>
            </a:r>
          </a:p>
          <a:p>
            <a:pPr algn="l">
              <a:lnSpc>
                <a:spcPct val="105000"/>
              </a:lnSpc>
              <a:spcAft>
                <a:spcPts val="600"/>
              </a:spcAft>
            </a:pPr>
            <a:r>
              <a:rPr sz="1400" b="0" i="0">
                <a:solidFill>
                  <a:srgbClr val="2A2218"/>
                </a:solidFill>
                <a:latin typeface="Times New Roman"/>
              </a:rPr>
              <a:t>Negotiates talent agreements across the same set of territories.</a:t>
            </a:r>
          </a:p>
          <a:p>
            <a:pPr algn="l">
              <a:lnSpc>
                <a:spcPct val="105000"/>
              </a:lnSpc>
              <a:spcAft>
                <a:spcPts val="600"/>
              </a:spcAft>
            </a:pPr>
            <a:r>
              <a:rPr sz="1400" b="0" i="0">
                <a:solidFill>
                  <a:srgbClr val="2A2218"/>
                </a:solidFill>
                <a:latin typeface="Times New Roman"/>
              </a:rPr>
              <a:t>Hired a licensing executive in 2024 to widen distribution of its originals to third-party platforms (9to5Mac, 2024).</a:t>
            </a:r>
          </a:p>
        </p:txBody>
      </p:sp>
      <p:sp>
        <p:nvSpPr>
          <p:cNvPr id="9" name="Rectangle 8"/>
          <p:cNvSpPr/>
          <p:nvPr/>
        </p:nvSpPr>
        <p:spPr>
          <a:xfrm>
            <a:off x="6245352" y="2148840"/>
            <a:ext cx="5394960" cy="233172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8232" y="2240280"/>
            <a:ext cx="5029200" cy="36576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THE CHALLENGE</a:t>
            </a:r>
          </a:p>
        </p:txBody>
      </p:sp>
      <p:sp>
        <p:nvSpPr>
          <p:cNvPr id="11" name="TextBox 10"/>
          <p:cNvSpPr txBox="1"/>
          <p:nvPr/>
        </p:nvSpPr>
        <p:spPr>
          <a:xfrm>
            <a:off x="6428232" y="2651760"/>
            <a:ext cx="5029200" cy="1828800"/>
          </a:xfrm>
          <a:prstGeom prst="rect">
            <a:avLst/>
          </a:prstGeom>
          <a:noFill/>
        </p:spPr>
        <p:txBody>
          <a:bodyPr wrap="square" lIns="45720" rIns="45720" tIns="27432" bIns="27432" anchor="t">
            <a:spAutoFit/>
          </a:bodyPr>
          <a:lstStyle/>
          <a:p>
            <a:pPr algn="l">
              <a:lnSpc>
                <a:spcPct val="105000"/>
              </a:lnSpc>
              <a:spcAft>
                <a:spcPts val="600"/>
              </a:spcAft>
            </a:pPr>
            <a:r>
              <a:rPr sz="1400" b="0" i="0">
                <a:solidFill>
                  <a:srgbClr val="2A2218"/>
                </a:solidFill>
                <a:latin typeface="Times New Roman"/>
              </a:rPr>
              <a:t>More counterparties and more rights windows, all reconciled by hand across Legal, Rights Ops and Finance.</a:t>
            </a:r>
          </a:p>
          <a:p>
            <a:pPr algn="l">
              <a:lnSpc>
                <a:spcPct val="105000"/>
              </a:lnSpc>
              <a:spcAft>
                <a:spcPts val="600"/>
              </a:spcAft>
            </a:pPr>
            <a:r>
              <a:rPr sz="1400" b="1" i="0">
                <a:solidFill>
                  <a:srgbClr val="2A2218"/>
                </a:solidFill>
                <a:latin typeface="Times New Roman"/>
              </a:rPr>
              <a:t>Strategic question: </a:t>
            </a:r>
            <a:r>
              <a:rPr sz="1400" b="0" i="0">
                <a:solidFill>
                  <a:srgbClr val="2A2218"/>
                </a:solidFill>
                <a:latin typeface="Times New Roman"/>
              </a:rPr>
              <a:t>how does Apple TV+ keep royalty payments accurate and trusted as it expands, before disputes grow with it?</a:t>
            </a:r>
          </a:p>
        </p:txBody>
      </p:sp>
      <p:sp>
        <p:nvSpPr>
          <p:cNvPr id="12" name="Rectangle 11"/>
          <p:cNvSpPr/>
          <p:nvPr/>
        </p:nvSpPr>
        <p:spPr>
          <a:xfrm>
            <a:off x="548640" y="4709160"/>
            <a:ext cx="11091672" cy="1600200"/>
          </a:xfrm>
          <a:prstGeom prst="rect">
            <a:avLst/>
          </a:prstGeom>
          <a:no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773168"/>
            <a:ext cx="3657600" cy="274320"/>
          </a:xfrm>
          <a:prstGeom prst="rect">
            <a:avLst/>
          </a:prstGeom>
          <a:noFill/>
        </p:spPr>
        <p:txBody>
          <a:bodyPr wrap="square" lIns="45720" rIns="45720" tIns="27432" bIns="27432" anchor="t">
            <a:spAutoFit/>
          </a:bodyPr>
          <a:lstStyle/>
          <a:p>
            <a:pPr algn="l">
              <a:lnSpc>
                <a:spcPct val="105000"/>
              </a:lnSpc>
              <a:spcAft>
                <a:spcPts val="0"/>
              </a:spcAft>
            </a:pPr>
            <a:r>
              <a:rPr sz="1200" b="1" i="0">
                <a:solidFill>
                  <a:srgbClr val="7A7060"/>
                </a:solidFill>
                <a:latin typeface="Times New Roman"/>
              </a:rPr>
              <a:t>SUPPORTING EXAMPLE: MUSIC ROYALTIES</a:t>
            </a:r>
          </a:p>
        </p:txBody>
      </p:sp>
      <p:sp>
        <p:nvSpPr>
          <p:cNvPr id="14" name="TextBox 13"/>
          <p:cNvSpPr txBox="1"/>
          <p:nvPr/>
        </p:nvSpPr>
        <p:spPr>
          <a:xfrm>
            <a:off x="731520" y="5074920"/>
            <a:ext cx="3291840" cy="640080"/>
          </a:xfrm>
          <a:prstGeom prst="rect">
            <a:avLst/>
          </a:prstGeom>
          <a:noFill/>
        </p:spPr>
        <p:txBody>
          <a:bodyPr wrap="square" lIns="45720" rIns="45720" tIns="27432" bIns="27432" anchor="ctr">
            <a:spAutoFit/>
          </a:bodyPr>
          <a:lstStyle/>
          <a:p>
            <a:pPr algn="l">
              <a:lnSpc>
                <a:spcPct val="105000"/>
              </a:lnSpc>
              <a:spcAft>
                <a:spcPts val="0"/>
              </a:spcAft>
            </a:pPr>
            <a:r>
              <a:rPr sz="4000" b="1" i="0">
                <a:solidFill>
                  <a:srgbClr val="6E1E2A"/>
                </a:solidFill>
                <a:latin typeface="Times New Roman"/>
              </a:rPr>
              <a:t>$424M</a:t>
            </a:r>
          </a:p>
        </p:txBody>
      </p:sp>
      <p:sp>
        <p:nvSpPr>
          <p:cNvPr id="15" name="TextBox 14"/>
          <p:cNvSpPr txBox="1"/>
          <p:nvPr/>
        </p:nvSpPr>
        <p:spPr>
          <a:xfrm>
            <a:off x="731520" y="5760720"/>
            <a:ext cx="3291840" cy="502920"/>
          </a:xfrm>
          <a:prstGeom prst="rect">
            <a:avLst/>
          </a:prstGeom>
          <a:noFill/>
        </p:spPr>
        <p:txBody>
          <a:bodyPr wrap="square" lIns="45720" rIns="45720" tIns="27432" bIns="27432" anchor="t">
            <a:spAutoFit/>
          </a:bodyPr>
          <a:lstStyle/>
          <a:p>
            <a:pPr algn="l">
              <a:lnSpc>
                <a:spcPct val="105000"/>
              </a:lnSpc>
              <a:spcAft>
                <a:spcPts val="0"/>
              </a:spcAft>
            </a:pPr>
            <a:r>
              <a:rPr sz="1200" b="0" i="1">
                <a:solidFill>
                  <a:srgbClr val="7A7060"/>
                </a:solidFill>
                <a:latin typeface="Times New Roman"/>
              </a:rPr>
              <a:t>unmatched royalties in the music industry (The MLC; Sharp, 2023)</a:t>
            </a:r>
          </a:p>
        </p:txBody>
      </p:sp>
      <p:sp>
        <p:nvSpPr>
          <p:cNvPr id="16" name="TextBox 15"/>
          <p:cNvSpPr txBox="1"/>
          <p:nvPr/>
        </p:nvSpPr>
        <p:spPr>
          <a:xfrm>
            <a:off x="4206240" y="5120640"/>
            <a:ext cx="3566160" cy="109728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Many rights holders and many territories, matched manually, leave money unpaid. Every unmatched row is a dispute, a delay or an audit risk.</a:t>
            </a:r>
          </a:p>
        </p:txBody>
      </p:sp>
      <p:sp>
        <p:nvSpPr>
          <p:cNvPr id="17" name="Rectangle 16"/>
          <p:cNvSpPr/>
          <p:nvPr/>
        </p:nvSpPr>
        <p:spPr>
          <a:xfrm>
            <a:off x="7863840" y="4937760"/>
            <a:ext cx="1463040" cy="338328"/>
          </a:xfrm>
          <a:prstGeom prst="rect">
            <a:avLst/>
          </a:prstGeom>
          <a:solidFill>
            <a:srgbClr val="EAE0C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0" y="4937760"/>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A2218"/>
                </a:solidFill>
                <a:latin typeface="Times New Roman"/>
              </a:rPr>
              <a:t>Claim</a:t>
            </a:r>
          </a:p>
        </p:txBody>
      </p:sp>
      <p:sp>
        <p:nvSpPr>
          <p:cNvPr id="19" name="Rectangle 18"/>
          <p:cNvSpPr/>
          <p:nvPr/>
        </p:nvSpPr>
        <p:spPr>
          <a:xfrm>
            <a:off x="9326880" y="4937760"/>
            <a:ext cx="868680" cy="338328"/>
          </a:xfrm>
          <a:prstGeom prst="rect">
            <a:avLst/>
          </a:prstGeom>
          <a:solidFill>
            <a:srgbClr val="EAE0C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0" y="4937760"/>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A2218"/>
                </a:solidFill>
                <a:latin typeface="Times New Roman"/>
              </a:rPr>
              <a:t>Territory</a:t>
            </a:r>
          </a:p>
        </p:txBody>
      </p:sp>
      <p:sp>
        <p:nvSpPr>
          <p:cNvPr id="21" name="Rectangle 20"/>
          <p:cNvSpPr/>
          <p:nvPr/>
        </p:nvSpPr>
        <p:spPr>
          <a:xfrm>
            <a:off x="10195560" y="4937760"/>
            <a:ext cx="1280160" cy="338328"/>
          </a:xfrm>
          <a:prstGeom prst="rect">
            <a:avLst/>
          </a:prstGeom>
          <a:solidFill>
            <a:srgbClr val="EAE0C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95560" y="4937760"/>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A2218"/>
                </a:solidFill>
                <a:latin typeface="Times New Roman"/>
              </a:rPr>
              <a:t>Status</a:t>
            </a:r>
          </a:p>
        </p:txBody>
      </p:sp>
      <p:sp>
        <p:nvSpPr>
          <p:cNvPr id="23" name="Rectangle 22"/>
          <p:cNvSpPr/>
          <p:nvPr/>
        </p:nvSpPr>
        <p:spPr>
          <a:xfrm>
            <a:off x="7863840" y="5276088"/>
            <a:ext cx="146304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0" y="5276088"/>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Sync - Doc Series</a:t>
            </a:r>
          </a:p>
        </p:txBody>
      </p:sp>
      <p:sp>
        <p:nvSpPr>
          <p:cNvPr id="25" name="Rectangle 24"/>
          <p:cNvSpPr/>
          <p:nvPr/>
        </p:nvSpPr>
        <p:spPr>
          <a:xfrm>
            <a:off x="9326880" y="5276088"/>
            <a:ext cx="86868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5276088"/>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EU</a:t>
            </a:r>
          </a:p>
        </p:txBody>
      </p:sp>
      <p:sp>
        <p:nvSpPr>
          <p:cNvPr id="27" name="Rectangle 26"/>
          <p:cNvSpPr/>
          <p:nvPr/>
        </p:nvSpPr>
        <p:spPr>
          <a:xfrm>
            <a:off x="10195560" y="5276088"/>
            <a:ext cx="128016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95560" y="5276088"/>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6E1E2A"/>
                </a:solidFill>
                <a:latin typeface="Times New Roman"/>
              </a:rPr>
              <a:t>UNMATCHED</a:t>
            </a:r>
          </a:p>
        </p:txBody>
      </p:sp>
      <p:sp>
        <p:nvSpPr>
          <p:cNvPr id="29" name="Rectangle 28"/>
          <p:cNvSpPr/>
          <p:nvPr/>
        </p:nvSpPr>
        <p:spPr>
          <a:xfrm>
            <a:off x="7863840" y="5614416"/>
            <a:ext cx="146304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63840" y="5614416"/>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Talent Residual</a:t>
            </a:r>
          </a:p>
        </p:txBody>
      </p:sp>
      <p:sp>
        <p:nvSpPr>
          <p:cNvPr id="31" name="Rectangle 30"/>
          <p:cNvSpPr/>
          <p:nvPr/>
        </p:nvSpPr>
        <p:spPr>
          <a:xfrm>
            <a:off x="9326880" y="5614416"/>
            <a:ext cx="86868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326880" y="5614416"/>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APAC</a:t>
            </a:r>
          </a:p>
        </p:txBody>
      </p:sp>
      <p:sp>
        <p:nvSpPr>
          <p:cNvPr id="33" name="Rectangle 32"/>
          <p:cNvSpPr/>
          <p:nvPr/>
        </p:nvSpPr>
        <p:spPr>
          <a:xfrm>
            <a:off x="10195560" y="5614416"/>
            <a:ext cx="128016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95560" y="5614416"/>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6E1E2A"/>
                </a:solidFill>
                <a:latin typeface="Times New Roman"/>
              </a:rPr>
              <a:t>DISPUTED</a:t>
            </a:r>
          </a:p>
        </p:txBody>
      </p:sp>
      <p:sp>
        <p:nvSpPr>
          <p:cNvPr id="35" name="Rectangle 34"/>
          <p:cNvSpPr/>
          <p:nvPr/>
        </p:nvSpPr>
        <p:spPr>
          <a:xfrm>
            <a:off x="7863840" y="5952744"/>
            <a:ext cx="146304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863840" y="5952744"/>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Sync - Feature</a:t>
            </a:r>
          </a:p>
        </p:txBody>
      </p:sp>
      <p:sp>
        <p:nvSpPr>
          <p:cNvPr id="37" name="Rectangle 36"/>
          <p:cNvSpPr/>
          <p:nvPr/>
        </p:nvSpPr>
        <p:spPr>
          <a:xfrm>
            <a:off x="9326880" y="5952744"/>
            <a:ext cx="86868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26880" y="5952744"/>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US</a:t>
            </a:r>
          </a:p>
        </p:txBody>
      </p:sp>
      <p:sp>
        <p:nvSpPr>
          <p:cNvPr id="39" name="Rectangle 38"/>
          <p:cNvSpPr/>
          <p:nvPr/>
        </p:nvSpPr>
        <p:spPr>
          <a:xfrm>
            <a:off x="10195560" y="5952744"/>
            <a:ext cx="128016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195560" y="5952744"/>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F5D3A"/>
                </a:solidFill>
                <a:latin typeface="Times New Roman"/>
              </a:rPr>
              <a:t>RECONCILED</a:t>
            </a:r>
          </a:p>
        </p:txBody>
      </p:sp>
      <p:sp>
        <p:nvSpPr>
          <p:cNvPr id="41"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2</a:t>
            </a:r>
          </a:p>
        </p:txBody>
      </p:sp>
    </p:spTree>
    <p:extLst>
      <p:ext uri="{BB962C8B-B14F-4D97-AF65-F5344CB8AC3E}">
        <p14:creationId xmlns:p14="http://schemas.microsoft.com/office/powerpoint/2010/main" val="33622128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38672FC-900B-47E9-91DB-DB087B7A8C48}"/>
              </a:ext>
            </a:extLst>
          </p:cNvPr>
          <p:cNvSpPr txBox="1"/>
          <p:nvPr/>
        </p:nvSpPr>
        <p:spPr>
          <a:xfrm>
            <a:off x="548640" y="411480"/>
            <a:ext cx="11091672"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TECHNOLOGY, INTRODUCED</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A blockchain is a shared record that parties can trust without trusting each other first.</a:t>
            </a:r>
          </a:p>
        </p:txBody>
      </p:sp>
      <p:sp>
        <p:nvSpPr>
          <p:cNvPr id="6" name="Rectangle 5"/>
          <p:cNvSpPr/>
          <p:nvPr/>
        </p:nvSpPr>
        <p:spPr>
          <a:xfrm>
            <a:off x="548640" y="2057400"/>
            <a:ext cx="3566160" cy="39319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148840"/>
            <a:ext cx="3200400" cy="32004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1  BLOCKS</a:t>
            </a:r>
          </a:p>
        </p:txBody>
      </p:sp>
      <p:sp>
        <p:nvSpPr>
          <p:cNvPr id="8" name="TextBox 7"/>
          <p:cNvSpPr txBox="1"/>
          <p:nvPr/>
        </p:nvSpPr>
        <p:spPr>
          <a:xfrm>
            <a:off x="731520" y="4754880"/>
            <a:ext cx="320040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Each payment record is a block, chained to the one before it. Changing an old block breaks the chain, so tampering shows.</a:t>
            </a:r>
          </a:p>
        </p:txBody>
      </p:sp>
      <p:sp>
        <p:nvSpPr>
          <p:cNvPr id="9" name="Rectangle 8"/>
          <p:cNvSpPr/>
          <p:nvPr/>
        </p:nvSpPr>
        <p:spPr>
          <a:xfrm>
            <a:off x="4311396" y="2057400"/>
            <a:ext cx="3566160" cy="39319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4276" y="2148840"/>
            <a:ext cx="3200400" cy="32004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2  DISTRIBUTED COPIES</a:t>
            </a:r>
          </a:p>
        </p:txBody>
      </p:sp>
      <p:sp>
        <p:nvSpPr>
          <p:cNvPr id="11" name="TextBox 10"/>
          <p:cNvSpPr txBox="1"/>
          <p:nvPr/>
        </p:nvSpPr>
        <p:spPr>
          <a:xfrm>
            <a:off x="4494276" y="4754880"/>
            <a:ext cx="320040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Talent, rights holders and Apple TV+ each hold a copy. No single administrator controls the record.</a:t>
            </a:r>
          </a:p>
        </p:txBody>
      </p:sp>
      <p:sp>
        <p:nvSpPr>
          <p:cNvPr id="12" name="Rectangle 11"/>
          <p:cNvSpPr/>
          <p:nvPr/>
        </p:nvSpPr>
        <p:spPr>
          <a:xfrm>
            <a:off x="8074152" y="2057400"/>
            <a:ext cx="3566160" cy="39319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57031" y="2148840"/>
            <a:ext cx="3200400" cy="32004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3  SMART CONTRACT</a:t>
            </a:r>
          </a:p>
        </p:txBody>
      </p:sp>
      <p:sp>
        <p:nvSpPr>
          <p:cNvPr id="14" name="TextBox 13"/>
          <p:cNvSpPr txBox="1"/>
          <p:nvPr/>
        </p:nvSpPr>
        <p:spPr>
          <a:xfrm>
            <a:off x="8257031" y="4754880"/>
            <a:ext cx="320040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Rules written as code: when a rights window opens, the royalty calculation and payment start automatically.</a:t>
            </a:r>
          </a:p>
        </p:txBody>
      </p:sp>
      <p:sp>
        <p:nvSpPr>
          <p:cNvPr id="15" name="Rectangle 14"/>
          <p:cNvSpPr/>
          <p:nvPr/>
        </p:nvSpPr>
        <p:spPr>
          <a:xfrm>
            <a:off x="777240" y="2926080"/>
            <a:ext cx="868680" cy="8686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971800"/>
            <a:ext cx="86868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Block 1</a:t>
            </a:r>
          </a:p>
        </p:txBody>
      </p:sp>
      <p:sp>
        <p:nvSpPr>
          <p:cNvPr id="17" name="TextBox 16"/>
          <p:cNvSpPr txBox="1"/>
          <p:nvPr/>
        </p:nvSpPr>
        <p:spPr>
          <a:xfrm>
            <a:off x="777240" y="3291840"/>
            <a:ext cx="868680" cy="457200"/>
          </a:xfrm>
          <a:prstGeom prst="rect">
            <a:avLst/>
          </a:prstGeom>
          <a:noFill/>
        </p:spPr>
        <p:txBody>
          <a:bodyPr wrap="square" lIns="45720" rIns="45720" tIns="27432" bIns="27432" anchor="t">
            <a:spAutoFit/>
          </a:bodyPr>
          <a:lstStyle/>
          <a:p>
            <a:pPr algn="ctr">
              <a:lnSpc>
                <a:spcPct val="105000"/>
              </a:lnSpc>
              <a:spcAft>
                <a:spcPts val="0"/>
              </a:spcAft>
            </a:pPr>
            <a:r>
              <a:rPr sz="1000" b="0" i="0">
                <a:solidFill>
                  <a:srgbClr val="7A7060"/>
                </a:solidFill>
                <a:latin typeface="Times New Roman"/>
              </a:rPr>
              <a:t>Payment</a:t>
            </a:r>
          </a:p>
          <a:p>
            <a:pPr algn="ctr">
              <a:lnSpc>
                <a:spcPct val="105000"/>
              </a:lnSpc>
              <a:spcAft>
                <a:spcPts val="0"/>
              </a:spcAft>
            </a:pPr>
            <a:r>
              <a:rPr sz="1000" b="0" i="0">
                <a:solidFill>
                  <a:srgbClr val="7A7060"/>
                </a:solidFill>
                <a:latin typeface="Times New Roman"/>
              </a:rPr>
              <a:t>record</a:t>
            </a:r>
          </a:p>
        </p:txBody>
      </p:sp>
      <p:sp>
        <p:nvSpPr>
          <p:cNvPr id="18" name="TextBox 17"/>
          <p:cNvSpPr txBox="1"/>
          <p:nvPr/>
        </p:nvSpPr>
        <p:spPr>
          <a:xfrm>
            <a:off x="1627632" y="3108960"/>
            <a:ext cx="274320" cy="365760"/>
          </a:xfrm>
          <a:prstGeom prst="rect">
            <a:avLst/>
          </a:prstGeom>
          <a:noFill/>
        </p:spPr>
        <p:txBody>
          <a:bodyPr wrap="square" lIns="45720" rIns="45720" tIns="27432" bIns="27432" anchor="t">
            <a:spAutoFit/>
          </a:bodyPr>
          <a:lstStyle/>
          <a:p>
            <a:pPr algn="ctr">
              <a:lnSpc>
                <a:spcPct val="105000"/>
              </a:lnSpc>
              <a:spcAft>
                <a:spcPts val="0"/>
              </a:spcAft>
            </a:pPr>
            <a:r>
              <a:rPr sz="1800" b="1" i="0">
                <a:solidFill>
                  <a:srgbClr val="B38A3C"/>
                </a:solidFill>
                <a:latin typeface="Times New Roman"/>
              </a:rPr>
              <a:t>→</a:t>
            </a:r>
          </a:p>
        </p:txBody>
      </p:sp>
      <p:sp>
        <p:nvSpPr>
          <p:cNvPr id="19" name="Rectangle 18"/>
          <p:cNvSpPr/>
          <p:nvPr/>
        </p:nvSpPr>
        <p:spPr>
          <a:xfrm>
            <a:off x="1874519" y="2926080"/>
            <a:ext cx="868680" cy="8686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74519" y="2971800"/>
            <a:ext cx="86868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Block 2</a:t>
            </a:r>
          </a:p>
        </p:txBody>
      </p:sp>
      <p:sp>
        <p:nvSpPr>
          <p:cNvPr id="21" name="TextBox 20"/>
          <p:cNvSpPr txBox="1"/>
          <p:nvPr/>
        </p:nvSpPr>
        <p:spPr>
          <a:xfrm>
            <a:off x="1874519" y="3291840"/>
            <a:ext cx="868680" cy="457200"/>
          </a:xfrm>
          <a:prstGeom prst="rect">
            <a:avLst/>
          </a:prstGeom>
          <a:noFill/>
        </p:spPr>
        <p:txBody>
          <a:bodyPr wrap="square" lIns="45720" rIns="45720" tIns="27432" bIns="27432" anchor="t">
            <a:spAutoFit/>
          </a:bodyPr>
          <a:lstStyle/>
          <a:p>
            <a:pPr algn="ctr">
              <a:lnSpc>
                <a:spcPct val="105000"/>
              </a:lnSpc>
              <a:spcAft>
                <a:spcPts val="0"/>
              </a:spcAft>
            </a:pPr>
            <a:r>
              <a:rPr sz="1000" b="0" i="0">
                <a:solidFill>
                  <a:srgbClr val="7A7060"/>
                </a:solidFill>
                <a:latin typeface="Times New Roman"/>
              </a:rPr>
              <a:t>Payment</a:t>
            </a:r>
          </a:p>
          <a:p>
            <a:pPr algn="ctr">
              <a:lnSpc>
                <a:spcPct val="105000"/>
              </a:lnSpc>
              <a:spcAft>
                <a:spcPts val="0"/>
              </a:spcAft>
            </a:pPr>
            <a:r>
              <a:rPr sz="1000" b="0" i="0">
                <a:solidFill>
                  <a:srgbClr val="7A7060"/>
                </a:solidFill>
                <a:latin typeface="Times New Roman"/>
              </a:rPr>
              <a:t>record</a:t>
            </a:r>
          </a:p>
        </p:txBody>
      </p:sp>
      <p:sp>
        <p:nvSpPr>
          <p:cNvPr id="22" name="TextBox 21"/>
          <p:cNvSpPr txBox="1"/>
          <p:nvPr/>
        </p:nvSpPr>
        <p:spPr>
          <a:xfrm>
            <a:off x="2724912" y="3108960"/>
            <a:ext cx="274320" cy="365760"/>
          </a:xfrm>
          <a:prstGeom prst="rect">
            <a:avLst/>
          </a:prstGeom>
          <a:noFill/>
        </p:spPr>
        <p:txBody>
          <a:bodyPr wrap="square" lIns="45720" rIns="45720" tIns="27432" bIns="27432" anchor="t">
            <a:spAutoFit/>
          </a:bodyPr>
          <a:lstStyle/>
          <a:p>
            <a:pPr algn="ctr">
              <a:lnSpc>
                <a:spcPct val="105000"/>
              </a:lnSpc>
              <a:spcAft>
                <a:spcPts val="0"/>
              </a:spcAft>
            </a:pPr>
            <a:r>
              <a:rPr sz="1800" b="1" i="0">
                <a:solidFill>
                  <a:srgbClr val="B38A3C"/>
                </a:solidFill>
                <a:latin typeface="Times New Roman"/>
              </a:rPr>
              <a:t>→</a:t>
            </a:r>
          </a:p>
        </p:txBody>
      </p:sp>
      <p:sp>
        <p:nvSpPr>
          <p:cNvPr id="23" name="Rectangle 22"/>
          <p:cNvSpPr/>
          <p:nvPr/>
        </p:nvSpPr>
        <p:spPr>
          <a:xfrm>
            <a:off x="2971800" y="2926080"/>
            <a:ext cx="868680" cy="8686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2971800"/>
            <a:ext cx="86868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Block 3</a:t>
            </a:r>
          </a:p>
        </p:txBody>
      </p:sp>
      <p:sp>
        <p:nvSpPr>
          <p:cNvPr id="25" name="TextBox 24"/>
          <p:cNvSpPr txBox="1"/>
          <p:nvPr/>
        </p:nvSpPr>
        <p:spPr>
          <a:xfrm>
            <a:off x="2971800" y="3291840"/>
            <a:ext cx="868680" cy="457200"/>
          </a:xfrm>
          <a:prstGeom prst="rect">
            <a:avLst/>
          </a:prstGeom>
          <a:noFill/>
        </p:spPr>
        <p:txBody>
          <a:bodyPr wrap="square" lIns="45720" rIns="45720" tIns="27432" bIns="27432" anchor="t">
            <a:spAutoFit/>
          </a:bodyPr>
          <a:lstStyle/>
          <a:p>
            <a:pPr algn="ctr">
              <a:lnSpc>
                <a:spcPct val="105000"/>
              </a:lnSpc>
              <a:spcAft>
                <a:spcPts val="0"/>
              </a:spcAft>
            </a:pPr>
            <a:r>
              <a:rPr sz="1000" b="0" i="0">
                <a:solidFill>
                  <a:srgbClr val="7A7060"/>
                </a:solidFill>
                <a:latin typeface="Times New Roman"/>
              </a:rPr>
              <a:t>Payment</a:t>
            </a:r>
          </a:p>
          <a:p>
            <a:pPr algn="ctr">
              <a:lnSpc>
                <a:spcPct val="105000"/>
              </a:lnSpc>
              <a:spcAft>
                <a:spcPts val="0"/>
              </a:spcAft>
            </a:pPr>
            <a:r>
              <a:rPr sz="1000" b="0" i="0">
                <a:solidFill>
                  <a:srgbClr val="7A7060"/>
                </a:solidFill>
                <a:latin typeface="Times New Roman"/>
              </a:rPr>
              <a:t>record</a:t>
            </a:r>
          </a:p>
        </p:txBody>
      </p:sp>
      <p:sp>
        <p:nvSpPr>
          <p:cNvPr id="26" name="TextBox 25"/>
          <p:cNvSpPr txBox="1"/>
          <p:nvPr/>
        </p:nvSpPr>
        <p:spPr>
          <a:xfrm>
            <a:off x="777240" y="3886200"/>
            <a:ext cx="3108960" cy="320040"/>
          </a:xfrm>
          <a:prstGeom prst="rect">
            <a:avLst/>
          </a:prstGeom>
          <a:noFill/>
        </p:spPr>
        <p:txBody>
          <a:bodyPr wrap="square" lIns="45720" rIns="45720" tIns="27432" bIns="27432" anchor="t">
            <a:spAutoFit/>
          </a:bodyPr>
          <a:lstStyle/>
          <a:p>
            <a:pPr algn="l">
              <a:lnSpc>
                <a:spcPct val="105000"/>
              </a:lnSpc>
              <a:spcAft>
                <a:spcPts val="0"/>
              </a:spcAft>
            </a:pPr>
            <a:r>
              <a:rPr sz="1100" b="0" i="1">
                <a:solidFill>
                  <a:srgbClr val="7A7060"/>
                </a:solidFill>
                <a:latin typeface="Times New Roman"/>
              </a:rPr>
              <a:t>each block carries the previous block's fingerprint</a:t>
            </a:r>
          </a:p>
        </p:txBody>
      </p:sp>
      <p:cxnSp>
        <p:nvCxnSpPr>
          <p:cNvPr id="27" name="Connector 26"/>
          <p:cNvCxnSpPr/>
          <p:nvPr/>
        </p:nvCxnSpPr>
        <p:spPr>
          <a:xfrm flipV="1">
            <a:off x="6094476" y="2926079"/>
            <a:ext cx="0" cy="777241"/>
          </a:xfrm>
          <a:prstGeom prst="line">
            <a:avLst/>
          </a:prstGeom>
          <a:ln w="19050">
            <a:solidFill>
              <a:srgbClr val="B38A3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94476" y="3703320"/>
            <a:ext cx="831488" cy="388619"/>
          </a:xfrm>
          <a:prstGeom prst="line">
            <a:avLst/>
          </a:prstGeom>
          <a:ln w="19050">
            <a:solidFill>
              <a:srgbClr val="B38A3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5262987" y="3703320"/>
            <a:ext cx="831489" cy="388619"/>
          </a:xfrm>
          <a:prstGeom prst="line">
            <a:avLst/>
          </a:prstGeom>
          <a:ln w="19050">
            <a:solidFill>
              <a:srgbClr val="B38A3C"/>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5792724" y="2624327"/>
            <a:ext cx="603504" cy="6035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92724" y="2624327"/>
            <a:ext cx="603504" cy="603504"/>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FFFFFF"/>
                </a:solidFill>
                <a:latin typeface="Times New Roman"/>
              </a:rPr>
              <a:t>copy</a:t>
            </a:r>
          </a:p>
        </p:txBody>
      </p:sp>
      <p:sp>
        <p:nvSpPr>
          <p:cNvPr id="32" name="TextBox 31"/>
          <p:cNvSpPr txBox="1"/>
          <p:nvPr/>
        </p:nvSpPr>
        <p:spPr>
          <a:xfrm>
            <a:off x="6460236" y="2788920"/>
            <a:ext cx="91440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A2218"/>
                </a:solidFill>
                <a:latin typeface="Times New Roman"/>
              </a:rPr>
              <a:t>Talent</a:t>
            </a:r>
          </a:p>
        </p:txBody>
      </p:sp>
      <p:sp>
        <p:nvSpPr>
          <p:cNvPr id="33" name="Oval 32"/>
          <p:cNvSpPr/>
          <p:nvPr/>
        </p:nvSpPr>
        <p:spPr>
          <a:xfrm>
            <a:off x="6624212" y="3790187"/>
            <a:ext cx="603504" cy="6035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4212" y="3790187"/>
            <a:ext cx="603504" cy="603504"/>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FFFFFF"/>
                </a:solidFill>
                <a:latin typeface="Times New Roman"/>
              </a:rPr>
              <a:t>copy</a:t>
            </a:r>
          </a:p>
        </p:txBody>
      </p:sp>
      <p:sp>
        <p:nvSpPr>
          <p:cNvPr id="35" name="TextBox 34"/>
          <p:cNvSpPr txBox="1"/>
          <p:nvPr/>
        </p:nvSpPr>
        <p:spPr>
          <a:xfrm>
            <a:off x="6285884" y="4393692"/>
            <a:ext cx="128016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Rights holders</a:t>
            </a:r>
          </a:p>
        </p:txBody>
      </p:sp>
      <p:sp>
        <p:nvSpPr>
          <p:cNvPr id="36" name="Oval 35"/>
          <p:cNvSpPr/>
          <p:nvPr/>
        </p:nvSpPr>
        <p:spPr>
          <a:xfrm>
            <a:off x="4961235" y="3790187"/>
            <a:ext cx="603504" cy="603504"/>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61235" y="3790187"/>
            <a:ext cx="603504" cy="603504"/>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FFFFFF"/>
                </a:solidFill>
                <a:latin typeface="Times New Roman"/>
              </a:rPr>
              <a:t>copy</a:t>
            </a:r>
          </a:p>
        </p:txBody>
      </p:sp>
      <p:sp>
        <p:nvSpPr>
          <p:cNvPr id="38" name="TextBox 37"/>
          <p:cNvSpPr txBox="1"/>
          <p:nvPr/>
        </p:nvSpPr>
        <p:spPr>
          <a:xfrm>
            <a:off x="4622907" y="4393692"/>
            <a:ext cx="128016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Apple TV+</a:t>
            </a:r>
          </a:p>
        </p:txBody>
      </p:sp>
      <p:sp>
        <p:nvSpPr>
          <p:cNvPr id="39" name="Oval 38"/>
          <p:cNvSpPr/>
          <p:nvPr/>
        </p:nvSpPr>
        <p:spPr>
          <a:xfrm>
            <a:off x="5820156" y="3429000"/>
            <a:ext cx="548640" cy="548640"/>
          </a:xfrm>
          <a:prstGeom prst="ellipse">
            <a:avLst/>
          </a:prstGeom>
          <a:solidFill>
            <a:srgbClr val="F3ECDC"/>
          </a:solidFill>
          <a:ln w="19050">
            <a:solidFill>
              <a:srgbClr val="B38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20156" y="3429000"/>
            <a:ext cx="548640" cy="548640"/>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2A2218"/>
                </a:solidFill>
                <a:latin typeface="Times New Roman"/>
              </a:rPr>
              <a:t>same</a:t>
            </a:r>
          </a:p>
        </p:txBody>
      </p:sp>
      <p:sp>
        <p:nvSpPr>
          <p:cNvPr id="41" name="Rectangle 40"/>
          <p:cNvSpPr/>
          <p:nvPr/>
        </p:nvSpPr>
        <p:spPr>
          <a:xfrm>
            <a:off x="8394192" y="2697480"/>
            <a:ext cx="2926080" cy="6400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94192" y="2697480"/>
            <a:ext cx="2926080" cy="640080"/>
          </a:xfrm>
          <a:prstGeom prst="rect">
            <a:avLst/>
          </a:prstGeom>
          <a:noFill/>
        </p:spPr>
        <p:txBody>
          <a:bodyPr wrap="square" lIns="45720" rIns="45720" tIns="27432" bIns="27432" anchor="ctr">
            <a:spAutoFit/>
          </a:bodyPr>
          <a:lstStyle/>
          <a:p>
            <a:pPr algn="ctr">
              <a:lnSpc>
                <a:spcPct val="105000"/>
              </a:lnSpc>
              <a:spcAft>
                <a:spcPts val="0"/>
              </a:spcAft>
            </a:pPr>
            <a:r>
              <a:rPr sz="1400" b="1" i="0">
                <a:solidFill>
                  <a:srgbClr val="6E1E2A"/>
                </a:solidFill>
                <a:latin typeface="Times New Roman"/>
              </a:rPr>
              <a:t>IF </a:t>
            </a:r>
            <a:r>
              <a:rPr sz="1400" b="0" i="0">
                <a:solidFill>
                  <a:srgbClr val="2A2218"/>
                </a:solidFill>
                <a:latin typeface="Times New Roman"/>
              </a:rPr>
              <a:t>EU rights window opens</a:t>
            </a:r>
          </a:p>
        </p:txBody>
      </p:sp>
      <p:sp>
        <p:nvSpPr>
          <p:cNvPr id="43" name="TextBox 42"/>
          <p:cNvSpPr txBox="1"/>
          <p:nvPr/>
        </p:nvSpPr>
        <p:spPr>
          <a:xfrm>
            <a:off x="8394192" y="3337560"/>
            <a:ext cx="2926080" cy="365760"/>
          </a:xfrm>
          <a:prstGeom prst="rect">
            <a:avLst/>
          </a:prstGeom>
          <a:noFill/>
        </p:spPr>
        <p:txBody>
          <a:bodyPr wrap="square" lIns="45720" rIns="45720" tIns="27432" bIns="27432" anchor="ctr">
            <a:spAutoFit/>
          </a:bodyPr>
          <a:lstStyle/>
          <a:p>
            <a:pPr algn="ctr">
              <a:lnSpc>
                <a:spcPct val="105000"/>
              </a:lnSpc>
              <a:spcAft>
                <a:spcPts val="0"/>
              </a:spcAft>
            </a:pPr>
            <a:r>
              <a:rPr sz="2000" b="1" i="0">
                <a:solidFill>
                  <a:srgbClr val="B38A3C"/>
                </a:solidFill>
                <a:latin typeface="Times New Roman"/>
              </a:rPr>
              <a:t>↓</a:t>
            </a:r>
          </a:p>
        </p:txBody>
      </p:sp>
      <p:sp>
        <p:nvSpPr>
          <p:cNvPr id="44" name="Rectangle 43"/>
          <p:cNvSpPr/>
          <p:nvPr/>
        </p:nvSpPr>
        <p:spPr>
          <a:xfrm>
            <a:off x="8394192" y="3703320"/>
            <a:ext cx="2926080" cy="640080"/>
          </a:xfrm>
          <a:prstGeom prst="rect">
            <a:avLst/>
          </a:prstGeom>
          <a:solidFill>
            <a:srgbClr val="E8F0E8"/>
          </a:solidFill>
          <a:ln w="1905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94192" y="3703320"/>
            <a:ext cx="2926080" cy="640080"/>
          </a:xfrm>
          <a:prstGeom prst="rect">
            <a:avLst/>
          </a:prstGeom>
          <a:noFill/>
        </p:spPr>
        <p:txBody>
          <a:bodyPr wrap="square" lIns="45720" rIns="45720" tIns="27432" bIns="27432" anchor="ctr">
            <a:spAutoFit/>
          </a:bodyPr>
          <a:lstStyle/>
          <a:p>
            <a:pPr algn="ctr">
              <a:lnSpc>
                <a:spcPct val="105000"/>
              </a:lnSpc>
              <a:spcAft>
                <a:spcPts val="0"/>
              </a:spcAft>
            </a:pPr>
            <a:r>
              <a:rPr sz="1400" b="1" i="0">
                <a:solidFill>
                  <a:srgbClr val="2F5D3A"/>
                </a:solidFill>
                <a:latin typeface="Times New Roman"/>
              </a:rPr>
              <a:t>THEN </a:t>
            </a:r>
            <a:r>
              <a:rPr sz="1400" b="0" i="0">
                <a:solidFill>
                  <a:srgbClr val="2A2218"/>
                </a:solidFill>
                <a:latin typeface="Times New Roman"/>
              </a:rPr>
              <a:t>royalty is calculated and paid</a:t>
            </a:r>
          </a:p>
        </p:txBody>
      </p:sp>
      <p:sp>
        <p:nvSpPr>
          <p:cNvPr id="46"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3</a:t>
            </a:r>
          </a:p>
        </p:txBody>
      </p:sp>
      <p:sp>
        <p:nvSpPr>
          <p:cNvPr id="47" name="Definition"/>
          <p:cNvSpPr txBox="1"/>
          <p:nvPr/>
        </p:nvSpPr>
        <p:spPr>
          <a:xfrm>
            <a:off x="548640" y="1517904"/>
            <a:ext cx="11064240" cy="457200"/>
          </a:xfrm>
          <a:prstGeom prst="rect">
            <a:avLst/>
          </a:prstGeom>
          <a:noFill/>
        </p:spPr>
        <p:txBody>
          <a:bodyPr wrap="square" lIns="45720" rIns="45720" tIns="27432" bIns="27432" anchor="t">
            <a:spAutoFit/>
          </a:bodyPr>
          <a:lstStyle/>
          <a:p>
            <a:pPr algn="l">
              <a:lnSpc>
                <a:spcPct val="105000"/>
              </a:lnSpc>
              <a:spcAft>
                <a:spcPts val="0"/>
              </a:spcAft>
            </a:pPr>
            <a:r>
              <a:rPr lang="en-GB" sz="1200" b="1" i="0" dirty="0">
                <a:solidFill>
                  <a:srgbClr val="6E1E2A"/>
                </a:solidFill>
                <a:latin typeface="Times New Roman"/>
              </a:rPr>
              <a:t>Definition: </a:t>
            </a:r>
            <a:r>
              <a:rPr lang="en-GB" sz="1200" b="0" i="1" dirty="0">
                <a:solidFill>
                  <a:srgbClr val="7A7060"/>
                </a:solidFill>
                <a:latin typeface="Times New Roman"/>
              </a:rPr>
              <a:t>a foundational technology: an open, distributed ledger that records transactions between parties in a verifiable and permanent way, and can be programmed to trigger transactions automatically (Iansiti and Lakhani, 2017).</a:t>
            </a:r>
          </a:p>
        </p:txBody>
      </p:sp>
    </p:spTree>
    <p:extLst>
      <p:ext uri="{BB962C8B-B14F-4D97-AF65-F5344CB8AC3E}">
        <p14:creationId xmlns:p14="http://schemas.microsoft.com/office/powerpoint/2010/main" val="21602778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7FD9806-AFAA-438C-984F-85193CCF69FA}"/>
              </a:ext>
            </a:extLst>
          </p:cNvPr>
          <p:cNvSpPr txBox="1"/>
          <p:nvPr/>
        </p:nvSpPr>
        <p:spPr>
          <a:xfrm>
            <a:off x="1783080" y="424577"/>
            <a:ext cx="8229600"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TECHNOLOGY, APPLIED</a:t>
            </a:r>
          </a:p>
        </p:txBody>
      </p:sp>
      <p:sp>
        <p:nvSpPr>
          <p:cNvPr id="5" name="TextBox 4">
            <a:extLst>
              <a:ext uri="{FF2B5EF4-FFF2-40B4-BE49-F238E27FC236}">
                <a16:creationId xmlns:a16="http://schemas.microsoft.com/office/drawing/2014/main" id="{10ABB3BA-19F6-475F-9948-F2C9FE42F3D3}"/>
              </a:ext>
            </a:extLst>
          </p:cNvPr>
          <p:cNvSpPr txBox="1"/>
          <p:nvPr/>
        </p:nvSpPr>
        <p:spPr>
          <a:xfrm>
            <a:off x="640080" y="1509635"/>
            <a:ext cx="10789920" cy="717953"/>
          </a:xfrm>
          <a:prstGeom prst="rect">
            <a:avLst/>
          </a:prstGeom>
          <a:noFill/>
        </p:spPr>
        <p:txBody>
          <a:bodyPr wrap="square">
            <a:spAutoFit/>
          </a:bodyPr>
          <a:lstStyle/>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The contract doesn't wait to be enforced.</a:t>
            </a:r>
          </a:p>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The trigger is written into the ledger itself.</a:t>
            </a:r>
          </a:p>
        </p:txBody>
      </p:sp>
      <p:sp>
        <p:nvSpPr>
          <p:cNvPr id="6" name="Rectangle 5">
            <a:extLst>
              <a:ext uri="{FF2B5EF4-FFF2-40B4-BE49-F238E27FC236}">
                <a16:creationId xmlns:a16="http://schemas.microsoft.com/office/drawing/2014/main" id="{DAEEDC95-2BD1-4284-A292-3BD2FB136630}"/>
              </a:ext>
            </a:extLst>
          </p:cNvPr>
          <p:cNvSpPr/>
          <p:nvPr/>
        </p:nvSpPr>
        <p:spPr>
          <a:xfrm>
            <a:off x="731520" y="4562475"/>
            <a:ext cx="10607040" cy="19050"/>
          </a:xfrm>
          <a:prstGeom prst="rect">
            <a:avLst/>
          </a:prstGeom>
          <a:solidFill>
            <a:srgbClr val="7A7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7" name="Rectangle 6">
            <a:extLst>
              <a:ext uri="{FF2B5EF4-FFF2-40B4-BE49-F238E27FC236}">
                <a16:creationId xmlns:a16="http://schemas.microsoft.com/office/drawing/2014/main" id="{4EE68F9D-33A7-4CF0-AF09-90883B97D077}"/>
              </a:ext>
            </a:extLst>
          </p:cNvPr>
          <p:cNvSpPr/>
          <p:nvPr/>
        </p:nvSpPr>
        <p:spPr>
          <a:xfrm rot="5400000">
            <a:off x="1554480" y="4108450"/>
            <a:ext cx="914400"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8" name="Oval 7">
            <a:extLst>
              <a:ext uri="{FF2B5EF4-FFF2-40B4-BE49-F238E27FC236}">
                <a16:creationId xmlns:a16="http://schemas.microsoft.com/office/drawing/2014/main" id="{828E9AB3-10EE-4958-91CB-B84A182104B4}"/>
              </a:ext>
            </a:extLst>
          </p:cNvPr>
          <p:cNvSpPr/>
          <p:nvPr/>
        </p:nvSpPr>
        <p:spPr>
          <a:xfrm>
            <a:off x="1810512" y="3090672"/>
            <a:ext cx="402336" cy="402336"/>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D389FA8F-E8A9-4009-A169-432290A4830C}"/>
              </a:ext>
            </a:extLst>
          </p:cNvPr>
          <p:cNvSpPr/>
          <p:nvPr/>
        </p:nvSpPr>
        <p:spPr>
          <a:xfrm>
            <a:off x="1890979" y="3171139"/>
            <a:ext cx="241401" cy="24140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13DDC486-2E50-47EC-816F-9DEEEB374326}"/>
              </a:ext>
            </a:extLst>
          </p:cNvPr>
          <p:cNvSpPr txBox="1"/>
          <p:nvPr/>
        </p:nvSpPr>
        <p:spPr>
          <a:xfrm>
            <a:off x="1005840" y="4663440"/>
            <a:ext cx="2011680" cy="369332"/>
          </a:xfrm>
          <a:prstGeom prst="rect">
            <a:avLst/>
          </a:prstGeom>
          <a:noFill/>
        </p:spPr>
        <p:txBody>
          <a:bodyPr wrap="square">
            <a:spAutoFit/>
          </a:bodyPr>
          <a:lstStyle/>
          <a:p>
            <a:pPr algn="ctr"/>
            <a:r>
              <a:rPr b="0" i="0">
                <a:latin typeface="Times New Roman" panose="02020603050405020304" pitchFamily="18" charset="0"/>
                <a:cs typeface="Times New Roman" panose="02020603050405020304" pitchFamily="18" charset="0"/>
              </a:rPr>
              <a:t>EU window opens</a:t>
            </a:r>
          </a:p>
        </p:txBody>
      </p:sp>
      <p:sp>
        <p:nvSpPr>
          <p:cNvPr id="11" name="TextBox 10">
            <a:extLst>
              <a:ext uri="{FF2B5EF4-FFF2-40B4-BE49-F238E27FC236}">
                <a16:creationId xmlns:a16="http://schemas.microsoft.com/office/drawing/2014/main" id="{2DC41441-2E2D-4147-A7CF-7D4B8EE9DED9}"/>
              </a:ext>
            </a:extLst>
          </p:cNvPr>
          <p:cNvSpPr txBox="1"/>
          <p:nvPr/>
        </p:nvSpPr>
        <p:spPr>
          <a:xfrm>
            <a:off x="1012190" y="2420033"/>
            <a:ext cx="2011680" cy="646331"/>
          </a:xfrm>
          <a:prstGeom prst="rect">
            <a:avLst/>
          </a:prstGeom>
          <a:noFill/>
        </p:spPr>
        <p:txBody>
          <a:bodyPr wrap="square">
            <a:spAutoFit/>
          </a:bodyPr>
          <a:lstStyle/>
          <a:p>
            <a:pPr algn="ctr"/>
            <a:r>
              <a:rPr b="0" i="1" dirty="0">
                <a:latin typeface="Times New Roman" panose="02020603050405020304" pitchFamily="18" charset="0"/>
                <a:cs typeface="Times New Roman" panose="02020603050405020304" pitchFamily="18" charset="0"/>
              </a:rPr>
              <a:t>smart contract</a:t>
            </a:r>
          </a:p>
          <a:p>
            <a:pPr algn="ctr"/>
            <a:r>
              <a:rPr b="0" i="1" dirty="0">
                <a:latin typeface="Times New Roman" panose="02020603050405020304" pitchFamily="18" charset="0"/>
                <a:cs typeface="Times New Roman" panose="02020603050405020304" pitchFamily="18" charset="0"/>
              </a:rPr>
              <a:t>trigger</a:t>
            </a:r>
          </a:p>
        </p:txBody>
      </p:sp>
      <p:sp>
        <p:nvSpPr>
          <p:cNvPr id="12" name="Rectangle 11">
            <a:extLst>
              <a:ext uri="{FF2B5EF4-FFF2-40B4-BE49-F238E27FC236}">
                <a16:creationId xmlns:a16="http://schemas.microsoft.com/office/drawing/2014/main" id="{BA47FF80-00E0-4E3E-A9BE-79CF7D7168CB}"/>
              </a:ext>
            </a:extLst>
          </p:cNvPr>
          <p:cNvSpPr/>
          <p:nvPr/>
        </p:nvSpPr>
        <p:spPr>
          <a:xfrm rot="5400000">
            <a:off x="4663440" y="4108450"/>
            <a:ext cx="914400"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3" name="Oval 12">
            <a:extLst>
              <a:ext uri="{FF2B5EF4-FFF2-40B4-BE49-F238E27FC236}">
                <a16:creationId xmlns:a16="http://schemas.microsoft.com/office/drawing/2014/main" id="{78915AD8-7DEF-44B6-8C47-F8A13849BB7D}"/>
              </a:ext>
            </a:extLst>
          </p:cNvPr>
          <p:cNvSpPr/>
          <p:nvPr/>
        </p:nvSpPr>
        <p:spPr>
          <a:xfrm>
            <a:off x="4919472" y="3090672"/>
            <a:ext cx="402336" cy="402336"/>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4" name="Oval 13">
            <a:extLst>
              <a:ext uri="{FF2B5EF4-FFF2-40B4-BE49-F238E27FC236}">
                <a16:creationId xmlns:a16="http://schemas.microsoft.com/office/drawing/2014/main" id="{C461014C-4BBE-4CC4-A3F0-677926E66762}"/>
              </a:ext>
            </a:extLst>
          </p:cNvPr>
          <p:cNvSpPr/>
          <p:nvPr/>
        </p:nvSpPr>
        <p:spPr>
          <a:xfrm>
            <a:off x="4999939" y="3171139"/>
            <a:ext cx="241401" cy="24140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D15301EE-D486-4D1D-A193-456938292098}"/>
              </a:ext>
            </a:extLst>
          </p:cNvPr>
          <p:cNvSpPr txBox="1"/>
          <p:nvPr/>
        </p:nvSpPr>
        <p:spPr>
          <a:xfrm>
            <a:off x="4114800" y="4663440"/>
            <a:ext cx="2011680" cy="646331"/>
          </a:xfrm>
          <a:prstGeom prst="rect">
            <a:avLst/>
          </a:prstGeom>
          <a:noFill/>
        </p:spPr>
        <p:txBody>
          <a:bodyPr wrap="square">
            <a:spAutoFit/>
          </a:bodyPr>
          <a:lstStyle/>
          <a:p>
            <a:pPr algn="ctr"/>
            <a:r>
              <a:rPr b="0" i="0">
                <a:latin typeface="Times New Roman" panose="02020603050405020304" pitchFamily="18" charset="0"/>
                <a:cs typeface="Times New Roman" panose="02020603050405020304" pitchFamily="18" charset="0"/>
              </a:rPr>
              <a:t>APAC window opens</a:t>
            </a:r>
          </a:p>
        </p:txBody>
      </p:sp>
      <p:sp>
        <p:nvSpPr>
          <p:cNvPr id="16" name="TextBox 15">
            <a:extLst>
              <a:ext uri="{FF2B5EF4-FFF2-40B4-BE49-F238E27FC236}">
                <a16:creationId xmlns:a16="http://schemas.microsoft.com/office/drawing/2014/main" id="{2803F04D-FACE-4FDD-9F07-33A1AFCF68F3}"/>
              </a:ext>
            </a:extLst>
          </p:cNvPr>
          <p:cNvSpPr txBox="1"/>
          <p:nvPr/>
        </p:nvSpPr>
        <p:spPr>
          <a:xfrm>
            <a:off x="4114799" y="2386572"/>
            <a:ext cx="2011680" cy="646331"/>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smart contract</a:t>
            </a:r>
          </a:p>
          <a:p>
            <a:pPr algn="ctr"/>
            <a:r>
              <a:rPr b="0" i="1">
                <a:latin typeface="Times New Roman" panose="02020603050405020304" pitchFamily="18" charset="0"/>
                <a:cs typeface="Times New Roman" panose="02020603050405020304" pitchFamily="18" charset="0"/>
              </a:rPr>
              <a:t>trigger</a:t>
            </a:r>
          </a:p>
        </p:txBody>
      </p:sp>
      <p:sp>
        <p:nvSpPr>
          <p:cNvPr id="17" name="Rectangle 16">
            <a:extLst>
              <a:ext uri="{FF2B5EF4-FFF2-40B4-BE49-F238E27FC236}">
                <a16:creationId xmlns:a16="http://schemas.microsoft.com/office/drawing/2014/main" id="{85353D72-252C-4C21-93B9-87CD7E3751DE}"/>
              </a:ext>
            </a:extLst>
          </p:cNvPr>
          <p:cNvSpPr/>
          <p:nvPr/>
        </p:nvSpPr>
        <p:spPr>
          <a:xfrm rot="5400000">
            <a:off x="7955279" y="4108450"/>
            <a:ext cx="914400"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8" name="Oval 17">
            <a:extLst>
              <a:ext uri="{FF2B5EF4-FFF2-40B4-BE49-F238E27FC236}">
                <a16:creationId xmlns:a16="http://schemas.microsoft.com/office/drawing/2014/main" id="{DA84A9A1-066A-4930-847A-51784BBFB1DD}"/>
              </a:ext>
            </a:extLst>
          </p:cNvPr>
          <p:cNvSpPr/>
          <p:nvPr/>
        </p:nvSpPr>
        <p:spPr>
          <a:xfrm>
            <a:off x="8211311" y="3090672"/>
            <a:ext cx="402336" cy="402336"/>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AB2940F4-EDD7-4666-8BE8-AB153AE7DA5E}"/>
              </a:ext>
            </a:extLst>
          </p:cNvPr>
          <p:cNvSpPr/>
          <p:nvPr/>
        </p:nvSpPr>
        <p:spPr>
          <a:xfrm>
            <a:off x="8291779" y="3171139"/>
            <a:ext cx="241401" cy="24140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0" name="TextBox 19">
            <a:extLst>
              <a:ext uri="{FF2B5EF4-FFF2-40B4-BE49-F238E27FC236}">
                <a16:creationId xmlns:a16="http://schemas.microsoft.com/office/drawing/2014/main" id="{05542788-40D8-4017-B045-E332EF876EF9}"/>
              </a:ext>
            </a:extLst>
          </p:cNvPr>
          <p:cNvSpPr txBox="1"/>
          <p:nvPr/>
        </p:nvSpPr>
        <p:spPr>
          <a:xfrm>
            <a:off x="7406640" y="4663440"/>
            <a:ext cx="2011680" cy="369332"/>
          </a:xfrm>
          <a:prstGeom prst="rect">
            <a:avLst/>
          </a:prstGeom>
          <a:noFill/>
        </p:spPr>
        <p:txBody>
          <a:bodyPr wrap="square">
            <a:spAutoFit/>
          </a:bodyPr>
          <a:lstStyle/>
          <a:p>
            <a:pPr algn="ctr"/>
            <a:r>
              <a:rPr b="0" i="0">
                <a:latin typeface="Times New Roman" panose="02020603050405020304" pitchFamily="18" charset="0"/>
                <a:cs typeface="Times New Roman" panose="02020603050405020304" pitchFamily="18" charset="0"/>
              </a:rPr>
              <a:t>US window closes</a:t>
            </a:r>
          </a:p>
        </p:txBody>
      </p:sp>
      <p:sp>
        <p:nvSpPr>
          <p:cNvPr id="21" name="TextBox 20">
            <a:extLst>
              <a:ext uri="{FF2B5EF4-FFF2-40B4-BE49-F238E27FC236}">
                <a16:creationId xmlns:a16="http://schemas.microsoft.com/office/drawing/2014/main" id="{50A1B346-E042-450E-942B-035D10405487}"/>
              </a:ext>
            </a:extLst>
          </p:cNvPr>
          <p:cNvSpPr txBox="1"/>
          <p:nvPr/>
        </p:nvSpPr>
        <p:spPr>
          <a:xfrm>
            <a:off x="7400289" y="2434816"/>
            <a:ext cx="2011680" cy="646331"/>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smart contract</a:t>
            </a:r>
          </a:p>
          <a:p>
            <a:pPr algn="ctr"/>
            <a:r>
              <a:rPr b="0" i="1">
                <a:latin typeface="Times New Roman" panose="02020603050405020304" pitchFamily="18" charset="0"/>
                <a:cs typeface="Times New Roman" panose="02020603050405020304" pitchFamily="18" charset="0"/>
              </a:rPr>
              <a:t>trigger</a:t>
            </a:r>
          </a:p>
        </p:txBody>
      </p:sp>
      <p:sp>
        <p:nvSpPr>
          <p:cNvPr id="22" name="TextBox 21"/>
          <p:cNvSpPr txBox="1"/>
          <p:nvPr/>
        </p:nvSpPr>
        <p:spPr>
          <a:xfrm>
            <a:off x="548640" y="5440680"/>
            <a:ext cx="11064240" cy="1280160"/>
          </a:xfrm>
          <a:prstGeom prst="rect">
            <a:avLst/>
          </a:prstGeom>
          <a:noFill/>
        </p:spPr>
        <p:txBody>
          <a:bodyPr wrap="square" lIns="45720" rIns="45720" tIns="27432" bIns="27432" anchor="t">
            <a:spAutoFit/>
          </a:bodyPr>
          <a:lstStyle/>
          <a:p>
            <a:pPr>
              <a:spcAft>
                <a:spcPts val="200"/>
              </a:spcAft>
            </a:pPr>
            <a:r>
              <a:rPr lang="en-GB" sz="1400" b="1" i="0">
                <a:solidFill>
                  <a:srgbClr val="6E1E2A"/>
                </a:solidFill>
                <a:latin typeface="Times New Roman"/>
              </a:rPr>
              <a:t>For Apple TV+</a:t>
            </a:r>
          </a:p>
          <a:p>
            <a:pPr marL="228600" indent="-228600">
              <a:spcAft>
                <a:spcPts val="200"/>
              </a:spcAft>
              <a:buClr>
                <a:srgbClr val="6E1E2A"/>
              </a:buClr>
              <a:buFont typeface="Arial"/>
              <a:buChar char="•"/>
            </a:pPr>
            <a:r>
              <a:rPr lang="en-GB" sz="1400" b="0" i="0">
                <a:solidFill>
                  <a:srgbClr val="2A2218"/>
                </a:solidFill>
                <a:latin typeface="Times New Roman"/>
              </a:rPr>
              <a:t>Each territory's rights window opens and closes on its own date.</a:t>
            </a:r>
          </a:p>
          <a:p>
            <a:pPr marL="228600" indent="-228600">
              <a:spcAft>
                <a:spcPts val="200"/>
              </a:spcAft>
              <a:buClr>
                <a:srgbClr val="6E1E2A"/>
              </a:buClr>
              <a:buFont typeface="Arial"/>
              <a:buChar char="•"/>
            </a:pPr>
            <a:r>
              <a:rPr lang="en-GB" sz="1400" b="0" i="0">
                <a:solidFill>
                  <a:srgbClr val="2A2218"/>
                </a:solidFill>
                <a:latin typeface="Times New Roman"/>
              </a:rPr>
              <a:t>The ledger starts the payment for each one automatically, instead of someone confirming each change by hand across EU, APAC and US operations.</a:t>
            </a:r>
          </a:p>
          <a:p>
            <a:pPr marL="228600" indent="-228600">
              <a:spcAft>
                <a:spcPts val="0"/>
              </a:spcAft>
              <a:buClr>
                <a:srgbClr val="6E1E2A"/>
              </a:buClr>
              <a:buFont typeface="Arial"/>
              <a:buChar char="•"/>
            </a:pPr>
            <a:r>
              <a:rPr lang="en-GB" sz="1200" b="0" i="1">
                <a:solidFill>
                  <a:srgbClr val="7A7060"/>
                </a:solidFill>
                <a:latin typeface="Times New Roman"/>
              </a:rPr>
              <a:t>Transaction cost economics (Williamson, 1979): lower monitoring and enforcement cost.</a:t>
            </a:r>
          </a:p>
        </p:txBody>
      </p:sp>
      <p:sp>
        <p:nvSpPr>
          <p:cNvPr id="23"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4</a:t>
            </a:r>
          </a:p>
        </p:txBody>
      </p:sp>
    </p:spTree>
    <p:extLst>
      <p:ext uri="{BB962C8B-B14F-4D97-AF65-F5344CB8AC3E}">
        <p14:creationId xmlns:p14="http://schemas.microsoft.com/office/powerpoint/2010/main" val="37601256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A7A0726-2E62-44CF-BE20-2AEA9946D40A}"/>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BENEFITS &amp; LIMITATIONS</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Three things the technology earns. Three things it still has to overcome.</a:t>
            </a:r>
          </a:p>
        </p:txBody>
      </p:sp>
      <p:sp>
        <p:nvSpPr>
          <p:cNvPr id="6" name="Rectangle 5"/>
          <p:cNvSpPr/>
          <p:nvPr/>
        </p:nvSpPr>
        <p:spPr>
          <a:xfrm>
            <a:off x="548640" y="1691640"/>
            <a:ext cx="5440680" cy="502920"/>
          </a:xfrm>
          <a:prstGeom prst="rect">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91640"/>
            <a:ext cx="5074920" cy="50292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BENEFITS</a:t>
            </a:r>
          </a:p>
        </p:txBody>
      </p:sp>
      <p:sp>
        <p:nvSpPr>
          <p:cNvPr id="8" name="Rectangle 7"/>
          <p:cNvSpPr/>
          <p:nvPr/>
        </p:nvSpPr>
        <p:spPr>
          <a:xfrm>
            <a:off x="548640" y="2286000"/>
            <a:ext cx="5440680" cy="1005840"/>
          </a:xfrm>
          <a:prstGeom prst="rect">
            <a:avLst/>
          </a:prstGeom>
          <a:solidFill>
            <a:srgbClr val="E8F0E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2564892"/>
            <a:ext cx="457200" cy="45720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18388" y="2651760"/>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350007"/>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Fewer payment errors and disputes</a:t>
            </a:r>
          </a:p>
        </p:txBody>
      </p:sp>
      <p:sp>
        <p:nvSpPr>
          <p:cNvPr id="12" name="TextBox 11"/>
          <p:cNvSpPr txBox="1"/>
          <p:nvPr/>
        </p:nvSpPr>
        <p:spPr>
          <a:xfrm>
            <a:off x="1325880" y="2651759"/>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Automatic triggers remove manual discretion over when and how royalties are paid.</a:t>
            </a:r>
          </a:p>
        </p:txBody>
      </p:sp>
      <p:sp>
        <p:nvSpPr>
          <p:cNvPr id="13" name="Rectangle 12"/>
          <p:cNvSpPr/>
          <p:nvPr/>
        </p:nvSpPr>
        <p:spPr>
          <a:xfrm>
            <a:off x="548640" y="3364992"/>
            <a:ext cx="5440680" cy="1005840"/>
          </a:xfrm>
          <a:prstGeom prst="rect">
            <a:avLst/>
          </a:prstGeom>
          <a:solidFill>
            <a:srgbClr val="E8F0E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31520" y="3643884"/>
            <a:ext cx="457200" cy="45720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18388" y="3730752"/>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25880" y="3429000"/>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One auditable record</a:t>
            </a:r>
          </a:p>
        </p:txBody>
      </p:sp>
      <p:sp>
        <p:nvSpPr>
          <p:cNvPr id="17" name="TextBox 16"/>
          <p:cNvSpPr txBox="1"/>
          <p:nvPr/>
        </p:nvSpPr>
        <p:spPr>
          <a:xfrm>
            <a:off x="1325880" y="3730752"/>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Talent, rights holders and Apple TV+ verify the same entries, so reconciliation shrinks.</a:t>
            </a:r>
          </a:p>
        </p:txBody>
      </p:sp>
      <p:sp>
        <p:nvSpPr>
          <p:cNvPr id="18" name="Rectangle 17"/>
          <p:cNvSpPr/>
          <p:nvPr/>
        </p:nvSpPr>
        <p:spPr>
          <a:xfrm>
            <a:off x="548640" y="4443984"/>
            <a:ext cx="5440680" cy="1005840"/>
          </a:xfrm>
          <a:prstGeom prst="rect">
            <a:avLst/>
          </a:prstGeom>
          <a:solidFill>
            <a:srgbClr val="E8F0E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31520" y="4722876"/>
            <a:ext cx="457200" cy="45720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8388" y="4809744"/>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4507992"/>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Faster payment, ready to scale</a:t>
            </a:r>
          </a:p>
        </p:txBody>
      </p:sp>
      <p:sp>
        <p:nvSpPr>
          <p:cNvPr id="22" name="TextBox 21"/>
          <p:cNvSpPr txBox="1"/>
          <p:nvPr/>
        </p:nvSpPr>
        <p:spPr>
          <a:xfrm>
            <a:off x="1325880" y="4809744"/>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Payment starts when a rights window opens, so new territories add less manual work.</a:t>
            </a:r>
          </a:p>
        </p:txBody>
      </p:sp>
      <p:sp>
        <p:nvSpPr>
          <p:cNvPr id="23" name="Rectangle 22"/>
          <p:cNvSpPr/>
          <p:nvPr/>
        </p:nvSpPr>
        <p:spPr>
          <a:xfrm>
            <a:off x="6199632" y="1691640"/>
            <a:ext cx="5440680" cy="50292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82512" y="1691640"/>
            <a:ext cx="5074920" cy="50292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LIMITATIONS</a:t>
            </a:r>
          </a:p>
        </p:txBody>
      </p:sp>
      <p:sp>
        <p:nvSpPr>
          <p:cNvPr id="25" name="Rectangle 24"/>
          <p:cNvSpPr/>
          <p:nvPr/>
        </p:nvSpPr>
        <p:spPr>
          <a:xfrm>
            <a:off x="6199632" y="2286000"/>
            <a:ext cx="5440680" cy="1005840"/>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82512" y="2564892"/>
            <a:ext cx="457200" cy="45720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9380" y="2651760"/>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76872" y="2350007"/>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Legal enforceability</a:t>
            </a:r>
          </a:p>
        </p:txBody>
      </p:sp>
      <p:sp>
        <p:nvSpPr>
          <p:cNvPr id="29" name="TextBox 28"/>
          <p:cNvSpPr txBox="1"/>
          <p:nvPr/>
        </p:nvSpPr>
        <p:spPr>
          <a:xfrm>
            <a:off x="6976872" y="2651759"/>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Code that runs correctly is not automatically binding in every jurisdiction; case law is unsettled.</a:t>
            </a:r>
          </a:p>
        </p:txBody>
      </p:sp>
      <p:sp>
        <p:nvSpPr>
          <p:cNvPr id="30" name="Rectangle 29"/>
          <p:cNvSpPr/>
          <p:nvPr/>
        </p:nvSpPr>
        <p:spPr>
          <a:xfrm>
            <a:off x="6199632" y="3364992"/>
            <a:ext cx="5440680" cy="1005840"/>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82512" y="3643884"/>
            <a:ext cx="457200" cy="45720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69380" y="3730752"/>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76872" y="3429000"/>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Cost and integration</a:t>
            </a:r>
          </a:p>
        </p:txBody>
      </p:sp>
      <p:sp>
        <p:nvSpPr>
          <p:cNvPr id="34" name="TextBox 33"/>
          <p:cNvSpPr txBox="1"/>
          <p:nvPr/>
        </p:nvSpPr>
        <p:spPr>
          <a:xfrm>
            <a:off x="6976872" y="3730752"/>
            <a:ext cx="4526280" cy="685800"/>
          </a:xfrm>
          <a:prstGeom prst="rect">
            <a:avLst/>
          </a:prstGeom>
          <a:noFill/>
        </p:spPr>
        <p:txBody>
          <a:bodyPr wrap="square" lIns="45720" rIns="45720" tIns="27432" bIns="27432" anchor="t">
            <a:spAutoFit/>
          </a:bodyPr>
          <a:lstStyle/>
          <a:p>
            <a:pPr algn="l">
              <a:lnSpc>
                <a:spcPct val="105000"/>
              </a:lnSpc>
              <a:spcAft>
                <a:spcPts val="0"/>
              </a:spcAft>
            </a:pPr>
            <a:r>
              <a:rPr lang="en-GB" sz="1300" b="0" i="0" dirty="0">
                <a:solidFill>
                  <a:srgbClr val="2A2218"/>
                </a:solidFill>
                <a:latin typeface="Times New Roman"/>
              </a:rPr>
              <a:t>Build, run and integration costs; 28% of firms cite uncertain return on investment </a:t>
            </a:r>
            <a:r>
              <a:rPr lang="en-GB" sz="1300" b="0" i="1" dirty="0">
                <a:solidFill>
                  <a:srgbClr val="7A7060"/>
                </a:solidFill>
                <a:latin typeface="Times New Roman"/>
              </a:rPr>
              <a:t>(Deloitte, 2019).</a:t>
            </a:r>
          </a:p>
        </p:txBody>
      </p:sp>
      <p:sp>
        <p:nvSpPr>
          <p:cNvPr id="35" name="Rectangle 34"/>
          <p:cNvSpPr/>
          <p:nvPr/>
        </p:nvSpPr>
        <p:spPr>
          <a:xfrm>
            <a:off x="6199632" y="4443984"/>
            <a:ext cx="5440680" cy="1005840"/>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82512" y="4722876"/>
            <a:ext cx="457200" cy="45720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69380" y="4809744"/>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76872" y="4507992"/>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Skills and coding risk</a:t>
            </a:r>
          </a:p>
        </p:txBody>
      </p:sp>
      <p:sp>
        <p:nvSpPr>
          <p:cNvPr id="39" name="TextBox 38"/>
          <p:cNvSpPr txBox="1"/>
          <p:nvPr/>
        </p:nvSpPr>
        <p:spPr>
          <a:xfrm>
            <a:off x="6976872" y="4809744"/>
            <a:ext cx="4526280" cy="685800"/>
          </a:xfrm>
          <a:prstGeom prst="rect">
            <a:avLst/>
          </a:prstGeom>
          <a:noFill/>
        </p:spPr>
        <p:txBody>
          <a:bodyPr wrap="square" lIns="45720" rIns="45720" tIns="27432" bIns="27432" anchor="t">
            <a:spAutoFit/>
          </a:bodyPr>
          <a:lstStyle/>
          <a:p>
            <a:pPr algn="l">
              <a:lnSpc>
                <a:spcPct val="105000"/>
              </a:lnSpc>
              <a:spcAft>
                <a:spcPts val="0"/>
              </a:spcAft>
            </a:pPr>
            <a:r>
              <a:rPr lang="en-GB" sz="1300" b="0" i="0" dirty="0">
                <a:solidFill>
                  <a:srgbClr val="2A2218"/>
                </a:solidFill>
                <a:latin typeface="Times New Roman"/>
              </a:rPr>
              <a:t>Needs legal and technical skills, or a miscoded term pays the wrong party; 28% of firms cite skills gaps </a:t>
            </a:r>
            <a:r>
              <a:rPr lang="en-GB" sz="1300" b="0" i="1" dirty="0">
                <a:solidFill>
                  <a:srgbClr val="7A7060"/>
                </a:solidFill>
                <a:latin typeface="Times New Roman"/>
              </a:rPr>
              <a:t>(Deloitte, 2019).</a:t>
            </a:r>
          </a:p>
        </p:txBody>
      </p:sp>
      <p:sp>
        <p:nvSpPr>
          <p:cNvPr id="40" name="TextBox 39"/>
          <p:cNvSpPr txBox="1"/>
          <p:nvPr/>
        </p:nvSpPr>
        <p:spPr>
          <a:xfrm>
            <a:off x="548640" y="6355080"/>
            <a:ext cx="11064240" cy="274320"/>
          </a:xfrm>
          <a:prstGeom prst="rect">
            <a:avLst/>
          </a:prstGeom>
          <a:noFill/>
        </p:spPr>
        <p:txBody>
          <a:bodyPr wrap="square" lIns="45720" rIns="45720" tIns="27432" bIns="27432" anchor="t">
            <a:spAutoFit/>
          </a:bodyPr>
          <a:lstStyle/>
          <a:p>
            <a:pPr algn="l">
              <a:lnSpc>
                <a:spcPct val="105000"/>
              </a:lnSpc>
              <a:spcAft>
                <a:spcPts val="0"/>
              </a:spcAft>
            </a:pPr>
            <a:r>
              <a:rPr lang="en-GB" sz="1000" b="0" i="1" dirty="0">
                <a:solidFill>
                  <a:srgbClr val="7A7060"/>
                </a:solidFill>
                <a:latin typeface="Times New Roman"/>
              </a:rPr>
              <a:t>Jensen &amp; Meckling (1976); Werbach &amp; Cornell (2017); Levy (2017); Deloitte (2019); Gartner (2024)</a:t>
            </a:r>
          </a:p>
        </p:txBody>
      </p:sp>
      <p:sp>
        <p:nvSpPr>
          <p:cNvPr id="41"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5</a:t>
            </a:r>
          </a:p>
        </p:txBody>
      </p:sp>
      <p:sp>
        <p:nvSpPr>
          <p:cNvPr id="42" name="Hype strip"/>
          <p:cNvSpPr/>
          <p:nvPr/>
        </p:nvSpPr>
        <p:spPr>
          <a:xfrm>
            <a:off x="548640" y="5596128"/>
            <a:ext cx="11091672" cy="658368"/>
          </a:xfrm>
          <a:prstGeom prst="rect">
            <a:avLst/>
          </a:prstGeom>
          <a:solidFill>
            <a:srgbClr val="FBF7EC"/>
          </a:solidFill>
          <a:ln w="12700">
            <a:solidFill>
              <a:srgbClr val="EAE0C8"/>
            </a:solidFill>
          </a:ln>
        </p:spPr>
        <p:txBody>
          <a:bodyPr rtlCol="0" anchor="ctr"/>
          <a:lstStyle/>
          <a:p>
            <a:pPr algn="ctr"/>
            <a:endParaRPr lang="en-GB"/>
          </a:p>
        </p:txBody>
      </p:sp>
      <p:sp>
        <p:nvSpPr>
          <p:cNvPr id="43" name="Hype curve"/>
          <p:cNvSpPr/>
          <p:nvPr/>
        </p:nvSpPr>
        <p:spPr>
          <a:xfrm>
            <a:off x="713232" y="5660136"/>
            <a:ext cx="1645920" cy="329184"/>
          </a:xfrm>
          <a:custGeom>
            <a:avLst/>
            <a:gdLst/>
            <a:ahLst/>
            <a:cxnLst/>
            <a:rect l="0" t="0" r="r" b="b"/>
            <a:pathLst>
              <a:path w="1800" h="360" fill="none">
                <a:moveTo>
                  <a:pt x="0" y="293"/>
                </a:moveTo>
                <a:lnTo>
                  <a:pt x="22" y="291"/>
                </a:lnTo>
                <a:lnTo>
                  <a:pt x="45" y="288"/>
                </a:lnTo>
                <a:lnTo>
                  <a:pt x="67" y="284"/>
                </a:lnTo>
                <a:lnTo>
                  <a:pt x="90" y="279"/>
                </a:lnTo>
                <a:lnTo>
                  <a:pt x="112" y="270"/>
                </a:lnTo>
                <a:lnTo>
                  <a:pt x="135" y="259"/>
                </a:lnTo>
                <a:lnTo>
                  <a:pt x="157" y="244"/>
                </a:lnTo>
                <a:lnTo>
                  <a:pt x="180" y="225"/>
                </a:lnTo>
                <a:lnTo>
                  <a:pt x="202" y="202"/>
                </a:lnTo>
                <a:lnTo>
                  <a:pt x="225" y="175"/>
                </a:lnTo>
                <a:lnTo>
                  <a:pt x="247" y="145"/>
                </a:lnTo>
                <a:lnTo>
                  <a:pt x="270" y="114"/>
                </a:lnTo>
                <a:lnTo>
                  <a:pt x="292" y="83"/>
                </a:lnTo>
                <a:lnTo>
                  <a:pt x="315" y="54"/>
                </a:lnTo>
                <a:lnTo>
                  <a:pt x="337" y="29"/>
                </a:lnTo>
                <a:lnTo>
                  <a:pt x="360" y="11"/>
                </a:lnTo>
                <a:lnTo>
                  <a:pt x="382" y="1"/>
                </a:lnTo>
                <a:lnTo>
                  <a:pt x="405" y="0"/>
                </a:lnTo>
                <a:lnTo>
                  <a:pt x="427" y="7"/>
                </a:lnTo>
                <a:lnTo>
                  <a:pt x="450" y="23"/>
                </a:lnTo>
                <a:lnTo>
                  <a:pt x="472" y="46"/>
                </a:lnTo>
                <a:lnTo>
                  <a:pt x="495" y="74"/>
                </a:lnTo>
                <a:lnTo>
                  <a:pt x="517" y="104"/>
                </a:lnTo>
                <a:lnTo>
                  <a:pt x="540" y="135"/>
                </a:lnTo>
                <a:lnTo>
                  <a:pt x="562" y="164"/>
                </a:lnTo>
                <a:lnTo>
                  <a:pt x="585" y="191"/>
                </a:lnTo>
                <a:lnTo>
                  <a:pt x="607" y="213"/>
                </a:lnTo>
                <a:lnTo>
                  <a:pt x="630" y="232"/>
                </a:lnTo>
                <a:lnTo>
                  <a:pt x="652" y="246"/>
                </a:lnTo>
                <a:lnTo>
                  <a:pt x="675" y="257"/>
                </a:lnTo>
                <a:lnTo>
                  <a:pt x="697" y="264"/>
                </a:lnTo>
                <a:lnTo>
                  <a:pt x="720" y="268"/>
                </a:lnTo>
                <a:lnTo>
                  <a:pt x="742" y="270"/>
                </a:lnTo>
                <a:lnTo>
                  <a:pt x="765" y="271"/>
                </a:lnTo>
                <a:lnTo>
                  <a:pt x="787" y="270"/>
                </a:lnTo>
                <a:lnTo>
                  <a:pt x="810" y="268"/>
                </a:lnTo>
                <a:lnTo>
                  <a:pt x="832" y="265"/>
                </a:lnTo>
                <a:lnTo>
                  <a:pt x="855" y="261"/>
                </a:lnTo>
                <a:lnTo>
                  <a:pt x="877" y="257"/>
                </a:lnTo>
                <a:lnTo>
                  <a:pt x="900" y="253"/>
                </a:lnTo>
                <a:lnTo>
                  <a:pt x="922" y="248"/>
                </a:lnTo>
                <a:lnTo>
                  <a:pt x="945" y="242"/>
                </a:lnTo>
                <a:lnTo>
                  <a:pt x="967" y="236"/>
                </a:lnTo>
                <a:lnTo>
                  <a:pt x="990" y="229"/>
                </a:lnTo>
                <a:lnTo>
                  <a:pt x="1012" y="222"/>
                </a:lnTo>
                <a:lnTo>
                  <a:pt x="1035" y="214"/>
                </a:lnTo>
                <a:lnTo>
                  <a:pt x="1057" y="206"/>
                </a:lnTo>
                <a:lnTo>
                  <a:pt x="1080" y="198"/>
                </a:lnTo>
                <a:lnTo>
                  <a:pt x="1102" y="189"/>
                </a:lnTo>
                <a:lnTo>
                  <a:pt x="1125" y="180"/>
                </a:lnTo>
                <a:lnTo>
                  <a:pt x="1147" y="171"/>
                </a:lnTo>
                <a:lnTo>
                  <a:pt x="1170" y="162"/>
                </a:lnTo>
                <a:lnTo>
                  <a:pt x="1192" y="152"/>
                </a:lnTo>
                <a:lnTo>
                  <a:pt x="1215" y="143"/>
                </a:lnTo>
                <a:lnTo>
                  <a:pt x="1237" y="134"/>
                </a:lnTo>
                <a:lnTo>
                  <a:pt x="1260" y="125"/>
                </a:lnTo>
                <a:lnTo>
                  <a:pt x="1282" y="117"/>
                </a:lnTo>
                <a:lnTo>
                  <a:pt x="1305" y="109"/>
                </a:lnTo>
                <a:lnTo>
                  <a:pt x="1327" y="101"/>
                </a:lnTo>
                <a:lnTo>
                  <a:pt x="1350" y="94"/>
                </a:lnTo>
                <a:lnTo>
                  <a:pt x="1372" y="87"/>
                </a:lnTo>
                <a:lnTo>
                  <a:pt x="1395" y="81"/>
                </a:lnTo>
                <a:lnTo>
                  <a:pt x="1417" y="76"/>
                </a:lnTo>
                <a:lnTo>
                  <a:pt x="1440" y="70"/>
                </a:lnTo>
                <a:lnTo>
                  <a:pt x="1462" y="66"/>
                </a:lnTo>
                <a:lnTo>
                  <a:pt x="1485" y="61"/>
                </a:lnTo>
                <a:lnTo>
                  <a:pt x="1507" y="57"/>
                </a:lnTo>
                <a:lnTo>
                  <a:pt x="1530" y="54"/>
                </a:lnTo>
                <a:lnTo>
                  <a:pt x="1552" y="51"/>
                </a:lnTo>
                <a:lnTo>
                  <a:pt x="1575" y="48"/>
                </a:lnTo>
                <a:lnTo>
                  <a:pt x="1597" y="46"/>
                </a:lnTo>
                <a:lnTo>
                  <a:pt x="1620" y="44"/>
                </a:lnTo>
                <a:lnTo>
                  <a:pt x="1642" y="42"/>
                </a:lnTo>
                <a:lnTo>
                  <a:pt x="1665" y="40"/>
                </a:lnTo>
                <a:lnTo>
                  <a:pt x="1687" y="38"/>
                </a:lnTo>
                <a:lnTo>
                  <a:pt x="1710" y="37"/>
                </a:lnTo>
                <a:lnTo>
                  <a:pt x="1732" y="36"/>
                </a:lnTo>
                <a:lnTo>
                  <a:pt x="1755" y="35"/>
                </a:lnTo>
                <a:lnTo>
                  <a:pt x="1777" y="34"/>
                </a:lnTo>
                <a:lnTo>
                  <a:pt x="1800" y="33"/>
                </a:lnTo>
              </a:path>
            </a:pathLst>
          </a:custGeom>
          <a:noFill/>
          <a:ln w="22225">
            <a:solidFill>
              <a:srgbClr val="6E1E2A"/>
            </a:solidFill>
          </a:ln>
        </p:spPr>
        <p:txBody>
          <a:bodyPr rtlCol="0" anchor="ctr"/>
          <a:lstStyle/>
          <a:p>
            <a:endParaRPr lang="en-GB"/>
          </a:p>
        </p:txBody>
      </p:sp>
      <p:sp>
        <p:nvSpPr>
          <p:cNvPr id="44" name="Hype marker"/>
          <p:cNvSpPr/>
          <p:nvPr/>
        </p:nvSpPr>
        <p:spPr>
          <a:xfrm>
            <a:off x="1307592" y="5841769"/>
            <a:ext cx="128016" cy="128016"/>
          </a:xfrm>
          <a:prstGeom prst="ellipse">
            <a:avLst/>
          </a:prstGeom>
          <a:solidFill>
            <a:srgbClr val="B38A3C"/>
          </a:solidFill>
          <a:ln w="12700">
            <a:solidFill>
              <a:srgbClr val="FFFFFF"/>
            </a:solidFill>
          </a:ln>
        </p:spPr>
        <p:txBody>
          <a:bodyPr rtlCol="0" anchor="ctr"/>
          <a:lstStyle/>
          <a:p>
            <a:endParaRPr lang="en-GB"/>
          </a:p>
        </p:txBody>
      </p:sp>
      <p:sp>
        <p:nvSpPr>
          <p:cNvPr id="45" name="Hype caption"/>
          <p:cNvSpPr txBox="1"/>
          <p:nvPr/>
        </p:nvSpPr>
        <p:spPr>
          <a:xfrm>
            <a:off x="640080" y="5998464"/>
            <a:ext cx="1828800" cy="237744"/>
          </a:xfrm>
          <a:prstGeom prst="rect">
            <a:avLst/>
          </a:prstGeom>
          <a:noFill/>
        </p:spPr>
        <p:txBody>
          <a:bodyPr wrap="square" lIns="45720" rIns="45720" tIns="27432" bIns="27432" anchor="t">
            <a:spAutoFit/>
          </a:bodyPr>
          <a:lstStyle/>
          <a:p>
            <a:pPr algn="ctr">
              <a:lnSpc>
                <a:spcPct val="105000"/>
              </a:lnSpc>
              <a:spcAft>
                <a:spcPts val="0"/>
              </a:spcAft>
            </a:pPr>
            <a:r>
              <a:rPr lang="en-GB" sz="1000" b="0" i="1" dirty="0">
                <a:solidFill>
                  <a:srgbClr val="7A7060"/>
                </a:solidFill>
                <a:latin typeface="Times New Roman"/>
              </a:rPr>
              <a:t>Gartner Hype Cycle</a:t>
            </a:r>
          </a:p>
        </p:txBody>
      </p:sp>
      <p:sp>
        <p:nvSpPr>
          <p:cNvPr id="46" name="Hype text"/>
          <p:cNvSpPr txBox="1"/>
          <p:nvPr/>
        </p:nvSpPr>
        <p:spPr>
          <a:xfrm>
            <a:off x="2651760" y="5596128"/>
            <a:ext cx="8869680" cy="658368"/>
          </a:xfrm>
          <a:prstGeom prst="rect">
            <a:avLst/>
          </a:prstGeom>
          <a:noFill/>
        </p:spPr>
        <p:txBody>
          <a:bodyPr wrap="square" lIns="45720" rIns="45720" tIns="27432" bIns="27432" anchor="ctr"/>
          <a:lstStyle/>
          <a:p>
            <a:pPr algn="l">
              <a:lnSpc>
                <a:spcPct val="105000"/>
              </a:lnSpc>
              <a:spcAft>
                <a:spcPts val="0"/>
              </a:spcAft>
            </a:pPr>
            <a:r>
              <a:rPr lang="en-GB" sz="1300" b="1" i="0" dirty="0">
                <a:solidFill>
                  <a:srgbClr val="6E1E2A"/>
                </a:solidFill>
                <a:latin typeface="Times New Roman"/>
              </a:rPr>
              <a:t>Blockchain is entering the Trough of Disillusionment (Gartner, 2024). </a:t>
            </a:r>
            <a:r>
              <a:rPr lang="en-GB" sz="1200" b="0" i="0" dirty="0">
                <a:solidFill>
                  <a:srgbClr val="2A2218"/>
                </a:solidFill>
                <a:latin typeface="Times New Roman"/>
              </a:rPr>
              <a:t>Hype has cooled, so prove value in one territory before scaling. Gartner’s 2025 emerging-tech cycle now tracks it as programmable money.</a:t>
            </a:r>
          </a:p>
        </p:txBody>
      </p:sp>
    </p:spTree>
    <p:extLst>
      <p:ext uri="{BB962C8B-B14F-4D97-AF65-F5344CB8AC3E}">
        <p14:creationId xmlns:p14="http://schemas.microsoft.com/office/powerpoint/2010/main" val="3653943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74FF2F3-FC75-4709-8B51-DBD24B1C559A}"/>
              </a:ext>
            </a:extLst>
          </p:cNvPr>
          <p:cNvSpPr txBox="1"/>
          <p:nvPr/>
        </p:nvSpPr>
        <p:spPr>
          <a:xfrm>
            <a:off x="1920240" y="539054"/>
            <a:ext cx="8229600"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ORGANISATIONAL IMPACT</a:t>
            </a:r>
          </a:p>
        </p:txBody>
      </p:sp>
      <p:sp>
        <p:nvSpPr>
          <p:cNvPr id="5" name="TextBox 4">
            <a:extLst>
              <a:ext uri="{FF2B5EF4-FFF2-40B4-BE49-F238E27FC236}">
                <a16:creationId xmlns:a16="http://schemas.microsoft.com/office/drawing/2014/main" id="{96D33EEF-3BBB-4CD7-88A8-388EB5C6CB94}"/>
              </a:ext>
            </a:extLst>
          </p:cNvPr>
          <p:cNvSpPr txBox="1"/>
          <p:nvPr/>
        </p:nvSpPr>
        <p:spPr>
          <a:xfrm>
            <a:off x="548640" y="1325880"/>
            <a:ext cx="10789920" cy="717953"/>
          </a:xfrm>
          <a:prstGeom prst="rect">
            <a:avLst/>
          </a:prstGeom>
          <a:noFill/>
        </p:spPr>
        <p:txBody>
          <a:bodyPr wrap="square">
            <a:spAutoFit/>
          </a:bodyPr>
          <a:lstStyle/>
          <a:p>
            <a:pPr algn="l">
              <a:lnSpc>
                <a:spcPct val="105000"/>
              </a:lnSpc>
            </a:pPr>
            <a:r>
              <a:rPr sz="2000" i="0">
                <a:solidFill>
                  <a:srgbClr val="2A2218"/>
                </a:solidFill>
                <a:latin typeface="Times New Roman" panose="02020603050405020304" pitchFamily="18" charset="0"/>
                <a:cs typeface="Times New Roman" panose="02020603050405020304" pitchFamily="18" charset="0"/>
              </a:rPr>
              <a:t>Three functions keep three versions of the truth.</a:t>
            </a:r>
          </a:p>
          <a:p>
            <a:pPr algn="l">
              <a:lnSpc>
                <a:spcPct val="105000"/>
              </a:lnSpc>
            </a:pPr>
            <a:r>
              <a:rPr sz="2000" i="0">
                <a:solidFill>
                  <a:srgbClr val="2A2218"/>
                </a:solidFill>
                <a:latin typeface="Times New Roman" panose="02020603050405020304" pitchFamily="18" charset="0"/>
                <a:cs typeface="Times New Roman" panose="02020603050405020304" pitchFamily="18" charset="0"/>
              </a:rPr>
              <a:t>This is what happens when they keep one.</a:t>
            </a:r>
          </a:p>
        </p:txBody>
      </p:sp>
      <p:sp>
        <p:nvSpPr>
          <p:cNvPr id="6" name="TextBox 5">
            <a:extLst>
              <a:ext uri="{FF2B5EF4-FFF2-40B4-BE49-F238E27FC236}">
                <a16:creationId xmlns:a16="http://schemas.microsoft.com/office/drawing/2014/main" id="{8C8A79E8-F824-424D-B2DC-2D818E8AABA0}"/>
              </a:ext>
            </a:extLst>
          </p:cNvPr>
          <p:cNvSpPr txBox="1"/>
          <p:nvPr/>
        </p:nvSpPr>
        <p:spPr>
          <a:xfrm>
            <a:off x="640080" y="3566160"/>
            <a:ext cx="1828800" cy="369332"/>
          </a:xfrm>
          <a:prstGeom prst="rect">
            <a:avLst/>
          </a:prstGeom>
          <a:noFill/>
        </p:spPr>
        <p:txBody>
          <a:bodyPr wrap="square">
            <a:spAutoFit/>
          </a:bodyPr>
          <a:lstStyle/>
          <a:p>
            <a:pPr algn="ctr"/>
            <a:r>
              <a:rPr b="1" i="0">
                <a:latin typeface="Times New Roman" panose="02020603050405020304" pitchFamily="18" charset="0"/>
                <a:cs typeface="Times New Roman" panose="02020603050405020304" pitchFamily="18" charset="0"/>
              </a:rPr>
              <a:t>Legal</a:t>
            </a:r>
          </a:p>
        </p:txBody>
      </p:sp>
      <p:sp>
        <p:nvSpPr>
          <p:cNvPr id="7" name="Rectangle 6">
            <a:extLst>
              <a:ext uri="{FF2B5EF4-FFF2-40B4-BE49-F238E27FC236}">
                <a16:creationId xmlns:a16="http://schemas.microsoft.com/office/drawing/2014/main" id="{B9A8EA0C-22E0-4693-A6DD-F87F147D5373}"/>
              </a:ext>
            </a:extLst>
          </p:cNvPr>
          <p:cNvSpPr/>
          <p:nvPr/>
        </p:nvSpPr>
        <p:spPr>
          <a:xfrm>
            <a:off x="685800" y="3977639"/>
            <a:ext cx="1005840" cy="685800"/>
          </a:xfrm>
          <a:prstGeom prst="rect">
            <a:avLst/>
          </a:prstGeom>
          <a:solidFill>
            <a:srgbClr val="EAE0C8"/>
          </a:solid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55173B6A-A093-4A10-AA59-CC1A04522D78}"/>
              </a:ext>
            </a:extLst>
          </p:cNvPr>
          <p:cNvSpPr txBox="1"/>
          <p:nvPr/>
        </p:nvSpPr>
        <p:spPr>
          <a:xfrm>
            <a:off x="64008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before</a:t>
            </a:r>
          </a:p>
        </p:txBody>
      </p:sp>
      <p:sp>
        <p:nvSpPr>
          <p:cNvPr id="9" name="Rectangle 8">
            <a:extLst>
              <a:ext uri="{FF2B5EF4-FFF2-40B4-BE49-F238E27FC236}">
                <a16:creationId xmlns:a16="http://schemas.microsoft.com/office/drawing/2014/main" id="{62E6D4AE-B5A7-4D0D-B8CF-E624DDF1173D}"/>
              </a:ext>
            </a:extLst>
          </p:cNvPr>
          <p:cNvSpPr/>
          <p:nvPr/>
        </p:nvSpPr>
        <p:spPr>
          <a:xfrm>
            <a:off x="1737360" y="4288155"/>
            <a:ext cx="457200" cy="190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0" name="Rectangle 9">
            <a:extLst>
              <a:ext uri="{FF2B5EF4-FFF2-40B4-BE49-F238E27FC236}">
                <a16:creationId xmlns:a16="http://schemas.microsoft.com/office/drawing/2014/main" id="{8F224DFD-04D8-42CC-87E5-DB1CBA811163}"/>
              </a:ext>
            </a:extLst>
          </p:cNvPr>
          <p:cNvSpPr/>
          <p:nvPr/>
        </p:nvSpPr>
        <p:spPr>
          <a:xfrm>
            <a:off x="2240280" y="3977639"/>
            <a:ext cx="1005840" cy="685800"/>
          </a:xfrm>
          <a:prstGeom prst="rect">
            <a:avLst/>
          </a:prstGeom>
          <a:solidFill>
            <a:srgbClr val="E8F0E8"/>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6B491A07-D1D7-418D-99E2-040D26C50A0A}"/>
              </a:ext>
            </a:extLst>
          </p:cNvPr>
          <p:cNvSpPr txBox="1"/>
          <p:nvPr/>
        </p:nvSpPr>
        <p:spPr>
          <a:xfrm>
            <a:off x="219456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after</a:t>
            </a:r>
          </a:p>
        </p:txBody>
      </p:sp>
      <p:sp>
        <p:nvSpPr>
          <p:cNvPr id="12" name="TextBox 11">
            <a:extLst>
              <a:ext uri="{FF2B5EF4-FFF2-40B4-BE49-F238E27FC236}">
                <a16:creationId xmlns:a16="http://schemas.microsoft.com/office/drawing/2014/main" id="{DB596ED0-BA22-47E4-92D5-71ABEDDEECA9}"/>
              </a:ext>
            </a:extLst>
          </p:cNvPr>
          <p:cNvSpPr txBox="1"/>
          <p:nvPr/>
        </p:nvSpPr>
        <p:spPr>
          <a:xfrm>
            <a:off x="4480560" y="3566160"/>
            <a:ext cx="1828800" cy="369332"/>
          </a:xfrm>
          <a:prstGeom prst="rect">
            <a:avLst/>
          </a:prstGeom>
          <a:noFill/>
        </p:spPr>
        <p:txBody>
          <a:bodyPr wrap="square">
            <a:spAutoFit/>
          </a:bodyPr>
          <a:lstStyle/>
          <a:p>
            <a:pPr algn="ctr"/>
            <a:r>
              <a:rPr b="1" i="0">
                <a:latin typeface="Times New Roman" panose="02020603050405020304" pitchFamily="18" charset="0"/>
                <a:cs typeface="Times New Roman" panose="02020603050405020304" pitchFamily="18" charset="0"/>
              </a:rPr>
              <a:t>Rights Ops</a:t>
            </a:r>
          </a:p>
        </p:txBody>
      </p:sp>
      <p:sp>
        <p:nvSpPr>
          <p:cNvPr id="13" name="Rectangle 12">
            <a:extLst>
              <a:ext uri="{FF2B5EF4-FFF2-40B4-BE49-F238E27FC236}">
                <a16:creationId xmlns:a16="http://schemas.microsoft.com/office/drawing/2014/main" id="{8F88F278-7671-4552-BF5B-B6180F13AC47}"/>
              </a:ext>
            </a:extLst>
          </p:cNvPr>
          <p:cNvSpPr/>
          <p:nvPr/>
        </p:nvSpPr>
        <p:spPr>
          <a:xfrm>
            <a:off x="4526280" y="3977639"/>
            <a:ext cx="1005840" cy="685800"/>
          </a:xfrm>
          <a:prstGeom prst="rect">
            <a:avLst/>
          </a:prstGeom>
          <a:solidFill>
            <a:srgbClr val="EAE0C8"/>
          </a:solid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D59DFBDD-1583-4535-8690-6C29729E6228}"/>
              </a:ext>
            </a:extLst>
          </p:cNvPr>
          <p:cNvSpPr txBox="1"/>
          <p:nvPr/>
        </p:nvSpPr>
        <p:spPr>
          <a:xfrm>
            <a:off x="448056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before</a:t>
            </a:r>
          </a:p>
        </p:txBody>
      </p:sp>
      <p:sp>
        <p:nvSpPr>
          <p:cNvPr id="15" name="Rectangle 14">
            <a:extLst>
              <a:ext uri="{FF2B5EF4-FFF2-40B4-BE49-F238E27FC236}">
                <a16:creationId xmlns:a16="http://schemas.microsoft.com/office/drawing/2014/main" id="{B089F5F9-7463-435E-9FD2-FF00C0176E29}"/>
              </a:ext>
            </a:extLst>
          </p:cNvPr>
          <p:cNvSpPr/>
          <p:nvPr/>
        </p:nvSpPr>
        <p:spPr>
          <a:xfrm>
            <a:off x="5577840" y="4288155"/>
            <a:ext cx="457200" cy="190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6" name="Rectangle 15">
            <a:extLst>
              <a:ext uri="{FF2B5EF4-FFF2-40B4-BE49-F238E27FC236}">
                <a16:creationId xmlns:a16="http://schemas.microsoft.com/office/drawing/2014/main" id="{CC41A194-557F-43B0-AB9C-7D5A947F36F4}"/>
              </a:ext>
            </a:extLst>
          </p:cNvPr>
          <p:cNvSpPr/>
          <p:nvPr/>
        </p:nvSpPr>
        <p:spPr>
          <a:xfrm>
            <a:off x="6080760" y="3977639"/>
            <a:ext cx="1005840" cy="685800"/>
          </a:xfrm>
          <a:prstGeom prst="rect">
            <a:avLst/>
          </a:prstGeom>
          <a:solidFill>
            <a:srgbClr val="E8F0E8"/>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7" name="TextBox 16">
            <a:extLst>
              <a:ext uri="{FF2B5EF4-FFF2-40B4-BE49-F238E27FC236}">
                <a16:creationId xmlns:a16="http://schemas.microsoft.com/office/drawing/2014/main" id="{65DA3DA4-2977-426E-9F1F-EC40763EA007}"/>
              </a:ext>
            </a:extLst>
          </p:cNvPr>
          <p:cNvSpPr txBox="1"/>
          <p:nvPr/>
        </p:nvSpPr>
        <p:spPr>
          <a:xfrm>
            <a:off x="603504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after</a:t>
            </a:r>
          </a:p>
        </p:txBody>
      </p:sp>
      <p:sp>
        <p:nvSpPr>
          <p:cNvPr id="18" name="TextBox 17">
            <a:extLst>
              <a:ext uri="{FF2B5EF4-FFF2-40B4-BE49-F238E27FC236}">
                <a16:creationId xmlns:a16="http://schemas.microsoft.com/office/drawing/2014/main" id="{95533EFF-A6AE-4227-92E7-8375A589C5BA}"/>
              </a:ext>
            </a:extLst>
          </p:cNvPr>
          <p:cNvSpPr txBox="1"/>
          <p:nvPr/>
        </p:nvSpPr>
        <p:spPr>
          <a:xfrm>
            <a:off x="8321040" y="3566160"/>
            <a:ext cx="1828800" cy="369332"/>
          </a:xfrm>
          <a:prstGeom prst="rect">
            <a:avLst/>
          </a:prstGeom>
          <a:noFill/>
        </p:spPr>
        <p:txBody>
          <a:bodyPr wrap="square">
            <a:spAutoFit/>
          </a:bodyPr>
          <a:lstStyle/>
          <a:p>
            <a:pPr algn="ctr"/>
            <a:r>
              <a:rPr b="1" i="0">
                <a:latin typeface="Times New Roman" panose="02020603050405020304" pitchFamily="18" charset="0"/>
                <a:cs typeface="Times New Roman" panose="02020603050405020304" pitchFamily="18" charset="0"/>
              </a:rPr>
              <a:t>Finance</a:t>
            </a:r>
          </a:p>
        </p:txBody>
      </p:sp>
      <p:sp>
        <p:nvSpPr>
          <p:cNvPr id="19" name="Rectangle 18">
            <a:extLst>
              <a:ext uri="{FF2B5EF4-FFF2-40B4-BE49-F238E27FC236}">
                <a16:creationId xmlns:a16="http://schemas.microsoft.com/office/drawing/2014/main" id="{0EBAB0A0-7E28-4ECB-8E19-1A098005FF56}"/>
              </a:ext>
            </a:extLst>
          </p:cNvPr>
          <p:cNvSpPr/>
          <p:nvPr/>
        </p:nvSpPr>
        <p:spPr>
          <a:xfrm>
            <a:off x="8366759" y="3977639"/>
            <a:ext cx="1005840" cy="685800"/>
          </a:xfrm>
          <a:prstGeom prst="rect">
            <a:avLst/>
          </a:prstGeom>
          <a:solidFill>
            <a:srgbClr val="EAE0C8"/>
          </a:solid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0" name="TextBox 19">
            <a:extLst>
              <a:ext uri="{FF2B5EF4-FFF2-40B4-BE49-F238E27FC236}">
                <a16:creationId xmlns:a16="http://schemas.microsoft.com/office/drawing/2014/main" id="{6ACA227C-DD50-4619-A062-A0BF35EC3662}"/>
              </a:ext>
            </a:extLst>
          </p:cNvPr>
          <p:cNvSpPr txBox="1"/>
          <p:nvPr/>
        </p:nvSpPr>
        <p:spPr>
          <a:xfrm>
            <a:off x="832104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before</a:t>
            </a:r>
          </a:p>
        </p:txBody>
      </p:sp>
      <p:sp>
        <p:nvSpPr>
          <p:cNvPr id="21" name="Rectangle 20">
            <a:extLst>
              <a:ext uri="{FF2B5EF4-FFF2-40B4-BE49-F238E27FC236}">
                <a16:creationId xmlns:a16="http://schemas.microsoft.com/office/drawing/2014/main" id="{C12CD252-92F1-45D9-BAF4-BF12C2553F30}"/>
              </a:ext>
            </a:extLst>
          </p:cNvPr>
          <p:cNvSpPr/>
          <p:nvPr/>
        </p:nvSpPr>
        <p:spPr>
          <a:xfrm>
            <a:off x="9418319" y="4288155"/>
            <a:ext cx="457200" cy="190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2" name="Rectangle 21">
            <a:extLst>
              <a:ext uri="{FF2B5EF4-FFF2-40B4-BE49-F238E27FC236}">
                <a16:creationId xmlns:a16="http://schemas.microsoft.com/office/drawing/2014/main" id="{9AB02997-2AE0-474B-B34B-09C07DE4A4CC}"/>
              </a:ext>
            </a:extLst>
          </p:cNvPr>
          <p:cNvSpPr/>
          <p:nvPr/>
        </p:nvSpPr>
        <p:spPr>
          <a:xfrm>
            <a:off x="9921240" y="3977639"/>
            <a:ext cx="1005840" cy="685800"/>
          </a:xfrm>
          <a:prstGeom prst="rect">
            <a:avLst/>
          </a:prstGeom>
          <a:solidFill>
            <a:srgbClr val="E8F0E8"/>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3" name="TextBox 22">
            <a:extLst>
              <a:ext uri="{FF2B5EF4-FFF2-40B4-BE49-F238E27FC236}">
                <a16:creationId xmlns:a16="http://schemas.microsoft.com/office/drawing/2014/main" id="{2A5AFD8E-27A4-4F6A-B945-96614C53E63E}"/>
              </a:ext>
            </a:extLst>
          </p:cNvPr>
          <p:cNvSpPr txBox="1"/>
          <p:nvPr/>
        </p:nvSpPr>
        <p:spPr>
          <a:xfrm>
            <a:off x="9875519"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after</a:t>
            </a:r>
          </a:p>
        </p:txBody>
      </p:sp>
      <p:sp>
        <p:nvSpPr>
          <p:cNvPr id="24" name="Rectangle 23">
            <a:extLst>
              <a:ext uri="{FF2B5EF4-FFF2-40B4-BE49-F238E27FC236}">
                <a16:creationId xmlns:a16="http://schemas.microsoft.com/office/drawing/2014/main" id="{4ACCBEFF-ECAF-4B5B-B6DC-01E876F6D51F}"/>
              </a:ext>
            </a:extLst>
          </p:cNvPr>
          <p:cNvSpPr/>
          <p:nvPr/>
        </p:nvSpPr>
        <p:spPr>
          <a:xfrm>
            <a:off x="731520" y="5114289"/>
            <a:ext cx="10424159"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5" name="TextBox 24">
            <a:extLst>
              <a:ext uri="{FF2B5EF4-FFF2-40B4-BE49-F238E27FC236}">
                <a16:creationId xmlns:a16="http://schemas.microsoft.com/office/drawing/2014/main" id="{C2B0639E-FA87-4E16-B419-E62B7D4EA089}"/>
              </a:ext>
            </a:extLst>
          </p:cNvPr>
          <p:cNvSpPr txBox="1"/>
          <p:nvPr/>
        </p:nvSpPr>
        <p:spPr>
          <a:xfrm>
            <a:off x="731520" y="5212080"/>
            <a:ext cx="106984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single source of truth</a:t>
            </a:r>
          </a:p>
        </p:txBody>
      </p:sp>
      <p:sp>
        <p:nvSpPr>
          <p:cNvPr id="26" name="Rectangle 25"/>
          <p:cNvSpPr/>
          <p:nvPr/>
        </p:nvSpPr>
        <p:spPr>
          <a:xfrm>
            <a:off x="548640" y="5623560"/>
            <a:ext cx="5394960" cy="9601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650992"/>
            <a:ext cx="5120640" cy="914400"/>
          </a:xfrm>
          <a:prstGeom prst="rect">
            <a:avLst/>
          </a:prstGeom>
          <a:noFill/>
        </p:spPr>
        <p:txBody>
          <a:bodyPr wrap="square" lIns="45720" rIns="45720" tIns="27432" bIns="27432" anchor="ctr">
            <a:spAutoFit/>
          </a:bodyPr>
          <a:lstStyle/>
          <a:p>
            <a:pPr algn="l">
              <a:lnSpc>
                <a:spcPct val="105000"/>
              </a:lnSpc>
              <a:spcAft>
                <a:spcPts val="0"/>
              </a:spcAft>
            </a:pPr>
            <a:r>
              <a:rPr sz="1300" b="1" i="0">
                <a:solidFill>
                  <a:srgbClr val="6E1E2A"/>
                </a:solidFill>
                <a:latin typeface="Times New Roman"/>
              </a:rPr>
              <a:t>STRUCTURE: </a:t>
            </a:r>
            <a:r>
              <a:rPr sz="1300" b="0" i="0">
                <a:solidFill>
                  <a:srgbClr val="2A2218"/>
                </a:solidFill>
                <a:latin typeface="Times New Roman"/>
              </a:rPr>
              <a:t>A small cross-functional rights-ledger team with one named owner replaces three separate reconciliations.</a:t>
            </a:r>
          </a:p>
        </p:txBody>
      </p:sp>
      <p:sp>
        <p:nvSpPr>
          <p:cNvPr id="28" name="Rectangle 27"/>
          <p:cNvSpPr/>
          <p:nvPr/>
        </p:nvSpPr>
        <p:spPr>
          <a:xfrm>
            <a:off x="6245352" y="5623560"/>
            <a:ext cx="5394960" cy="9601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82512" y="5650992"/>
            <a:ext cx="5120640" cy="914400"/>
          </a:xfrm>
          <a:prstGeom prst="rect">
            <a:avLst/>
          </a:prstGeom>
          <a:noFill/>
        </p:spPr>
        <p:txBody>
          <a:bodyPr wrap="square" lIns="45720" rIns="45720" tIns="27432" bIns="27432" anchor="ctr">
            <a:spAutoFit/>
          </a:bodyPr>
          <a:lstStyle/>
          <a:p>
            <a:pPr algn="l">
              <a:lnSpc>
                <a:spcPct val="105000"/>
              </a:lnSpc>
              <a:spcAft>
                <a:spcPts val="0"/>
              </a:spcAft>
            </a:pPr>
            <a:r>
              <a:rPr sz="1300" b="1" i="0">
                <a:solidFill>
                  <a:srgbClr val="6E1E2A"/>
                </a:solidFill>
                <a:latin typeface="Times New Roman"/>
              </a:rPr>
              <a:t>CULTURE: </a:t>
            </a:r>
            <a:r>
              <a:rPr sz="1300" b="0" i="0">
                <a:solidFill>
                  <a:srgbClr val="2A2218"/>
                </a:solidFill>
                <a:latin typeface="Times New Roman"/>
              </a:rPr>
              <a:t>Shift from checking after the event to verifying as terms are encoded; shared accountability needs training and trust.</a:t>
            </a:r>
          </a:p>
        </p:txBody>
      </p:sp>
      <p:sp>
        <p:nvSpPr>
          <p:cNvPr id="30"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6</a:t>
            </a:r>
          </a:p>
        </p:txBody>
      </p:sp>
      <p:sp>
        <p:nvSpPr>
          <p:cNvPr id="31" name="Value chain card 1"/>
          <p:cNvSpPr/>
          <p:nvPr/>
        </p:nvSpPr>
        <p:spPr>
          <a:xfrm>
            <a:off x="548640" y="2286000"/>
            <a:ext cx="5394960" cy="914400"/>
          </a:xfrm>
          <a:prstGeom prst="rect">
            <a:avLst/>
          </a:prstGeom>
          <a:solidFill>
            <a:srgbClr val="FBF7EC"/>
          </a:solidFill>
          <a:ln w="12700">
            <a:solidFill>
              <a:srgbClr val="EAE0C8"/>
            </a:solidFill>
          </a:ln>
        </p:spPr>
        <p:txBody>
          <a:bodyPr rtlCol="0" anchor="ctr"/>
          <a:lstStyle/>
          <a:p>
            <a:pPr algn="ctr"/>
            <a:endParaRPr lang="en-GB"/>
          </a:p>
        </p:txBody>
      </p:sp>
      <p:sp>
        <p:nvSpPr>
          <p:cNvPr id="32" name="Value chain text 1"/>
          <p:cNvSpPr txBox="1"/>
          <p:nvPr/>
        </p:nvSpPr>
        <p:spPr>
          <a:xfrm>
            <a:off x="685800" y="2304288"/>
            <a:ext cx="5120640" cy="877824"/>
          </a:xfrm>
          <a:prstGeom prst="rect">
            <a:avLst/>
          </a:prstGeom>
          <a:noFill/>
        </p:spPr>
        <p:txBody>
          <a:bodyPr wrap="square" lIns="45720" rIns="45720" tIns="27432" bIns="27432" anchor="ctr"/>
          <a:lstStyle/>
          <a:p>
            <a:pPr algn="l">
              <a:lnSpc>
                <a:spcPct val="105000"/>
              </a:lnSpc>
              <a:spcAft>
                <a:spcPts val="0"/>
              </a:spcAft>
            </a:pPr>
            <a:r>
              <a:rPr lang="en-GB" sz="1300" b="1" i="0" dirty="0">
                <a:solidFill>
                  <a:srgbClr val="6E1E2A"/>
                </a:solidFill>
                <a:latin typeface="Times New Roman"/>
              </a:rPr>
              <a:t>SUPPORT ACTIVITY: Technology development. </a:t>
            </a:r>
            <a:r>
              <a:rPr lang="en-GB" sz="1300" b="0" i="0" dirty="0">
                <a:solidFill>
                  <a:srgbClr val="2A2218"/>
                </a:solidFill>
                <a:latin typeface="Times New Roman"/>
              </a:rPr>
              <a:t>Contract terms become reviewed code that Legal and engineers sign off together, replacing manual spreadsheet checks.</a:t>
            </a:r>
          </a:p>
        </p:txBody>
      </p:sp>
      <p:sp>
        <p:nvSpPr>
          <p:cNvPr id="33" name="Value chain card 2"/>
          <p:cNvSpPr/>
          <p:nvPr/>
        </p:nvSpPr>
        <p:spPr>
          <a:xfrm>
            <a:off x="6245352" y="2286000"/>
            <a:ext cx="5394960" cy="914400"/>
          </a:xfrm>
          <a:prstGeom prst="rect">
            <a:avLst/>
          </a:prstGeom>
          <a:solidFill>
            <a:srgbClr val="FBF7EC"/>
          </a:solidFill>
          <a:ln w="12700">
            <a:solidFill>
              <a:srgbClr val="EAE0C8"/>
            </a:solidFill>
          </a:ln>
        </p:spPr>
        <p:txBody>
          <a:bodyPr rtlCol="0" anchor="ctr"/>
          <a:lstStyle/>
          <a:p>
            <a:pPr algn="ctr"/>
            <a:endParaRPr lang="en-GB"/>
          </a:p>
        </p:txBody>
      </p:sp>
      <p:sp>
        <p:nvSpPr>
          <p:cNvPr id="34" name="Value chain text 2"/>
          <p:cNvSpPr txBox="1"/>
          <p:nvPr/>
        </p:nvSpPr>
        <p:spPr>
          <a:xfrm>
            <a:off x="6382512" y="2304288"/>
            <a:ext cx="5120640" cy="877824"/>
          </a:xfrm>
          <a:prstGeom prst="rect">
            <a:avLst/>
          </a:prstGeom>
          <a:noFill/>
        </p:spPr>
        <p:txBody>
          <a:bodyPr wrap="square" lIns="45720" rIns="45720" tIns="27432" bIns="27432" anchor="ctr"/>
          <a:lstStyle/>
          <a:p>
            <a:pPr algn="l">
              <a:lnSpc>
                <a:spcPct val="105000"/>
              </a:lnSpc>
              <a:spcAft>
                <a:spcPts val="0"/>
              </a:spcAft>
            </a:pPr>
            <a:r>
              <a:rPr lang="en-GB" sz="1300" b="1" i="0" dirty="0">
                <a:solidFill>
                  <a:srgbClr val="6E1E2A"/>
                </a:solidFill>
                <a:latin typeface="Times New Roman"/>
              </a:rPr>
              <a:t>PRIMARY ACTIVITY: Inbound logistics (receiving content rights). </a:t>
            </a:r>
            <a:r>
              <a:rPr lang="en-GB" sz="1300" b="0" i="0" dirty="0">
                <a:solidFill>
                  <a:srgbClr val="2A2218"/>
                </a:solidFill>
                <a:latin typeface="Times New Roman"/>
              </a:rPr>
              <a:t>Rights windows and payment terms are read from one shared record, not re-confirmed by hand for each territory.</a:t>
            </a:r>
          </a:p>
        </p:txBody>
      </p:sp>
      <p:sp>
        <p:nvSpPr>
          <p:cNvPr id="35" name="Value chain source"/>
          <p:cNvSpPr txBox="1"/>
          <p:nvPr/>
        </p:nvSpPr>
        <p:spPr>
          <a:xfrm>
            <a:off x="548640" y="3246120"/>
            <a:ext cx="11064240" cy="246888"/>
          </a:xfrm>
          <a:prstGeom prst="rect">
            <a:avLst/>
          </a:prstGeom>
          <a:noFill/>
        </p:spPr>
        <p:txBody>
          <a:bodyPr wrap="square" lIns="45720" rIns="45720" tIns="27432" bIns="27432" anchor="t">
            <a:spAutoFit/>
          </a:bodyPr>
          <a:lstStyle/>
          <a:p>
            <a:pPr algn="l">
              <a:lnSpc>
                <a:spcPct val="105000"/>
              </a:lnSpc>
              <a:spcAft>
                <a:spcPts val="0"/>
              </a:spcAft>
            </a:pPr>
            <a:r>
              <a:rPr lang="en-GB" sz="1000" b="0" i="1" dirty="0">
                <a:solidFill>
                  <a:srgbClr val="7A7060"/>
                </a:solidFill>
                <a:latin typeface="Times New Roman"/>
              </a:rPr>
              <a:t>Value chain: Porter (1985), Competitive Advantage</a:t>
            </a:r>
          </a:p>
        </p:txBody>
      </p:sp>
    </p:spTree>
    <p:extLst>
      <p:ext uri="{BB962C8B-B14F-4D97-AF65-F5344CB8AC3E}">
        <p14:creationId xmlns:p14="http://schemas.microsoft.com/office/powerpoint/2010/main" val="23902856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BB083DF-0B0B-4A69-BD01-10207CDC363B}"/>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STAKEHOLDER RESPONSE</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6E1E2A"/>
                </a:solidFill>
                <a:latin typeface="Times New Roman"/>
              </a:rPr>
              <a:t>Stakeholder group: </a:t>
            </a:r>
            <a:r>
              <a:rPr sz="1800" b="1" i="0">
                <a:solidFill>
                  <a:srgbClr val="2A2218"/>
                </a:solidFill>
                <a:latin typeface="Times New Roman"/>
              </a:rPr>
              <a:t>Legal and rights teams.</a:t>
            </a:r>
          </a:p>
          <a:p>
            <a:pPr algn="l">
              <a:lnSpc>
                <a:spcPct val="105000"/>
              </a:lnSpc>
              <a:spcAft>
                <a:spcPts val="0"/>
              </a:spcAft>
            </a:pPr>
            <a:r>
              <a:rPr sz="1800" b="0" i="0">
                <a:solidFill>
                  <a:srgbClr val="2A2218"/>
                </a:solidFill>
                <a:latin typeface="Times New Roman"/>
              </a:rPr>
              <a:t>They would answer for it if a regulator asked, so their concerns are professional, not resistance to change.</a:t>
            </a:r>
          </a:p>
        </p:txBody>
      </p:sp>
      <p:sp>
        <p:nvSpPr>
          <p:cNvPr id="6" name="Rectangle 5"/>
          <p:cNvSpPr/>
          <p:nvPr/>
        </p:nvSpPr>
        <p:spPr>
          <a:xfrm>
            <a:off x="548640" y="2240280"/>
            <a:ext cx="3566160" cy="4572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40280"/>
            <a:ext cx="3291840" cy="45720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Regulatory uncertainty</a:t>
            </a:r>
          </a:p>
        </p:txBody>
      </p:sp>
      <p:sp>
        <p:nvSpPr>
          <p:cNvPr id="8" name="Rectangle 7"/>
          <p:cNvSpPr/>
          <p:nvPr/>
        </p:nvSpPr>
        <p:spPr>
          <a:xfrm>
            <a:off x="548640" y="2697480"/>
            <a:ext cx="3566160" cy="36576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7889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CONCERN</a:t>
            </a:r>
          </a:p>
        </p:txBody>
      </p:sp>
      <p:sp>
        <p:nvSpPr>
          <p:cNvPr id="10" name="TextBox 9"/>
          <p:cNvSpPr txBox="1"/>
          <p:nvPr/>
        </p:nvSpPr>
        <p:spPr>
          <a:xfrm>
            <a:off x="685800" y="3063240"/>
            <a:ext cx="3291840" cy="137160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Which country's law governs a cross-border payment dispute? An immutable ledger can also clash with GDPR rights to erase data.</a:t>
            </a:r>
          </a:p>
        </p:txBody>
      </p:sp>
      <p:sp>
        <p:nvSpPr>
          <p:cNvPr id="11" name="TextBox 10"/>
          <p:cNvSpPr txBox="1"/>
          <p:nvPr/>
        </p:nvSpPr>
        <p:spPr>
          <a:xfrm>
            <a:off x="685800" y="452628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B38A3C"/>
                </a:solidFill>
                <a:latin typeface="Times New Roman"/>
              </a:rPr>
              <a:t>RESPONSE</a:t>
            </a:r>
          </a:p>
        </p:txBody>
      </p:sp>
      <p:sp>
        <p:nvSpPr>
          <p:cNvPr id="12" name="TextBox 11"/>
          <p:cNvSpPr txBox="1"/>
          <p:nvPr/>
        </p:nvSpPr>
        <p:spPr>
          <a:xfrm>
            <a:off x="685800" y="4800600"/>
            <a:ext cx="3291840" cy="14630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Phased rollout, starting in territories with clearer digital-contract rules. Keep personal data off the ledger.</a:t>
            </a:r>
          </a:p>
        </p:txBody>
      </p:sp>
      <p:sp>
        <p:nvSpPr>
          <p:cNvPr id="13" name="Rectangle 12"/>
          <p:cNvSpPr/>
          <p:nvPr/>
        </p:nvSpPr>
        <p:spPr>
          <a:xfrm>
            <a:off x="4311396" y="2240280"/>
            <a:ext cx="3566160" cy="45720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48556" y="2240280"/>
            <a:ext cx="3291840" cy="45720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Enforceability</a:t>
            </a:r>
          </a:p>
        </p:txBody>
      </p:sp>
      <p:sp>
        <p:nvSpPr>
          <p:cNvPr id="15" name="Rectangle 14"/>
          <p:cNvSpPr/>
          <p:nvPr/>
        </p:nvSpPr>
        <p:spPr>
          <a:xfrm>
            <a:off x="4311396" y="2697480"/>
            <a:ext cx="3566160" cy="36576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48556" y="27889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CONCERN</a:t>
            </a:r>
          </a:p>
        </p:txBody>
      </p:sp>
      <p:sp>
        <p:nvSpPr>
          <p:cNvPr id="17" name="TextBox 16"/>
          <p:cNvSpPr txBox="1"/>
          <p:nvPr/>
        </p:nvSpPr>
        <p:spPr>
          <a:xfrm>
            <a:off x="4448556" y="3063240"/>
            <a:ext cx="3291840" cy="137160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Correct execution does not make a payment legally binding, and there is little settled case law.</a:t>
            </a:r>
          </a:p>
        </p:txBody>
      </p:sp>
      <p:sp>
        <p:nvSpPr>
          <p:cNvPr id="18" name="TextBox 17"/>
          <p:cNvSpPr txBox="1"/>
          <p:nvPr/>
        </p:nvSpPr>
        <p:spPr>
          <a:xfrm>
            <a:off x="4448556" y="452628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6E1E2A"/>
                </a:solidFill>
                <a:latin typeface="Times New Roman"/>
              </a:rPr>
              <a:t>RESPONSE</a:t>
            </a:r>
          </a:p>
        </p:txBody>
      </p:sp>
      <p:sp>
        <p:nvSpPr>
          <p:cNvPr id="19" name="TextBox 18"/>
          <p:cNvSpPr txBox="1"/>
          <p:nvPr/>
        </p:nvSpPr>
        <p:spPr>
          <a:xfrm>
            <a:off x="4448556" y="4800600"/>
            <a:ext cx="3291840" cy="14630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Standing legal review. The written contract stays the master; the ledger executes it.</a:t>
            </a:r>
          </a:p>
        </p:txBody>
      </p:sp>
      <p:sp>
        <p:nvSpPr>
          <p:cNvPr id="20" name="Rectangle 19"/>
          <p:cNvSpPr/>
          <p:nvPr/>
        </p:nvSpPr>
        <p:spPr>
          <a:xfrm>
            <a:off x="8074152" y="2240280"/>
            <a:ext cx="3566160" cy="457200"/>
          </a:xfrm>
          <a:prstGeom prst="rect">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2240280"/>
            <a:ext cx="3291840" cy="45720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Integration</a:t>
            </a:r>
          </a:p>
        </p:txBody>
      </p:sp>
      <p:sp>
        <p:nvSpPr>
          <p:cNvPr id="22" name="Rectangle 21"/>
          <p:cNvSpPr/>
          <p:nvPr/>
        </p:nvSpPr>
        <p:spPr>
          <a:xfrm>
            <a:off x="8074152" y="2697480"/>
            <a:ext cx="3566160" cy="36576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11312" y="27889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CONCERN</a:t>
            </a:r>
          </a:p>
        </p:txBody>
      </p:sp>
      <p:sp>
        <p:nvSpPr>
          <p:cNvPr id="24" name="TextBox 23"/>
          <p:cNvSpPr txBox="1"/>
          <p:nvPr/>
        </p:nvSpPr>
        <p:spPr>
          <a:xfrm>
            <a:off x="8211312" y="3063240"/>
            <a:ext cx="3291840" cy="137160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The ledger must work with existing contract and finance systems, or it adds another version of the truth.</a:t>
            </a:r>
          </a:p>
        </p:txBody>
      </p:sp>
      <p:sp>
        <p:nvSpPr>
          <p:cNvPr id="25" name="TextBox 24"/>
          <p:cNvSpPr txBox="1"/>
          <p:nvPr/>
        </p:nvSpPr>
        <p:spPr>
          <a:xfrm>
            <a:off x="8211312" y="452628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RESPONSE</a:t>
            </a:r>
          </a:p>
        </p:txBody>
      </p:sp>
      <p:sp>
        <p:nvSpPr>
          <p:cNvPr id="26" name="TextBox 25"/>
          <p:cNvSpPr txBox="1"/>
          <p:nvPr/>
        </p:nvSpPr>
        <p:spPr>
          <a:xfrm>
            <a:off x="8211312" y="4800600"/>
            <a:ext cx="3291840" cy="14630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Pilot in one territory first, connect to current systems, and put Legal in the design team.</a:t>
            </a:r>
          </a:p>
        </p:txBody>
      </p:sp>
      <p:sp>
        <p:nvSpPr>
          <p:cNvPr id="27"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7</a:t>
            </a:r>
          </a:p>
        </p:txBody>
      </p:sp>
    </p:spTree>
    <p:extLst>
      <p:ext uri="{BB962C8B-B14F-4D97-AF65-F5344CB8AC3E}">
        <p14:creationId xmlns:p14="http://schemas.microsoft.com/office/powerpoint/2010/main" val="77073305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411480"/>
            <a:ext cx="11091672" cy="521207"/>
          </a:xfrm>
          <a:prstGeom prst="rect">
            <a:avLst/>
          </a:prstGeom>
          <a:noFill/>
        </p:spPr>
        <p:txBody>
          <a:bodyPr wrap="square" anchor="t" lIns="45720" rIns="45720" tIns="27432" bIns="27432">
            <a:spAutoFit/>
          </a:bodyPr>
          <a:lstStyle/>
          <a:p>
            <a:pPr algn="ctr"/>
            <a:r>
              <a:rPr sz="2800" b="1" i="0">
                <a:solidFill>
                  <a:srgbClr val="6E1E2A"/>
                </a:solidFill>
                <a:latin typeface="Times New Roman"/>
              </a:rPr>
              <a:t>CHANGE &amp; DIGITAL CONFIDENCE</a:t>
            </a:r>
          </a:p>
        </p:txBody>
      </p:sp>
      <p:sp>
        <p:nvSpPr>
          <p:cNvPr id="3" name="Headline"/>
          <p:cNvSpPr txBox="1"/>
          <p:nvPr/>
        </p:nvSpPr>
        <p:spPr>
          <a:xfrm>
            <a:off x="548640" y="1097280"/>
            <a:ext cx="11064240" cy="548640"/>
          </a:xfrm>
          <a:prstGeom prst="rect">
            <a:avLst/>
          </a:prstGeom>
          <a:noFill/>
        </p:spPr>
        <p:txBody>
          <a:bodyPr wrap="square" anchor="t" lIns="45720" rIns="45720" tIns="27432" bIns="27432">
            <a:spAutoFit/>
          </a:bodyPr>
          <a:lstStyle/>
          <a:p>
            <a:pPr algn="l">
              <a:lnSpc>
                <a:spcPct val="105000"/>
              </a:lnSpc>
              <a:spcAft>
                <a:spcPts val="0"/>
              </a:spcAft>
            </a:pPr>
            <a:r>
              <a:rPr lang="en-GB" sz="1800" b="0" i="0" dirty="0">
                <a:solidFill>
                  <a:srgbClr val="2A2218"/>
                </a:solidFill>
                <a:latin typeface="Times New Roman"/>
              </a:rPr>
              <a:t>Yes, if Legal helps shape the design, a one-territory pilot proves its value, and teams are trained before go-live.</a:t>
            </a:r>
          </a:p>
        </p:txBody>
      </p:sp>
      <p:sp>
        <p:nvSpPr>
          <p:cNvPr id="4" name="TAM header bar"/>
          <p:cNvSpPr/>
          <p:nvPr/>
        </p:nvSpPr>
        <p:spPr>
          <a:xfrm>
            <a:off x="548640" y="1828800"/>
            <a:ext cx="5440680" cy="45720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AM header"/>
          <p:cNvSpPr txBox="1"/>
          <p:nvPr/>
        </p:nvSpPr>
        <p:spPr>
          <a:xfrm>
            <a:off x="685800" y="1828800"/>
            <a:ext cx="5120640" cy="457200"/>
          </a:xfrm>
          <a:prstGeom prst="rect">
            <a:avLst/>
          </a:prstGeom>
          <a:noFill/>
        </p:spPr>
        <p:txBody>
          <a:bodyPr wrap="square" anchor="ctr" lIns="45720" rIns="45720" tIns="27432" bIns="27432">
            <a:spAutoFit/>
          </a:bodyPr>
          <a:lstStyle/>
          <a:p>
            <a:pPr algn="l"/>
            <a:r>
              <a:rPr sz="1400" b="1" i="0">
                <a:solidFill>
                  <a:srgbClr val="FFFFFF"/>
                </a:solidFill>
                <a:latin typeface="Times New Roman"/>
              </a:rPr>
              <a:t>TAM: WILL LEGAL AND RIGHTS TEAMS ADOPT IT?</a:t>
            </a:r>
          </a:p>
        </p:txBody>
      </p:sp>
      <p:sp>
        <p:nvSpPr>
          <p:cNvPr id="6" name="TAM body"/>
          <p:cNvSpPr/>
          <p:nvPr/>
        </p:nvSpPr>
        <p:spPr>
          <a:xfrm>
            <a:off x="548640" y="2286000"/>
            <a:ext cx="5440680" cy="242316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AM label 1"/>
          <p:cNvSpPr txBox="1"/>
          <p:nvPr/>
        </p:nvSpPr>
        <p:spPr>
          <a:xfrm>
            <a:off x="685800" y="2359152"/>
            <a:ext cx="512064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PERCEIVED USEFULNESS</a:t>
            </a:r>
          </a:p>
        </p:txBody>
      </p:sp>
      <p:sp>
        <p:nvSpPr>
          <p:cNvPr id="8" name="TAM answer 1"/>
          <p:cNvSpPr txBox="1"/>
          <p:nvPr/>
        </p:nvSpPr>
        <p:spPr>
          <a:xfrm>
            <a:off x="685800" y="2633472"/>
            <a:ext cx="5120640" cy="73152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Useful if it answers their concerns: a verifiable record for regulators, the written contract kept as master, and no extra version of the truth.</a:t>
            </a:r>
          </a:p>
        </p:txBody>
      </p:sp>
      <p:sp>
        <p:nvSpPr>
          <p:cNvPr id="9" name="TAM label 2"/>
          <p:cNvSpPr txBox="1"/>
          <p:nvPr/>
        </p:nvSpPr>
        <p:spPr>
          <a:xfrm>
            <a:off x="685800" y="3429000"/>
            <a:ext cx="512064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PERCEIVED EASE OF USE</a:t>
            </a:r>
          </a:p>
        </p:txBody>
      </p:sp>
      <p:sp>
        <p:nvSpPr>
          <p:cNvPr id="10" name="TAM answer 2"/>
          <p:cNvSpPr txBox="1"/>
          <p:nvPr/>
        </p:nvSpPr>
        <p:spPr>
          <a:xfrm>
            <a:off x="685800" y="3703320"/>
            <a:ext cx="5120640" cy="73152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Hard: unfamiliar tools, coding and integration with existing systems. Easy: plug into current systems, no coding by users, and a simple read-only view of the record.</a:t>
            </a:r>
          </a:p>
        </p:txBody>
      </p:sp>
      <p:sp>
        <p:nvSpPr>
          <p:cNvPr id="11" name="Kotter header bar"/>
          <p:cNvSpPr/>
          <p:nvPr/>
        </p:nvSpPr>
        <p:spPr>
          <a:xfrm>
            <a:off x="6199632" y="1828800"/>
            <a:ext cx="5440680" cy="457200"/>
          </a:xfrm>
          <a:prstGeom prst="rect">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Kotter header"/>
          <p:cNvSpPr txBox="1"/>
          <p:nvPr/>
        </p:nvSpPr>
        <p:spPr>
          <a:xfrm>
            <a:off x="6336792" y="1828800"/>
            <a:ext cx="5120640" cy="457200"/>
          </a:xfrm>
          <a:prstGeom prst="rect">
            <a:avLst/>
          </a:prstGeom>
          <a:noFill/>
        </p:spPr>
        <p:txBody>
          <a:bodyPr wrap="square" anchor="ctr" lIns="45720" rIns="45720" tIns="27432" bIns="27432">
            <a:spAutoFit/>
          </a:bodyPr>
          <a:lstStyle/>
          <a:p>
            <a:pPr algn="l"/>
            <a:r>
              <a:rPr sz="1400" b="1" i="0">
                <a:solidFill>
                  <a:srgbClr val="FFFFFF"/>
                </a:solidFill>
                <a:latin typeface="Times New Roman"/>
              </a:rPr>
              <a:t>KOTTER: CHANGE STEPS FOR APPLE TV+</a:t>
            </a:r>
          </a:p>
        </p:txBody>
      </p:sp>
      <p:sp>
        <p:nvSpPr>
          <p:cNvPr id="13" name="Kotter body"/>
          <p:cNvSpPr/>
          <p:nvPr/>
        </p:nvSpPr>
        <p:spPr>
          <a:xfrm>
            <a:off x="6199632" y="2286000"/>
            <a:ext cx="5440680" cy="242316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otter label 1"/>
          <p:cNvSpPr txBox="1"/>
          <p:nvPr/>
        </p:nvSpPr>
        <p:spPr>
          <a:xfrm>
            <a:off x="6336792" y="2359152"/>
            <a:ext cx="5120640" cy="27432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F5D3A"/>
                </a:solidFill>
                <a:latin typeface="Times New Roman"/>
              </a:rPr>
              <a:t>STEP 2: FORM A GUIDING COALITION</a:t>
            </a:r>
          </a:p>
        </p:txBody>
      </p:sp>
      <p:sp>
        <p:nvSpPr>
          <p:cNvPr id="15" name="Kotter answer 1"/>
          <p:cNvSpPr txBox="1"/>
          <p:nvPr/>
        </p:nvSpPr>
        <p:spPr>
          <a:xfrm>
            <a:off x="6336792" y="2615184"/>
            <a:ext cx="5120640" cy="384048"/>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Put Legal, Rights Ops and Finance in the ledger design team under one named owner from the start.</a:t>
            </a:r>
          </a:p>
        </p:txBody>
      </p:sp>
      <p:sp>
        <p:nvSpPr>
          <p:cNvPr id="16" name="Kotter label 2"/>
          <p:cNvSpPr txBox="1"/>
          <p:nvPr/>
        </p:nvSpPr>
        <p:spPr>
          <a:xfrm>
            <a:off x="6336792" y="3154680"/>
            <a:ext cx="5120640" cy="27432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F5D3A"/>
                </a:solidFill>
                <a:latin typeface="Times New Roman"/>
              </a:rPr>
              <a:t>STEP 6: GENERATE SHORT-TERM WINS</a:t>
            </a:r>
          </a:p>
        </p:txBody>
      </p:sp>
      <p:sp>
        <p:nvSpPr>
          <p:cNvPr id="17" name="Kotter answer 2"/>
          <p:cNvSpPr txBox="1"/>
          <p:nvPr/>
        </p:nvSpPr>
        <p:spPr>
          <a:xfrm>
            <a:off x="6336792" y="3410712"/>
            <a:ext cx="5120640" cy="384048"/>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Pilot in one territory, then share the dispute and payment-time results to win over the next territory.</a:t>
            </a:r>
          </a:p>
        </p:txBody>
      </p:sp>
      <p:sp>
        <p:nvSpPr>
          <p:cNvPr id="18" name="Kotter label 3"/>
          <p:cNvSpPr txBox="1"/>
          <p:nvPr/>
        </p:nvSpPr>
        <p:spPr>
          <a:xfrm>
            <a:off x="6336792" y="3950208"/>
            <a:ext cx="5120640" cy="27432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F5D3A"/>
                </a:solidFill>
                <a:latin typeface="Times New Roman"/>
              </a:rPr>
              <a:t>STEP 8: ANCHOR NEW APPROACHES IN THE CULTURE</a:t>
            </a:r>
          </a:p>
        </p:txBody>
      </p:sp>
      <p:sp>
        <p:nvSpPr>
          <p:cNvPr id="19" name="Kotter answer 3"/>
          <p:cNvSpPr txBox="1"/>
          <p:nvPr/>
        </p:nvSpPr>
        <p:spPr>
          <a:xfrm>
            <a:off x="6336792" y="4206240"/>
            <a:ext cx="5120640" cy="384048"/>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Make the quarterly legal and governance review permanent, so new territories join under the same checks.</a:t>
            </a:r>
          </a:p>
        </p:txBody>
      </p:sp>
      <p:sp>
        <p:nvSpPr>
          <p:cNvPr id="20" name="Bottom header bar 1"/>
          <p:cNvSpPr/>
          <p:nvPr/>
        </p:nvSpPr>
        <p:spPr>
          <a:xfrm>
            <a:off x="548640" y="4892040"/>
            <a:ext cx="5440680" cy="41148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ottom header 1"/>
          <p:cNvSpPr txBox="1"/>
          <p:nvPr/>
        </p:nvSpPr>
        <p:spPr>
          <a:xfrm>
            <a:off x="685800" y="4892040"/>
            <a:ext cx="5120640" cy="411480"/>
          </a:xfrm>
          <a:prstGeom prst="rect">
            <a:avLst/>
          </a:prstGeom>
          <a:noFill/>
        </p:spPr>
        <p:txBody>
          <a:bodyPr wrap="square" anchor="ctr" lIns="45720" rIns="45720" tIns="27432" bIns="27432">
            <a:spAutoFit/>
          </a:bodyPr>
          <a:lstStyle/>
          <a:p>
            <a:pPr algn="l"/>
            <a:r>
              <a:rPr sz="1400" b="1" i="0">
                <a:solidFill>
                  <a:srgbClr val="FFFFFF"/>
                </a:solidFill>
                <a:latin typeface="Times New Roman"/>
              </a:rPr>
              <a:t>BARRIER OR RESISTANCE</a:t>
            </a:r>
          </a:p>
        </p:txBody>
      </p:sp>
      <p:sp>
        <p:nvSpPr>
          <p:cNvPr id="22" name="Bottom body 1"/>
          <p:cNvSpPr/>
          <p:nvPr/>
        </p:nvSpPr>
        <p:spPr>
          <a:xfrm>
            <a:off x="548640" y="5303520"/>
            <a:ext cx="5440680" cy="91440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ttom answer 1"/>
          <p:cNvSpPr txBox="1"/>
          <p:nvPr/>
        </p:nvSpPr>
        <p:spPr>
          <a:xfrm>
            <a:off x="685800" y="5376672"/>
            <a:ext cx="5120640" cy="77724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Legal and rights teams fear answering for a wrongly coded payment. Reduce it with dual sign-off, a manual override and a dispute freeze, so any payment can be stopped.</a:t>
            </a:r>
          </a:p>
        </p:txBody>
      </p:sp>
      <p:sp>
        <p:nvSpPr>
          <p:cNvPr id="24" name="Bottom header bar 2"/>
          <p:cNvSpPr/>
          <p:nvPr/>
        </p:nvSpPr>
        <p:spPr>
          <a:xfrm>
            <a:off x="6199632" y="4892040"/>
            <a:ext cx="5440680" cy="41148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ttom header 2"/>
          <p:cNvSpPr txBox="1"/>
          <p:nvPr/>
        </p:nvSpPr>
        <p:spPr>
          <a:xfrm>
            <a:off x="6336792" y="4892040"/>
            <a:ext cx="5120640" cy="411480"/>
          </a:xfrm>
          <a:prstGeom prst="rect">
            <a:avLst/>
          </a:prstGeom>
          <a:noFill/>
        </p:spPr>
        <p:txBody>
          <a:bodyPr wrap="square" anchor="ctr" lIns="45720" rIns="45720" tIns="27432" bIns="27432">
            <a:spAutoFit/>
          </a:bodyPr>
          <a:lstStyle/>
          <a:p>
            <a:pPr algn="l"/>
            <a:r>
              <a:rPr sz="1400" b="1" i="0">
                <a:solidFill>
                  <a:srgbClr val="FFFFFF"/>
                </a:solidFill>
                <a:latin typeface="Times New Roman"/>
              </a:rPr>
              <a:t>BUILDING DIGITAL CONFIDENCE</a:t>
            </a:r>
          </a:p>
        </p:txBody>
      </p:sp>
      <p:sp>
        <p:nvSpPr>
          <p:cNvPr id="26" name="Bottom body 2"/>
          <p:cNvSpPr/>
          <p:nvPr/>
        </p:nvSpPr>
        <p:spPr>
          <a:xfrm>
            <a:off x="6199632" y="5303520"/>
            <a:ext cx="5440680" cy="91440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ottom answer 2"/>
          <p:cNvSpPr txBox="1"/>
          <p:nvPr/>
        </p:nvSpPr>
        <p:spPr>
          <a:xfrm>
            <a:off x="6336792" y="5376672"/>
            <a:ext cx="5120640" cy="77724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Legal, Rights Ops and Finance staff are trained before the pilot starts: how the shared record works, how to read a smart-contract term, and when to freeze a payment.</a:t>
            </a:r>
          </a:p>
        </p:txBody>
      </p:sp>
      <p:sp>
        <p:nvSpPr>
          <p:cNvPr id="28"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8</a:t>
            </a:r>
          </a:p>
        </p:txBody>
      </p:sp>
      <p:sp>
        <p:nvSpPr>
          <p:cNvPr id="29" name="Sources"/>
          <p:cNvSpPr txBox="1"/>
          <p:nvPr/>
        </p:nvSpPr>
        <p:spPr>
          <a:xfrm>
            <a:off x="548640" y="6355080"/>
            <a:ext cx="10424160" cy="246888"/>
          </a:xfrm>
          <a:prstGeom prst="rect">
            <a:avLst/>
          </a:prstGeom>
          <a:noFill/>
        </p:spPr>
        <p:txBody>
          <a:bodyPr wrap="square" lIns="45720" rIns="45720" tIns="27432" bIns="27432" anchor="t">
            <a:spAutoFit/>
          </a:bodyPr>
          <a:lstStyle/>
          <a:p>
            <a:pPr algn="l">
              <a:lnSpc>
                <a:spcPct val="105000"/>
              </a:lnSpc>
              <a:spcAft>
                <a:spcPts val="0"/>
              </a:spcAft>
            </a:pPr>
            <a:r>
              <a:rPr lang="en-GB" sz="1000" b="0" i="1" dirty="0">
                <a:solidFill>
                  <a:srgbClr val="7A7060"/>
                </a:solidFill>
                <a:latin typeface="Times New Roman"/>
              </a:rPr>
              <a:t>Davis (1989), MIS Quarterly, 13(3); Kotter (1996), Leading Change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13EBE52-889E-4F8A-A391-7215AC2CA915}"/>
              </a:ext>
            </a:extLst>
          </p:cNvPr>
          <p:cNvSpPr txBox="1"/>
          <p:nvPr/>
        </p:nvSpPr>
        <p:spPr>
          <a:xfrm>
            <a:off x="1554480" y="391079"/>
            <a:ext cx="8229600"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STRATEGIC FIT</a:t>
            </a:r>
          </a:p>
        </p:txBody>
      </p:sp>
      <p:sp>
        <p:nvSpPr>
          <p:cNvPr id="5" name="TextBox 4">
            <a:extLst>
              <a:ext uri="{FF2B5EF4-FFF2-40B4-BE49-F238E27FC236}">
                <a16:creationId xmlns:a16="http://schemas.microsoft.com/office/drawing/2014/main" id="{D5F13EEE-1ADA-488D-9759-0A1EFC07AF3D}"/>
              </a:ext>
            </a:extLst>
          </p:cNvPr>
          <p:cNvSpPr txBox="1"/>
          <p:nvPr/>
        </p:nvSpPr>
        <p:spPr>
          <a:xfrm>
            <a:off x="548640" y="1737360"/>
            <a:ext cx="10789920" cy="363882"/>
          </a:xfrm>
          <a:prstGeom prst="rect">
            <a:avLst/>
          </a:prstGeom>
          <a:noFill/>
        </p:spPr>
        <p:txBody>
          <a:bodyPr wrap="square">
            <a:spAutoFit/>
          </a:bodyPr>
          <a:lstStyle/>
          <a:p>
            <a:pPr algn="l">
              <a:lnSpc>
                <a:spcPct val="105000"/>
              </a:lnSpc>
            </a:pPr>
            <a:r>
              <a:rPr i="0" dirty="0">
                <a:solidFill>
                  <a:srgbClr val="2A2218"/>
                </a:solidFill>
                <a:latin typeface="Times New Roman" panose="02020603050405020304" pitchFamily="18" charset="0"/>
                <a:cs typeface="Times New Roman" panose="02020603050405020304" pitchFamily="18" charset="0"/>
              </a:rPr>
              <a:t>Every verified payment is a small deposit</a:t>
            </a:r>
            <a:r>
              <a:rPr lang="en-US" i="0" dirty="0">
                <a:solidFill>
                  <a:srgbClr val="2A2218"/>
                </a:solidFill>
                <a:latin typeface="Times New Roman" panose="02020603050405020304" pitchFamily="18" charset="0"/>
                <a:cs typeface="Times New Roman" panose="02020603050405020304" pitchFamily="18" charset="0"/>
              </a:rPr>
              <a:t> </a:t>
            </a:r>
            <a:r>
              <a:rPr i="0" dirty="0">
                <a:solidFill>
                  <a:srgbClr val="2A2218"/>
                </a:solidFill>
                <a:latin typeface="Times New Roman" panose="02020603050405020304" pitchFamily="18" charset="0"/>
                <a:cs typeface="Times New Roman" panose="02020603050405020304" pitchFamily="18" charset="0"/>
              </a:rPr>
              <a:t>in talent trust.</a:t>
            </a:r>
          </a:p>
        </p:txBody>
      </p:sp>
      <p:sp>
        <p:nvSpPr>
          <p:cNvPr id="6" name="Rectangle 5">
            <a:extLst>
              <a:ext uri="{FF2B5EF4-FFF2-40B4-BE49-F238E27FC236}">
                <a16:creationId xmlns:a16="http://schemas.microsoft.com/office/drawing/2014/main" id="{4A378CA0-48B7-4BF0-858B-0416518BC648}"/>
              </a:ext>
            </a:extLst>
          </p:cNvPr>
          <p:cNvSpPr/>
          <p:nvPr/>
        </p:nvSpPr>
        <p:spPr>
          <a:xfrm>
            <a:off x="1371600" y="4265295"/>
            <a:ext cx="1188720" cy="320040"/>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C3B48156-66C0-4C6B-B84E-D5D57F501C40}"/>
              </a:ext>
            </a:extLst>
          </p:cNvPr>
          <p:cNvSpPr/>
          <p:nvPr/>
        </p:nvSpPr>
        <p:spPr>
          <a:xfrm>
            <a:off x="1819656" y="3890391"/>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8" name="Oval 7">
            <a:extLst>
              <a:ext uri="{FF2B5EF4-FFF2-40B4-BE49-F238E27FC236}">
                <a16:creationId xmlns:a16="http://schemas.microsoft.com/office/drawing/2014/main" id="{C7A6AA09-91D4-4CC5-9992-9C71BA71AC93}"/>
              </a:ext>
            </a:extLst>
          </p:cNvPr>
          <p:cNvSpPr/>
          <p:nvPr/>
        </p:nvSpPr>
        <p:spPr>
          <a:xfrm>
            <a:off x="1878177" y="3948912"/>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9" name="Rectangle 8">
            <a:extLst>
              <a:ext uri="{FF2B5EF4-FFF2-40B4-BE49-F238E27FC236}">
                <a16:creationId xmlns:a16="http://schemas.microsoft.com/office/drawing/2014/main" id="{80E26BC4-9A92-450B-AEFD-0A3C396DF061}"/>
              </a:ext>
            </a:extLst>
          </p:cNvPr>
          <p:cNvSpPr/>
          <p:nvPr/>
        </p:nvSpPr>
        <p:spPr>
          <a:xfrm>
            <a:off x="2926080" y="4155567"/>
            <a:ext cx="1188720" cy="429768"/>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BD041AF3-C05A-499E-9299-9213B7DE2396}"/>
              </a:ext>
            </a:extLst>
          </p:cNvPr>
          <p:cNvSpPr/>
          <p:nvPr/>
        </p:nvSpPr>
        <p:spPr>
          <a:xfrm>
            <a:off x="3374136" y="3780663"/>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43E67AB5-F483-497F-AF4E-A4A69C9CDC96}"/>
              </a:ext>
            </a:extLst>
          </p:cNvPr>
          <p:cNvSpPr/>
          <p:nvPr/>
        </p:nvSpPr>
        <p:spPr>
          <a:xfrm>
            <a:off x="3432657" y="3839184"/>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2" name="Rectangle 11">
            <a:extLst>
              <a:ext uri="{FF2B5EF4-FFF2-40B4-BE49-F238E27FC236}">
                <a16:creationId xmlns:a16="http://schemas.microsoft.com/office/drawing/2014/main" id="{E921C507-995A-4200-B7C0-C9730368ABDE}"/>
              </a:ext>
            </a:extLst>
          </p:cNvPr>
          <p:cNvSpPr/>
          <p:nvPr/>
        </p:nvSpPr>
        <p:spPr>
          <a:xfrm>
            <a:off x="4480560" y="4045839"/>
            <a:ext cx="1188720" cy="539496"/>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3" name="Oval 12">
            <a:extLst>
              <a:ext uri="{FF2B5EF4-FFF2-40B4-BE49-F238E27FC236}">
                <a16:creationId xmlns:a16="http://schemas.microsoft.com/office/drawing/2014/main" id="{25CB58ED-9A92-4B99-B690-CBE9683DEF6A}"/>
              </a:ext>
            </a:extLst>
          </p:cNvPr>
          <p:cNvSpPr/>
          <p:nvPr/>
        </p:nvSpPr>
        <p:spPr>
          <a:xfrm>
            <a:off x="4928616" y="3670935"/>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4" name="Oval 13">
            <a:extLst>
              <a:ext uri="{FF2B5EF4-FFF2-40B4-BE49-F238E27FC236}">
                <a16:creationId xmlns:a16="http://schemas.microsoft.com/office/drawing/2014/main" id="{F1D5BCAE-61A0-47E0-9368-D19CC2E3DFB2}"/>
              </a:ext>
            </a:extLst>
          </p:cNvPr>
          <p:cNvSpPr/>
          <p:nvPr/>
        </p:nvSpPr>
        <p:spPr>
          <a:xfrm>
            <a:off x="4987137" y="3729456"/>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5" name="Rectangle 14">
            <a:extLst>
              <a:ext uri="{FF2B5EF4-FFF2-40B4-BE49-F238E27FC236}">
                <a16:creationId xmlns:a16="http://schemas.microsoft.com/office/drawing/2014/main" id="{ABB5DA42-DA1C-4E08-ADF2-AA492DFD0C60}"/>
              </a:ext>
            </a:extLst>
          </p:cNvPr>
          <p:cNvSpPr/>
          <p:nvPr/>
        </p:nvSpPr>
        <p:spPr>
          <a:xfrm>
            <a:off x="6035040" y="3936111"/>
            <a:ext cx="1188720" cy="649224"/>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6" name="Oval 15">
            <a:extLst>
              <a:ext uri="{FF2B5EF4-FFF2-40B4-BE49-F238E27FC236}">
                <a16:creationId xmlns:a16="http://schemas.microsoft.com/office/drawing/2014/main" id="{185D518A-C4C4-4882-952E-111A3709A302}"/>
              </a:ext>
            </a:extLst>
          </p:cNvPr>
          <p:cNvSpPr/>
          <p:nvPr/>
        </p:nvSpPr>
        <p:spPr>
          <a:xfrm>
            <a:off x="6483096" y="3561207"/>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7" name="Oval 16">
            <a:extLst>
              <a:ext uri="{FF2B5EF4-FFF2-40B4-BE49-F238E27FC236}">
                <a16:creationId xmlns:a16="http://schemas.microsoft.com/office/drawing/2014/main" id="{ED9AD062-02ED-4C37-9DBA-0959E337752C}"/>
              </a:ext>
            </a:extLst>
          </p:cNvPr>
          <p:cNvSpPr/>
          <p:nvPr/>
        </p:nvSpPr>
        <p:spPr>
          <a:xfrm>
            <a:off x="6541617" y="3619728"/>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3FFA4679-5E23-4077-91C2-2E04F7557F25}"/>
              </a:ext>
            </a:extLst>
          </p:cNvPr>
          <p:cNvSpPr/>
          <p:nvPr/>
        </p:nvSpPr>
        <p:spPr>
          <a:xfrm>
            <a:off x="7589520" y="3826383"/>
            <a:ext cx="1188720" cy="758952"/>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FDE6826F-C49B-4D4C-8FFC-D3C1C862A1EF}"/>
              </a:ext>
            </a:extLst>
          </p:cNvPr>
          <p:cNvSpPr/>
          <p:nvPr/>
        </p:nvSpPr>
        <p:spPr>
          <a:xfrm>
            <a:off x="8037576" y="3451479"/>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0" name="Oval 19">
            <a:extLst>
              <a:ext uri="{FF2B5EF4-FFF2-40B4-BE49-F238E27FC236}">
                <a16:creationId xmlns:a16="http://schemas.microsoft.com/office/drawing/2014/main" id="{5CC0BBB6-89E0-4360-96DF-B7C918B53413}"/>
              </a:ext>
            </a:extLst>
          </p:cNvPr>
          <p:cNvSpPr/>
          <p:nvPr/>
        </p:nvSpPr>
        <p:spPr>
          <a:xfrm>
            <a:off x="8096097" y="3510000"/>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1" name="Rectangle 20">
            <a:extLst>
              <a:ext uri="{FF2B5EF4-FFF2-40B4-BE49-F238E27FC236}">
                <a16:creationId xmlns:a16="http://schemas.microsoft.com/office/drawing/2014/main" id="{AAD1A037-D87E-4197-9C6D-8A741DA2845A}"/>
              </a:ext>
            </a:extLst>
          </p:cNvPr>
          <p:cNvSpPr/>
          <p:nvPr/>
        </p:nvSpPr>
        <p:spPr>
          <a:xfrm>
            <a:off x="9144000" y="3716655"/>
            <a:ext cx="1188720" cy="868680"/>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2" name="Oval 21">
            <a:extLst>
              <a:ext uri="{FF2B5EF4-FFF2-40B4-BE49-F238E27FC236}">
                <a16:creationId xmlns:a16="http://schemas.microsoft.com/office/drawing/2014/main" id="{8C8DF8DA-6430-4637-9095-955A3695F3B3}"/>
              </a:ext>
            </a:extLst>
          </p:cNvPr>
          <p:cNvSpPr/>
          <p:nvPr/>
        </p:nvSpPr>
        <p:spPr>
          <a:xfrm>
            <a:off x="9592056" y="3341751"/>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3" name="Oval 22">
            <a:extLst>
              <a:ext uri="{FF2B5EF4-FFF2-40B4-BE49-F238E27FC236}">
                <a16:creationId xmlns:a16="http://schemas.microsoft.com/office/drawing/2014/main" id="{952DC7DE-0D2C-4255-8DC3-CB6B7BE5266C}"/>
              </a:ext>
            </a:extLst>
          </p:cNvPr>
          <p:cNvSpPr/>
          <p:nvPr/>
        </p:nvSpPr>
        <p:spPr>
          <a:xfrm>
            <a:off x="9650577" y="3400272"/>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4" name="TextBox 23">
            <a:extLst>
              <a:ext uri="{FF2B5EF4-FFF2-40B4-BE49-F238E27FC236}">
                <a16:creationId xmlns:a16="http://schemas.microsoft.com/office/drawing/2014/main" id="{3C29453D-ADE7-472B-B7E2-ADB6D6B0F7AD}"/>
              </a:ext>
            </a:extLst>
          </p:cNvPr>
          <p:cNvSpPr txBox="1"/>
          <p:nvPr/>
        </p:nvSpPr>
        <p:spPr>
          <a:xfrm>
            <a:off x="914400" y="4722495"/>
            <a:ext cx="10058400" cy="369332"/>
          </a:xfrm>
          <a:prstGeom prst="rect">
            <a:avLst/>
          </a:prstGeom>
          <a:noFill/>
        </p:spPr>
        <p:txBody>
          <a:bodyPr wrap="square">
            <a:spAutoFit/>
          </a:bodyPr>
          <a:lstStyle/>
          <a:p>
            <a:pPr algn="l"/>
            <a:r>
              <a:rPr b="0" i="1" dirty="0">
                <a:latin typeface="Times New Roman" panose="02020603050405020304" pitchFamily="18" charset="0"/>
                <a:cs typeface="Times New Roman" panose="02020603050405020304" pitchFamily="18" charset="0"/>
              </a:rPr>
              <a:t>verified payments accumulating over time →</a:t>
            </a:r>
          </a:p>
        </p:txBody>
      </p:sp>
      <p:sp>
        <p:nvSpPr>
          <p:cNvPr id="25"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9</a:t>
            </a:r>
          </a:p>
        </p:txBody>
      </p:sp>
      <p:sp>
        <p:nvSpPr>
          <p:cNvPr id="26" name="Fit bullets"/>
          <p:cNvSpPr txBox="1"/>
          <p:nvPr/>
        </p:nvSpPr>
        <p:spPr>
          <a:xfrm>
            <a:off x="548640" y="2240280"/>
            <a:ext cx="11064240" cy="1005840"/>
          </a:xfrm>
          <a:prstGeom prst="rect">
            <a:avLst/>
          </a:prstGeom>
          <a:noFill/>
        </p:spPr>
        <p:txBody>
          <a:bodyPr wrap="square" lIns="45720" rIns="45720" tIns="27432" bIns="27432" anchor="t">
            <a:spAutoFit/>
          </a:bodyPr>
          <a:lstStyle/>
          <a:p>
            <a:pPr algn="l" marL="228600" indent="-228600">
              <a:lnSpc>
                <a:spcPct val="105000"/>
              </a:lnSpc>
              <a:spcAft>
                <a:spcPts val="600"/>
              </a:spcAft>
              <a:buClr>
                <a:srgbClr val="6E1E2A"/>
              </a:buClr>
              <a:buFont typeface="Arial"/>
              <a:buChar char="•"/>
            </a:pPr>
            <a:r>
              <a:rPr lang="en-GB" sz="1400" b="1" i="0" dirty="0">
                <a:solidFill>
                  <a:srgbClr val="6E1E2A"/>
                </a:solidFill>
                <a:latin typeface="Times New Roman"/>
              </a:rPr>
              <a:t>Talent retention: </a:t>
            </a:r>
            <a:r>
              <a:rPr lang="en-GB" sz="1400" b="0" i="0" dirty="0">
                <a:solidFill>
                  <a:srgbClr val="2A2218"/>
                </a:solidFill>
                <a:latin typeface="Times New Roman"/>
              </a:rPr>
              <a:t>payments creators can verify give them a reason to stay, keeping the originals that anchor Apple’s Services ecosystem.</a:t>
            </a:r>
          </a:p>
          <a:p>
            <a:pPr algn="l" marL="228600" indent="-228600">
              <a:lnSpc>
                <a:spcPct val="105000"/>
              </a:lnSpc>
              <a:spcAft>
                <a:spcPts val="0"/>
              </a:spcAft>
              <a:buClr>
                <a:srgbClr val="6E1E2A"/>
              </a:buClr>
              <a:buFont typeface="Arial"/>
              <a:buChar char="•"/>
            </a:pPr>
            <a:r>
              <a:rPr lang="en-GB" sz="1400" b="1" i="0" dirty="0">
                <a:solidFill>
                  <a:srgbClr val="6E1E2A"/>
                </a:solidFill>
                <a:latin typeface="Times New Roman"/>
              </a:rPr>
              <a:t>Agility: </a:t>
            </a:r>
            <a:r>
              <a:rPr lang="en-GB" sz="1400" b="0" i="0" dirty="0">
                <a:solidFill>
                  <a:srgbClr val="2A2218"/>
                </a:solidFill>
                <a:latin typeface="Times New Roman"/>
              </a:rPr>
              <a:t>a ledger partners already trust lets Apple TV+ add licensing partners faster, widening reach without adding disputes.</a:t>
            </a:r>
          </a:p>
        </p:txBody>
      </p:sp>
    </p:spTree>
    <p:extLst>
      <p:ext uri="{BB962C8B-B14F-4D97-AF65-F5344CB8AC3E}">
        <p14:creationId xmlns:p14="http://schemas.microsoft.com/office/powerpoint/2010/main" val="39493647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BC4AF12-83F7-426E-854B-39C142C377DC}"/>
              </a:ext>
            </a:extLst>
          </p:cNvPr>
          <p:cNvSpPr txBox="1"/>
          <p:nvPr/>
        </p:nvSpPr>
        <p:spPr>
          <a:xfrm>
            <a:off x="1758315" y="373158"/>
            <a:ext cx="8229600"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SUSTAINING ADVANTAGE</a:t>
            </a:r>
          </a:p>
        </p:txBody>
      </p:sp>
      <p:sp>
        <p:nvSpPr>
          <p:cNvPr id="6" name="TextBox 5">
            <a:extLst>
              <a:ext uri="{FF2B5EF4-FFF2-40B4-BE49-F238E27FC236}">
                <a16:creationId xmlns:a16="http://schemas.microsoft.com/office/drawing/2014/main" id="{18ADF28A-13DD-44A1-8C01-49E69FF32335}"/>
              </a:ext>
            </a:extLst>
          </p:cNvPr>
          <p:cNvSpPr txBox="1"/>
          <p:nvPr/>
        </p:nvSpPr>
        <p:spPr>
          <a:xfrm>
            <a:off x="548640" y="1097413"/>
            <a:ext cx="10789920" cy="717953"/>
          </a:xfrm>
          <a:prstGeom prst="rect">
            <a:avLst/>
          </a:prstGeom>
          <a:noFill/>
        </p:spPr>
        <p:txBody>
          <a:bodyPr wrap="square">
            <a:spAutoFit/>
          </a:bodyPr>
          <a:lstStyle/>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Being early is real.</a:t>
            </a:r>
          </a:p>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Staying ahead is a different claim entirely.</a:t>
            </a:r>
          </a:p>
        </p:txBody>
      </p:sp>
      <p:sp>
        <p:nvSpPr>
          <p:cNvPr id="7" name="Rectangle 6">
            <a:extLst>
              <a:ext uri="{FF2B5EF4-FFF2-40B4-BE49-F238E27FC236}">
                <a16:creationId xmlns:a16="http://schemas.microsoft.com/office/drawing/2014/main" id="{9A91CF42-2D2B-400E-A053-0E4EC8518FA8}"/>
              </a:ext>
            </a:extLst>
          </p:cNvPr>
          <p:cNvSpPr/>
          <p:nvPr/>
        </p:nvSpPr>
        <p:spPr>
          <a:xfrm rot="20661465">
            <a:off x="1065628" y="3826434"/>
            <a:ext cx="1709224"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a:extLst>
              <a:ext uri="{FF2B5EF4-FFF2-40B4-BE49-F238E27FC236}">
                <a16:creationId xmlns:a16="http://schemas.microsoft.com/office/drawing/2014/main" id="{E2CA1BCF-5E8B-4B8E-974A-B115D32341BB}"/>
              </a:ext>
            </a:extLst>
          </p:cNvPr>
          <p:cNvSpPr/>
          <p:nvPr/>
        </p:nvSpPr>
        <p:spPr>
          <a:xfrm rot="20535319">
            <a:off x="2702091" y="3332658"/>
            <a:ext cx="1728138"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9" name="Rectangle 8">
            <a:extLst>
              <a:ext uri="{FF2B5EF4-FFF2-40B4-BE49-F238E27FC236}">
                <a16:creationId xmlns:a16="http://schemas.microsoft.com/office/drawing/2014/main" id="{01449EF4-8164-4FC6-95D2-9EADC9483475}"/>
              </a:ext>
            </a:extLst>
          </p:cNvPr>
          <p:cNvSpPr/>
          <p:nvPr/>
        </p:nvSpPr>
        <p:spPr>
          <a:xfrm rot="20790256">
            <a:off x="4365751" y="2871800"/>
            <a:ext cx="1692659"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0" name="Rectangle 9">
            <a:extLst>
              <a:ext uri="{FF2B5EF4-FFF2-40B4-BE49-F238E27FC236}">
                <a16:creationId xmlns:a16="http://schemas.microsoft.com/office/drawing/2014/main" id="{56F0A30E-E0CA-480C-9AA0-485822FA7AC1}"/>
              </a:ext>
            </a:extLst>
          </p:cNvPr>
          <p:cNvSpPr/>
          <p:nvPr/>
        </p:nvSpPr>
        <p:spPr>
          <a:xfrm rot="21054583">
            <a:off x="6024573" y="2542616"/>
            <a:ext cx="1666855"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1" name="Rectangle 10">
            <a:extLst>
              <a:ext uri="{FF2B5EF4-FFF2-40B4-BE49-F238E27FC236}">
                <a16:creationId xmlns:a16="http://schemas.microsoft.com/office/drawing/2014/main" id="{210B8819-CDBB-4E08-8CBA-0DBE8E7A8BD5}"/>
              </a:ext>
            </a:extLst>
          </p:cNvPr>
          <p:cNvSpPr/>
          <p:nvPr/>
        </p:nvSpPr>
        <p:spPr>
          <a:xfrm rot="21325564">
            <a:off x="7678331" y="2345106"/>
            <a:ext cx="1651179"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2" name="Oval 11">
            <a:extLst>
              <a:ext uri="{FF2B5EF4-FFF2-40B4-BE49-F238E27FC236}">
                <a16:creationId xmlns:a16="http://schemas.microsoft.com/office/drawing/2014/main" id="{52039C7D-82B1-42AD-A927-9F17976D918C}"/>
              </a:ext>
            </a:extLst>
          </p:cNvPr>
          <p:cNvSpPr/>
          <p:nvPr/>
        </p:nvSpPr>
        <p:spPr>
          <a:xfrm>
            <a:off x="548640" y="2011680"/>
            <a:ext cx="1097280" cy="1097280"/>
          </a:xfrm>
          <a:prstGeom prst="ellipse">
            <a:avLst/>
          </a:prstGeom>
          <a:no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25D75E72-F9B8-4192-BAE1-C60F936F78A6}"/>
              </a:ext>
            </a:extLst>
          </p:cNvPr>
          <p:cNvSpPr txBox="1"/>
          <p:nvPr/>
        </p:nvSpPr>
        <p:spPr>
          <a:xfrm>
            <a:off x="274320" y="3154680"/>
            <a:ext cx="1645920" cy="584775"/>
          </a:xfrm>
          <a:prstGeom prst="rect">
            <a:avLst/>
          </a:prstGeom>
          <a:noFill/>
        </p:spPr>
        <p:txBody>
          <a:bodyPr wrap="square">
            <a:spAutoFit/>
          </a:bodyPr>
          <a:lstStyle/>
          <a:p>
            <a:pPr algn="ctr"/>
            <a:r>
              <a:rPr sz="1600" b="0" i="1">
                <a:solidFill>
                  <a:srgbClr val="7A7060"/>
                </a:solidFill>
                <a:latin typeface="Times New Roman" panose="02020603050405020304" pitchFamily="18" charset="0"/>
                <a:cs typeface="Times New Roman" panose="02020603050405020304" pitchFamily="18" charset="0"/>
              </a:rPr>
              <a:t>Apple TV+ (early)</a:t>
            </a:r>
          </a:p>
        </p:txBody>
      </p:sp>
      <p:sp>
        <p:nvSpPr>
          <p:cNvPr id="14" name="Rectangle 13">
            <a:extLst>
              <a:ext uri="{FF2B5EF4-FFF2-40B4-BE49-F238E27FC236}">
                <a16:creationId xmlns:a16="http://schemas.microsoft.com/office/drawing/2014/main" id="{FAA2DB67-2962-4C05-8F4A-8901153BF16D}"/>
              </a:ext>
            </a:extLst>
          </p:cNvPr>
          <p:cNvSpPr/>
          <p:nvPr/>
        </p:nvSpPr>
        <p:spPr>
          <a:xfrm>
            <a:off x="7863840" y="1965960"/>
            <a:ext cx="3474720" cy="1097280"/>
          </a:xfrm>
          <a:prstGeom prst="rect">
            <a:avLst/>
          </a:prstGeom>
          <a:solidFill>
            <a:srgbClr val="EAE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55C82A7A-EA9D-450A-85B1-2CD3BF0ABBF7}"/>
              </a:ext>
            </a:extLst>
          </p:cNvPr>
          <p:cNvSpPr txBox="1"/>
          <p:nvPr/>
        </p:nvSpPr>
        <p:spPr>
          <a:xfrm>
            <a:off x="7863840" y="3108960"/>
            <a:ext cx="3474720" cy="338554"/>
          </a:xfrm>
          <a:prstGeom prst="rect">
            <a:avLst/>
          </a:prstGeom>
          <a:noFill/>
        </p:spPr>
        <p:txBody>
          <a:bodyPr wrap="square">
            <a:spAutoFit/>
          </a:bodyPr>
          <a:lstStyle/>
          <a:p>
            <a:pPr algn="ctr"/>
            <a:r>
              <a:rPr sz="1600" b="0" i="1">
                <a:solidFill>
                  <a:srgbClr val="7A7060"/>
                </a:solidFill>
                <a:latin typeface="Times New Roman" panose="02020603050405020304" pitchFamily="18" charset="0"/>
                <a:cs typeface="Times New Roman" panose="02020603050405020304" pitchFamily="18" charset="0"/>
              </a:rPr>
              <a:t>convergence zone</a:t>
            </a:r>
          </a:p>
        </p:txBody>
      </p:sp>
      <p:sp>
        <p:nvSpPr>
          <p:cNvPr id="16" name="Oval 15">
            <a:extLst>
              <a:ext uri="{FF2B5EF4-FFF2-40B4-BE49-F238E27FC236}">
                <a16:creationId xmlns:a16="http://schemas.microsoft.com/office/drawing/2014/main" id="{CAFA75D4-8CC9-41B3-9778-8335EA82D94B}"/>
              </a:ext>
            </a:extLst>
          </p:cNvPr>
          <p:cNvSpPr/>
          <p:nvPr/>
        </p:nvSpPr>
        <p:spPr>
          <a:xfrm>
            <a:off x="1024127" y="3999586"/>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a:extLst>
              <a:ext uri="{FF2B5EF4-FFF2-40B4-BE49-F238E27FC236}">
                <a16:creationId xmlns:a16="http://schemas.microsoft.com/office/drawing/2014/main" id="{FF284759-2534-46B9-8AE1-564DFB6EB166}"/>
              </a:ext>
            </a:extLst>
          </p:cNvPr>
          <p:cNvSpPr/>
          <p:nvPr/>
        </p:nvSpPr>
        <p:spPr>
          <a:xfrm>
            <a:off x="2670048" y="3538728"/>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8" name="Oval 17">
            <a:extLst>
              <a:ext uri="{FF2B5EF4-FFF2-40B4-BE49-F238E27FC236}">
                <a16:creationId xmlns:a16="http://schemas.microsoft.com/office/drawing/2014/main" id="{F7511AFD-B4B2-4133-AFC8-F0E8DCBDC781}"/>
              </a:ext>
            </a:extLst>
          </p:cNvPr>
          <p:cNvSpPr/>
          <p:nvPr/>
        </p:nvSpPr>
        <p:spPr>
          <a:xfrm>
            <a:off x="4315968" y="3012034"/>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4BA71070-7156-4F80-8F23-9E71853070B0}"/>
              </a:ext>
            </a:extLst>
          </p:cNvPr>
          <p:cNvSpPr/>
          <p:nvPr/>
        </p:nvSpPr>
        <p:spPr>
          <a:xfrm>
            <a:off x="5961888" y="2617013"/>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20" name="Oval 19">
            <a:extLst>
              <a:ext uri="{FF2B5EF4-FFF2-40B4-BE49-F238E27FC236}">
                <a16:creationId xmlns:a16="http://schemas.microsoft.com/office/drawing/2014/main" id="{442E2629-9F14-4868-BBFD-80C34A015042}"/>
              </a:ext>
            </a:extLst>
          </p:cNvPr>
          <p:cNvSpPr/>
          <p:nvPr/>
        </p:nvSpPr>
        <p:spPr>
          <a:xfrm>
            <a:off x="7607808" y="2353666"/>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21" name="Oval 20">
            <a:extLst>
              <a:ext uri="{FF2B5EF4-FFF2-40B4-BE49-F238E27FC236}">
                <a16:creationId xmlns:a16="http://schemas.microsoft.com/office/drawing/2014/main" id="{05EEE5FE-BA48-42E2-866B-D85D4B82D1F7}"/>
              </a:ext>
            </a:extLst>
          </p:cNvPr>
          <p:cNvSpPr/>
          <p:nvPr/>
        </p:nvSpPr>
        <p:spPr>
          <a:xfrm>
            <a:off x="9253728" y="2221992"/>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22" name="VRIO card 1"/>
          <p:cNvSpPr/>
          <p:nvPr/>
        </p:nvSpPr>
        <p:spPr>
          <a:xfrm>
            <a:off x="548640"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VRIO label 1"/>
          <p:cNvSpPr txBox="1"/>
          <p:nvPr/>
        </p:nvSpPr>
        <p:spPr>
          <a:xfrm>
            <a:off x="594360"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V: VALUABLE?</a:t>
            </a:r>
          </a:p>
        </p:txBody>
      </p:sp>
      <p:sp>
        <p:nvSpPr>
          <p:cNvPr id="24" name="VRIO answer 1"/>
          <p:cNvSpPr txBox="1"/>
          <p:nvPr/>
        </p:nvSpPr>
        <p:spPr>
          <a:xfrm>
            <a:off x="594360"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Yes: </a:t>
            </a:r>
            <a:r>
              <a:rPr lang="en-GB" sz="1200" b="0" i="0" dirty="0">
                <a:solidFill>
                  <a:srgbClr val="2A2218"/>
                </a:solidFill>
                <a:latin typeface="Times New Roman"/>
              </a:rPr>
              <a:t>one shared record cuts payment disputes, so Apple TV+ spends less time reconciling as licensing partners multiply.</a:t>
            </a:r>
          </a:p>
        </p:txBody>
      </p:sp>
      <p:sp>
        <p:nvSpPr>
          <p:cNvPr id="25" name="VRIO card 2"/>
          <p:cNvSpPr/>
          <p:nvPr/>
        </p:nvSpPr>
        <p:spPr>
          <a:xfrm>
            <a:off x="3355848"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VRIO label 2"/>
          <p:cNvSpPr txBox="1"/>
          <p:nvPr/>
        </p:nvSpPr>
        <p:spPr>
          <a:xfrm>
            <a:off x="3401568"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R: RARE?</a:t>
            </a:r>
          </a:p>
        </p:txBody>
      </p:sp>
      <p:sp>
        <p:nvSpPr>
          <p:cNvPr id="27" name="VRIO answer 2"/>
          <p:cNvSpPr txBox="1"/>
          <p:nvPr/>
        </p:nvSpPr>
        <p:spPr>
          <a:xfrm>
            <a:off x="3401568"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Yes, for now: </a:t>
            </a:r>
            <a:r>
              <a:rPr lang="en-GB" sz="1200" b="0" i="0" dirty="0">
                <a:solidFill>
                  <a:srgbClr val="2A2218"/>
                </a:solidFill>
                <a:latin typeface="Times New Roman"/>
              </a:rPr>
              <a:t>no major video streamer found using one as core infrastructure, so Apple TV+ would be early.</a:t>
            </a:r>
          </a:p>
        </p:txBody>
      </p:sp>
      <p:sp>
        <p:nvSpPr>
          <p:cNvPr id="28" name="VRIO card 3"/>
          <p:cNvSpPr/>
          <p:nvPr/>
        </p:nvSpPr>
        <p:spPr>
          <a:xfrm>
            <a:off x="6163055"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VRIO label 3"/>
          <p:cNvSpPr txBox="1"/>
          <p:nvPr/>
        </p:nvSpPr>
        <p:spPr>
          <a:xfrm>
            <a:off x="6208775"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I: HARD TO IMITATE?</a:t>
            </a:r>
          </a:p>
        </p:txBody>
      </p:sp>
      <p:sp>
        <p:nvSpPr>
          <p:cNvPr id="30" name="VRIO answer 3"/>
          <p:cNvSpPr txBox="1"/>
          <p:nvPr/>
        </p:nvSpPr>
        <p:spPr>
          <a:xfrm>
            <a:off x="6208775"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No for the code, yes for the trust: </a:t>
            </a:r>
            <a:r>
              <a:rPr lang="en-GB" sz="1200" b="0" i="0" dirty="0">
                <a:solidFill>
                  <a:srgbClr val="2A2218"/>
                </a:solidFill>
                <a:latin typeface="Times New Roman"/>
              </a:rPr>
              <a:t>rivals can copy the technology, but not Apple TV+’s accumulated payment history.</a:t>
            </a:r>
          </a:p>
        </p:txBody>
      </p:sp>
      <p:sp>
        <p:nvSpPr>
          <p:cNvPr id="31" name="VRIO card 4"/>
          <p:cNvSpPr/>
          <p:nvPr/>
        </p:nvSpPr>
        <p:spPr>
          <a:xfrm>
            <a:off x="8970263"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VRIO label 4"/>
          <p:cNvSpPr txBox="1"/>
          <p:nvPr/>
        </p:nvSpPr>
        <p:spPr>
          <a:xfrm>
            <a:off x="9015984"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O: ORGANISED?</a:t>
            </a:r>
          </a:p>
        </p:txBody>
      </p:sp>
      <p:sp>
        <p:nvSpPr>
          <p:cNvPr id="33" name="VRIO answer 4"/>
          <p:cNvSpPr txBox="1"/>
          <p:nvPr/>
        </p:nvSpPr>
        <p:spPr>
          <a:xfrm>
            <a:off x="9015984"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Not yet: </a:t>
            </a:r>
            <a:r>
              <a:rPr lang="en-GB" sz="1200" b="0" i="0" dirty="0">
                <a:solidFill>
                  <a:srgbClr val="2A2218"/>
                </a:solidFill>
                <a:latin typeface="Times New Roman"/>
              </a:rPr>
              <a:t>a named owner and cross-functional team are proposed, but dual sign-off and standing legal review are still needed.</a:t>
            </a:r>
          </a:p>
        </p:txBody>
      </p:sp>
      <p:sp>
        <p:nvSpPr>
          <p:cNvPr id="34"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10</a:t>
            </a:r>
          </a:p>
        </p:txBody>
      </p:sp>
      <p:sp>
        <p:nvSpPr>
          <p:cNvPr id="35" name="VRIO verdict"/>
          <p:cNvSpPr txBox="1"/>
          <p:nvPr/>
        </p:nvSpPr>
        <p:spPr>
          <a:xfrm>
            <a:off x="548640" y="5687568"/>
            <a:ext cx="11064240" cy="365760"/>
          </a:xfrm>
          <a:prstGeom prst="rect">
            <a:avLst/>
          </a:prstGeom>
          <a:noFill/>
        </p:spPr>
        <p:txBody>
          <a:bodyPr wrap="square" lIns="45720" rIns="45720" tIns="27432" bIns="27432" anchor="t">
            <a:spAutoFit/>
          </a:bodyPr>
          <a:lstStyle/>
          <a:p>
            <a:pPr algn="l">
              <a:lnSpc>
                <a:spcPct val="105000"/>
              </a:lnSpc>
              <a:spcAft>
                <a:spcPts val="0"/>
              </a:spcAft>
            </a:pPr>
            <a:r>
              <a:rPr lang="en-GB" sz="1400" b="1" i="0" dirty="0">
                <a:solidFill>
                  <a:srgbClr val="6E1E2A"/>
                </a:solidFill>
                <a:latin typeface="Times New Roman"/>
              </a:rPr>
              <a:t>VERDICT: </a:t>
            </a:r>
            <a:r>
              <a:rPr lang="en-GB" sz="1400" b="0" i="0" dirty="0">
                <a:solidFill>
                  <a:srgbClr val="2A2218"/>
                </a:solidFill>
                <a:latin typeface="Times New Roman"/>
              </a:rPr>
              <a:t>Valuable and Rare pass, Hard to imitate passes on trust alone, Organised is not yet met, so the advantage is temporary.</a:t>
            </a:r>
          </a:p>
        </p:txBody>
      </p:sp>
      <p:sp>
        <p:nvSpPr>
          <p:cNvPr id="36" name="VRIO source"/>
          <p:cNvSpPr txBox="1"/>
          <p:nvPr/>
        </p:nvSpPr>
        <p:spPr>
          <a:xfrm>
            <a:off x="548640" y="6144768"/>
            <a:ext cx="5486400" cy="246888"/>
          </a:xfrm>
          <a:prstGeom prst="rect">
            <a:avLst/>
          </a:prstGeom>
          <a:noFill/>
        </p:spPr>
        <p:txBody>
          <a:bodyPr wrap="square" lIns="45720" rIns="45720" tIns="27432" bIns="27432" anchor="t">
            <a:spAutoFit/>
          </a:bodyPr>
          <a:lstStyle/>
          <a:p>
            <a:pPr algn="l">
              <a:lnSpc>
                <a:spcPct val="105000"/>
              </a:lnSpc>
              <a:spcAft>
                <a:spcPts val="0"/>
              </a:spcAft>
            </a:pPr>
            <a:r>
              <a:rPr lang="en-GB" sz="1100" b="0" i="1" dirty="0">
                <a:solidFill>
                  <a:srgbClr val="7A7060"/>
                </a:solidFill>
                <a:latin typeface="Times New Roman"/>
              </a:rPr>
              <a:t>(Barney, 1991)</a:t>
            </a:r>
          </a:p>
        </p:txBody>
      </p:sp>
    </p:spTree>
    <p:extLst>
      <p:ext uri="{BB962C8B-B14F-4D97-AF65-F5344CB8AC3E}">
        <p14:creationId xmlns:p14="http://schemas.microsoft.com/office/powerpoint/2010/main" val="8106839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3959D69-9C71-4FDB-B5B8-C8373F4FEC39}"/>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ETHICS &amp; RISK</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1800" b="0" i="0">
                <a:solidFill>
                  <a:srgbClr val="2A2218"/>
                </a:solidFill>
                <a:latin typeface="Times New Roman"/>
              </a:rPr>
              <a:t>Ethics: talent receive verifiable, fair payment, but immutability must not override people's data rights.</a:t>
            </a:r>
          </a:p>
        </p:txBody>
      </p:sp>
      <p:sp>
        <p:nvSpPr>
          <p:cNvPr id="6" name="Rectangle 5"/>
          <p:cNvSpPr/>
          <p:nvPr/>
        </p:nvSpPr>
        <p:spPr>
          <a:xfrm>
            <a:off x="548640" y="2240280"/>
            <a:ext cx="3566160" cy="41148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19" y="2468879"/>
            <a:ext cx="640080" cy="64008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3135" y="259049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63040" y="2468880"/>
            <a:ext cx="251460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Data privacy</a:t>
            </a:r>
          </a:p>
        </p:txBody>
      </p:sp>
      <p:sp>
        <p:nvSpPr>
          <p:cNvPr id="10" name="TextBox 9"/>
          <p:cNvSpPr txBox="1"/>
          <p:nvPr/>
        </p:nvSpPr>
        <p:spPr>
          <a:xfrm>
            <a:off x="685800" y="329184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RISK</a:t>
            </a:r>
          </a:p>
        </p:txBody>
      </p:sp>
      <p:sp>
        <p:nvSpPr>
          <p:cNvPr id="11" name="TextBox 10"/>
          <p:cNvSpPr txBox="1"/>
          <p:nvPr/>
        </p:nvSpPr>
        <p:spPr>
          <a:xfrm>
            <a:off x="685800" y="3566160"/>
            <a:ext cx="3291840" cy="12344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Ledger entries can hold commercially sensitive or personal data, yet some laws let people correct or erase their data.</a:t>
            </a:r>
          </a:p>
        </p:txBody>
      </p:sp>
      <p:sp>
        <p:nvSpPr>
          <p:cNvPr id="12" name="TextBox 11"/>
          <p:cNvSpPr txBox="1"/>
          <p:nvPr/>
        </p:nvSpPr>
        <p:spPr>
          <a:xfrm>
            <a:off x="685800" y="48463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CONTROL</a:t>
            </a:r>
          </a:p>
        </p:txBody>
      </p:sp>
      <p:sp>
        <p:nvSpPr>
          <p:cNvPr id="13" name="TextBox 12"/>
          <p:cNvSpPr txBox="1"/>
          <p:nvPr/>
        </p:nvSpPr>
        <p:spPr>
          <a:xfrm>
            <a:off x="685800" y="5120640"/>
            <a:ext cx="329184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Keep personal data off the ledger; record only a verification hash.</a:t>
            </a:r>
          </a:p>
        </p:txBody>
      </p:sp>
      <p:sp>
        <p:nvSpPr>
          <p:cNvPr id="14" name="Rectangle 13"/>
          <p:cNvSpPr/>
          <p:nvPr/>
        </p:nvSpPr>
        <p:spPr>
          <a:xfrm>
            <a:off x="4311396" y="2240280"/>
            <a:ext cx="3566160" cy="41148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494276" y="2468879"/>
            <a:ext cx="640080" cy="64008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615891" y="259049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25796" y="2468880"/>
            <a:ext cx="251460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Cross-border regulation</a:t>
            </a:r>
          </a:p>
        </p:txBody>
      </p:sp>
      <p:sp>
        <p:nvSpPr>
          <p:cNvPr id="18" name="TextBox 17"/>
          <p:cNvSpPr txBox="1"/>
          <p:nvPr/>
        </p:nvSpPr>
        <p:spPr>
          <a:xfrm>
            <a:off x="4448556" y="329184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RISK</a:t>
            </a:r>
          </a:p>
        </p:txBody>
      </p:sp>
      <p:sp>
        <p:nvSpPr>
          <p:cNvPr id="19" name="TextBox 18"/>
          <p:cNvSpPr txBox="1"/>
          <p:nvPr/>
        </p:nvSpPr>
        <p:spPr>
          <a:xfrm>
            <a:off x="4448556" y="3566160"/>
            <a:ext cx="3291840" cy="12344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No settled international standard for enforcing smart-contract royalties across jurisdictions.</a:t>
            </a:r>
          </a:p>
        </p:txBody>
      </p:sp>
      <p:sp>
        <p:nvSpPr>
          <p:cNvPr id="20" name="TextBox 19"/>
          <p:cNvSpPr txBox="1"/>
          <p:nvPr/>
        </p:nvSpPr>
        <p:spPr>
          <a:xfrm>
            <a:off x="4448556" y="48463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CONTROL</a:t>
            </a:r>
          </a:p>
        </p:txBody>
      </p:sp>
      <p:sp>
        <p:nvSpPr>
          <p:cNvPr id="21" name="TextBox 20"/>
          <p:cNvSpPr txBox="1"/>
          <p:nvPr/>
        </p:nvSpPr>
        <p:spPr>
          <a:xfrm>
            <a:off x="4448556" y="5120640"/>
            <a:ext cx="329184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Phased rollout by territory, starting where digital-contract law is clearer.</a:t>
            </a:r>
          </a:p>
        </p:txBody>
      </p:sp>
      <p:sp>
        <p:nvSpPr>
          <p:cNvPr id="22" name="Rectangle 21"/>
          <p:cNvSpPr/>
          <p:nvPr/>
        </p:nvSpPr>
        <p:spPr>
          <a:xfrm>
            <a:off x="8074152" y="2240280"/>
            <a:ext cx="3566160" cy="41148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257032" y="2468879"/>
            <a:ext cx="640080" cy="64008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378647" y="259049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88552" y="2468880"/>
            <a:ext cx="251460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Smart-contract error</a:t>
            </a:r>
          </a:p>
        </p:txBody>
      </p:sp>
      <p:sp>
        <p:nvSpPr>
          <p:cNvPr id="26" name="TextBox 25"/>
          <p:cNvSpPr txBox="1"/>
          <p:nvPr/>
        </p:nvSpPr>
        <p:spPr>
          <a:xfrm>
            <a:off x="8211312" y="329184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RISK</a:t>
            </a:r>
          </a:p>
        </p:txBody>
      </p:sp>
      <p:sp>
        <p:nvSpPr>
          <p:cNvPr id="27" name="TextBox 26"/>
          <p:cNvSpPr txBox="1"/>
          <p:nvPr/>
        </p:nvSpPr>
        <p:spPr>
          <a:xfrm>
            <a:off x="8211312" y="3566160"/>
            <a:ext cx="3291840" cy="12344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The most serious risk: a wrong term in code keeps paying the wrong party until someone notices.</a:t>
            </a:r>
          </a:p>
        </p:txBody>
      </p:sp>
      <p:sp>
        <p:nvSpPr>
          <p:cNvPr id="28" name="TextBox 27"/>
          <p:cNvSpPr txBox="1"/>
          <p:nvPr/>
        </p:nvSpPr>
        <p:spPr>
          <a:xfrm>
            <a:off x="8211312" y="48463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CONTROL</a:t>
            </a:r>
          </a:p>
        </p:txBody>
      </p:sp>
      <p:sp>
        <p:nvSpPr>
          <p:cNvPr id="29" name="TextBox 28"/>
          <p:cNvSpPr txBox="1"/>
          <p:nvPr/>
        </p:nvSpPr>
        <p:spPr>
          <a:xfrm>
            <a:off x="8211312" y="5120640"/>
            <a:ext cx="329184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Legal and technical sign-off before go-live, plus a manual override and dispute freeze.</a:t>
            </a:r>
          </a:p>
        </p:txBody>
      </p:sp>
      <p:sp>
        <p:nvSpPr>
          <p:cNvPr id="30" name="TextBox 29"/>
          <p:cNvSpPr txBox="1"/>
          <p:nvPr/>
        </p:nvSpPr>
        <p:spPr>
          <a:xfrm>
            <a:off x="11155680" y="6355080"/>
            <a:ext cx="822960" cy="365760"/>
          </a:xfrm>
          <a:prstGeom prst="rect">
            <a:avLst/>
          </a:prstGeom>
          <a:noFill/>
        </p:spPr>
        <p:txBody>
          <a:bodyPr wrap="square" lIns="45720" rIns="45720" tIns="27432" bIns="27432" anchor="t">
            <a:spAutoFit/>
          </a:bodyPr>
          <a:lstStyle/>
          <a:p>
            <a:pPr algn="r">
              <a:lnSpc>
                <a:spcPct val="105000"/>
              </a:lnSpc>
              <a:spcAft>
                <a:spcPts val="0"/>
              </a:spcAft>
            </a:pPr>
            <a:r>
              <a:rPr sz="1000" b="0" i="0">
                <a:solidFill>
                  <a:srgbClr val="7A7060"/>
                </a:solidFill>
                <a:latin typeface="Times New Roman"/>
              </a:rPr>
              <a:t>11</a:t>
            </a:r>
          </a:p>
        </p:txBody>
      </p:sp>
    </p:spTree>
    <p:extLst>
      <p:ext uri="{BB962C8B-B14F-4D97-AF65-F5344CB8AC3E}">
        <p14:creationId xmlns:p14="http://schemas.microsoft.com/office/powerpoint/2010/main" val="3028663827"/>
      </p:ext>
    </p:extLst>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a:extLst>
              <a:ext uri="{FF2B5EF4-FFF2-40B4-BE49-F238E27FC236}">
                <a16:creationId xmlns:a16="http://schemas.microsoft.com/office/drawing/2014/main" id="{53959D69-9C71-4FDB-B5B8-C8373F4FEC39}"/>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RECOMMENDATIONS</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Three practical steps to make the ledger work for Apple TV+.</a:t>
            </a:r>
          </a:p>
        </p:txBody>
      </p:sp>
      <p:sp>
        <p:nvSpPr>
          <p:cNvPr id="6" name="Rectangle 5"/>
          <p:cNvSpPr/>
          <p:nvPr/>
        </p:nvSpPr>
        <p:spPr>
          <a:xfrm>
            <a:off x="548640" y="2011680"/>
            <a:ext cx="11091672" cy="128016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731520" cy="73152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286000"/>
            <a:ext cx="731520" cy="731520"/>
          </a:xfrm>
          <a:prstGeom prst="rect">
            <a:avLst/>
          </a:prstGeom>
          <a:noFill/>
        </p:spPr>
        <p:txBody>
          <a:bodyPr wrap="square" lIns="45720" rIns="45720" tIns="27432" bIns="27432" anchor="ctr">
            <a:spAutoFit/>
          </a:bodyPr>
          <a:lstStyle/>
          <a:p>
            <a:pPr algn="ctr">
              <a:lnSpc>
                <a:spcPct val="105000"/>
              </a:lnSpc>
              <a:spcAft>
                <a:spcPts val="0"/>
              </a:spcAft>
            </a:pPr>
            <a:r>
              <a:rPr sz="2800" b="1" i="0">
                <a:solidFill>
                  <a:srgbClr val="FFFFFF"/>
                </a:solidFill>
                <a:latin typeface="Times New Roman"/>
              </a:rPr>
              <a:t>1</a:t>
            </a:r>
          </a:p>
        </p:txBody>
      </p:sp>
      <p:sp>
        <p:nvSpPr>
          <p:cNvPr id="9" name="TextBox 8"/>
          <p:cNvSpPr txBox="1"/>
          <p:nvPr/>
        </p:nvSpPr>
        <p:spPr>
          <a:xfrm>
            <a:off x="1783080" y="2121408"/>
            <a:ext cx="9601200" cy="36576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2A2218"/>
                </a:solidFill>
                <a:latin typeface="Times New Roman"/>
              </a:rPr>
              <a:t>Set up a standing governance review</a:t>
            </a:r>
          </a:p>
        </p:txBody>
      </p:sp>
      <p:sp>
        <p:nvSpPr>
          <p:cNvPr id="10" name="TextBox 9"/>
          <p:cNvSpPr txBox="1"/>
          <p:nvPr/>
        </p:nvSpPr>
        <p:spPr>
          <a:xfrm>
            <a:off x="1783080" y="2514600"/>
            <a:ext cx="9601200" cy="7315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Legal, Rights Ops and Finance meet every quarter to check the ledger still cuts cost and disputes as new territories and rights types are added.</a:t>
            </a:r>
          </a:p>
        </p:txBody>
      </p:sp>
      <p:sp>
        <p:nvSpPr>
          <p:cNvPr id="11" name="Rectangle 10"/>
          <p:cNvSpPr/>
          <p:nvPr/>
        </p:nvSpPr>
        <p:spPr>
          <a:xfrm>
            <a:off x="548640" y="3429000"/>
            <a:ext cx="11091672" cy="128016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77240" y="3703320"/>
            <a:ext cx="731520" cy="73152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703320"/>
            <a:ext cx="731520" cy="731520"/>
          </a:xfrm>
          <a:prstGeom prst="rect">
            <a:avLst/>
          </a:prstGeom>
          <a:noFill/>
        </p:spPr>
        <p:txBody>
          <a:bodyPr wrap="square" lIns="45720" rIns="45720" tIns="27432" bIns="27432" anchor="ctr">
            <a:spAutoFit/>
          </a:bodyPr>
          <a:lstStyle/>
          <a:p>
            <a:pPr algn="ctr">
              <a:lnSpc>
                <a:spcPct val="105000"/>
              </a:lnSpc>
              <a:spcAft>
                <a:spcPts val="0"/>
              </a:spcAft>
            </a:pPr>
            <a:r>
              <a:rPr sz="2800" b="1" i="0">
                <a:solidFill>
                  <a:srgbClr val="FFFFFF"/>
                </a:solidFill>
                <a:latin typeface="Times New Roman"/>
              </a:rPr>
              <a:t>2</a:t>
            </a:r>
          </a:p>
        </p:txBody>
      </p:sp>
      <p:sp>
        <p:nvSpPr>
          <p:cNvPr id="14" name="TextBox 13"/>
          <p:cNvSpPr txBox="1"/>
          <p:nvPr/>
        </p:nvSpPr>
        <p:spPr>
          <a:xfrm>
            <a:off x="1783080" y="3538728"/>
            <a:ext cx="9601200" cy="36576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2A2218"/>
                </a:solidFill>
                <a:latin typeface="Times New Roman"/>
              </a:rPr>
              <a:t>Require dual sign-off before go-live</a:t>
            </a:r>
          </a:p>
        </p:txBody>
      </p:sp>
      <p:sp>
        <p:nvSpPr>
          <p:cNvPr id="15" name="TextBox 14"/>
          <p:cNvSpPr txBox="1"/>
          <p:nvPr/>
        </p:nvSpPr>
        <p:spPr>
          <a:xfrm>
            <a:off x="1783080" y="3931920"/>
            <a:ext cx="9601200" cy="7315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A legal and a technical sign-off on every smart contract that controls live payments, with a manual override and a freeze for disputed payments.</a:t>
            </a:r>
          </a:p>
        </p:txBody>
      </p:sp>
      <p:sp>
        <p:nvSpPr>
          <p:cNvPr id="16" name="Rectangle 15"/>
          <p:cNvSpPr/>
          <p:nvPr/>
        </p:nvSpPr>
        <p:spPr>
          <a:xfrm>
            <a:off x="548640" y="4846320"/>
            <a:ext cx="11091672" cy="128016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77240" y="5120640"/>
            <a:ext cx="731520" cy="73152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120640"/>
            <a:ext cx="731520" cy="731520"/>
          </a:xfrm>
          <a:prstGeom prst="rect">
            <a:avLst/>
          </a:prstGeom>
          <a:noFill/>
        </p:spPr>
        <p:txBody>
          <a:bodyPr wrap="square" lIns="45720" rIns="45720" tIns="27432" bIns="27432" anchor="ctr">
            <a:spAutoFit/>
          </a:bodyPr>
          <a:lstStyle/>
          <a:p>
            <a:pPr algn="ctr">
              <a:lnSpc>
                <a:spcPct val="105000"/>
              </a:lnSpc>
              <a:spcAft>
                <a:spcPts val="0"/>
              </a:spcAft>
            </a:pPr>
            <a:r>
              <a:rPr sz="2800" b="1" i="0">
                <a:solidFill>
                  <a:srgbClr val="FFFFFF"/>
                </a:solidFill>
                <a:latin typeface="Times New Roman"/>
              </a:rPr>
              <a:t>3</a:t>
            </a:r>
          </a:p>
        </p:txBody>
      </p:sp>
      <p:sp>
        <p:nvSpPr>
          <p:cNvPr id="19" name="TextBox 18"/>
          <p:cNvSpPr txBox="1"/>
          <p:nvPr/>
        </p:nvSpPr>
        <p:spPr>
          <a:xfrm>
            <a:off x="1783080" y="4956048"/>
            <a:ext cx="9601200" cy="36576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2A2218"/>
                </a:solidFill>
                <a:latin typeface="Times New Roman"/>
              </a:rPr>
              <a:t>Invest in relationships, not just technology</a:t>
            </a:r>
          </a:p>
        </p:txBody>
      </p:sp>
      <p:sp>
        <p:nvSpPr>
          <p:cNvPr id="20" name="TextBox 19"/>
          <p:cNvSpPr txBox="1"/>
          <p:nvPr/>
        </p:nvSpPr>
        <p:spPr>
          <a:xfrm>
            <a:off x="1783080" y="5349240"/>
            <a:ext cx="9601200" cy="7315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Give talent and rights holders visible payment history and clear timelines. Competitors will copy the tech; trust built over time is harder to copy.</a:t>
            </a:r>
          </a:p>
        </p:txBody>
      </p:sp>
      <p:sp>
        <p:nvSpPr>
          <p:cNvPr id="21" name="TextBox 20"/>
          <p:cNvSpPr txBox="1"/>
          <p:nvPr/>
        </p:nvSpPr>
        <p:spPr>
          <a:xfrm>
            <a:off x="11155680" y="6355080"/>
            <a:ext cx="822960" cy="365760"/>
          </a:xfrm>
          <a:prstGeom prst="rect">
            <a:avLst/>
          </a:prstGeom>
          <a:noFill/>
        </p:spPr>
        <p:txBody>
          <a:bodyPr wrap="square" lIns="45720" rIns="45720" tIns="27432" bIns="27432" anchor="t">
            <a:spAutoFit/>
          </a:bodyPr>
          <a:lstStyle/>
          <a:p>
            <a:pPr algn="r">
              <a:lnSpc>
                <a:spcPct val="105000"/>
              </a:lnSpc>
              <a:spcAft>
                <a:spcPts val="0"/>
              </a:spcAft>
            </a:pPr>
            <a:r>
              <a:rPr sz="1000" b="0" i="0">
                <a:solidFill>
                  <a:srgbClr val="7A7060"/>
                </a:solidFill>
                <a:latin typeface="Times New Roman"/>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E5749FB7-5BB1-4471-BEFC-654E6D36581E}"/>
              </a:ext>
            </a:extLst>
          </p:cNvPr>
          <p:cNvSpPr txBox="1"/>
          <p:nvPr/>
        </p:nvSpPr>
        <p:spPr>
          <a:xfrm>
            <a:off x="548640" y="411480"/>
            <a:ext cx="11091672"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CONCLUSION</a:t>
            </a:r>
          </a:p>
        </p:txBody>
      </p:sp>
      <p:sp>
        <p:nvSpPr>
          <p:cNvPr id="7" name="TextBox 6">
            <a:extLst>
              <a:ext uri="{FF2B5EF4-FFF2-40B4-BE49-F238E27FC236}">
                <a16:creationId xmlns:a16="http://schemas.microsoft.com/office/drawing/2014/main" id="{E6612BCA-9A3C-4F0B-A80B-DC3DAF8AE56B}"/>
              </a:ext>
            </a:extLst>
          </p:cNvPr>
          <p:cNvSpPr txBox="1"/>
          <p:nvPr/>
        </p:nvSpPr>
        <p:spPr>
          <a:xfrm>
            <a:off x="548640" y="1371600"/>
            <a:ext cx="10789920" cy="394788"/>
          </a:xfrm>
          <a:prstGeom prst="rect">
            <a:avLst/>
          </a:prstGeom>
          <a:noFill/>
        </p:spPr>
        <p:txBody>
          <a:bodyPr wrap="square">
            <a:spAutoFit/>
          </a:bodyPr>
          <a:lstStyle/>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Yes</a:t>
            </a:r>
            <a:r>
              <a:rPr lang="en-US" sz="2000" i="0" dirty="0">
                <a:solidFill>
                  <a:srgbClr val="2A2218"/>
                </a:solidFill>
                <a:latin typeface="Times New Roman" panose="02020603050405020304" pitchFamily="18" charset="0"/>
                <a:cs typeface="Times New Roman" panose="02020603050405020304" pitchFamily="18" charset="0"/>
              </a:rPr>
              <a:t>; </a:t>
            </a:r>
            <a:r>
              <a:rPr sz="2000" i="0" dirty="0">
                <a:solidFill>
                  <a:srgbClr val="2A2218"/>
                </a:solidFill>
                <a:latin typeface="Times New Roman" panose="02020603050405020304" pitchFamily="18" charset="0"/>
                <a:cs typeface="Times New Roman" panose="02020603050405020304" pitchFamily="18" charset="0"/>
              </a:rPr>
              <a:t>if the ledger is governed as law,</a:t>
            </a:r>
            <a:r>
              <a:rPr lang="en-US" sz="2000" i="0" dirty="0">
                <a:solidFill>
                  <a:srgbClr val="2A2218"/>
                </a:solidFill>
                <a:latin typeface="Times New Roman" panose="02020603050405020304" pitchFamily="18" charset="0"/>
                <a:cs typeface="Times New Roman" panose="02020603050405020304" pitchFamily="18" charset="0"/>
              </a:rPr>
              <a:t> </a:t>
            </a:r>
            <a:r>
              <a:rPr sz="2000" i="0" dirty="0">
                <a:solidFill>
                  <a:srgbClr val="2A2218"/>
                </a:solidFill>
                <a:latin typeface="Times New Roman" panose="02020603050405020304" pitchFamily="18" charset="0"/>
                <a:cs typeface="Times New Roman" panose="02020603050405020304" pitchFamily="18" charset="0"/>
              </a:rPr>
              <a:t>not deployed as a technical fix.</a:t>
            </a:r>
          </a:p>
        </p:txBody>
      </p:sp>
      <p:sp>
        <p:nvSpPr>
          <p:cNvPr id="8" name="TextBox 7"/>
          <p:cNvSpPr txBox="1"/>
          <p:nvPr/>
        </p:nvSpPr>
        <p:spPr>
          <a:xfrm>
            <a:off x="548640" y="2331720"/>
            <a:ext cx="11064240" cy="45720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7A7060"/>
                </a:solidFill>
                <a:latin typeface="Times New Roman"/>
              </a:rPr>
              <a:t>KEY TAKEAWAYS</a:t>
            </a:r>
          </a:p>
        </p:txBody>
      </p:sp>
      <p:sp>
        <p:nvSpPr>
          <p:cNvPr id="9" name="Rectangle 8"/>
          <p:cNvSpPr/>
          <p:nvPr/>
        </p:nvSpPr>
        <p:spPr>
          <a:xfrm>
            <a:off x="548640" y="2788920"/>
            <a:ext cx="3566160" cy="32004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77240" y="3108960"/>
            <a:ext cx="640080" cy="64008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98855" y="323057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54480" y="3108960"/>
            <a:ext cx="242316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Real gains, one new risk</a:t>
            </a:r>
          </a:p>
        </p:txBody>
      </p:sp>
      <p:sp>
        <p:nvSpPr>
          <p:cNvPr id="13" name="TextBox 12"/>
          <p:cNvSpPr txBox="1"/>
          <p:nvPr/>
        </p:nvSpPr>
        <p:spPr>
          <a:xfrm>
            <a:off x="731520" y="4023360"/>
            <a:ext cx="3200400" cy="1828800"/>
          </a:xfrm>
          <a:prstGeom prst="rect">
            <a:avLst/>
          </a:prstGeom>
          <a:noFill/>
        </p:spPr>
        <p:txBody>
          <a:bodyPr wrap="square" lIns="45720" rIns="45720" tIns="27432" bIns="27432" anchor="t">
            <a:spAutoFit/>
          </a:bodyPr>
          <a:lstStyle/>
          <a:p>
            <a:pPr algn="l">
              <a:lnSpc>
                <a:spcPct val="105000"/>
              </a:lnSpc>
              <a:spcAft>
                <a:spcPts val="0"/>
              </a:spcAft>
            </a:pPr>
            <a:r>
              <a:rPr sz="1500" b="0" i="0">
                <a:solidFill>
                  <a:srgbClr val="2A2218"/>
                </a:solidFill>
                <a:latin typeface="Times New Roman"/>
              </a:rPr>
              <a:t>Automation cuts payment errors and disputes, but a wrongly coded term becomes the risk to control.</a:t>
            </a:r>
          </a:p>
        </p:txBody>
      </p:sp>
      <p:sp>
        <p:nvSpPr>
          <p:cNvPr id="14" name="Rectangle 13"/>
          <p:cNvSpPr/>
          <p:nvPr/>
        </p:nvSpPr>
        <p:spPr>
          <a:xfrm>
            <a:off x="4311396" y="2788920"/>
            <a:ext cx="3566160" cy="32004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9996" y="3108960"/>
            <a:ext cx="640080" cy="64008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661611" y="323057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7236" y="3108960"/>
            <a:ext cx="242316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Legal concerns are legitimate</a:t>
            </a:r>
          </a:p>
        </p:txBody>
      </p:sp>
      <p:sp>
        <p:nvSpPr>
          <p:cNvPr id="18" name="TextBox 17"/>
          <p:cNvSpPr txBox="1"/>
          <p:nvPr/>
        </p:nvSpPr>
        <p:spPr>
          <a:xfrm>
            <a:off x="4494276" y="4023360"/>
            <a:ext cx="3200400" cy="1828800"/>
          </a:xfrm>
          <a:prstGeom prst="rect">
            <a:avLst/>
          </a:prstGeom>
          <a:noFill/>
        </p:spPr>
        <p:txBody>
          <a:bodyPr wrap="square" lIns="45720" rIns="45720" tIns="27432" bIns="27432" anchor="t">
            <a:spAutoFit/>
          </a:bodyPr>
          <a:lstStyle/>
          <a:p>
            <a:pPr algn="l">
              <a:lnSpc>
                <a:spcPct val="105000"/>
              </a:lnSpc>
              <a:spcAft>
                <a:spcPts val="0"/>
              </a:spcAft>
            </a:pPr>
            <a:r>
              <a:rPr sz="1500" b="0" i="0">
                <a:solidFill>
                  <a:srgbClr val="2A2218"/>
                </a:solidFill>
                <a:latin typeface="Times New Roman"/>
              </a:rPr>
              <a:t>Regulation, enforceability and integration are real questions. Answer them with phased rollout and legal review.</a:t>
            </a:r>
          </a:p>
        </p:txBody>
      </p:sp>
      <p:sp>
        <p:nvSpPr>
          <p:cNvPr id="19" name="Rectangle 18"/>
          <p:cNvSpPr/>
          <p:nvPr/>
        </p:nvSpPr>
        <p:spPr>
          <a:xfrm>
            <a:off x="8074152" y="2788920"/>
            <a:ext cx="3566160" cy="32004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302752" y="3108960"/>
            <a:ext cx="640080" cy="64008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424367" y="323057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79992" y="3108960"/>
            <a:ext cx="242316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Trust is the lasting edge</a:t>
            </a:r>
          </a:p>
        </p:txBody>
      </p:sp>
      <p:sp>
        <p:nvSpPr>
          <p:cNvPr id="23" name="TextBox 22"/>
          <p:cNvSpPr txBox="1"/>
          <p:nvPr/>
        </p:nvSpPr>
        <p:spPr>
          <a:xfrm>
            <a:off x="8257031" y="4023360"/>
            <a:ext cx="3200400" cy="1828800"/>
          </a:xfrm>
          <a:prstGeom prst="rect">
            <a:avLst/>
          </a:prstGeom>
          <a:noFill/>
        </p:spPr>
        <p:txBody>
          <a:bodyPr wrap="square" lIns="45720" rIns="45720" tIns="27432" bIns="27432" anchor="t">
            <a:spAutoFit/>
          </a:bodyPr>
          <a:lstStyle/>
          <a:p>
            <a:pPr algn="l">
              <a:lnSpc>
                <a:spcPct val="105000"/>
              </a:lnSpc>
              <a:spcAft>
                <a:spcPts val="0"/>
              </a:spcAft>
            </a:pPr>
            <a:r>
              <a:rPr sz="1500" b="0" i="0">
                <a:solidFill>
                  <a:srgbClr val="2A2218"/>
                </a:solidFill>
                <a:latin typeface="Times New Roman"/>
              </a:rPr>
              <a:t>Competitors will copy the technology. Accumulated trust with talent and rights holders is what stays.</a:t>
            </a:r>
          </a:p>
        </p:txBody>
      </p:sp>
      <p:sp>
        <p:nvSpPr>
          <p:cNvPr id="24" name="TextBox 23"/>
          <p:cNvSpPr txBox="1"/>
          <p:nvPr/>
        </p:nvSpPr>
        <p:spPr>
          <a:xfrm>
            <a:off x="11155680" y="6355080"/>
            <a:ext cx="822960" cy="365760"/>
          </a:xfrm>
          <a:prstGeom prst="rect">
            <a:avLst/>
          </a:prstGeom>
          <a:noFill/>
        </p:spPr>
        <p:txBody>
          <a:bodyPr wrap="square" lIns="45720" rIns="45720" tIns="27432" bIns="27432" anchor="t">
            <a:spAutoFit/>
          </a:bodyPr>
          <a:lstStyle/>
          <a:p>
            <a:pPr algn="r">
              <a:lnSpc>
                <a:spcPct val="105000"/>
              </a:lnSpc>
              <a:spcAft>
                <a:spcPts val="0"/>
              </a:spcAft>
            </a:pPr>
            <a:r>
              <a:rPr sz="1000" b="0" i="0">
                <a:solidFill>
                  <a:srgbClr val="7A7060"/>
                </a:solidFill>
                <a:latin typeface="Times New Roman"/>
              </a:rPr>
              <a:t>13</a:t>
            </a:r>
          </a:p>
        </p:txBody>
      </p:sp>
    </p:spTree>
    <p:extLst>
      <p:ext uri="{BB962C8B-B14F-4D97-AF65-F5344CB8AC3E}">
        <p14:creationId xmlns:p14="http://schemas.microsoft.com/office/powerpoint/2010/main" val="2175281024"/>
      </p:ext>
    </p:extLst>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411480"/>
            <a:ext cx="11091672" cy="521207"/>
          </a:xfrm>
          <a:prstGeom prst="rect">
            <a:avLst/>
          </a:prstGeom>
          <a:noFill/>
        </p:spPr>
        <p:txBody>
          <a:bodyPr wrap="square" anchor="t" lIns="45720" rIns="45720" tIns="27432" bIns="27432">
            <a:spAutoFit/>
          </a:bodyPr>
          <a:lstStyle/>
          <a:p>
            <a:pPr algn="ctr"/>
            <a:r>
              <a:rPr sz="2800" b="1" i="0">
                <a:solidFill>
                  <a:srgbClr val="6E1E2A"/>
                </a:solidFill>
                <a:latin typeface="Times New Roman"/>
              </a:rPr>
              <a:t>REFERENCES</a:t>
            </a:r>
          </a:p>
        </p:txBody>
      </p:sp>
      <p:sp>
        <p:nvSpPr>
          <p:cNvPr id="3" name="References column 1"/>
          <p:cNvSpPr txBox="1"/>
          <p:nvPr/>
        </p:nvSpPr>
        <p:spPr>
          <a:xfrm>
            <a:off x="548640" y="1188720"/>
            <a:ext cx="5440680" cy="5029200"/>
          </a:xfrm>
          <a:prstGeom prst="rect">
            <a:avLst/>
          </a:prstGeom>
          <a:noFill/>
        </p:spPr>
        <p:txBody>
          <a:bodyPr wrap="square">
            <a:spAutoFit/>
          </a:bodyPr>
          <a:lstStyle/>
          <a:p>
            <a:pPr>
              <a:spcAft>
                <a:spcPts val="500"/>
              </a:spcAft>
            </a:pPr>
            <a:r>
              <a:rPr sz="1000">
                <a:solidFill>
                  <a:srgbClr val="2A2218"/>
                </a:solidFill>
                <a:latin typeface="Times New Roman"/>
              </a:rPr>
              <a:t>9to5Mac (2024) 'Apple TV+ will license its movies to other services to reduce losses, per report', 18 November. Available at: https://9to5mac.com/2024/11/18/apple-tv-will-license-its-movies-to-other-services-to-reduce-losses-per-report/ (Accessed: 22 August 2026).</a:t>
            </a:r>
          </a:p>
          <a:p>
            <a:pPr>
              <a:spcAft>
                <a:spcPts val="500"/>
              </a:spcAft>
            </a:pPr>
            <a:r>
              <a:rPr sz="1000">
                <a:solidFill>
                  <a:srgbClr val="2A2218"/>
                </a:solidFill>
                <a:latin typeface="Times New Roman"/>
              </a:rPr>
              <a:t>Barney, J. (1991) 'Firm resources and sustained competitive advantage', Journal of Management, 17(1), pp. 99–120.</a:t>
            </a:r>
          </a:p>
          <a:p>
            <a:pPr>
              <a:spcAft>
                <a:spcPts val="500"/>
              </a:spcAft>
            </a:pPr>
            <a:r>
              <a:rPr sz="1000">
                <a:solidFill>
                  <a:srgbClr val="2A2218"/>
                </a:solidFill>
                <a:latin typeface="Times New Roman"/>
              </a:rPr>
              <a:t>Billboard (2023) 'The MLC receives over $424M in unmatched "black box" streaming royalties'. Available at: https://www.themlc.com/news/billboard-mlc-receives-over-424m-unmatched-black-box-streaming-royalties (Accessed: 23 August 2026).</a:t>
            </a:r>
          </a:p>
          <a:p>
            <a:pPr>
              <a:spcAft>
                <a:spcPts val="500"/>
              </a:spcAft>
            </a:pPr>
            <a:r>
              <a:rPr sz="1000">
                <a:solidFill>
                  <a:srgbClr val="2A2218"/>
                </a:solidFill>
                <a:latin typeface="Times New Roman"/>
              </a:rPr>
              <a:t>Davis, F.D. (1989) 'Perceived usefulness, perceived ease of use, and user acceptance of information technology', MIS Quarterly, 13(3), pp. 319–340.</a:t>
            </a:r>
          </a:p>
          <a:p>
            <a:pPr>
              <a:spcAft>
                <a:spcPts val="500"/>
              </a:spcAft>
            </a:pPr>
            <a:r>
              <a:rPr sz="1000">
                <a:solidFill>
                  <a:srgbClr val="2A2218"/>
                </a:solidFill>
                <a:latin typeface="Times New Roman"/>
              </a:rPr>
              <a:t>Deloitte (2019) 'Deloitte's 2019 Global Blockchain Survey: Blockchain gets down to business'. Deloitte Insights.</a:t>
            </a:r>
          </a:p>
          <a:p>
            <a:pPr>
              <a:spcAft>
                <a:spcPts val="500"/>
              </a:spcAft>
            </a:pPr>
            <a:r>
              <a:rPr sz="1000">
                <a:solidFill>
                  <a:srgbClr val="2A2218"/>
                </a:solidFill>
                <a:latin typeface="Times New Roman"/>
              </a:rPr>
              <a:t>DiMaggio, P.J. and Powell, W.W. (1983) 'The iron cage revisited: institutional isomorphism and collective rationality in organizational fields', American Sociological Review, 48(2), pp. 147–160.</a:t>
            </a:r>
          </a:p>
          <a:p>
            <a:pPr>
              <a:spcAft>
                <a:spcPts val="500"/>
              </a:spcAft>
            </a:pPr>
            <a:r>
              <a:rPr sz="1000">
                <a:solidFill>
                  <a:srgbClr val="2A2218"/>
                </a:solidFill>
                <a:latin typeface="Times New Roman"/>
              </a:rPr>
              <a:t>European Parliament and Council (2016) Regulation (EU) 2016/679 (General Data Protection Regulation). Official Journal of the European Union, L119, pp. 1–88.</a:t>
            </a:r>
          </a:p>
          <a:p>
            <a:pPr>
              <a:spcAft>
                <a:spcPts val="500"/>
              </a:spcAft>
            </a:pPr>
            <a:r>
              <a:rPr sz="1000">
                <a:solidFill>
                  <a:srgbClr val="2A2218"/>
                </a:solidFill>
                <a:latin typeface="Times New Roman"/>
              </a:rPr>
              <a:t>Finck, M. (2018) 'Blockchains and data protection in the European Union', European Data Protection Law Review, 4(1), pp. 17–35.</a:t>
            </a:r>
          </a:p>
          <a:p>
            <a:pPr>
              <a:spcAft>
                <a:spcPts val="500"/>
              </a:spcAft>
            </a:pPr>
            <a:r>
              <a:rPr sz="1000">
                <a:solidFill>
                  <a:srgbClr val="2A2218"/>
                </a:solidFill>
                <a:latin typeface="Times New Roman"/>
              </a:rPr>
              <a:t>García, R., Cediel, A., Teixidó, M. and Gil, R. (2023) 'A review of media copyright management using blockchain technologies from the academic and business perspectives'. arXiv:2307.16244 [Preprint].</a:t>
            </a:r>
          </a:p>
          <a:p>
            <a:pPr>
              <a:spcAft>
                <a:spcPts val="500"/>
              </a:spcAft>
            </a:pPr>
            <a:r>
              <a:rPr sz="1000">
                <a:solidFill>
                  <a:srgbClr val="2A2218"/>
                </a:solidFill>
                <a:latin typeface="Times New Roman"/>
              </a:rPr>
              <a:t>Gartner (2024) 'Hype Cycle for Web3 and Blockchain, 2024'. Available at: https://www.gartner.com/en/documents/5623191.</a:t>
            </a:r>
          </a:p>
          <a:p>
            <a:pPr>
              <a:spcAft>
                <a:spcPts val="500"/>
              </a:spcAft>
            </a:pPr>
            <a:r>
              <a:rPr sz="1000">
                <a:solidFill>
                  <a:srgbClr val="2A2218"/>
                </a:solidFill>
                <a:latin typeface="Times New Roman"/>
              </a:rPr>
              <a:t>Iansiti, M. and Lakhani, K.R. (2017) 'The truth about blockchain', Harvard Business Review, 95(1), pp. 118–127.</a:t>
            </a:r>
          </a:p>
        </p:txBody>
      </p:sp>
      <p:sp>
        <p:nvSpPr>
          <p:cNvPr id="4" name="References column 2"/>
          <p:cNvSpPr txBox="1"/>
          <p:nvPr/>
        </p:nvSpPr>
        <p:spPr>
          <a:xfrm>
            <a:off x="6199631" y="1188720"/>
            <a:ext cx="5440680" cy="5029200"/>
          </a:xfrm>
          <a:prstGeom prst="rect">
            <a:avLst/>
          </a:prstGeom>
          <a:noFill/>
        </p:spPr>
        <p:txBody>
          <a:bodyPr wrap="square">
            <a:spAutoFit/>
          </a:bodyPr>
          <a:lstStyle/>
          <a:p>
            <a:pPr>
              <a:spcAft>
                <a:spcPts val="500"/>
              </a:spcAft>
            </a:pPr>
            <a:r>
              <a:rPr sz="1000">
                <a:solidFill>
                  <a:srgbClr val="2A2218"/>
                </a:solidFill>
                <a:latin typeface="Times New Roman"/>
              </a:rPr>
              <a:t>Jensen, M.C. and Meckling, W.H. (1976) 'Theory of the firm: managerial behavior, agency costs and ownership structure', Journal of Financial Economics, 3(4), pp. 305–360.</a:t>
            </a:r>
          </a:p>
          <a:p>
            <a:pPr>
              <a:spcAft>
                <a:spcPts val="500"/>
              </a:spcAft>
            </a:pPr>
            <a:r>
              <a:rPr sz="1000">
                <a:solidFill>
                  <a:srgbClr val="2A2218"/>
                </a:solidFill>
                <a:latin typeface="Times New Roman"/>
              </a:rPr>
              <a:t>Kotter, J.P. (1996) Leading Change. Boston, MA: Harvard Business School Press.</a:t>
            </a:r>
          </a:p>
          <a:p>
            <a:pPr>
              <a:spcAft>
                <a:spcPts val="500"/>
              </a:spcAft>
            </a:pPr>
            <a:r>
              <a:rPr sz="1000">
                <a:solidFill>
                  <a:srgbClr val="2A2218"/>
                </a:solidFill>
                <a:latin typeface="Times New Roman"/>
              </a:rPr>
              <a:t>Levy, K.E.C. (2017) 'Book-smart, not street-smart: blockchain-based smart contracts and the social workings of law', Engaging Science, Technology, and Society, 3, pp. 1–15.</a:t>
            </a:r>
          </a:p>
          <a:p>
            <a:pPr>
              <a:spcAft>
                <a:spcPts val="500"/>
              </a:spcAft>
            </a:pPr>
            <a:r>
              <a:rPr sz="1000">
                <a:solidFill>
                  <a:srgbClr val="2A2218"/>
                </a:solidFill>
                <a:latin typeface="Times New Roman"/>
              </a:rPr>
              <a:t>Porter, M.E. (1985) Competitive Advantage: Creating and Sustaining Superior Performance. New York: Free Press.</a:t>
            </a:r>
          </a:p>
          <a:p>
            <a:pPr>
              <a:spcAft>
                <a:spcPts val="500"/>
              </a:spcAft>
            </a:pPr>
            <a:r>
              <a:rPr sz="1000">
                <a:solidFill>
                  <a:srgbClr val="2A2218"/>
                </a:solidFill>
                <a:latin typeface="Times New Roman"/>
              </a:rPr>
              <a:t>Sharp, A. (2023) 'Addressing the music industry's biggest broken record: why blockchain, smart contracts, and NFTs are an unmatched solution to the music industry's $424 million unmatched royalty problem', Entertainment and Sports Lawyer, Summer. American Bar Association.</a:t>
            </a:r>
          </a:p>
          <a:p>
            <a:pPr>
              <a:spcAft>
                <a:spcPts val="500"/>
              </a:spcAft>
            </a:pPr>
            <a:r>
              <a:rPr sz="1000">
                <a:solidFill>
                  <a:srgbClr val="2A2218"/>
                </a:solidFill>
                <a:latin typeface="Times New Roman"/>
              </a:rPr>
              <a:t>U.S. Copyright Royalty Board (2023) Determination of Royalty Rates and Terms for Making and Distributing Phonorecords (Phonorecords III Remand). Federal Register, August. Washington, DC: Library of Congress.</a:t>
            </a:r>
          </a:p>
          <a:p>
            <a:pPr>
              <a:spcAft>
                <a:spcPts val="500"/>
              </a:spcAft>
            </a:pPr>
            <a:r>
              <a:rPr sz="1000">
                <a:solidFill>
                  <a:srgbClr val="2A2218"/>
                </a:solidFill>
                <a:latin typeface="Times New Roman"/>
              </a:rPr>
              <a:t>Werbach, K. and Cornell, N. (2017) 'Contracts ex machina', Duke Law Journal, 67(2), pp. 313–382.</a:t>
            </a:r>
          </a:p>
          <a:p>
            <a:pPr>
              <a:spcAft>
                <a:spcPts val="500"/>
              </a:spcAft>
            </a:pPr>
            <a:r>
              <a:rPr sz="1000">
                <a:solidFill>
                  <a:srgbClr val="2A2218"/>
                </a:solidFill>
                <a:latin typeface="Times New Roman"/>
              </a:rPr>
              <a:t>Williamson, O.E. (1979) 'Transaction-cost economics: the governance of contractual relations', Journal of Law and Economics, 22(2), pp. 233–261.</a:t>
            </a:r>
          </a:p>
          <a:p>
            <a:pPr>
              <a:spcAft>
                <a:spcPts val="500"/>
              </a:spcAft>
            </a:pPr>
            <a:r>
              <a:rPr sz="1000">
                <a:solidFill>
                  <a:srgbClr val="2A2218"/>
                </a:solidFill>
                <a:latin typeface="Times New Roman"/>
              </a:rPr>
              <a:t>Zhao, S. and O'Mahony, D. (2018) 'BMCProtector: a blockchain and smart contract based application for music copyright protection', Proceedings of the 2018 International Conference on Blockchain Technology and Application (ICBTA 2018), Xi'an, China, 10–12 December. doi: 10.1145/3301403.3301404.</a:t>
            </a:r>
          </a:p>
        </p:txBody>
      </p:sp>
      <p:sp>
        <p:nvSpPr>
          <p:cNvPr id="5"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TotalTime>
  <Words>4221</Words>
  <Application>Microsoft Office PowerPoint</Application>
  <PresentationFormat>Widescreen</PresentationFormat>
  <Paragraphs>143</Paragraphs>
  <Slides>11</Slides>
  <Notes>11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Arial</vt:lpstr>
      <vt:lpstr>Calibri</vt:lpstr>
      <vt:lpstr>Calibri Light</vt:lpstr>
      <vt:lpstr>Georgia</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Bindu Baral</dc:creator>
  <cp:lastModifiedBy>Bindu Baral</cp:lastModifiedBy>
  <cp:revision>20</cp:revision>
  <dcterms:created xsi:type="dcterms:W3CDTF">2026-09-13T09:18:07Z</dcterms:created>
  <dcterms:modified xsi:type="dcterms:W3CDTF">2026-09-13T11:14:21Z</dcterms:modified>
</cp:coreProperties>
</file>