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8" r:id="rId19"/>
    <p:sldId id="263" r:id="rId9"/>
    <p:sldId id="264" r:id="rId10"/>
    <p:sldId id="265" r:id="rId11"/>
    <p:sldId id="267" r:id="rId18"/>
    <p:sldId id="266" r:id="rId12"/>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notesViewPr>
    <p:cSldViewPr snapToGrid="0">
      <p:cViewPr varScale="1">
        <p:scale>
          <a:sx n="50" d="100"/>
          <a:sy n="50" d="100"/>
        </p:scale>
        <p:origin x="2708" y="2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8.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18BC3-2222-440E-AB91-9A8CE351996B}"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EE36C-32F0-453E-AA58-9E3F94E74BD8}" type="slidenum">
              <a:rPr lang="en-US" smtClean="0"/>
              <a:t>‹#›</a:t>
            </a:fld>
            <a:endParaRPr lang="en-US"/>
          </a:p>
        </p:txBody>
      </p:sp>
    </p:spTree>
    <p:extLst>
      <p:ext uri="{BB962C8B-B14F-4D97-AF65-F5344CB8AC3E}">
        <p14:creationId xmlns:p14="http://schemas.microsoft.com/office/powerpoint/2010/main" val="37557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I’m presenting as Apple TV+’s Digital Transformation Consultant. This briefing treats blockchain-based smart contracts as infrastructure for royalty accuracy, not as speculative technology. They give legal and rights teams a trust layer for talent and music licensing across territories. The main risk is regulatory and legal uncertainty, not technical feasibility.</a:t>
            </a:r>
          </a:p>
          <a:p>
            <a:r>
              <a:rPr>
                <a:latin typeface="Times New Roman"/>
              </a:rPr>
              <a:t>Roadmap: context and the royalty challenge; what the technology is in plain terms; three benefits and three limitations; impact on legal, rights and finance teams; strategic fit and lasting advantage; and finally risks, recommendations and takeaways.</a:t>
            </a:r>
          </a:p>
        </p:txBody>
      </p:sp>
      <p:sp>
        <p:nvSpPr>
          <p:cNvPr id="4" name="Slide Number Placeholder 3"/>
          <p:cNvSpPr>
            <a:spLocks noGrp="1"/>
          </p:cNvSpPr>
          <p:nvPr>
            <p:ph type="sldNum" sz="quarter" idx="5"/>
          </p:nvPr>
        </p:nvSpPr>
        <p:spPr/>
        <p:txBody>
          <a:bodyPr/>
          <a:lstStyle/>
          <a:p>
            <a:fld id="{5D7EE36C-32F0-453E-AA58-9E3F94E74BD8}" type="slidenum">
              <a:rPr lang="en-US" smtClean="0"/>
              <a:t>1</a:t>
            </a:fld>
            <a:endParaRPr lang="en-US"/>
          </a:p>
        </p:txBody>
      </p:sp>
    </p:spTree>
    <p:extLst>
      <p:ext uri="{BB962C8B-B14F-4D97-AF65-F5344CB8AC3E}">
        <p14:creationId xmlns:p14="http://schemas.microsoft.com/office/powerpoint/2010/main" val="316892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Apple TV+ is expanding. It clears music synchronisation rights for its scripted and unscripted programming and negotiates talent agreements across the same territories, and it hired a licensing executive in 2024 to expand distribution of its originals to third-party platforms (9to5Mac, 2024). Every new platform and territory adds counterparties and rights windows that Legal, Rights Operations and Finance reconcile mostly by hand. The strategic question is how Apple TV+ keeps royalty payments accurate and trusted as it grows, rather than absorbing disputes afterwards.</a:t>
            </a:r>
          </a:p>
          <a:p>
            <a:r>
              <a:rPr>
                <a:latin typeface="Times New Roman"/>
              </a:rPr>
              <a:t>The music industry shows what happens when this goes wrong, so I use it as a supporting example. The Mechanical Licensing Collective holds over $424 million in historical unmatched streaming royalties, collected but never matched to the people owed it (Billboard, 2023). Sharp (2023) argues this is the visible symptom of manual matching across too many rights holders and territories.</a:t>
            </a:r>
          </a:p>
          <a:p>
            <a:r>
              <a:rPr>
                <a:latin typeface="Times New Roman"/>
              </a:rPr>
              <a:t>Disputes are slow to resolve too. The Copyright Royalty Board set a streaming rate in 2018, it was appealed within months, and it was not finalised until August 2023 (U.S. Copyright Royalty Board, 2023). A private cross-territory dispute has no comparable backstop.</a:t>
            </a:r>
          </a:p>
          <a:p>
            <a:r>
              <a:rPr>
                <a:latin typeface="Times New Roman"/>
              </a:rPr>
              <a:t>One objection: this is a music problem, not a film and TV one. It is not, because Apple TV+ clears music sync rights and talent agreements across the same territories, so the same many-parties, many-territories structure applies to both. That exposure is growing with the licensing expansion. The mechanism already exists elsewhere; what is open is how it is governed here.</a:t>
            </a:r>
          </a:p>
          <a:p>
            <a:r>
              <a:rPr>
                <a:latin typeface="Times New Roman"/>
              </a:rPr>
              <a:t>Critical insight: the $424 million figure comes from music mechanicals, so it shows the shape of the problem, not Apple TV+’s own loss. The transferable point is structural: manual matching fails as parties multiply. Apple TV+ should therefore measure its own dispute rate and reconciliation cost before the pilot, so any benefit claimed later can be tested against a baseline.</a:t>
            </a:r>
          </a:p>
        </p:txBody>
      </p:sp>
      <p:sp>
        <p:nvSpPr>
          <p:cNvPr id="4" name="Slide Number Placeholder 3"/>
          <p:cNvSpPr>
            <a:spLocks noGrp="1"/>
          </p:cNvSpPr>
          <p:nvPr>
            <p:ph type="sldNum" sz="quarter" idx="5"/>
          </p:nvPr>
        </p:nvSpPr>
        <p:spPr/>
        <p:txBody>
          <a:bodyPr/>
          <a:lstStyle/>
          <a:p>
            <a:fld id="{5D7EE36C-32F0-453E-AA58-9E3F94E74BD8}" type="slidenum">
              <a:rPr lang="en-US" smtClean="0"/>
              <a:t>2</a:t>
            </a:fld>
            <a:endParaRPr lang="en-US"/>
          </a:p>
        </p:txBody>
      </p:sp>
    </p:spTree>
    <p:extLst>
      <p:ext uri="{BB962C8B-B14F-4D97-AF65-F5344CB8AC3E}">
        <p14:creationId xmlns:p14="http://schemas.microsoft.com/office/powerpoint/2010/main" val="630871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A blockchain has three simple ideas. Blocks: each record is stored in a block linked to the one before, so altering an old record breaks the chain and is visible. Distributed copies: talent, rights holders and Apple TV+ each hold a copy, so no single administrator has to be taken on trust. Smart contract: licensing rules written as code, so when a rights window opens the royalty calculation and payment can start without manual checking.</a:t>
            </a:r>
          </a:p>
          <a:p>
            <a:r>
              <a:rPr>
                <a:latin typeface="Times New Roman"/>
              </a:rPr>
              <a:t>This is not just a rights database with more permissions. A conventional database makes every participant rely on whoever controls it, often one of the counterparties. A shared ledger lets each authorised party verify the record independently. Zhao and O’Mahony (2018) showed this for music rights with a working prototype, BMCProtector, and García et al. (2023) show research has moved from feasibility to the legal and business questions this briefing addresses.</a:t>
            </a:r>
          </a:p>
          <a:p>
            <a:r>
              <a:rPr>
                <a:latin typeface="Times New Roman"/>
              </a:rPr>
              <a:t>Definition: Iansiti and Lakhani (2017) describe blockchain as an open, distributed ledger that records transactions between two parties in a verifiable and permanent way and can be programmed to trigger transactions automatically. They call it a foundational technology, like the internet, that takes years to transform markets rather than a quick disruption.</a:t>
            </a:r>
          </a:p>
          <a:p>
            <a:r>
              <a:rPr>
                <a:latin typeface="Times New Roman"/>
              </a:rPr>
              <a:t>Critical insight: Iansiti and Lakhani’s point that blockchain is foundational, not disruptive, fits this case. Apple TV+ is not replacing a business model; it is changing how a record is shared. But a shared ledger only helps if counterparties actually join it, so its value depends on adoption by talent and rights holders, which is a relationship task as much as a technical one.</a:t>
            </a:r>
          </a:p>
        </p:txBody>
      </p:sp>
      <p:sp>
        <p:nvSpPr>
          <p:cNvPr id="4" name="Slide Number Placeholder 3"/>
          <p:cNvSpPr>
            <a:spLocks noGrp="1"/>
          </p:cNvSpPr>
          <p:nvPr>
            <p:ph type="sldNum" sz="quarter" idx="5"/>
          </p:nvPr>
        </p:nvSpPr>
        <p:spPr/>
        <p:txBody>
          <a:bodyPr/>
          <a:lstStyle/>
          <a:p>
            <a:fld id="{5D7EE36C-32F0-453E-AA58-9E3F94E74BD8}" type="slidenum">
              <a:rPr lang="en-US" smtClean="0"/>
              <a:t>3</a:t>
            </a:fld>
            <a:endParaRPr lang="en-US"/>
          </a:p>
        </p:txBody>
      </p:sp>
    </p:spTree>
    <p:extLst>
      <p:ext uri="{BB962C8B-B14F-4D97-AF65-F5344CB8AC3E}">
        <p14:creationId xmlns:p14="http://schemas.microsoft.com/office/powerpoint/2010/main" val="3402826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The contract does not wait to be enforced; the trigger is built into the ledger. When a rights window opens in a territory, the royalty calculation and payment can begin then, rather than waiting for someone to check manually. For Apple TV+ the EU, APAC and US windows open on different dates, and each currently needs a confirmation and a payment step.</a:t>
            </a:r>
          </a:p>
          <a:p>
            <a:r>
              <a:rPr>
                <a:latin typeface="Times New Roman"/>
              </a:rPr>
              <a:t>Williamson’s (1979) transaction cost economics explains why this matters. Firms choose governance structures to minimise the cost of contracting under uncertainty, and a ledger can be read as a governance mechanism that cuts the cost of monitoring and enforcing multi-party agreements. Confirmation and monitoring are transaction costs, so automating the trigger changes how the agreement is governed, not just how fast it runs.</a:t>
            </a:r>
          </a:p>
          <a:p>
            <a:r>
              <a:rPr>
                <a:latin typeface="Times New Roman"/>
              </a:rPr>
              <a:t>The limit: Williamson can show the ledger may govern more efficiently, but not that a court in every territory would treat an automatically executed payment as legally binding. That legal gap is central to the next stage of the argument.</a:t>
            </a:r>
          </a:p>
          <a:p>
            <a:r>
              <a:rPr>
                <a:latin typeface="Times New Roman"/>
              </a:rPr>
              <a:t>Critical insight: transaction cost economics also warns that new governance has its own costs. Writing terms as code, auditing it and paying for the platform are transaction costs too, so the ledger pays off only where the monitoring cost saved is greater. That favours territories with frequent, standard payments and argues against encoding rare, heavily negotiated deals first.</a:t>
            </a:r>
          </a:p>
        </p:txBody>
      </p:sp>
      <p:sp>
        <p:nvSpPr>
          <p:cNvPr id="4" name="Slide Number Placeholder 3"/>
          <p:cNvSpPr>
            <a:spLocks noGrp="1"/>
          </p:cNvSpPr>
          <p:nvPr>
            <p:ph type="sldNum" sz="quarter" idx="5"/>
          </p:nvPr>
        </p:nvSpPr>
        <p:spPr/>
        <p:txBody>
          <a:bodyPr/>
          <a:lstStyle/>
          <a:p>
            <a:fld id="{5D7EE36C-32F0-453E-AA58-9E3F94E74BD8}" type="slidenum">
              <a:rPr lang="en-US" smtClean="0"/>
              <a:t>4</a:t>
            </a:fld>
            <a:endParaRPr lang="en-US"/>
          </a:p>
        </p:txBody>
      </p:sp>
    </p:spTree>
    <p:extLst>
      <p:ext uri="{BB962C8B-B14F-4D97-AF65-F5344CB8AC3E}">
        <p14:creationId xmlns:p14="http://schemas.microsoft.com/office/powerpoint/2010/main" val="1746511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Three benefits. Fewer payment errors and disputes, because automatic triggers remove discretion over when and how a royalty is paid. One auditable record that every party can verify, which cuts reconciliation effort. Faster payment that scales, because a new territory adds a trigger rather than a manual process. Three limitations: legal enforceability, cost and integration, and skills and coding risk.</a:t>
            </a:r>
          </a:p>
          <a:p>
            <a:r>
              <a:rPr>
                <a:latin typeface="Times New Roman"/>
              </a:rPr>
              <a:t>Jensen and Meckling’s (1976) agency theory explains the benefit. Agency costs arise when a principal delegates decisions to an agent whose interests may differ. Removing discretion from payment calculation reduces that cost, and the $424 million in unmatched royalties on slide two is, beneath the figures, an example of it.</a:t>
            </a:r>
          </a:p>
          <a:p>
            <a:r>
              <a:rPr>
                <a:latin typeface="Times New Roman"/>
              </a:rPr>
              <a:t>The main limitation is legal, not technical. Correct execution does not make a payment legally binding if a party disputes the underlying terms, so execution and enforceability are separate issues (Werbach and Cornell, 2017; Levy, 2017). Translating contract terms into code also creates a smaller new agency risk, which is why slide eleven needs a specific control. Net, it is an improvement but not cost-free.</a:t>
            </a:r>
          </a:p>
          <a:p>
            <a:r>
              <a:rPr>
                <a:latin typeface="Times New Roman"/>
              </a:rPr>
              <a:t>Cost and skills evidence: Deloitte’s 2019 Global Blockchain Survey reports that 28% of executives cite uncertain return on investment and 28% a lack of in-house skills (figures from secondary coverage).</a:t>
            </a:r>
          </a:p>
          <a:p>
            <a:r>
              <a:rPr>
                <a:latin typeface="Times New Roman"/>
              </a:rPr>
              <a:t>Hype Cycle: Gartner’s 2024 Hype Cycle for Web3 and Blockchain placed most blockchain technologies past the peak and sliding into the Trough of Disillusionment, with smart contracts entering it. That argues for a staged pilot, not a big-bang launch. Gartner may not publish another blockchain cycle; its 2025 emerging-technologies cycle covers tokenisation and smart contracts under programmable money, within Autonomous Business.</a:t>
            </a:r>
          </a:p>
          <a:p>
            <a:r>
              <a:rPr>
                <a:latin typeface="Times New Roman"/>
              </a:rPr>
              <a:t>Critical insight: agency theory is persuasive on discretion but incomplete. Removing discretion helps routine payments, yet royalty disputes often arise from ambiguity in the terms, which code cannot resolve and may harden. Gartner’s trough position supports caution for the same reason: the technology works, but the legal and business conditions around it are still maturing. The case therefore rests on narrow, well-defined payment rules, not on blockchain in general.</a:t>
            </a:r>
          </a:p>
        </p:txBody>
      </p:sp>
      <p:sp>
        <p:nvSpPr>
          <p:cNvPr id="4" name="Slide Number Placeholder 3"/>
          <p:cNvSpPr>
            <a:spLocks noGrp="1"/>
          </p:cNvSpPr>
          <p:nvPr>
            <p:ph type="sldNum" sz="quarter" idx="5"/>
          </p:nvPr>
        </p:nvSpPr>
        <p:spPr/>
        <p:txBody>
          <a:bodyPr/>
          <a:lstStyle/>
          <a:p>
            <a:fld id="{5D7EE36C-32F0-453E-AA58-9E3F94E74BD8}" type="slidenum">
              <a:rPr lang="en-US" smtClean="0"/>
              <a:t>5</a:t>
            </a:fld>
            <a:endParaRPr lang="en-US"/>
          </a:p>
        </p:txBody>
      </p:sp>
    </p:spTree>
    <p:extLst>
      <p:ext uri="{BB962C8B-B14F-4D97-AF65-F5344CB8AC3E}">
        <p14:creationId xmlns:p14="http://schemas.microsoft.com/office/powerpoint/2010/main" val="288968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Three functions keep three versions of the same royalty information. Legal holds contract terms, Rights Operations holds territory and window status, and Finance holds the payment record, reconciled only periodically. A shared ledger does not just speed up that cross-check; it removes much of the need for it.</a:t>
            </a:r>
          </a:p>
          <a:p>
            <a:r>
              <a:rPr>
                <a:latin typeface="Times New Roman"/>
              </a:rPr>
              <a:t>The work changes, not only its speed. Legal moves from after-the-event compliance review to verifying terms as they are encoded. Rights Ops moves from chasing confirmation that a window has opened to monitoring ledger triggers. Finance moves from reconciling disputed claims to auditing a record that is reconciled by design. That is a real shift in skills and workflows, so the concerns on the next slide are not simple resistance to change.</a:t>
            </a:r>
          </a:p>
          <a:p>
            <a:r>
              <a:rPr>
                <a:latin typeface="Times New Roman"/>
              </a:rPr>
              <a:t>Structure and culture: one small cross-functional rights-ledger team with a named owner replaces three reconciliations, and each team moves to verifying as terms are encoded, which needs training, shared accountability and trust in a record they did not create.</a:t>
            </a:r>
          </a:p>
          <a:p>
            <a:r>
              <a:rPr>
                <a:latin typeface="Times New Roman"/>
              </a:rPr>
              <a:t>Value chain (Porter, 1985): technology development changes because royalty rules become reviewed smart-contract code that Legal and engineers sign off together. Inbound logistics, receiving content and talent rights, changes because rights windows and payment terms are read from one shared record, not re-confirmed by hand in every territory.</a:t>
            </a:r>
          </a:p>
          <a:p>
            <a:r>
              <a:rPr>
                <a:latin typeface="Times New Roman"/>
              </a:rPr>
              <a:t>Critical insight: Porter’s value chain shows the benefit does not sit in one function; it spreads across activities, which is why a single named owner matters. Without one, each function optimises its own step and the ledger becomes a fourth record. The theory turns a technology choice into an organisational design choice.</a:t>
            </a:r>
          </a:p>
        </p:txBody>
      </p:sp>
      <p:sp>
        <p:nvSpPr>
          <p:cNvPr id="4" name="Slide Number Placeholder 3"/>
          <p:cNvSpPr>
            <a:spLocks noGrp="1"/>
          </p:cNvSpPr>
          <p:nvPr>
            <p:ph type="sldNum" sz="quarter" idx="5"/>
          </p:nvPr>
        </p:nvSpPr>
        <p:spPr/>
        <p:txBody>
          <a:bodyPr/>
          <a:lstStyle/>
          <a:p>
            <a:fld id="{5D7EE36C-32F0-453E-AA58-9E3F94E74BD8}" type="slidenum">
              <a:rPr lang="en-US" smtClean="0"/>
              <a:t>6</a:t>
            </a:fld>
            <a:endParaRPr lang="en-US"/>
          </a:p>
        </p:txBody>
      </p:sp>
    </p:spTree>
    <p:extLst>
      <p:ext uri="{BB962C8B-B14F-4D97-AF65-F5344CB8AC3E}">
        <p14:creationId xmlns:p14="http://schemas.microsoft.com/office/powerpoint/2010/main" val="314301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I focus on legal and rights teams. They are not resistant by habit; they would answer to a regulator or court if something went wrong, so their concerns are professional.</a:t>
            </a:r>
          </a:p>
          <a:p>
            <a:r>
              <a:rPr>
                <a:latin typeface="Times New Roman"/>
              </a:rPr>
              <a:t>Regulatory uncertainty: which country’s law governs a cross-border smart-contract payment dispute, and an immutable ledger can clash with GDPR rights to rectify or erase personal data (European Parliament and Council, 2016; Finck, 2018). Enforceability: correct execution does not guarantee a binding payment, and Werbach and Cornell (2017) and Levy (2017) both argue smart contracts do not replace contract law. Integration: the ledger must work with existing contract and finance systems, or it recreates the three-way reconciliation problem.</a:t>
            </a:r>
          </a:p>
          <a:p>
            <a:r>
              <a:rPr>
                <a:latin typeface="Times New Roman"/>
              </a:rPr>
              <a:t>The underlying barrier is the lack of settled case law and guidance on smart-contract royalty enforcement. Legal teams are being asked to approve a mechanism the law has not caught up with.</a:t>
            </a:r>
          </a:p>
          <a:p>
            <a:r>
              <a:rPr>
                <a:latin typeface="Times New Roman"/>
              </a:rPr>
              <a:t>My response is sequencing, not reassurance: a phased rollout starting in territories with clearer digital-contract rules, keeping personal data off the ledger, a pilot in one territory with Legal in the design team, and a standing legal review as territories are added. The written contract stays the master and the ledger executes it.</a:t>
            </a:r>
          </a:p>
          <a:p>
            <a:r>
              <a:rPr>
                <a:latin typeface="Times New Roman"/>
              </a:rPr>
              <a:t>Critical insight: the legal teams’ concerns show why this is not a technology project. Werbach and Cornell’s point means the ledger can only execute a contract that law already recognises. So Legal acts as a design authority, not a late reviewer, and its approval is the real gate for each new territory.</a:t>
            </a:r>
          </a:p>
        </p:txBody>
      </p:sp>
      <p:sp>
        <p:nvSpPr>
          <p:cNvPr id="4" name="Slide Number Placeholder 3"/>
          <p:cNvSpPr>
            <a:spLocks noGrp="1"/>
          </p:cNvSpPr>
          <p:nvPr>
            <p:ph type="sldNum" sz="quarter" idx="5"/>
          </p:nvPr>
        </p:nvSpPr>
        <p:spPr/>
        <p:txBody>
          <a:bodyPr/>
          <a:lstStyle/>
          <a:p>
            <a:fld id="{5D7EE36C-32F0-453E-AA58-9E3F94E74BD8}" type="slidenum">
              <a:rPr lang="en-US" smtClean="0"/>
              <a:t>7</a:t>
            </a:fld>
            <a:endParaRPr lang="en-US"/>
          </a:p>
        </p:txBody>
      </p:sp>
    </p:spTree>
    <p:extLst>
      <p:ext uri="{BB962C8B-B14F-4D97-AF65-F5344CB8AC3E}">
        <p14:creationId xmlns:p14="http://schemas.microsoft.com/office/powerpoint/2010/main" val="510369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a:latin typeface="Times New Roman"/>
              </a:rPr>
              <a:t>Every verified payment builds talent trust, and that trust is tied to licensing agility. If rights holders see accurate, timely, traceable payments, they have less reason to hesitate over future agreements.</a:t>
            </a:r>
          </a:p>
          <a:p>
            <a:r>
              <a:rPr>
                <a:latin typeface="Times New Roman"/>
              </a:rPr>
              <a:t>Auditable royalty infrastructure serves two goals: talent trust (fewer disputes, faster payments, a record that shows fairness) and licensing agility. Apple TV+ has committed to expanding third-party licensing, with an executive hired in 2024 (9to5Mac, 2024). As counterparties and territories grow, it needs infrastructure that scales without disputes growing at the same rate, so the ledger is closer to a condition of that strategy than a bonus.</a:t>
            </a:r>
          </a:p>
          <a:p>
            <a:r>
              <a:rPr>
                <a:latin typeface="Times New Roman"/>
              </a:rPr>
              <a:t>Two links to strategy. Talent retention: originals draw people to the wider Services ecosystem, and creators who can verify every payment have less reason to take their next project elsewhere. Agility: if partners already trust the record, adding a platform or territory is a new trigger, not a new reconciliation.</a:t>
            </a:r>
          </a:p>
          <a:p>
            <a:r>
              <a:rPr>
                <a:latin typeface="Times New Roman"/>
              </a:rPr>
              <a:t>One assumption needs testing: the ledger is a differentiator only while competitors lack it. Whether the advantage lasts is the next slide.</a:t>
            </a:r>
          </a:p>
          <a:p>
            <a:r>
              <a:rPr>
                <a:latin typeface="Times New Roman"/>
              </a:rPr>
              <a:t>Critical insight: the trust argument is a resource-based claim, not a technology claim. Accurate payments build a track record that rivals cannot buy. But the logic cuts both ways: one visible error damages trust faster than many correct payments build it, so the sign-off controls on slide eleven protect the strategic benefit as well as the money.</a:t>
            </a:r>
          </a:p>
        </p:txBody>
      </p:sp>
      <p:sp>
        <p:nvSpPr>
          <p:cNvPr id="4" name="Slide Number Placeholder 3"/>
          <p:cNvSpPr>
            <a:spLocks noGrp="1"/>
          </p:cNvSpPr>
          <p:nvPr>
            <p:ph type="sldNum" sz="quarter" idx="5"/>
          </p:nvPr>
        </p:nvSpPr>
        <p:spPr/>
        <p:txBody>
          <a:bodyPr/>
          <a:lstStyle/>
          <a:p>
            <a:fld id="{5D7EE36C-32F0-453E-AA58-9E3F94E74BD8}" type="slidenum">
              <a:rPr lang="en-US" smtClean="0"/>
              <a:t>8</a:t>
            </a:fld>
            <a:endParaRPr lang="en-US"/>
          </a:p>
        </p:txBody>
      </p:sp>
    </p:spTree>
    <p:extLst>
      <p:ext uri="{BB962C8B-B14F-4D97-AF65-F5344CB8AC3E}">
        <p14:creationId xmlns:p14="http://schemas.microsoft.com/office/powerpoint/2010/main" val="167410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a:latin typeface="Times New Roman"/>
              </a:rPr>
              <a:t>Being early is real, but staying ahead is a separate claim, and the evidence does not support it without qualification.</a:t>
            </a:r>
          </a:p>
          <a:p>
            <a:r>
              <a:rPr>
                <a:latin typeface="Times New Roman"/>
              </a:rPr>
              <a:t>DiMaggio and Powell’s (1983) institutional isomorphism says organisations in a field converge through coercive, mimetic and normative pressure. Mimetic pressure would appear if a rival copied Apple TV+. Coercive pressure is possible if regulators, as in the Copyright Royalty Board cycle on slide two, require more transparency in royalty reporting.</a:t>
            </a:r>
          </a:p>
          <a:p>
            <a:r>
              <a:rPr>
                <a:latin typeface="Times New Roman"/>
              </a:rPr>
              <a:t>The counterargument: talent already on Apple’s ledger has an established payment history and little reason to leave when a rival adopts similar technology. So the technology advantage may converge while the relationship advantage lasts longer. My claim is that the advantage is relationship-based and accumulated, not technology-based.</a:t>
            </a:r>
          </a:p>
          <a:p>
            <a:r>
              <a:rPr>
                <a:latin typeface="Times New Roman"/>
              </a:rPr>
              <a:t>VRIO (Barney, 1991). Valuable: yes, fewer disputes. Rare: yes for now; my searches found no major video streamer running a rights ledger, only music-side efforts such as Spotify’s 2017 Mediachain purchase and vendor platforms such as Tech Mahindra’s bCRMS, but absence of evidence is not proof. Hard to imitate: the code is copyable, the payment history is not. Organised: a named owner and team are proposed on slide six, but dual sign-off and standing legal review are still needed. Verdict: the advantage is temporary until the organisation and trust are built.</a:t>
            </a:r>
          </a:p>
          <a:p>
            <a:r>
              <a:rPr>
                <a:latin typeface="Times New Roman"/>
              </a:rPr>
              <a:t>Critical insight: isomorphism and VRIO point the same way. Because the technology is easy to copy, only the organisation and the relationships can be a lasting source of advantage, which is why Organised is the weakest test today. Barney’s framework also assumes a stable resource; here the resource, a record of verified payments, grows with use, so the advantage depends on starting early and running without visible errors.</a:t>
            </a:r>
          </a:p>
        </p:txBody>
      </p:sp>
      <p:sp>
        <p:nvSpPr>
          <p:cNvPr id="4" name="Slide Number Placeholder 3"/>
          <p:cNvSpPr>
            <a:spLocks noGrp="1"/>
          </p:cNvSpPr>
          <p:nvPr>
            <p:ph type="sldNum" sz="quarter" idx="5"/>
          </p:nvPr>
        </p:nvSpPr>
        <p:spPr/>
        <p:txBody>
          <a:bodyPr/>
          <a:lstStyle/>
          <a:p>
            <a:fld id="{5D7EE36C-32F0-453E-AA58-9E3F94E74BD8}" type="slidenum">
              <a:rPr lang="en-US" smtClean="0"/>
              <a:t>9</a:t>
            </a:fld>
            <a:endParaRPr lang="en-US"/>
          </a:p>
        </p:txBody>
      </p:sp>
    </p:spTree>
    <p:extLst>
      <p:ext uri="{BB962C8B-B14F-4D97-AF65-F5344CB8AC3E}">
        <p14:creationId xmlns:p14="http://schemas.microsoft.com/office/powerpoint/2010/main" val="1466984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Three separate risks, each with its own cause, owner and mitigation.</a:t>
            </a:r>
          </a:p>
          <a:p>
            <a:r>
              <a:rPr>
                <a:latin typeface="Times New Roman"/>
              </a:rPr>
              <a:t>Data privacy: ledger entries may hold commercially sensitive or personal data while some regimes give rights to correct or erase it, which clashes with immutability (European Parliament and Council, 2016; Finck, 2018). The mitigation is architectural: keep personal data off-chain and record only a verification hash.</a:t>
            </a:r>
          </a:p>
          <a:p>
            <a:r>
              <a:rPr>
                <a:latin typeface="Times New Roman"/>
              </a:rPr>
              <a:t>Cross-border regulation: there is no settled international standard for enforcing smart-contract royalties. The mitigation is the phased rollout by territory from slide seven, starting where digital-contract law is clearer.</a:t>
            </a:r>
          </a:p>
          <a:p>
            <a:r>
              <a:rPr>
                <a:latin typeface="Times New Roman"/>
              </a:rPr>
              <a:t>Smart-contract error is the most serious risk, linked to the encoding gap on slide five. A wrong term in code keeps paying the wrong party until someone notices. The control is mandatory legal and technical sign-off before go-live, plus a manual override and dispute freeze.</a:t>
            </a:r>
          </a:p>
          <a:p>
            <a:r>
              <a:rPr>
                <a:latin typeface="Times New Roman"/>
              </a:rPr>
              <a:t>Critical insight: the three risks interact. A coding error, the most serious, is harder to correct on an immutable ledger, and correcting it may touch personal data, which brings in GDPR. So the controls work as a set: off-chain data, sign-off and a freeze each cover another’s gap. Cross-border regulation is the risk Apple TV+ cannot fully control, which is why rollout order matters.</a:t>
            </a:r>
          </a:p>
        </p:txBody>
      </p:sp>
      <p:sp>
        <p:nvSpPr>
          <p:cNvPr id="4" name="Slide Number Placeholder 3"/>
          <p:cNvSpPr>
            <a:spLocks noGrp="1"/>
          </p:cNvSpPr>
          <p:nvPr>
            <p:ph type="sldNum" sz="quarter" idx="5"/>
          </p:nvPr>
        </p:nvSpPr>
        <p:spPr/>
        <p:txBody>
          <a:bodyPr/>
          <a:lstStyle/>
          <a:p>
            <a:fld id="{5D7EE36C-32F0-453E-AA58-9E3F94E74BD8}" type="slidenum">
              <a:rPr lang="en-US" smtClean="0"/>
              <a:t>10</a:t>
            </a:fld>
            <a:endParaRPr lang="en-US"/>
          </a:p>
        </p:txBody>
      </p:sp>
    </p:spTree>
    <p:extLst>
      <p:ext uri="{BB962C8B-B14F-4D97-AF65-F5344CB8AC3E}">
        <p14:creationId xmlns:p14="http://schemas.microsoft.com/office/powerpoint/2010/main" val="189365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a:rPr>
              <a:t>Slide two opened with a $424 million-scale problem and a choice: address royalty accuracy structurally, or keep absorbing dispute costs. My answer is yes, but only if the ledger is treated as a legal and organisational commitment, not a technical fix left to run alone.</a:t>
            </a:r>
          </a:p>
          <a:p>
            <a:r>
              <a:rPr>
                <a:latin typeface="Times New Roman"/>
              </a:rPr>
              <a:t>Three conditions. Enforceability needs the phased, jurisdiction-aware rollout from slide seven. Encoding risk needs the dual sign-off from slide eleven. And the advantage must be understood as relationship-based and time-limited, as argued on slide ten, because isomorphic pressure will push competitors towards similar systems.</a:t>
            </a:r>
          </a:p>
          <a:p>
            <a:r>
              <a:rPr>
                <a:latin typeface="Times New Roman"/>
              </a:rPr>
              <a:t>Against the three guiding questions: on feasibility, the mechanism cuts real agency and monitoring costs but adds an encoding-risk point. On people and processes, legal and rights concerns are legitimate and need governance, not reassurance. On sustained advantage, the edge lies in accumulated trust and payment history, which Apple TV+ has to keep building.</a:t>
            </a:r>
          </a:p>
          <a:p>
            <a:r>
              <a:rPr>
                <a:latin typeface="Times New Roman"/>
              </a:rPr>
              <a:t>Critical insight: the conclusion is conditional, not enthusiastic, which is the honest reading of the evidence. The theories explain why the ledger can lower monitoring and agency costs, while the legal and organisational evidence shows what must be in place first. For Apple TV+ the practical answer is a staged, governed pilot judged against a measured baseline, not a company-wide commitment.</a:t>
            </a:r>
          </a:p>
        </p:txBody>
      </p:sp>
      <p:sp>
        <p:nvSpPr>
          <p:cNvPr id="4" name="Slide Number Placeholder 3"/>
          <p:cNvSpPr>
            <a:spLocks noGrp="1"/>
          </p:cNvSpPr>
          <p:nvPr>
            <p:ph type="sldNum" sz="quarter" idx="5"/>
          </p:nvPr>
        </p:nvSpPr>
        <p:spPr/>
        <p:txBody>
          <a:bodyPr/>
          <a:lstStyle/>
          <a:p>
            <a:fld id="{5D7EE36C-32F0-453E-AA58-9E3F94E74BD8}" type="slidenum">
              <a:rPr lang="en-US" smtClean="0"/>
              <a:t>11</a:t>
            </a:fld>
            <a:endParaRPr lang="en-US"/>
          </a:p>
        </p:txBody>
      </p:sp>
    </p:spTree>
    <p:extLst>
      <p:ext uri="{BB962C8B-B14F-4D97-AF65-F5344CB8AC3E}">
        <p14:creationId xmlns:p14="http://schemas.microsoft.com/office/powerpoint/2010/main" val="1730434069"/>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rPr>
              <a:t>Three practical recommendations, each grounded in a theory used earlier.</a:t>
            </a:r>
          </a:p>
          <a:p>
            <a:r>
              <a:rPr>
                <a:latin typeface="Times New Roman"/>
              </a:rPr>
              <a:t>First, transaction cost economics supports a standing governance function that regularly reviews whether the system is still reducing contracting costs as Apple TV+ adds new territories and rights types. Second, agency theory supports mandatory dual sign-off, because it addresses the new agency risk created when contract terms are translated into code. Third, institutional isomorphism suggests the first-mover advantage is temporary by design, so Apple TV+ should invest in relationships, accumulated trust and verified payment history, not rely on the technology once competitors move.</a:t>
            </a:r>
          </a:p>
          <a:p>
            <a:r>
              <a:rPr>
                <a:latin typeface="Times New Roman"/>
              </a:rPr>
              <a:t>Critical insight: each recommendation turns a theory into an action with an owner. Governance review answers the transaction cost risk, dual sign-off answers the agency risk, and relationship investment answers the isomorphism risk. They also cost little compared with the technology, so they are where management effort changes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rPr>
              <a:t>My answer is yes, legal and rights teams can be brought along, if Legal helps shape the design, a one-territory pilot proves the value, and people are trained before go-live.</a:t>
            </a:r>
          </a:p>
          <a:p>
            <a:r>
              <a:rPr>
                <a:latin typeface="Times New Roman"/>
              </a:rPr>
              <a:t>TAM (Davis, 1989): usefulness comes from answering the concerns on slide seven, a verifiable record for regulators, the written contract kept as master, and no extra version of the truth. Ease of use is hurt by unfamiliar tools, coding and integration, and helped by plugging into current systems, no coding by users and a simple read-only view.</a:t>
            </a:r>
          </a:p>
          <a:p>
            <a:r>
              <a:rPr>
                <a:latin typeface="Times New Roman"/>
              </a:rPr>
              <a:t>Kotter (1996) has eight steps; I use three in order. Step 2, guiding coalition: Legal, Rights Ops and Finance in the design team under one named owner. Step 6, short-term wins: pilot in one territory and share the results. Step 8, anchor in the culture: make the quarterly review permanent.</a:t>
            </a:r>
          </a:p>
          <a:p>
            <a:r>
              <a:rPr>
                <a:latin typeface="Times New Roman"/>
              </a:rPr>
              <a:t>Barrier: legal and rights teams fear answering for a wrongly coded payment, reduced by dual sign-off, a manual override and a dispute freeze. Digital confidence: Legal, Rights Ops and Finance are trained before the pilot on how the record works, reading a smart-contract term, and when to freeze a payment.</a:t>
            </a:r>
          </a:p>
          <a:p>
            <a:r>
              <a:rPr>
                <a:latin typeface="Times New Roman"/>
              </a:rPr>
              <a:t>Critical insight: TAM predicts adoption from usefulness and ease of use, but these teams carry personal accountability, so trust in the output matters as much as either. That is why the barrier box focuses on the ability to stop a payment. Kotter’s model also assumes a sponsor who can drive change; the named owner supplies that, and without one the pilot’s wins would not spread. A limit of both models: they describe attitudes, not whether the law will accept the ledger.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50A1C-FB04-490A-8257-266F5BE5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63BF4A-7036-4342-B5DC-BAD675D60A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845292-36BE-4CDC-8ED2-7035DD711D0B}"/>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87847562-A877-4A45-A5B8-269789029C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E46E20-93AA-45FD-9234-1B6AD0E28386}"/>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1103085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83A88-1D49-41DB-BCE8-82DF3D48D1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CDFE0-09D4-4E79-BBB5-4D9043A53F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D84CF-1BDF-47DA-8442-1BFF2F7BFA49}"/>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CE9E2996-391F-4F32-9789-BF54F2AB8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A8479D-B6EB-4C68-927F-D1ABF6A3C72B}"/>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309812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DD81-AFA2-4D24-81EB-24B6AB9A99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DD5EE1-9D48-48B9-B3F1-81C61673AB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E337BFB-B92C-4D59-BCD1-D6DD5DCA7E7A}"/>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82834C1E-E216-4345-A3C3-66113F2E95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C9BBA-46B2-42F5-A286-3992A012EE6E}"/>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1873022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52A3-8AB4-43C9-9531-DBE7F8FBD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D187A4-0A98-4133-ADA9-F4E926297C6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7CD23E-90EF-4A9D-9DA0-E4E8033446A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4C8C9C-19C1-4255-B662-439F02904811}"/>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6" name="Footer Placeholder 5">
            <a:extLst>
              <a:ext uri="{FF2B5EF4-FFF2-40B4-BE49-F238E27FC236}">
                <a16:creationId xmlns:a16="http://schemas.microsoft.com/office/drawing/2014/main" id="{F8FA1A8F-2107-4B69-8065-CF05A94694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44144-010F-4E97-A3B4-55C0E07777A1}"/>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4174006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96050-B796-445A-88E0-92EA336388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FCA86-37DC-4425-AF77-F2946A1196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17950A9-FA91-43B1-A715-D7786D1DE18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B53257-18F1-4416-97FA-4F765146B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D1FB526-1A41-4764-9EA1-44C8A3D92FE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8EB8F2-883A-4D7A-9C4E-A83823F59E59}"/>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8" name="Footer Placeholder 7">
            <a:extLst>
              <a:ext uri="{FF2B5EF4-FFF2-40B4-BE49-F238E27FC236}">
                <a16:creationId xmlns:a16="http://schemas.microsoft.com/office/drawing/2014/main" id="{27BE7FBE-E6DB-44FE-BBBA-B02CE10CCC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5ADD4D-3FD8-4D1F-873E-6351F7462123}"/>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2707848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EEF5-73E5-4D8F-83B4-69EC44B495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9E2A03-0A1A-4B45-A80B-339B6401AC02}"/>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4" name="Footer Placeholder 3">
            <a:extLst>
              <a:ext uri="{FF2B5EF4-FFF2-40B4-BE49-F238E27FC236}">
                <a16:creationId xmlns:a16="http://schemas.microsoft.com/office/drawing/2014/main" id="{667C7154-9FED-4A8B-8675-B1A574D5AB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9EF5EE-6CAF-438F-BA04-00BEDAA9F08E}"/>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477749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2B3E89-45E8-4D51-914F-6DE50399683D}"/>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3" name="Footer Placeholder 2">
            <a:extLst>
              <a:ext uri="{FF2B5EF4-FFF2-40B4-BE49-F238E27FC236}">
                <a16:creationId xmlns:a16="http://schemas.microsoft.com/office/drawing/2014/main" id="{E7E3D6E5-27AB-41A5-81DE-9F6337F3BD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AFC037-67AB-4D06-9FB8-09CD34F5D2B0}"/>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6162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7B0F-D75A-45A5-8D33-EA77812B4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B77E7A-AB40-4A7D-BD9C-D868EEAF18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D5864F-64B9-447C-8A7F-9227400F18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BFAEA8-BF91-48E5-988A-1D71DA1A4626}"/>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6" name="Footer Placeholder 5">
            <a:extLst>
              <a:ext uri="{FF2B5EF4-FFF2-40B4-BE49-F238E27FC236}">
                <a16:creationId xmlns:a16="http://schemas.microsoft.com/office/drawing/2014/main" id="{622C09C8-2F43-43CC-9706-9A2658BB9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9408B-BEBD-46E5-9E4C-DA18F75471A6}"/>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419600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3C15-D588-4E00-BC36-73E7142596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3C5E05-8BC3-4F73-AB4A-C15D4F36B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9AD55E-F49F-4C8E-B3ED-C01FE3890F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F16538-97B7-4AD9-82D6-EAF9B5EF6780}"/>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6" name="Footer Placeholder 5">
            <a:extLst>
              <a:ext uri="{FF2B5EF4-FFF2-40B4-BE49-F238E27FC236}">
                <a16:creationId xmlns:a16="http://schemas.microsoft.com/office/drawing/2014/main" id="{E4941B7E-5195-4B4D-A509-23AFCB592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749DF-869E-4FA3-A2F3-56EAE1DFDB34}"/>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179718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E133-55A5-4B27-9550-4D97F657EC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238B88-6238-4108-8861-C09A9A8439E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E5DFC7-2A32-4B79-8BF9-D28358EF2DD0}"/>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123A1CDE-A1A2-4DB7-841F-E15BBE850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D7C5D-5E42-4F59-AA54-C54F5877A25B}"/>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330120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B23DA5-8C2D-4EBE-B284-F83B7C3A2B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028949-5D9C-486B-82DE-E1ADB21FD81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730625-7934-4EDF-AB93-C9432972C11E}"/>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35512AE8-8FB1-4107-96CE-23584FF5B4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BFB4A-C38A-4B48-BC0F-BE58AD58DF50}"/>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2295558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62B6B-41C0-4ECA-B9C9-6E1FB613FB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67B138-42F5-4140-90C5-66E16C2A5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CC4E0-6DF8-4412-A629-CF43E74B1E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5E335DEA-8493-4E9A-AAC9-CE1E18B6F4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C00FDC-AB4E-4D8E-B920-2699BC6F74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5841E8-F9C4-409C-9489-46320D3E221B}" type="slidenum">
              <a:rPr lang="en-US" smtClean="0"/>
              <a:t>‹#›</a:t>
            </a:fld>
            <a:endParaRPr lang="en-US"/>
          </a:p>
        </p:txBody>
      </p:sp>
    </p:spTree>
    <p:extLst>
      <p:ext uri="{BB962C8B-B14F-4D97-AF65-F5344CB8AC3E}">
        <p14:creationId xmlns:p14="http://schemas.microsoft.com/office/powerpoint/2010/main" val="541693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D04B22-E6BD-4B21-A21C-BD329868059F}"/>
              </a:ext>
            </a:extLst>
          </p:cNvPr>
          <p:cNvSpPr txBox="1"/>
          <p:nvPr/>
        </p:nvSpPr>
        <p:spPr>
          <a:xfrm>
            <a:off x="548640" y="1234440"/>
            <a:ext cx="11064240" cy="769441"/>
          </a:xfrm>
          <a:prstGeom prst="rect">
            <a:avLst/>
          </a:prstGeom>
          <a:noFill/>
        </p:spPr>
        <p:txBody>
          <a:bodyPr wrap="square">
            <a:spAutoFit/>
          </a:bodyPr>
          <a:lstStyle/>
          <a:p>
            <a:pPr algn="ctr"/>
            <a:r>
              <a:rPr sz="4400" b="1" i="0">
                <a:solidFill>
                  <a:srgbClr val="2A2218"/>
                </a:solidFill>
                <a:latin typeface="Times New Roman" panose="02020603050405020304" pitchFamily="18" charset="0"/>
                <a:cs typeface="Times New Roman" panose="02020603050405020304" pitchFamily="18" charset="0"/>
              </a:rPr>
              <a:t>THE LEDGER OF RECORD</a:t>
            </a:r>
          </a:p>
        </p:txBody>
      </p:sp>
      <p:sp>
        <p:nvSpPr>
          <p:cNvPr id="5" name="Oval 4">
            <a:extLst>
              <a:ext uri="{FF2B5EF4-FFF2-40B4-BE49-F238E27FC236}">
                <a16:creationId xmlns:a16="http://schemas.microsoft.com/office/drawing/2014/main" id="{B3E7EE7F-60FB-4487-96CC-B397697FE42E}"/>
              </a:ext>
            </a:extLst>
          </p:cNvPr>
          <p:cNvSpPr/>
          <p:nvPr/>
        </p:nvSpPr>
        <p:spPr>
          <a:xfrm>
            <a:off x="384048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185F8744-376D-4318-A85C-7E00A3D4D432}"/>
              </a:ext>
            </a:extLst>
          </p:cNvPr>
          <p:cNvSpPr/>
          <p:nvPr/>
        </p:nvSpPr>
        <p:spPr>
          <a:xfrm>
            <a:off x="395199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81E5B0B5-5A53-4CF9-9BD7-F0604E28EB97}"/>
              </a:ext>
            </a:extLst>
          </p:cNvPr>
          <p:cNvSpPr/>
          <p:nvPr/>
        </p:nvSpPr>
        <p:spPr>
          <a:xfrm>
            <a:off x="406350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EF1E3E44-281F-4B02-B638-775745694A28}"/>
              </a:ext>
            </a:extLst>
          </p:cNvPr>
          <p:cNvSpPr/>
          <p:nvPr/>
        </p:nvSpPr>
        <p:spPr>
          <a:xfrm>
            <a:off x="417501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113BAFE1-EB5F-4139-90AA-13C8C21B5501}"/>
              </a:ext>
            </a:extLst>
          </p:cNvPr>
          <p:cNvSpPr/>
          <p:nvPr/>
        </p:nvSpPr>
        <p:spPr>
          <a:xfrm>
            <a:off x="428652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82BC516D-C148-459C-BA2E-B3BAEBD3A8D0}"/>
              </a:ext>
            </a:extLst>
          </p:cNvPr>
          <p:cNvSpPr/>
          <p:nvPr/>
        </p:nvSpPr>
        <p:spPr>
          <a:xfrm>
            <a:off x="439804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8EB0471B-1D28-46EB-B0DF-B4A32A558547}"/>
              </a:ext>
            </a:extLst>
          </p:cNvPr>
          <p:cNvSpPr/>
          <p:nvPr/>
        </p:nvSpPr>
        <p:spPr>
          <a:xfrm>
            <a:off x="450955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F41C484B-3EA8-42DF-ADE1-A35588866B1B}"/>
              </a:ext>
            </a:extLst>
          </p:cNvPr>
          <p:cNvSpPr/>
          <p:nvPr/>
        </p:nvSpPr>
        <p:spPr>
          <a:xfrm>
            <a:off x="462106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3AC2036F-2C3D-4268-911F-9247C25DA29B}"/>
              </a:ext>
            </a:extLst>
          </p:cNvPr>
          <p:cNvSpPr/>
          <p:nvPr/>
        </p:nvSpPr>
        <p:spPr>
          <a:xfrm>
            <a:off x="473257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69DC4AC2-6B4F-4CB2-9834-59A9F3562492}"/>
              </a:ext>
            </a:extLst>
          </p:cNvPr>
          <p:cNvSpPr/>
          <p:nvPr/>
        </p:nvSpPr>
        <p:spPr>
          <a:xfrm>
            <a:off x="484408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id="{32070F83-49AC-448E-8AE8-8BC3297AAF0F}"/>
              </a:ext>
            </a:extLst>
          </p:cNvPr>
          <p:cNvSpPr/>
          <p:nvPr/>
        </p:nvSpPr>
        <p:spPr>
          <a:xfrm>
            <a:off x="495560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BB7065CB-86C0-4A96-9380-78FF3CC15ABF}"/>
              </a:ext>
            </a:extLst>
          </p:cNvPr>
          <p:cNvSpPr/>
          <p:nvPr/>
        </p:nvSpPr>
        <p:spPr>
          <a:xfrm>
            <a:off x="506711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7A3477B8-7B7A-45C6-AD2E-9FC96C68EBEE}"/>
              </a:ext>
            </a:extLst>
          </p:cNvPr>
          <p:cNvSpPr/>
          <p:nvPr/>
        </p:nvSpPr>
        <p:spPr>
          <a:xfrm>
            <a:off x="517862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769FAF07-A50B-4B09-86D5-8A864B7F6CB0}"/>
              </a:ext>
            </a:extLst>
          </p:cNvPr>
          <p:cNvSpPr/>
          <p:nvPr/>
        </p:nvSpPr>
        <p:spPr>
          <a:xfrm>
            <a:off x="529013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20103617-7E62-4892-B335-CECBFD3DC7DA}"/>
              </a:ext>
            </a:extLst>
          </p:cNvPr>
          <p:cNvSpPr/>
          <p:nvPr/>
        </p:nvSpPr>
        <p:spPr>
          <a:xfrm>
            <a:off x="540165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0" name="Oval 19">
            <a:extLst>
              <a:ext uri="{FF2B5EF4-FFF2-40B4-BE49-F238E27FC236}">
                <a16:creationId xmlns:a16="http://schemas.microsoft.com/office/drawing/2014/main" id="{30C0791C-4F75-4D03-9D4F-2FBE92ADDEA0}"/>
              </a:ext>
            </a:extLst>
          </p:cNvPr>
          <p:cNvSpPr/>
          <p:nvPr/>
        </p:nvSpPr>
        <p:spPr>
          <a:xfrm>
            <a:off x="551316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230F5697-CDE1-4D02-B1BD-09AE037C9A32}"/>
              </a:ext>
            </a:extLst>
          </p:cNvPr>
          <p:cNvSpPr/>
          <p:nvPr/>
        </p:nvSpPr>
        <p:spPr>
          <a:xfrm>
            <a:off x="562467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id="{F47F5382-54AD-41F6-A216-3073448D9D8E}"/>
              </a:ext>
            </a:extLst>
          </p:cNvPr>
          <p:cNvSpPr/>
          <p:nvPr/>
        </p:nvSpPr>
        <p:spPr>
          <a:xfrm>
            <a:off x="573618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FB995963-ED53-434D-815A-96B227D6304B}"/>
              </a:ext>
            </a:extLst>
          </p:cNvPr>
          <p:cNvSpPr/>
          <p:nvPr/>
        </p:nvSpPr>
        <p:spPr>
          <a:xfrm>
            <a:off x="584769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id="{16CED76E-26FA-4A15-8FC9-62B37F0E4857}"/>
              </a:ext>
            </a:extLst>
          </p:cNvPr>
          <p:cNvSpPr/>
          <p:nvPr/>
        </p:nvSpPr>
        <p:spPr>
          <a:xfrm>
            <a:off x="595921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5" name="Oval 24">
            <a:extLst>
              <a:ext uri="{FF2B5EF4-FFF2-40B4-BE49-F238E27FC236}">
                <a16:creationId xmlns:a16="http://schemas.microsoft.com/office/drawing/2014/main" id="{1A15C107-96C9-49F2-856C-814F7CCF8ED4}"/>
              </a:ext>
            </a:extLst>
          </p:cNvPr>
          <p:cNvSpPr/>
          <p:nvPr/>
        </p:nvSpPr>
        <p:spPr>
          <a:xfrm>
            <a:off x="607072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6" name="Oval 25">
            <a:extLst>
              <a:ext uri="{FF2B5EF4-FFF2-40B4-BE49-F238E27FC236}">
                <a16:creationId xmlns:a16="http://schemas.microsoft.com/office/drawing/2014/main" id="{0FE38F5F-18E9-459A-B6B7-B3C314ABED26}"/>
              </a:ext>
            </a:extLst>
          </p:cNvPr>
          <p:cNvSpPr/>
          <p:nvPr/>
        </p:nvSpPr>
        <p:spPr>
          <a:xfrm>
            <a:off x="618223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7" name="Oval 26">
            <a:extLst>
              <a:ext uri="{FF2B5EF4-FFF2-40B4-BE49-F238E27FC236}">
                <a16:creationId xmlns:a16="http://schemas.microsoft.com/office/drawing/2014/main" id="{D7B7E8BA-3400-4428-A9B1-D628E2FC6FDB}"/>
              </a:ext>
            </a:extLst>
          </p:cNvPr>
          <p:cNvSpPr/>
          <p:nvPr/>
        </p:nvSpPr>
        <p:spPr>
          <a:xfrm>
            <a:off x="629374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8" name="Oval 27">
            <a:extLst>
              <a:ext uri="{FF2B5EF4-FFF2-40B4-BE49-F238E27FC236}">
                <a16:creationId xmlns:a16="http://schemas.microsoft.com/office/drawing/2014/main" id="{8085438F-CC1A-4065-BB6A-596C804CDBAE}"/>
              </a:ext>
            </a:extLst>
          </p:cNvPr>
          <p:cNvSpPr/>
          <p:nvPr/>
        </p:nvSpPr>
        <p:spPr>
          <a:xfrm>
            <a:off x="640526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9" name="Oval 28">
            <a:extLst>
              <a:ext uri="{FF2B5EF4-FFF2-40B4-BE49-F238E27FC236}">
                <a16:creationId xmlns:a16="http://schemas.microsoft.com/office/drawing/2014/main" id="{9AC8FC38-B0B5-4340-9101-5AA56F792421}"/>
              </a:ext>
            </a:extLst>
          </p:cNvPr>
          <p:cNvSpPr/>
          <p:nvPr/>
        </p:nvSpPr>
        <p:spPr>
          <a:xfrm>
            <a:off x="651677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0" name="Oval 29">
            <a:extLst>
              <a:ext uri="{FF2B5EF4-FFF2-40B4-BE49-F238E27FC236}">
                <a16:creationId xmlns:a16="http://schemas.microsoft.com/office/drawing/2014/main" id="{D10175E2-9266-45D0-AF10-1CDD4D579D58}"/>
              </a:ext>
            </a:extLst>
          </p:cNvPr>
          <p:cNvSpPr/>
          <p:nvPr/>
        </p:nvSpPr>
        <p:spPr>
          <a:xfrm>
            <a:off x="662828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1" name="Oval 30">
            <a:extLst>
              <a:ext uri="{FF2B5EF4-FFF2-40B4-BE49-F238E27FC236}">
                <a16:creationId xmlns:a16="http://schemas.microsoft.com/office/drawing/2014/main" id="{DEC4F92C-A426-43F5-9EA5-372CE7A72911}"/>
              </a:ext>
            </a:extLst>
          </p:cNvPr>
          <p:cNvSpPr/>
          <p:nvPr/>
        </p:nvSpPr>
        <p:spPr>
          <a:xfrm>
            <a:off x="673979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2" name="Oval 31">
            <a:extLst>
              <a:ext uri="{FF2B5EF4-FFF2-40B4-BE49-F238E27FC236}">
                <a16:creationId xmlns:a16="http://schemas.microsoft.com/office/drawing/2014/main" id="{B311DCDB-4006-4F1E-84E0-70633D2366B1}"/>
              </a:ext>
            </a:extLst>
          </p:cNvPr>
          <p:cNvSpPr/>
          <p:nvPr/>
        </p:nvSpPr>
        <p:spPr>
          <a:xfrm>
            <a:off x="685130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515FB23A-CE7E-4B00-9F1F-B947327448AA}"/>
              </a:ext>
            </a:extLst>
          </p:cNvPr>
          <p:cNvSpPr/>
          <p:nvPr/>
        </p:nvSpPr>
        <p:spPr>
          <a:xfrm>
            <a:off x="696282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E9390363-26CE-4DCC-94F9-8DCB89A4AF1F}"/>
              </a:ext>
            </a:extLst>
          </p:cNvPr>
          <p:cNvSpPr/>
          <p:nvPr/>
        </p:nvSpPr>
        <p:spPr>
          <a:xfrm>
            <a:off x="707433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0FF2156B-91D6-432F-8343-47F270324E14}"/>
              </a:ext>
            </a:extLst>
          </p:cNvPr>
          <p:cNvSpPr/>
          <p:nvPr/>
        </p:nvSpPr>
        <p:spPr>
          <a:xfrm>
            <a:off x="718584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6" name="Oval 35">
            <a:extLst>
              <a:ext uri="{FF2B5EF4-FFF2-40B4-BE49-F238E27FC236}">
                <a16:creationId xmlns:a16="http://schemas.microsoft.com/office/drawing/2014/main" id="{2E9AAE85-7FE2-4D18-BE1F-BA6EEA6B9689}"/>
              </a:ext>
            </a:extLst>
          </p:cNvPr>
          <p:cNvSpPr/>
          <p:nvPr/>
        </p:nvSpPr>
        <p:spPr>
          <a:xfrm>
            <a:off x="729735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7" name="Oval 36">
            <a:extLst>
              <a:ext uri="{FF2B5EF4-FFF2-40B4-BE49-F238E27FC236}">
                <a16:creationId xmlns:a16="http://schemas.microsoft.com/office/drawing/2014/main" id="{9E1B9412-B2E6-480D-BD85-6DB1D35E03F3}"/>
              </a:ext>
            </a:extLst>
          </p:cNvPr>
          <p:cNvSpPr/>
          <p:nvPr/>
        </p:nvSpPr>
        <p:spPr>
          <a:xfrm>
            <a:off x="740887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8" name="Oval 37">
            <a:extLst>
              <a:ext uri="{FF2B5EF4-FFF2-40B4-BE49-F238E27FC236}">
                <a16:creationId xmlns:a16="http://schemas.microsoft.com/office/drawing/2014/main" id="{7740451E-4D6B-4773-8AC9-98EAD02C3900}"/>
              </a:ext>
            </a:extLst>
          </p:cNvPr>
          <p:cNvSpPr/>
          <p:nvPr/>
        </p:nvSpPr>
        <p:spPr>
          <a:xfrm>
            <a:off x="752038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86491C0E-BF34-47BC-8203-8CB744FAB531}"/>
              </a:ext>
            </a:extLst>
          </p:cNvPr>
          <p:cNvSpPr/>
          <p:nvPr/>
        </p:nvSpPr>
        <p:spPr>
          <a:xfrm>
            <a:off x="763189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0" name="Oval 39">
            <a:extLst>
              <a:ext uri="{FF2B5EF4-FFF2-40B4-BE49-F238E27FC236}">
                <a16:creationId xmlns:a16="http://schemas.microsoft.com/office/drawing/2014/main" id="{B73ADB26-BF44-46F2-8C88-96910B1714D0}"/>
              </a:ext>
            </a:extLst>
          </p:cNvPr>
          <p:cNvSpPr/>
          <p:nvPr/>
        </p:nvSpPr>
        <p:spPr>
          <a:xfrm>
            <a:off x="774340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1" name="Oval 40">
            <a:extLst>
              <a:ext uri="{FF2B5EF4-FFF2-40B4-BE49-F238E27FC236}">
                <a16:creationId xmlns:a16="http://schemas.microsoft.com/office/drawing/2014/main" id="{DD32512C-82B6-43CD-B147-A63F3BD44F65}"/>
              </a:ext>
            </a:extLst>
          </p:cNvPr>
          <p:cNvSpPr/>
          <p:nvPr/>
        </p:nvSpPr>
        <p:spPr>
          <a:xfrm>
            <a:off x="785491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A1E06E9D-045B-449D-847D-018845B7C3A0}"/>
              </a:ext>
            </a:extLst>
          </p:cNvPr>
          <p:cNvSpPr/>
          <p:nvPr/>
        </p:nvSpPr>
        <p:spPr>
          <a:xfrm>
            <a:off x="796643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3" name="Oval 42">
            <a:extLst>
              <a:ext uri="{FF2B5EF4-FFF2-40B4-BE49-F238E27FC236}">
                <a16:creationId xmlns:a16="http://schemas.microsoft.com/office/drawing/2014/main" id="{04B6A25B-C3F2-4C56-8DD0-F92840826543}"/>
              </a:ext>
            </a:extLst>
          </p:cNvPr>
          <p:cNvSpPr/>
          <p:nvPr/>
        </p:nvSpPr>
        <p:spPr>
          <a:xfrm>
            <a:off x="807794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4" name="Oval 43">
            <a:extLst>
              <a:ext uri="{FF2B5EF4-FFF2-40B4-BE49-F238E27FC236}">
                <a16:creationId xmlns:a16="http://schemas.microsoft.com/office/drawing/2014/main" id="{AD8E9FB2-96E9-4EB6-9466-9E189E5D40F7}"/>
              </a:ext>
            </a:extLst>
          </p:cNvPr>
          <p:cNvSpPr/>
          <p:nvPr/>
        </p:nvSpPr>
        <p:spPr>
          <a:xfrm>
            <a:off x="818945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5" name="Oval 44">
            <a:extLst>
              <a:ext uri="{FF2B5EF4-FFF2-40B4-BE49-F238E27FC236}">
                <a16:creationId xmlns:a16="http://schemas.microsoft.com/office/drawing/2014/main" id="{93FCA801-77DC-4881-9589-BAF8063E1D44}"/>
              </a:ext>
            </a:extLst>
          </p:cNvPr>
          <p:cNvSpPr/>
          <p:nvPr/>
        </p:nvSpPr>
        <p:spPr>
          <a:xfrm>
            <a:off x="830096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8F90F292-F750-47C1-A698-1F1CF4B14D8A}"/>
              </a:ext>
            </a:extLst>
          </p:cNvPr>
          <p:cNvSpPr txBox="1"/>
          <p:nvPr/>
        </p:nvSpPr>
        <p:spPr>
          <a:xfrm>
            <a:off x="548640" y="2240280"/>
            <a:ext cx="11064240" cy="338554"/>
          </a:xfrm>
          <a:prstGeom prst="rect">
            <a:avLst/>
          </a:prstGeom>
          <a:noFill/>
        </p:spPr>
        <p:txBody>
          <a:bodyPr wrap="square">
            <a:spAutoFit/>
          </a:bodyPr>
          <a:lstStyle/>
          <a:p>
            <a:pPr algn="ctr"/>
            <a:r>
              <a:rPr sz="1600" b="1" i="0">
                <a:solidFill>
                  <a:srgbClr val="6E1E2A"/>
                </a:solidFill>
                <a:latin typeface="Times New Roman" panose="02020603050405020304" pitchFamily="18" charset="0"/>
                <a:cs typeface="Times New Roman" panose="02020603050405020304" pitchFamily="18" charset="0"/>
              </a:rPr>
              <a:t>BLOCKCHAIN AS APPLE TV+'S TRUST LAYER FOR ROYALTY ACCURACY</a:t>
            </a:r>
          </a:p>
        </p:txBody>
      </p:sp>
      <p:sp>
        <p:nvSpPr>
          <p:cNvPr id="47" name="TextBox 46">
            <a:extLst>
              <a:ext uri="{FF2B5EF4-FFF2-40B4-BE49-F238E27FC236}">
                <a16:creationId xmlns:a16="http://schemas.microsoft.com/office/drawing/2014/main" id="{3A60F2AA-F911-4388-A10A-5963D857B9CA}"/>
              </a:ext>
            </a:extLst>
          </p:cNvPr>
          <p:cNvSpPr txBox="1"/>
          <p:nvPr/>
        </p:nvSpPr>
        <p:spPr>
          <a:xfrm>
            <a:off x="548640" y="2743200"/>
            <a:ext cx="11064240" cy="338554"/>
          </a:xfrm>
          <a:prstGeom prst="rect">
            <a:avLst/>
          </a:prstGeom>
          <a:noFill/>
        </p:spPr>
        <p:txBody>
          <a:bodyPr wrap="square">
            <a:spAutoFit/>
          </a:bodyPr>
          <a:lstStyle/>
          <a:p>
            <a:pPr algn="ctr"/>
            <a:r>
              <a:rPr sz="1600" b="0" i="0">
                <a:solidFill>
                  <a:srgbClr val="7A7060"/>
                </a:solidFill>
                <a:latin typeface="Times New Roman" panose="02020603050405020304" pitchFamily="18" charset="0"/>
                <a:cs typeface="Times New Roman" panose="02020603050405020304" pitchFamily="18" charset="0"/>
              </a:rPr>
              <a:t>Apple TV+ | Digital Transformation Consultant Briefing</a:t>
            </a:r>
          </a:p>
        </p:txBody>
      </p:sp>
      <p:sp>
        <p:nvSpPr>
          <p:cNvPr id="48" name="TextBox 47"/>
          <p:cNvSpPr txBox="1"/>
          <p:nvPr/>
        </p:nvSpPr>
        <p:spPr>
          <a:xfrm>
            <a:off x="548640" y="3108960"/>
            <a:ext cx="11064240" cy="320040"/>
          </a:xfrm>
          <a:prstGeom prst="rect">
            <a:avLst/>
          </a:prstGeom>
          <a:noFill/>
        </p:spPr>
        <p:txBody>
          <a:bodyPr wrap="square" lIns="45720" rIns="45720" tIns="27432" bIns="27432" anchor="t">
            <a:spAutoFit/>
          </a:bodyPr>
          <a:lstStyle/>
          <a:p>
            <a:pPr algn="ctr">
              <a:lnSpc>
                <a:spcPct val="105000"/>
              </a:lnSpc>
              <a:spcAft>
                <a:spcPts val="0"/>
              </a:spcAft>
            </a:pPr>
            <a:r>
              <a:rPr sz="1400" b="0" i="0">
                <a:solidFill>
                  <a:srgbClr val="7A7060"/>
                </a:solidFill>
                <a:latin typeface="Times New Roman"/>
              </a:rPr>
              <a:t>SRN: BP0322660</a:t>
            </a:r>
          </a:p>
        </p:txBody>
      </p:sp>
      <p:sp>
        <p:nvSpPr>
          <p:cNvPr id="49" name="TextBox 48"/>
          <p:cNvSpPr txBox="1"/>
          <p:nvPr/>
        </p:nvSpPr>
        <p:spPr>
          <a:xfrm>
            <a:off x="548640" y="3977639"/>
            <a:ext cx="11064240" cy="320040"/>
          </a:xfrm>
          <a:prstGeom prst="rect">
            <a:avLst/>
          </a:prstGeom>
          <a:noFill/>
        </p:spPr>
        <p:txBody>
          <a:bodyPr wrap="square" lIns="45720" rIns="45720" tIns="27432" bIns="27432" anchor="t">
            <a:spAutoFit/>
          </a:bodyPr>
          <a:lstStyle/>
          <a:p>
            <a:pPr algn="ctr">
              <a:lnSpc>
                <a:spcPct val="105000"/>
              </a:lnSpc>
              <a:spcAft>
                <a:spcPts val="0"/>
              </a:spcAft>
            </a:pPr>
            <a:r>
              <a:rPr sz="1300" b="1" i="0">
                <a:solidFill>
                  <a:srgbClr val="6E1E2A"/>
                </a:solidFill>
                <a:latin typeface="Times New Roman"/>
              </a:rPr>
              <a:t>ROADMAP</a:t>
            </a:r>
          </a:p>
        </p:txBody>
      </p:sp>
      <p:sp>
        <p:nvSpPr>
          <p:cNvPr id="50" name="Rectangle 49"/>
          <p:cNvSpPr/>
          <p:nvPr/>
        </p:nvSpPr>
        <p:spPr>
          <a:xfrm>
            <a:off x="56372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46607" y="4526280"/>
            <a:ext cx="365760" cy="36576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16101"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0380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1</a:t>
            </a:r>
          </a:p>
        </p:txBody>
      </p:sp>
      <p:sp>
        <p:nvSpPr>
          <p:cNvPr id="54" name="TextBox 53"/>
          <p:cNvSpPr txBox="1"/>
          <p:nvPr/>
        </p:nvSpPr>
        <p:spPr>
          <a:xfrm>
            <a:off x="65516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Context</a:t>
            </a:r>
          </a:p>
        </p:txBody>
      </p:sp>
      <p:sp>
        <p:nvSpPr>
          <p:cNvPr id="55" name="TextBox 54"/>
          <p:cNvSpPr txBox="1"/>
          <p:nvPr/>
        </p:nvSpPr>
        <p:spPr>
          <a:xfrm>
            <a:off x="65516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Apple TV+ and the royalty challenge</a:t>
            </a:r>
          </a:p>
        </p:txBody>
      </p:sp>
      <p:sp>
        <p:nvSpPr>
          <p:cNvPr id="56" name="Rectangle 55"/>
          <p:cNvSpPr/>
          <p:nvPr/>
        </p:nvSpPr>
        <p:spPr>
          <a:xfrm>
            <a:off x="243824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621127" y="4526280"/>
            <a:ext cx="365760" cy="36576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690621"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7832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2</a:t>
            </a:r>
          </a:p>
        </p:txBody>
      </p:sp>
      <p:sp>
        <p:nvSpPr>
          <p:cNvPr id="60" name="TextBox 59"/>
          <p:cNvSpPr txBox="1"/>
          <p:nvPr/>
        </p:nvSpPr>
        <p:spPr>
          <a:xfrm>
            <a:off x="252968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The technology</a:t>
            </a:r>
          </a:p>
        </p:txBody>
      </p:sp>
      <p:sp>
        <p:nvSpPr>
          <p:cNvPr id="61" name="TextBox 60"/>
          <p:cNvSpPr txBox="1"/>
          <p:nvPr/>
        </p:nvSpPr>
        <p:spPr>
          <a:xfrm>
            <a:off x="252968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What a ledger and smart contract are</a:t>
            </a:r>
          </a:p>
        </p:txBody>
      </p:sp>
      <p:sp>
        <p:nvSpPr>
          <p:cNvPr id="62" name="Rectangle 61"/>
          <p:cNvSpPr/>
          <p:nvPr/>
        </p:nvSpPr>
        <p:spPr>
          <a:xfrm>
            <a:off x="431276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495647" y="4526280"/>
            <a:ext cx="365760" cy="36576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6514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5284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3</a:t>
            </a:r>
          </a:p>
        </p:txBody>
      </p:sp>
      <p:sp>
        <p:nvSpPr>
          <p:cNvPr id="66" name="TextBox 65"/>
          <p:cNvSpPr txBox="1"/>
          <p:nvPr/>
        </p:nvSpPr>
        <p:spPr>
          <a:xfrm>
            <a:off x="440420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Benefits &amp; limits</a:t>
            </a:r>
          </a:p>
        </p:txBody>
      </p:sp>
      <p:sp>
        <p:nvSpPr>
          <p:cNvPr id="67" name="TextBox 66"/>
          <p:cNvSpPr txBox="1"/>
          <p:nvPr/>
        </p:nvSpPr>
        <p:spPr>
          <a:xfrm>
            <a:off x="440420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What we gain, what holds us back</a:t>
            </a:r>
          </a:p>
        </p:txBody>
      </p:sp>
      <p:sp>
        <p:nvSpPr>
          <p:cNvPr id="68" name="Rectangle 67"/>
          <p:cNvSpPr/>
          <p:nvPr/>
        </p:nvSpPr>
        <p:spPr>
          <a:xfrm>
            <a:off x="618728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370167" y="4526280"/>
            <a:ext cx="365760" cy="36576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43966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2736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4</a:t>
            </a:r>
          </a:p>
        </p:txBody>
      </p:sp>
      <p:sp>
        <p:nvSpPr>
          <p:cNvPr id="72" name="TextBox 71"/>
          <p:cNvSpPr txBox="1"/>
          <p:nvPr/>
        </p:nvSpPr>
        <p:spPr>
          <a:xfrm>
            <a:off x="627872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People</a:t>
            </a:r>
          </a:p>
        </p:txBody>
      </p:sp>
      <p:sp>
        <p:nvSpPr>
          <p:cNvPr id="73" name="TextBox 72"/>
          <p:cNvSpPr txBox="1"/>
          <p:nvPr/>
        </p:nvSpPr>
        <p:spPr>
          <a:xfrm>
            <a:off x="627872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Impact on teams and the stakeholder view</a:t>
            </a:r>
          </a:p>
        </p:txBody>
      </p:sp>
      <p:sp>
        <p:nvSpPr>
          <p:cNvPr id="74" name="Rectangle 73"/>
          <p:cNvSpPr/>
          <p:nvPr/>
        </p:nvSpPr>
        <p:spPr>
          <a:xfrm>
            <a:off x="806180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244687" y="4526280"/>
            <a:ext cx="365760" cy="36576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31418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0188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5</a:t>
            </a:r>
          </a:p>
        </p:txBody>
      </p:sp>
      <p:sp>
        <p:nvSpPr>
          <p:cNvPr id="78" name="TextBox 77"/>
          <p:cNvSpPr txBox="1"/>
          <p:nvPr/>
        </p:nvSpPr>
        <p:spPr>
          <a:xfrm>
            <a:off x="815324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Strategy</a:t>
            </a:r>
          </a:p>
        </p:txBody>
      </p:sp>
      <p:sp>
        <p:nvSpPr>
          <p:cNvPr id="79" name="TextBox 78"/>
          <p:cNvSpPr txBox="1"/>
          <p:nvPr/>
        </p:nvSpPr>
        <p:spPr>
          <a:xfrm>
            <a:off x="815324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Fit and lasting advantage</a:t>
            </a:r>
          </a:p>
        </p:txBody>
      </p:sp>
      <p:sp>
        <p:nvSpPr>
          <p:cNvPr id="80" name="Rectangle 79"/>
          <p:cNvSpPr/>
          <p:nvPr/>
        </p:nvSpPr>
        <p:spPr>
          <a:xfrm>
            <a:off x="993632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119207" y="4526280"/>
            <a:ext cx="365760" cy="36576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18870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57640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6</a:t>
            </a:r>
          </a:p>
        </p:txBody>
      </p:sp>
      <p:sp>
        <p:nvSpPr>
          <p:cNvPr id="84" name="TextBox 83"/>
          <p:cNvSpPr txBox="1"/>
          <p:nvPr/>
        </p:nvSpPr>
        <p:spPr>
          <a:xfrm>
            <a:off x="1002776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Decisions</a:t>
            </a:r>
          </a:p>
        </p:txBody>
      </p:sp>
      <p:sp>
        <p:nvSpPr>
          <p:cNvPr id="85" name="TextBox 84"/>
          <p:cNvSpPr txBox="1"/>
          <p:nvPr/>
        </p:nvSpPr>
        <p:spPr>
          <a:xfrm>
            <a:off x="1002776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Risks, actions, takeaways</a:t>
            </a:r>
          </a:p>
        </p:txBody>
      </p:sp>
    </p:spTree>
    <p:extLst>
      <p:ext uri="{BB962C8B-B14F-4D97-AF65-F5344CB8AC3E}">
        <p14:creationId xmlns:p14="http://schemas.microsoft.com/office/powerpoint/2010/main" val="45997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2F1670-AA19-461B-96D8-9BE123F11BDC}"/>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CONTEXT &amp; PROBLEM</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Apple TV+ is growing its licensing footprint faster than manual royalty processes can follow.</a:t>
            </a:r>
          </a:p>
        </p:txBody>
      </p:sp>
      <p:sp>
        <p:nvSpPr>
          <p:cNvPr id="6" name="Rectangle 5"/>
          <p:cNvSpPr/>
          <p:nvPr/>
        </p:nvSpPr>
        <p:spPr>
          <a:xfrm>
            <a:off x="548640" y="2148840"/>
            <a:ext cx="5394960" cy="23317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40280"/>
            <a:ext cx="5029200" cy="36576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APPLE TV+ TODAY</a:t>
            </a:r>
          </a:p>
        </p:txBody>
      </p:sp>
      <p:sp>
        <p:nvSpPr>
          <p:cNvPr id="8" name="TextBox 7"/>
          <p:cNvSpPr txBox="1"/>
          <p:nvPr/>
        </p:nvSpPr>
        <p:spPr>
          <a:xfrm>
            <a:off x="731520" y="2651760"/>
            <a:ext cx="5029200" cy="1828800"/>
          </a:xfrm>
          <a:prstGeom prst="rect">
            <a:avLst/>
          </a:prstGeom>
          <a:noFill/>
        </p:spPr>
        <p:txBody>
          <a:bodyPr wrap="square" lIns="45720" rIns="45720" tIns="27432" bIns="27432" anchor="t">
            <a:spAutoFit/>
          </a:bodyPr>
          <a:lstStyle/>
          <a:p>
            <a:pPr algn="l">
              <a:lnSpc>
                <a:spcPct val="105000"/>
              </a:lnSpc>
              <a:spcAft>
                <a:spcPts val="600"/>
              </a:spcAft>
            </a:pPr>
            <a:r>
              <a:rPr sz="1400" b="0" i="0">
                <a:solidFill>
                  <a:srgbClr val="2A2218"/>
                </a:solidFill>
                <a:latin typeface="Times New Roman"/>
              </a:rPr>
              <a:t>Clears music synchronisation rights for scripted and unscripted programmes.</a:t>
            </a:r>
          </a:p>
          <a:p>
            <a:pPr algn="l">
              <a:lnSpc>
                <a:spcPct val="105000"/>
              </a:lnSpc>
              <a:spcAft>
                <a:spcPts val="600"/>
              </a:spcAft>
            </a:pPr>
            <a:r>
              <a:rPr sz="1400" b="0" i="0">
                <a:solidFill>
                  <a:srgbClr val="2A2218"/>
                </a:solidFill>
                <a:latin typeface="Times New Roman"/>
              </a:rPr>
              <a:t>Negotiates talent agreements across the same set of territories.</a:t>
            </a:r>
          </a:p>
          <a:p>
            <a:pPr algn="l">
              <a:lnSpc>
                <a:spcPct val="105000"/>
              </a:lnSpc>
              <a:spcAft>
                <a:spcPts val="600"/>
              </a:spcAft>
            </a:pPr>
            <a:r>
              <a:rPr sz="1400" b="0" i="0">
                <a:solidFill>
                  <a:srgbClr val="2A2218"/>
                </a:solidFill>
                <a:latin typeface="Times New Roman"/>
              </a:rPr>
              <a:t>Hired a licensing executive in 2024 to widen distribution of its originals to third-party platforms (9to5Mac, 2024).</a:t>
            </a:r>
          </a:p>
        </p:txBody>
      </p:sp>
      <p:sp>
        <p:nvSpPr>
          <p:cNvPr id="9" name="Rectangle 8"/>
          <p:cNvSpPr/>
          <p:nvPr/>
        </p:nvSpPr>
        <p:spPr>
          <a:xfrm>
            <a:off x="6245352" y="2148840"/>
            <a:ext cx="5394960" cy="233172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2240280"/>
            <a:ext cx="5029200" cy="36576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THE CHALLENGE</a:t>
            </a:r>
          </a:p>
        </p:txBody>
      </p:sp>
      <p:sp>
        <p:nvSpPr>
          <p:cNvPr id="11" name="TextBox 10"/>
          <p:cNvSpPr txBox="1"/>
          <p:nvPr/>
        </p:nvSpPr>
        <p:spPr>
          <a:xfrm>
            <a:off x="6428232" y="2651760"/>
            <a:ext cx="5029200" cy="1828800"/>
          </a:xfrm>
          <a:prstGeom prst="rect">
            <a:avLst/>
          </a:prstGeom>
          <a:noFill/>
        </p:spPr>
        <p:txBody>
          <a:bodyPr wrap="square" lIns="45720" rIns="45720" tIns="27432" bIns="27432" anchor="t">
            <a:spAutoFit/>
          </a:bodyPr>
          <a:lstStyle/>
          <a:p>
            <a:pPr algn="l">
              <a:lnSpc>
                <a:spcPct val="105000"/>
              </a:lnSpc>
              <a:spcAft>
                <a:spcPts val="600"/>
              </a:spcAft>
            </a:pPr>
            <a:r>
              <a:rPr sz="1400" b="0" i="0">
                <a:solidFill>
                  <a:srgbClr val="2A2218"/>
                </a:solidFill>
                <a:latin typeface="Times New Roman"/>
              </a:rPr>
              <a:t>More counterparties and more rights windows, all reconciled by hand across Legal, Rights Ops and Finance.</a:t>
            </a:r>
          </a:p>
          <a:p>
            <a:pPr algn="l">
              <a:lnSpc>
                <a:spcPct val="105000"/>
              </a:lnSpc>
              <a:spcAft>
                <a:spcPts val="600"/>
              </a:spcAft>
            </a:pPr>
            <a:r>
              <a:rPr sz="1400" b="1" i="0">
                <a:solidFill>
                  <a:srgbClr val="2A2218"/>
                </a:solidFill>
                <a:latin typeface="Times New Roman"/>
              </a:rPr>
              <a:t>Strategic question: </a:t>
            </a:r>
            <a:r>
              <a:rPr sz="1400" b="0" i="0">
                <a:solidFill>
                  <a:srgbClr val="2A2218"/>
                </a:solidFill>
                <a:latin typeface="Times New Roman"/>
              </a:rPr>
              <a:t>how does Apple TV+ keep royalty payments accurate and trusted as it expands, before disputes grow with it?</a:t>
            </a:r>
          </a:p>
        </p:txBody>
      </p:sp>
      <p:sp>
        <p:nvSpPr>
          <p:cNvPr id="12" name="Rectangle 11"/>
          <p:cNvSpPr/>
          <p:nvPr/>
        </p:nvSpPr>
        <p:spPr>
          <a:xfrm>
            <a:off x="548640" y="4709160"/>
            <a:ext cx="11091672" cy="1600200"/>
          </a:xfrm>
          <a:prstGeom prst="rect">
            <a:avLst/>
          </a:prstGeom>
          <a:no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773168"/>
            <a:ext cx="3657600" cy="274320"/>
          </a:xfrm>
          <a:prstGeom prst="rect">
            <a:avLst/>
          </a:prstGeom>
          <a:noFill/>
        </p:spPr>
        <p:txBody>
          <a:bodyPr wrap="square" lIns="45720" rIns="45720" tIns="27432" bIns="27432" anchor="t">
            <a:spAutoFit/>
          </a:bodyPr>
          <a:lstStyle/>
          <a:p>
            <a:pPr algn="l">
              <a:lnSpc>
                <a:spcPct val="105000"/>
              </a:lnSpc>
              <a:spcAft>
                <a:spcPts val="0"/>
              </a:spcAft>
            </a:pPr>
            <a:r>
              <a:rPr sz="1200" b="1" i="0">
                <a:solidFill>
                  <a:srgbClr val="7A7060"/>
                </a:solidFill>
                <a:latin typeface="Times New Roman"/>
              </a:rPr>
              <a:t>SUPPORTING EXAMPLE: MUSIC ROYALTIES</a:t>
            </a:r>
          </a:p>
        </p:txBody>
      </p:sp>
      <p:sp>
        <p:nvSpPr>
          <p:cNvPr id="14" name="TextBox 13"/>
          <p:cNvSpPr txBox="1"/>
          <p:nvPr/>
        </p:nvSpPr>
        <p:spPr>
          <a:xfrm>
            <a:off x="731520" y="5074920"/>
            <a:ext cx="3291840" cy="640080"/>
          </a:xfrm>
          <a:prstGeom prst="rect">
            <a:avLst/>
          </a:prstGeom>
          <a:noFill/>
        </p:spPr>
        <p:txBody>
          <a:bodyPr wrap="square" lIns="45720" rIns="45720" tIns="27432" bIns="27432" anchor="ctr">
            <a:spAutoFit/>
          </a:bodyPr>
          <a:lstStyle/>
          <a:p>
            <a:pPr algn="l">
              <a:lnSpc>
                <a:spcPct val="105000"/>
              </a:lnSpc>
              <a:spcAft>
                <a:spcPts val="0"/>
              </a:spcAft>
            </a:pPr>
            <a:r>
              <a:rPr sz="4000" b="1" i="0">
                <a:solidFill>
                  <a:srgbClr val="6E1E2A"/>
                </a:solidFill>
                <a:latin typeface="Times New Roman"/>
              </a:rPr>
              <a:t>$424M</a:t>
            </a:r>
          </a:p>
        </p:txBody>
      </p:sp>
      <p:sp>
        <p:nvSpPr>
          <p:cNvPr id="15" name="TextBox 14"/>
          <p:cNvSpPr txBox="1"/>
          <p:nvPr/>
        </p:nvSpPr>
        <p:spPr>
          <a:xfrm>
            <a:off x="731520" y="5760720"/>
            <a:ext cx="3291840" cy="502920"/>
          </a:xfrm>
          <a:prstGeom prst="rect">
            <a:avLst/>
          </a:prstGeom>
          <a:noFill/>
        </p:spPr>
        <p:txBody>
          <a:bodyPr wrap="square" lIns="45720" rIns="45720" tIns="27432" bIns="27432" anchor="t">
            <a:spAutoFit/>
          </a:bodyPr>
          <a:lstStyle/>
          <a:p>
            <a:pPr algn="l">
              <a:lnSpc>
                <a:spcPct val="105000"/>
              </a:lnSpc>
              <a:spcAft>
                <a:spcPts val="0"/>
              </a:spcAft>
            </a:pPr>
            <a:r>
              <a:rPr sz="1200" b="0" i="1">
                <a:solidFill>
                  <a:srgbClr val="7A7060"/>
                </a:solidFill>
                <a:latin typeface="Times New Roman"/>
              </a:rPr>
              <a:t>unmatched royalties in the music industry (The MLC; Sharp, 2023)</a:t>
            </a:r>
          </a:p>
        </p:txBody>
      </p:sp>
      <p:sp>
        <p:nvSpPr>
          <p:cNvPr id="16" name="TextBox 15"/>
          <p:cNvSpPr txBox="1"/>
          <p:nvPr/>
        </p:nvSpPr>
        <p:spPr>
          <a:xfrm>
            <a:off x="4206240" y="5120640"/>
            <a:ext cx="3566160" cy="109728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Many rights holders and many territories, matched manually, leave money unpaid. Every unmatched row is a dispute, a delay or an audit risk.</a:t>
            </a:r>
          </a:p>
        </p:txBody>
      </p:sp>
      <p:sp>
        <p:nvSpPr>
          <p:cNvPr id="17" name="Rectangle 16"/>
          <p:cNvSpPr/>
          <p:nvPr/>
        </p:nvSpPr>
        <p:spPr>
          <a:xfrm>
            <a:off x="7863840" y="4937760"/>
            <a:ext cx="1463040" cy="338328"/>
          </a:xfrm>
          <a:prstGeom prst="rect">
            <a:avLst/>
          </a:prstGeom>
          <a:solidFill>
            <a:srgbClr val="EAE0C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4937760"/>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A2218"/>
                </a:solidFill>
                <a:latin typeface="Times New Roman"/>
              </a:rPr>
              <a:t>Claim</a:t>
            </a:r>
          </a:p>
        </p:txBody>
      </p:sp>
      <p:sp>
        <p:nvSpPr>
          <p:cNvPr id="19" name="Rectangle 18"/>
          <p:cNvSpPr/>
          <p:nvPr/>
        </p:nvSpPr>
        <p:spPr>
          <a:xfrm>
            <a:off x="9326880" y="4937760"/>
            <a:ext cx="868680" cy="338328"/>
          </a:xfrm>
          <a:prstGeom prst="rect">
            <a:avLst/>
          </a:prstGeom>
          <a:solidFill>
            <a:srgbClr val="EAE0C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937760"/>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A2218"/>
                </a:solidFill>
                <a:latin typeface="Times New Roman"/>
              </a:rPr>
              <a:t>Territory</a:t>
            </a:r>
          </a:p>
        </p:txBody>
      </p:sp>
      <p:sp>
        <p:nvSpPr>
          <p:cNvPr id="21" name="Rectangle 20"/>
          <p:cNvSpPr/>
          <p:nvPr/>
        </p:nvSpPr>
        <p:spPr>
          <a:xfrm>
            <a:off x="10195560" y="4937760"/>
            <a:ext cx="1280160" cy="338328"/>
          </a:xfrm>
          <a:prstGeom prst="rect">
            <a:avLst/>
          </a:prstGeom>
          <a:solidFill>
            <a:srgbClr val="EAE0C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95560" y="4937760"/>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A2218"/>
                </a:solidFill>
                <a:latin typeface="Times New Roman"/>
              </a:rPr>
              <a:t>Status</a:t>
            </a:r>
          </a:p>
        </p:txBody>
      </p:sp>
      <p:sp>
        <p:nvSpPr>
          <p:cNvPr id="23" name="Rectangle 22"/>
          <p:cNvSpPr/>
          <p:nvPr/>
        </p:nvSpPr>
        <p:spPr>
          <a:xfrm>
            <a:off x="7863840" y="5276088"/>
            <a:ext cx="146304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5276088"/>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Sync - Doc Series</a:t>
            </a:r>
          </a:p>
        </p:txBody>
      </p:sp>
      <p:sp>
        <p:nvSpPr>
          <p:cNvPr id="25" name="Rectangle 24"/>
          <p:cNvSpPr/>
          <p:nvPr/>
        </p:nvSpPr>
        <p:spPr>
          <a:xfrm>
            <a:off x="9326880" y="5276088"/>
            <a:ext cx="86868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5276088"/>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EU</a:t>
            </a:r>
          </a:p>
        </p:txBody>
      </p:sp>
      <p:sp>
        <p:nvSpPr>
          <p:cNvPr id="27" name="Rectangle 26"/>
          <p:cNvSpPr/>
          <p:nvPr/>
        </p:nvSpPr>
        <p:spPr>
          <a:xfrm>
            <a:off x="10195560" y="5276088"/>
            <a:ext cx="128016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95560" y="5276088"/>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6E1E2A"/>
                </a:solidFill>
                <a:latin typeface="Times New Roman"/>
              </a:rPr>
              <a:t>UNMATCHED</a:t>
            </a:r>
          </a:p>
        </p:txBody>
      </p:sp>
      <p:sp>
        <p:nvSpPr>
          <p:cNvPr id="29" name="Rectangle 28"/>
          <p:cNvSpPr/>
          <p:nvPr/>
        </p:nvSpPr>
        <p:spPr>
          <a:xfrm>
            <a:off x="7863840" y="5614416"/>
            <a:ext cx="146304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5614416"/>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Talent Residual</a:t>
            </a:r>
          </a:p>
        </p:txBody>
      </p:sp>
      <p:sp>
        <p:nvSpPr>
          <p:cNvPr id="31" name="Rectangle 30"/>
          <p:cNvSpPr/>
          <p:nvPr/>
        </p:nvSpPr>
        <p:spPr>
          <a:xfrm>
            <a:off x="9326880" y="5614416"/>
            <a:ext cx="86868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5614416"/>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APAC</a:t>
            </a:r>
          </a:p>
        </p:txBody>
      </p:sp>
      <p:sp>
        <p:nvSpPr>
          <p:cNvPr id="33" name="Rectangle 32"/>
          <p:cNvSpPr/>
          <p:nvPr/>
        </p:nvSpPr>
        <p:spPr>
          <a:xfrm>
            <a:off x="10195560" y="5614416"/>
            <a:ext cx="128016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95560" y="5614416"/>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6E1E2A"/>
                </a:solidFill>
                <a:latin typeface="Times New Roman"/>
              </a:rPr>
              <a:t>DISPUTED</a:t>
            </a:r>
          </a:p>
        </p:txBody>
      </p:sp>
      <p:sp>
        <p:nvSpPr>
          <p:cNvPr id="35" name="Rectangle 34"/>
          <p:cNvSpPr/>
          <p:nvPr/>
        </p:nvSpPr>
        <p:spPr>
          <a:xfrm>
            <a:off x="7863840" y="5952744"/>
            <a:ext cx="146304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5952744"/>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Sync - Feature</a:t>
            </a:r>
          </a:p>
        </p:txBody>
      </p:sp>
      <p:sp>
        <p:nvSpPr>
          <p:cNvPr id="37" name="Rectangle 36"/>
          <p:cNvSpPr/>
          <p:nvPr/>
        </p:nvSpPr>
        <p:spPr>
          <a:xfrm>
            <a:off x="9326880" y="5952744"/>
            <a:ext cx="86868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0" y="5952744"/>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US</a:t>
            </a:r>
          </a:p>
        </p:txBody>
      </p:sp>
      <p:sp>
        <p:nvSpPr>
          <p:cNvPr id="39" name="Rectangle 38"/>
          <p:cNvSpPr/>
          <p:nvPr/>
        </p:nvSpPr>
        <p:spPr>
          <a:xfrm>
            <a:off x="10195560" y="5952744"/>
            <a:ext cx="128016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5952744"/>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F5D3A"/>
                </a:solidFill>
                <a:latin typeface="Times New Roman"/>
              </a:rPr>
              <a:t>RECONCILED</a:t>
            </a:r>
          </a:p>
        </p:txBody>
      </p:sp>
      <p:sp>
        <p:nvSpPr>
          <p:cNvPr id="41"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2</a:t>
            </a:r>
          </a:p>
        </p:txBody>
      </p:sp>
    </p:spTree>
    <p:extLst>
      <p:ext uri="{BB962C8B-B14F-4D97-AF65-F5344CB8AC3E}">
        <p14:creationId xmlns:p14="http://schemas.microsoft.com/office/powerpoint/2010/main" val="336221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8672FC-900B-47E9-91DB-DB087B7A8C48}"/>
              </a:ext>
            </a:extLst>
          </p:cNvPr>
          <p:cNvSpPr txBox="1"/>
          <p:nvPr/>
        </p:nvSpPr>
        <p:spPr>
          <a:xfrm>
            <a:off x="548640" y="411480"/>
            <a:ext cx="11091672"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TECHNOLOGY, INTRODUCED</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A blockchain is a shared record that parties can trust without trusting each other first.</a:t>
            </a:r>
          </a:p>
        </p:txBody>
      </p:sp>
      <p:sp>
        <p:nvSpPr>
          <p:cNvPr id="6" name="Rectangle 5"/>
          <p:cNvSpPr/>
          <p:nvPr/>
        </p:nvSpPr>
        <p:spPr>
          <a:xfrm>
            <a:off x="548640" y="2057400"/>
            <a:ext cx="3566160" cy="39319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48840"/>
            <a:ext cx="3200400" cy="32004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1  BLOCKS</a:t>
            </a:r>
          </a:p>
        </p:txBody>
      </p:sp>
      <p:sp>
        <p:nvSpPr>
          <p:cNvPr id="8" name="TextBox 7"/>
          <p:cNvSpPr txBox="1"/>
          <p:nvPr/>
        </p:nvSpPr>
        <p:spPr>
          <a:xfrm>
            <a:off x="731520" y="4754880"/>
            <a:ext cx="320040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Each payment record is a block, chained to the one before it. Changing an old block breaks the chain, so tampering shows.</a:t>
            </a:r>
          </a:p>
        </p:txBody>
      </p:sp>
      <p:sp>
        <p:nvSpPr>
          <p:cNvPr id="9" name="Rectangle 8"/>
          <p:cNvSpPr/>
          <p:nvPr/>
        </p:nvSpPr>
        <p:spPr>
          <a:xfrm>
            <a:off x="4311396" y="2057400"/>
            <a:ext cx="3566160" cy="39319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4276" y="2148840"/>
            <a:ext cx="3200400" cy="32004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2  DISTRIBUTED COPIES</a:t>
            </a:r>
          </a:p>
        </p:txBody>
      </p:sp>
      <p:sp>
        <p:nvSpPr>
          <p:cNvPr id="11" name="TextBox 10"/>
          <p:cNvSpPr txBox="1"/>
          <p:nvPr/>
        </p:nvSpPr>
        <p:spPr>
          <a:xfrm>
            <a:off x="4494276" y="4754880"/>
            <a:ext cx="320040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Talent, rights holders and Apple TV+ each hold a copy. No single administrator controls the record.</a:t>
            </a:r>
          </a:p>
        </p:txBody>
      </p:sp>
      <p:sp>
        <p:nvSpPr>
          <p:cNvPr id="12" name="Rectangle 11"/>
          <p:cNvSpPr/>
          <p:nvPr/>
        </p:nvSpPr>
        <p:spPr>
          <a:xfrm>
            <a:off x="8074152" y="2057400"/>
            <a:ext cx="3566160" cy="39319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148840"/>
            <a:ext cx="3200400" cy="32004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3  SMART CONTRACT</a:t>
            </a:r>
          </a:p>
        </p:txBody>
      </p:sp>
      <p:sp>
        <p:nvSpPr>
          <p:cNvPr id="14" name="TextBox 13"/>
          <p:cNvSpPr txBox="1"/>
          <p:nvPr/>
        </p:nvSpPr>
        <p:spPr>
          <a:xfrm>
            <a:off x="8257031" y="4754880"/>
            <a:ext cx="320040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Rules written as code: when a rights window opens, the royalty calculation and payment start automatically.</a:t>
            </a:r>
          </a:p>
        </p:txBody>
      </p:sp>
      <p:sp>
        <p:nvSpPr>
          <p:cNvPr id="15" name="Rectangle 14"/>
          <p:cNvSpPr/>
          <p:nvPr/>
        </p:nvSpPr>
        <p:spPr>
          <a:xfrm>
            <a:off x="777240" y="2926080"/>
            <a:ext cx="868680" cy="8686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971800"/>
            <a:ext cx="86868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Block 1</a:t>
            </a:r>
          </a:p>
        </p:txBody>
      </p:sp>
      <p:sp>
        <p:nvSpPr>
          <p:cNvPr id="17" name="TextBox 16"/>
          <p:cNvSpPr txBox="1"/>
          <p:nvPr/>
        </p:nvSpPr>
        <p:spPr>
          <a:xfrm>
            <a:off x="777240" y="3291840"/>
            <a:ext cx="868680" cy="457200"/>
          </a:xfrm>
          <a:prstGeom prst="rect">
            <a:avLst/>
          </a:prstGeom>
          <a:noFill/>
        </p:spPr>
        <p:txBody>
          <a:bodyPr wrap="square" lIns="45720" rIns="45720" tIns="27432" bIns="27432" anchor="t">
            <a:spAutoFit/>
          </a:bodyPr>
          <a:lstStyle/>
          <a:p>
            <a:pPr algn="ctr">
              <a:lnSpc>
                <a:spcPct val="105000"/>
              </a:lnSpc>
              <a:spcAft>
                <a:spcPts val="0"/>
              </a:spcAft>
            </a:pPr>
            <a:r>
              <a:rPr sz="1000" b="0" i="0">
                <a:solidFill>
                  <a:srgbClr val="7A7060"/>
                </a:solidFill>
                <a:latin typeface="Times New Roman"/>
              </a:rPr>
              <a:t>Payment</a:t>
            </a:r>
          </a:p>
          <a:p>
            <a:pPr algn="ctr">
              <a:lnSpc>
                <a:spcPct val="105000"/>
              </a:lnSpc>
              <a:spcAft>
                <a:spcPts val="0"/>
              </a:spcAft>
            </a:pPr>
            <a:r>
              <a:rPr sz="1000" b="0" i="0">
                <a:solidFill>
                  <a:srgbClr val="7A7060"/>
                </a:solidFill>
                <a:latin typeface="Times New Roman"/>
              </a:rPr>
              <a:t>record</a:t>
            </a:r>
          </a:p>
        </p:txBody>
      </p:sp>
      <p:sp>
        <p:nvSpPr>
          <p:cNvPr id="18" name="TextBox 17"/>
          <p:cNvSpPr txBox="1"/>
          <p:nvPr/>
        </p:nvSpPr>
        <p:spPr>
          <a:xfrm>
            <a:off x="1627632" y="3108960"/>
            <a:ext cx="274320" cy="365760"/>
          </a:xfrm>
          <a:prstGeom prst="rect">
            <a:avLst/>
          </a:prstGeom>
          <a:noFill/>
        </p:spPr>
        <p:txBody>
          <a:bodyPr wrap="square" lIns="45720" rIns="45720" tIns="27432" bIns="27432" anchor="t">
            <a:spAutoFit/>
          </a:bodyPr>
          <a:lstStyle/>
          <a:p>
            <a:pPr algn="ctr">
              <a:lnSpc>
                <a:spcPct val="105000"/>
              </a:lnSpc>
              <a:spcAft>
                <a:spcPts val="0"/>
              </a:spcAft>
            </a:pPr>
            <a:r>
              <a:rPr sz="1800" b="1" i="0">
                <a:solidFill>
                  <a:srgbClr val="B38A3C"/>
                </a:solidFill>
                <a:latin typeface="Times New Roman"/>
              </a:rPr>
              <a:t>→</a:t>
            </a:r>
          </a:p>
        </p:txBody>
      </p:sp>
      <p:sp>
        <p:nvSpPr>
          <p:cNvPr id="19" name="Rectangle 18"/>
          <p:cNvSpPr/>
          <p:nvPr/>
        </p:nvSpPr>
        <p:spPr>
          <a:xfrm>
            <a:off x="1874519" y="2926080"/>
            <a:ext cx="868680" cy="8686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74519" y="2971800"/>
            <a:ext cx="86868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Block 2</a:t>
            </a:r>
          </a:p>
        </p:txBody>
      </p:sp>
      <p:sp>
        <p:nvSpPr>
          <p:cNvPr id="21" name="TextBox 20"/>
          <p:cNvSpPr txBox="1"/>
          <p:nvPr/>
        </p:nvSpPr>
        <p:spPr>
          <a:xfrm>
            <a:off x="1874519" y="3291840"/>
            <a:ext cx="868680" cy="457200"/>
          </a:xfrm>
          <a:prstGeom prst="rect">
            <a:avLst/>
          </a:prstGeom>
          <a:noFill/>
        </p:spPr>
        <p:txBody>
          <a:bodyPr wrap="square" lIns="45720" rIns="45720" tIns="27432" bIns="27432" anchor="t">
            <a:spAutoFit/>
          </a:bodyPr>
          <a:lstStyle/>
          <a:p>
            <a:pPr algn="ctr">
              <a:lnSpc>
                <a:spcPct val="105000"/>
              </a:lnSpc>
              <a:spcAft>
                <a:spcPts val="0"/>
              </a:spcAft>
            </a:pPr>
            <a:r>
              <a:rPr sz="1000" b="0" i="0">
                <a:solidFill>
                  <a:srgbClr val="7A7060"/>
                </a:solidFill>
                <a:latin typeface="Times New Roman"/>
              </a:rPr>
              <a:t>Payment</a:t>
            </a:r>
          </a:p>
          <a:p>
            <a:pPr algn="ctr">
              <a:lnSpc>
                <a:spcPct val="105000"/>
              </a:lnSpc>
              <a:spcAft>
                <a:spcPts val="0"/>
              </a:spcAft>
            </a:pPr>
            <a:r>
              <a:rPr sz="1000" b="0" i="0">
                <a:solidFill>
                  <a:srgbClr val="7A7060"/>
                </a:solidFill>
                <a:latin typeface="Times New Roman"/>
              </a:rPr>
              <a:t>record</a:t>
            </a:r>
          </a:p>
        </p:txBody>
      </p:sp>
      <p:sp>
        <p:nvSpPr>
          <p:cNvPr id="22" name="TextBox 21"/>
          <p:cNvSpPr txBox="1"/>
          <p:nvPr/>
        </p:nvSpPr>
        <p:spPr>
          <a:xfrm>
            <a:off x="2724912" y="3108960"/>
            <a:ext cx="274320" cy="365760"/>
          </a:xfrm>
          <a:prstGeom prst="rect">
            <a:avLst/>
          </a:prstGeom>
          <a:noFill/>
        </p:spPr>
        <p:txBody>
          <a:bodyPr wrap="square" lIns="45720" rIns="45720" tIns="27432" bIns="27432" anchor="t">
            <a:spAutoFit/>
          </a:bodyPr>
          <a:lstStyle/>
          <a:p>
            <a:pPr algn="ctr">
              <a:lnSpc>
                <a:spcPct val="105000"/>
              </a:lnSpc>
              <a:spcAft>
                <a:spcPts val="0"/>
              </a:spcAft>
            </a:pPr>
            <a:r>
              <a:rPr sz="1800" b="1" i="0">
                <a:solidFill>
                  <a:srgbClr val="B38A3C"/>
                </a:solidFill>
                <a:latin typeface="Times New Roman"/>
              </a:rPr>
              <a:t>→</a:t>
            </a:r>
          </a:p>
        </p:txBody>
      </p:sp>
      <p:sp>
        <p:nvSpPr>
          <p:cNvPr id="23" name="Rectangle 22"/>
          <p:cNvSpPr/>
          <p:nvPr/>
        </p:nvSpPr>
        <p:spPr>
          <a:xfrm>
            <a:off x="2971800" y="2926080"/>
            <a:ext cx="868680" cy="8686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2971800"/>
            <a:ext cx="86868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Block 3</a:t>
            </a:r>
          </a:p>
        </p:txBody>
      </p:sp>
      <p:sp>
        <p:nvSpPr>
          <p:cNvPr id="25" name="TextBox 24"/>
          <p:cNvSpPr txBox="1"/>
          <p:nvPr/>
        </p:nvSpPr>
        <p:spPr>
          <a:xfrm>
            <a:off x="2971800" y="3291840"/>
            <a:ext cx="868680" cy="457200"/>
          </a:xfrm>
          <a:prstGeom prst="rect">
            <a:avLst/>
          </a:prstGeom>
          <a:noFill/>
        </p:spPr>
        <p:txBody>
          <a:bodyPr wrap="square" lIns="45720" rIns="45720" tIns="27432" bIns="27432" anchor="t">
            <a:spAutoFit/>
          </a:bodyPr>
          <a:lstStyle/>
          <a:p>
            <a:pPr algn="ctr">
              <a:lnSpc>
                <a:spcPct val="105000"/>
              </a:lnSpc>
              <a:spcAft>
                <a:spcPts val="0"/>
              </a:spcAft>
            </a:pPr>
            <a:r>
              <a:rPr sz="1000" b="0" i="0">
                <a:solidFill>
                  <a:srgbClr val="7A7060"/>
                </a:solidFill>
                <a:latin typeface="Times New Roman"/>
              </a:rPr>
              <a:t>Payment</a:t>
            </a:r>
          </a:p>
          <a:p>
            <a:pPr algn="ctr">
              <a:lnSpc>
                <a:spcPct val="105000"/>
              </a:lnSpc>
              <a:spcAft>
                <a:spcPts val="0"/>
              </a:spcAft>
            </a:pPr>
            <a:r>
              <a:rPr sz="1000" b="0" i="0">
                <a:solidFill>
                  <a:srgbClr val="7A7060"/>
                </a:solidFill>
                <a:latin typeface="Times New Roman"/>
              </a:rPr>
              <a:t>record</a:t>
            </a:r>
          </a:p>
        </p:txBody>
      </p:sp>
      <p:sp>
        <p:nvSpPr>
          <p:cNvPr id="26" name="TextBox 25"/>
          <p:cNvSpPr txBox="1"/>
          <p:nvPr/>
        </p:nvSpPr>
        <p:spPr>
          <a:xfrm>
            <a:off x="777240" y="3886200"/>
            <a:ext cx="3108960" cy="320040"/>
          </a:xfrm>
          <a:prstGeom prst="rect">
            <a:avLst/>
          </a:prstGeom>
          <a:noFill/>
        </p:spPr>
        <p:txBody>
          <a:bodyPr wrap="square" lIns="45720" rIns="45720" tIns="27432" bIns="27432" anchor="t">
            <a:spAutoFit/>
          </a:bodyPr>
          <a:lstStyle/>
          <a:p>
            <a:pPr algn="l">
              <a:lnSpc>
                <a:spcPct val="105000"/>
              </a:lnSpc>
              <a:spcAft>
                <a:spcPts val="0"/>
              </a:spcAft>
            </a:pPr>
            <a:r>
              <a:rPr sz="1100" b="0" i="1">
                <a:solidFill>
                  <a:srgbClr val="7A7060"/>
                </a:solidFill>
                <a:latin typeface="Times New Roman"/>
              </a:rPr>
              <a:t>each block carries the previous block's fingerprint</a:t>
            </a:r>
          </a:p>
        </p:txBody>
      </p:sp>
      <p:cxnSp>
        <p:nvCxnSpPr>
          <p:cNvPr id="27" name="Connector 26"/>
          <p:cNvCxnSpPr/>
          <p:nvPr/>
        </p:nvCxnSpPr>
        <p:spPr>
          <a:xfrm flipV="1">
            <a:off x="6094476" y="2926079"/>
            <a:ext cx="0" cy="777241"/>
          </a:xfrm>
          <a:prstGeom prst="line">
            <a:avLst/>
          </a:prstGeom>
          <a:ln w="19050">
            <a:solidFill>
              <a:srgbClr val="B38A3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4476" y="3703320"/>
            <a:ext cx="831488" cy="388619"/>
          </a:xfrm>
          <a:prstGeom prst="line">
            <a:avLst/>
          </a:prstGeom>
          <a:ln w="19050">
            <a:solidFill>
              <a:srgbClr val="B38A3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5262987" y="3703320"/>
            <a:ext cx="831489" cy="388619"/>
          </a:xfrm>
          <a:prstGeom prst="line">
            <a:avLst/>
          </a:prstGeom>
          <a:ln w="19050">
            <a:solidFill>
              <a:srgbClr val="B38A3C"/>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792724" y="2624327"/>
            <a:ext cx="603504" cy="6035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92724" y="2624327"/>
            <a:ext cx="603504" cy="603504"/>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FFFFFF"/>
                </a:solidFill>
                <a:latin typeface="Times New Roman"/>
              </a:rPr>
              <a:t>copy</a:t>
            </a:r>
          </a:p>
        </p:txBody>
      </p:sp>
      <p:sp>
        <p:nvSpPr>
          <p:cNvPr id="32" name="TextBox 31"/>
          <p:cNvSpPr txBox="1"/>
          <p:nvPr/>
        </p:nvSpPr>
        <p:spPr>
          <a:xfrm>
            <a:off x="6460236" y="2788920"/>
            <a:ext cx="91440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A2218"/>
                </a:solidFill>
                <a:latin typeface="Times New Roman"/>
              </a:rPr>
              <a:t>Talent</a:t>
            </a:r>
          </a:p>
        </p:txBody>
      </p:sp>
      <p:sp>
        <p:nvSpPr>
          <p:cNvPr id="33" name="Oval 32"/>
          <p:cNvSpPr/>
          <p:nvPr/>
        </p:nvSpPr>
        <p:spPr>
          <a:xfrm>
            <a:off x="6624212" y="3790187"/>
            <a:ext cx="603504" cy="6035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4212" y="3790187"/>
            <a:ext cx="603504" cy="603504"/>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FFFFFF"/>
                </a:solidFill>
                <a:latin typeface="Times New Roman"/>
              </a:rPr>
              <a:t>copy</a:t>
            </a:r>
          </a:p>
        </p:txBody>
      </p:sp>
      <p:sp>
        <p:nvSpPr>
          <p:cNvPr id="35" name="TextBox 34"/>
          <p:cNvSpPr txBox="1"/>
          <p:nvPr/>
        </p:nvSpPr>
        <p:spPr>
          <a:xfrm>
            <a:off x="6285884" y="4393692"/>
            <a:ext cx="128016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Rights holders</a:t>
            </a:r>
          </a:p>
        </p:txBody>
      </p:sp>
      <p:sp>
        <p:nvSpPr>
          <p:cNvPr id="36" name="Oval 35"/>
          <p:cNvSpPr/>
          <p:nvPr/>
        </p:nvSpPr>
        <p:spPr>
          <a:xfrm>
            <a:off x="4961235" y="3790187"/>
            <a:ext cx="603504" cy="603504"/>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61235" y="3790187"/>
            <a:ext cx="603504" cy="603504"/>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FFFFFF"/>
                </a:solidFill>
                <a:latin typeface="Times New Roman"/>
              </a:rPr>
              <a:t>copy</a:t>
            </a:r>
          </a:p>
        </p:txBody>
      </p:sp>
      <p:sp>
        <p:nvSpPr>
          <p:cNvPr id="38" name="TextBox 37"/>
          <p:cNvSpPr txBox="1"/>
          <p:nvPr/>
        </p:nvSpPr>
        <p:spPr>
          <a:xfrm>
            <a:off x="4622907" y="4393692"/>
            <a:ext cx="128016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Apple TV+</a:t>
            </a:r>
          </a:p>
        </p:txBody>
      </p:sp>
      <p:sp>
        <p:nvSpPr>
          <p:cNvPr id="39" name="Oval 38"/>
          <p:cNvSpPr/>
          <p:nvPr/>
        </p:nvSpPr>
        <p:spPr>
          <a:xfrm>
            <a:off x="5820156" y="3429000"/>
            <a:ext cx="548640" cy="548640"/>
          </a:xfrm>
          <a:prstGeom prst="ellipse">
            <a:avLst/>
          </a:prstGeom>
          <a:solidFill>
            <a:srgbClr val="F3ECDC"/>
          </a:solidFill>
          <a:ln w="19050">
            <a:solidFill>
              <a:srgbClr val="B38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20156" y="3429000"/>
            <a:ext cx="548640" cy="548640"/>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2A2218"/>
                </a:solidFill>
                <a:latin typeface="Times New Roman"/>
              </a:rPr>
              <a:t>same</a:t>
            </a:r>
          </a:p>
        </p:txBody>
      </p:sp>
      <p:sp>
        <p:nvSpPr>
          <p:cNvPr id="41" name="Rectangle 40"/>
          <p:cNvSpPr/>
          <p:nvPr/>
        </p:nvSpPr>
        <p:spPr>
          <a:xfrm>
            <a:off x="8394192" y="2697480"/>
            <a:ext cx="2926080" cy="6400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94192" y="2697480"/>
            <a:ext cx="2926080" cy="640080"/>
          </a:xfrm>
          <a:prstGeom prst="rect">
            <a:avLst/>
          </a:prstGeom>
          <a:noFill/>
        </p:spPr>
        <p:txBody>
          <a:bodyPr wrap="square" lIns="45720" rIns="45720" tIns="27432" bIns="27432" anchor="ctr">
            <a:spAutoFit/>
          </a:bodyPr>
          <a:lstStyle/>
          <a:p>
            <a:pPr algn="ctr">
              <a:lnSpc>
                <a:spcPct val="105000"/>
              </a:lnSpc>
              <a:spcAft>
                <a:spcPts val="0"/>
              </a:spcAft>
            </a:pPr>
            <a:r>
              <a:rPr sz="1400" b="1" i="0">
                <a:solidFill>
                  <a:srgbClr val="6E1E2A"/>
                </a:solidFill>
                <a:latin typeface="Times New Roman"/>
              </a:rPr>
              <a:t>IF </a:t>
            </a:r>
            <a:r>
              <a:rPr sz="1400" b="0" i="0">
                <a:solidFill>
                  <a:srgbClr val="2A2218"/>
                </a:solidFill>
                <a:latin typeface="Times New Roman"/>
              </a:rPr>
              <a:t>EU rights window opens</a:t>
            </a:r>
          </a:p>
        </p:txBody>
      </p:sp>
      <p:sp>
        <p:nvSpPr>
          <p:cNvPr id="43" name="TextBox 42"/>
          <p:cNvSpPr txBox="1"/>
          <p:nvPr/>
        </p:nvSpPr>
        <p:spPr>
          <a:xfrm>
            <a:off x="8394192" y="3337560"/>
            <a:ext cx="2926080" cy="365760"/>
          </a:xfrm>
          <a:prstGeom prst="rect">
            <a:avLst/>
          </a:prstGeom>
          <a:noFill/>
        </p:spPr>
        <p:txBody>
          <a:bodyPr wrap="square" lIns="45720" rIns="45720" tIns="27432" bIns="27432" anchor="ctr">
            <a:spAutoFit/>
          </a:bodyPr>
          <a:lstStyle/>
          <a:p>
            <a:pPr algn="ctr">
              <a:lnSpc>
                <a:spcPct val="105000"/>
              </a:lnSpc>
              <a:spcAft>
                <a:spcPts val="0"/>
              </a:spcAft>
            </a:pPr>
            <a:r>
              <a:rPr sz="2000" b="1" i="0">
                <a:solidFill>
                  <a:srgbClr val="B38A3C"/>
                </a:solidFill>
                <a:latin typeface="Times New Roman"/>
              </a:rPr>
              <a:t>↓</a:t>
            </a:r>
          </a:p>
        </p:txBody>
      </p:sp>
      <p:sp>
        <p:nvSpPr>
          <p:cNvPr id="44" name="Rectangle 43"/>
          <p:cNvSpPr/>
          <p:nvPr/>
        </p:nvSpPr>
        <p:spPr>
          <a:xfrm>
            <a:off x="8394192" y="3703320"/>
            <a:ext cx="2926080" cy="640080"/>
          </a:xfrm>
          <a:prstGeom prst="rect">
            <a:avLst/>
          </a:prstGeom>
          <a:solidFill>
            <a:srgbClr val="E8F0E8"/>
          </a:solidFill>
          <a:ln w="1905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3703320"/>
            <a:ext cx="2926080" cy="640080"/>
          </a:xfrm>
          <a:prstGeom prst="rect">
            <a:avLst/>
          </a:prstGeom>
          <a:noFill/>
        </p:spPr>
        <p:txBody>
          <a:bodyPr wrap="square" lIns="45720" rIns="45720" tIns="27432" bIns="27432" anchor="ctr">
            <a:spAutoFit/>
          </a:bodyPr>
          <a:lstStyle/>
          <a:p>
            <a:pPr algn="ctr">
              <a:lnSpc>
                <a:spcPct val="105000"/>
              </a:lnSpc>
              <a:spcAft>
                <a:spcPts val="0"/>
              </a:spcAft>
            </a:pPr>
            <a:r>
              <a:rPr sz="1400" b="1" i="0">
                <a:solidFill>
                  <a:srgbClr val="2F5D3A"/>
                </a:solidFill>
                <a:latin typeface="Times New Roman"/>
              </a:rPr>
              <a:t>THEN </a:t>
            </a:r>
            <a:r>
              <a:rPr sz="1400" b="0" i="0">
                <a:solidFill>
                  <a:srgbClr val="2A2218"/>
                </a:solidFill>
                <a:latin typeface="Times New Roman"/>
              </a:rPr>
              <a:t>royalty is calculated and paid</a:t>
            </a:r>
          </a:p>
        </p:txBody>
      </p:sp>
      <p:sp>
        <p:nvSpPr>
          <p:cNvPr id="46"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3</a:t>
            </a:r>
          </a:p>
        </p:txBody>
      </p:sp>
      <p:sp>
        <p:nvSpPr>
          <p:cNvPr id="47" name="Definition"/>
          <p:cNvSpPr txBox="1"/>
          <p:nvPr/>
        </p:nvSpPr>
        <p:spPr>
          <a:xfrm>
            <a:off x="548640" y="1517904"/>
            <a:ext cx="11064240" cy="457200"/>
          </a:xfrm>
          <a:prstGeom prst="rect">
            <a:avLst/>
          </a:prstGeom>
          <a:noFill/>
        </p:spPr>
        <p:txBody>
          <a:bodyPr wrap="square" lIns="45720" rIns="45720" tIns="27432" bIns="27432" anchor="t">
            <a:spAutoFit/>
          </a:bodyPr>
          <a:lstStyle/>
          <a:p>
            <a:pPr algn="l">
              <a:lnSpc>
                <a:spcPct val="105000"/>
              </a:lnSpc>
              <a:spcAft>
                <a:spcPts val="0"/>
              </a:spcAft>
            </a:pPr>
            <a:r>
              <a:rPr lang="en-GB" sz="1200" b="1" i="0" dirty="0">
                <a:solidFill>
                  <a:srgbClr val="6E1E2A"/>
                </a:solidFill>
                <a:latin typeface="Times New Roman"/>
              </a:rPr>
              <a:t>Definition: </a:t>
            </a:r>
            <a:r>
              <a:rPr lang="en-GB" sz="1200" b="0" i="1" dirty="0">
                <a:solidFill>
                  <a:srgbClr val="7A7060"/>
                </a:solidFill>
                <a:latin typeface="Times New Roman"/>
              </a:rPr>
              <a:t>a foundational technology: an open, distributed ledger that records transactions between parties in a verifiable and permanent way, and can be programmed to trigger transactions automatically (Iansiti and Lakhani, 2017).</a:t>
            </a:r>
          </a:p>
        </p:txBody>
      </p:sp>
    </p:spTree>
    <p:extLst>
      <p:ext uri="{BB962C8B-B14F-4D97-AF65-F5344CB8AC3E}">
        <p14:creationId xmlns:p14="http://schemas.microsoft.com/office/powerpoint/2010/main" val="216027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FD9806-AFAA-438C-984F-85193CCF69FA}"/>
              </a:ext>
            </a:extLst>
          </p:cNvPr>
          <p:cNvSpPr txBox="1"/>
          <p:nvPr/>
        </p:nvSpPr>
        <p:spPr>
          <a:xfrm>
            <a:off x="1783080" y="424577"/>
            <a:ext cx="8229600"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TECHNOLOGY, APPLIED</a:t>
            </a:r>
          </a:p>
        </p:txBody>
      </p:sp>
      <p:sp>
        <p:nvSpPr>
          <p:cNvPr id="5" name="TextBox 4">
            <a:extLst>
              <a:ext uri="{FF2B5EF4-FFF2-40B4-BE49-F238E27FC236}">
                <a16:creationId xmlns:a16="http://schemas.microsoft.com/office/drawing/2014/main" id="{10ABB3BA-19F6-475F-9948-F2C9FE42F3D3}"/>
              </a:ext>
            </a:extLst>
          </p:cNvPr>
          <p:cNvSpPr txBox="1"/>
          <p:nvPr/>
        </p:nvSpPr>
        <p:spPr>
          <a:xfrm>
            <a:off x="640080" y="1509635"/>
            <a:ext cx="10789920" cy="717953"/>
          </a:xfrm>
          <a:prstGeom prst="rect">
            <a:avLst/>
          </a:prstGeom>
          <a:noFill/>
        </p:spPr>
        <p:txBody>
          <a:bodyPr wrap="square">
            <a:spAutoFit/>
          </a:bodyPr>
          <a:lstStyle/>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The contract doesn't wait to be enforced.</a:t>
            </a:r>
          </a:p>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The trigger is written into the ledger itself.</a:t>
            </a:r>
          </a:p>
        </p:txBody>
      </p:sp>
      <p:sp>
        <p:nvSpPr>
          <p:cNvPr id="6" name="Rectangle 5">
            <a:extLst>
              <a:ext uri="{FF2B5EF4-FFF2-40B4-BE49-F238E27FC236}">
                <a16:creationId xmlns:a16="http://schemas.microsoft.com/office/drawing/2014/main" id="{DAEEDC95-2BD1-4284-A292-3BD2FB136630}"/>
              </a:ext>
            </a:extLst>
          </p:cNvPr>
          <p:cNvSpPr/>
          <p:nvPr/>
        </p:nvSpPr>
        <p:spPr>
          <a:xfrm>
            <a:off x="731520" y="4562475"/>
            <a:ext cx="10607040" cy="19050"/>
          </a:xfrm>
          <a:prstGeom prst="rect">
            <a:avLst/>
          </a:prstGeom>
          <a:solidFill>
            <a:srgbClr val="7A7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EE68F9D-33A7-4CF0-AF09-90883B97D077}"/>
              </a:ext>
            </a:extLst>
          </p:cNvPr>
          <p:cNvSpPr/>
          <p:nvPr/>
        </p:nvSpPr>
        <p:spPr>
          <a:xfrm rot="5400000">
            <a:off x="1554480" y="4108450"/>
            <a:ext cx="914400"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828E9AB3-10EE-4958-91CB-B84A182104B4}"/>
              </a:ext>
            </a:extLst>
          </p:cNvPr>
          <p:cNvSpPr/>
          <p:nvPr/>
        </p:nvSpPr>
        <p:spPr>
          <a:xfrm>
            <a:off x="1810512" y="3090672"/>
            <a:ext cx="402336" cy="402336"/>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D389FA8F-E8A9-4009-A169-432290A4830C}"/>
              </a:ext>
            </a:extLst>
          </p:cNvPr>
          <p:cNvSpPr/>
          <p:nvPr/>
        </p:nvSpPr>
        <p:spPr>
          <a:xfrm>
            <a:off x="1890979" y="3171139"/>
            <a:ext cx="241401" cy="24140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3DDC486-2E50-47EC-816F-9DEEEB374326}"/>
              </a:ext>
            </a:extLst>
          </p:cNvPr>
          <p:cNvSpPr txBox="1"/>
          <p:nvPr/>
        </p:nvSpPr>
        <p:spPr>
          <a:xfrm>
            <a:off x="1005840" y="4663440"/>
            <a:ext cx="2011680" cy="369332"/>
          </a:xfrm>
          <a:prstGeom prst="rect">
            <a:avLst/>
          </a:prstGeom>
          <a:noFill/>
        </p:spPr>
        <p:txBody>
          <a:bodyPr wrap="square">
            <a:spAutoFit/>
          </a:bodyPr>
          <a:lstStyle/>
          <a:p>
            <a:pPr algn="ctr"/>
            <a:r>
              <a:rPr b="0" i="0">
                <a:latin typeface="Times New Roman" panose="02020603050405020304" pitchFamily="18" charset="0"/>
                <a:cs typeface="Times New Roman" panose="02020603050405020304" pitchFamily="18" charset="0"/>
              </a:rPr>
              <a:t>EU window opens</a:t>
            </a:r>
          </a:p>
        </p:txBody>
      </p:sp>
      <p:sp>
        <p:nvSpPr>
          <p:cNvPr id="11" name="TextBox 10">
            <a:extLst>
              <a:ext uri="{FF2B5EF4-FFF2-40B4-BE49-F238E27FC236}">
                <a16:creationId xmlns:a16="http://schemas.microsoft.com/office/drawing/2014/main" id="{2DC41441-2E2D-4147-A7CF-7D4B8EE9DED9}"/>
              </a:ext>
            </a:extLst>
          </p:cNvPr>
          <p:cNvSpPr txBox="1"/>
          <p:nvPr/>
        </p:nvSpPr>
        <p:spPr>
          <a:xfrm>
            <a:off x="1012190" y="2420033"/>
            <a:ext cx="2011680" cy="646331"/>
          </a:xfrm>
          <a:prstGeom prst="rect">
            <a:avLst/>
          </a:prstGeom>
          <a:noFill/>
        </p:spPr>
        <p:txBody>
          <a:bodyPr wrap="square">
            <a:spAutoFit/>
          </a:bodyPr>
          <a:lstStyle/>
          <a:p>
            <a:pPr algn="ctr"/>
            <a:r>
              <a:rPr b="0" i="1" dirty="0">
                <a:latin typeface="Times New Roman" panose="02020603050405020304" pitchFamily="18" charset="0"/>
                <a:cs typeface="Times New Roman" panose="02020603050405020304" pitchFamily="18" charset="0"/>
              </a:rPr>
              <a:t>smart contract</a:t>
            </a:r>
          </a:p>
          <a:p>
            <a:pPr algn="ctr"/>
            <a:r>
              <a:rPr b="0" i="1" dirty="0">
                <a:latin typeface="Times New Roman" panose="02020603050405020304" pitchFamily="18" charset="0"/>
                <a:cs typeface="Times New Roman" panose="02020603050405020304" pitchFamily="18" charset="0"/>
              </a:rPr>
              <a:t>trigger</a:t>
            </a:r>
          </a:p>
        </p:txBody>
      </p:sp>
      <p:sp>
        <p:nvSpPr>
          <p:cNvPr id="12" name="Rectangle 11">
            <a:extLst>
              <a:ext uri="{FF2B5EF4-FFF2-40B4-BE49-F238E27FC236}">
                <a16:creationId xmlns:a16="http://schemas.microsoft.com/office/drawing/2014/main" id="{BA47FF80-00E0-4E3E-A9BE-79CF7D7168CB}"/>
              </a:ext>
            </a:extLst>
          </p:cNvPr>
          <p:cNvSpPr/>
          <p:nvPr/>
        </p:nvSpPr>
        <p:spPr>
          <a:xfrm rot="5400000">
            <a:off x="4663440" y="4108450"/>
            <a:ext cx="914400"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78915AD8-7DEF-44B6-8C47-F8A13849BB7D}"/>
              </a:ext>
            </a:extLst>
          </p:cNvPr>
          <p:cNvSpPr/>
          <p:nvPr/>
        </p:nvSpPr>
        <p:spPr>
          <a:xfrm>
            <a:off x="4919472" y="3090672"/>
            <a:ext cx="402336" cy="402336"/>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C461014C-4BBE-4CC4-A3F0-677926E66762}"/>
              </a:ext>
            </a:extLst>
          </p:cNvPr>
          <p:cNvSpPr/>
          <p:nvPr/>
        </p:nvSpPr>
        <p:spPr>
          <a:xfrm>
            <a:off x="4999939" y="3171139"/>
            <a:ext cx="241401" cy="24140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15301EE-D486-4D1D-A193-456938292098}"/>
              </a:ext>
            </a:extLst>
          </p:cNvPr>
          <p:cNvSpPr txBox="1"/>
          <p:nvPr/>
        </p:nvSpPr>
        <p:spPr>
          <a:xfrm>
            <a:off x="4114800" y="4663440"/>
            <a:ext cx="2011680" cy="646331"/>
          </a:xfrm>
          <a:prstGeom prst="rect">
            <a:avLst/>
          </a:prstGeom>
          <a:noFill/>
        </p:spPr>
        <p:txBody>
          <a:bodyPr wrap="square">
            <a:spAutoFit/>
          </a:bodyPr>
          <a:lstStyle/>
          <a:p>
            <a:pPr algn="ctr"/>
            <a:r>
              <a:rPr b="0" i="0">
                <a:latin typeface="Times New Roman" panose="02020603050405020304" pitchFamily="18" charset="0"/>
                <a:cs typeface="Times New Roman" panose="02020603050405020304" pitchFamily="18" charset="0"/>
              </a:rPr>
              <a:t>APAC window opens</a:t>
            </a:r>
          </a:p>
        </p:txBody>
      </p:sp>
      <p:sp>
        <p:nvSpPr>
          <p:cNvPr id="16" name="TextBox 15">
            <a:extLst>
              <a:ext uri="{FF2B5EF4-FFF2-40B4-BE49-F238E27FC236}">
                <a16:creationId xmlns:a16="http://schemas.microsoft.com/office/drawing/2014/main" id="{2803F04D-FACE-4FDD-9F07-33A1AFCF68F3}"/>
              </a:ext>
            </a:extLst>
          </p:cNvPr>
          <p:cNvSpPr txBox="1"/>
          <p:nvPr/>
        </p:nvSpPr>
        <p:spPr>
          <a:xfrm>
            <a:off x="4114799" y="2386572"/>
            <a:ext cx="2011680" cy="646331"/>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smart contract</a:t>
            </a:r>
          </a:p>
          <a:p>
            <a:pPr algn="ctr"/>
            <a:r>
              <a:rPr b="0" i="1">
                <a:latin typeface="Times New Roman" panose="02020603050405020304" pitchFamily="18" charset="0"/>
                <a:cs typeface="Times New Roman" panose="02020603050405020304" pitchFamily="18" charset="0"/>
              </a:rPr>
              <a:t>trigger</a:t>
            </a:r>
          </a:p>
        </p:txBody>
      </p:sp>
      <p:sp>
        <p:nvSpPr>
          <p:cNvPr id="17" name="Rectangle 16">
            <a:extLst>
              <a:ext uri="{FF2B5EF4-FFF2-40B4-BE49-F238E27FC236}">
                <a16:creationId xmlns:a16="http://schemas.microsoft.com/office/drawing/2014/main" id="{85353D72-252C-4C21-93B9-87CD7E3751DE}"/>
              </a:ext>
            </a:extLst>
          </p:cNvPr>
          <p:cNvSpPr/>
          <p:nvPr/>
        </p:nvSpPr>
        <p:spPr>
          <a:xfrm rot="5400000">
            <a:off x="7955279" y="4108450"/>
            <a:ext cx="914400"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DA84A9A1-066A-4930-847A-51784BBFB1DD}"/>
              </a:ext>
            </a:extLst>
          </p:cNvPr>
          <p:cNvSpPr/>
          <p:nvPr/>
        </p:nvSpPr>
        <p:spPr>
          <a:xfrm>
            <a:off x="8211311" y="3090672"/>
            <a:ext cx="402336" cy="402336"/>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AB2940F4-EDD7-4666-8BE8-AB153AE7DA5E}"/>
              </a:ext>
            </a:extLst>
          </p:cNvPr>
          <p:cNvSpPr/>
          <p:nvPr/>
        </p:nvSpPr>
        <p:spPr>
          <a:xfrm>
            <a:off x="8291779" y="3171139"/>
            <a:ext cx="241401" cy="24140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05542788-40D8-4017-B045-E332EF876EF9}"/>
              </a:ext>
            </a:extLst>
          </p:cNvPr>
          <p:cNvSpPr txBox="1"/>
          <p:nvPr/>
        </p:nvSpPr>
        <p:spPr>
          <a:xfrm>
            <a:off x="7406640" y="4663440"/>
            <a:ext cx="2011680" cy="369332"/>
          </a:xfrm>
          <a:prstGeom prst="rect">
            <a:avLst/>
          </a:prstGeom>
          <a:noFill/>
        </p:spPr>
        <p:txBody>
          <a:bodyPr wrap="square">
            <a:spAutoFit/>
          </a:bodyPr>
          <a:lstStyle/>
          <a:p>
            <a:pPr algn="ctr"/>
            <a:r>
              <a:rPr b="0" i="0">
                <a:latin typeface="Times New Roman" panose="02020603050405020304" pitchFamily="18" charset="0"/>
                <a:cs typeface="Times New Roman" panose="02020603050405020304" pitchFamily="18" charset="0"/>
              </a:rPr>
              <a:t>US window closes</a:t>
            </a:r>
          </a:p>
        </p:txBody>
      </p:sp>
      <p:sp>
        <p:nvSpPr>
          <p:cNvPr id="21" name="TextBox 20">
            <a:extLst>
              <a:ext uri="{FF2B5EF4-FFF2-40B4-BE49-F238E27FC236}">
                <a16:creationId xmlns:a16="http://schemas.microsoft.com/office/drawing/2014/main" id="{50A1B346-E042-450E-942B-035D10405487}"/>
              </a:ext>
            </a:extLst>
          </p:cNvPr>
          <p:cNvSpPr txBox="1"/>
          <p:nvPr/>
        </p:nvSpPr>
        <p:spPr>
          <a:xfrm>
            <a:off x="7400289" y="2434816"/>
            <a:ext cx="2011680" cy="646331"/>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smart contract</a:t>
            </a:r>
          </a:p>
          <a:p>
            <a:pPr algn="ctr"/>
            <a:r>
              <a:rPr b="0" i="1">
                <a:latin typeface="Times New Roman" panose="02020603050405020304" pitchFamily="18" charset="0"/>
                <a:cs typeface="Times New Roman" panose="02020603050405020304" pitchFamily="18" charset="0"/>
              </a:rPr>
              <a:t>trigger</a:t>
            </a:r>
          </a:p>
        </p:txBody>
      </p:sp>
      <p:sp>
        <p:nvSpPr>
          <p:cNvPr id="22" name="TextBox 21"/>
          <p:cNvSpPr txBox="1"/>
          <p:nvPr/>
        </p:nvSpPr>
        <p:spPr>
          <a:xfrm>
            <a:off x="548640" y="5440680"/>
            <a:ext cx="11064240" cy="1280160"/>
          </a:xfrm>
          <a:prstGeom prst="rect">
            <a:avLst/>
          </a:prstGeom>
          <a:noFill/>
        </p:spPr>
        <p:txBody>
          <a:bodyPr wrap="square" lIns="45720" rIns="45720" tIns="27432" bIns="27432" anchor="t">
            <a:spAutoFit/>
          </a:bodyPr>
          <a:lstStyle/>
          <a:p>
            <a:pPr>
              <a:spcAft>
                <a:spcPts val="200"/>
              </a:spcAft>
            </a:pPr>
            <a:r>
              <a:rPr lang="en-GB" sz="1400" b="1" i="0">
                <a:solidFill>
                  <a:srgbClr val="6E1E2A"/>
                </a:solidFill>
                <a:latin typeface="Times New Roman"/>
              </a:rPr>
              <a:t>For Apple TV+</a:t>
            </a:r>
          </a:p>
          <a:p>
            <a:pPr marL="228600" indent="-228600">
              <a:spcAft>
                <a:spcPts val="200"/>
              </a:spcAft>
              <a:buClr>
                <a:srgbClr val="6E1E2A"/>
              </a:buClr>
              <a:buFont typeface="Arial"/>
              <a:buChar char="•"/>
            </a:pPr>
            <a:r>
              <a:rPr lang="en-GB" sz="1400" b="0" i="0">
                <a:solidFill>
                  <a:srgbClr val="2A2218"/>
                </a:solidFill>
                <a:latin typeface="Times New Roman"/>
              </a:rPr>
              <a:t>Each territory's rights window opens and closes on its own date.</a:t>
            </a:r>
          </a:p>
          <a:p>
            <a:pPr marL="228600" indent="-228600">
              <a:spcAft>
                <a:spcPts val="200"/>
              </a:spcAft>
              <a:buClr>
                <a:srgbClr val="6E1E2A"/>
              </a:buClr>
              <a:buFont typeface="Arial"/>
              <a:buChar char="•"/>
            </a:pPr>
            <a:r>
              <a:rPr lang="en-GB" sz="1400" b="0" i="0">
                <a:solidFill>
                  <a:srgbClr val="2A2218"/>
                </a:solidFill>
                <a:latin typeface="Times New Roman"/>
              </a:rPr>
              <a:t>The ledger starts the payment for each one automatically, instead of someone confirming each change by hand across EU, APAC and US operations.</a:t>
            </a:r>
          </a:p>
          <a:p>
            <a:pPr marL="228600" indent="-228600">
              <a:spcAft>
                <a:spcPts val="0"/>
              </a:spcAft>
              <a:buClr>
                <a:srgbClr val="6E1E2A"/>
              </a:buClr>
              <a:buFont typeface="Arial"/>
              <a:buChar char="•"/>
            </a:pPr>
            <a:r>
              <a:rPr lang="en-GB" sz="1200" b="0" i="1">
                <a:solidFill>
                  <a:srgbClr val="7A7060"/>
                </a:solidFill>
                <a:latin typeface="Times New Roman"/>
              </a:rPr>
              <a:t>Transaction cost economics (Williamson, 1979): lower monitoring and enforcement cost.</a:t>
            </a:r>
          </a:p>
        </p:txBody>
      </p:sp>
      <p:sp>
        <p:nvSpPr>
          <p:cNvPr id="23"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4</a:t>
            </a:r>
          </a:p>
        </p:txBody>
      </p:sp>
    </p:spTree>
    <p:extLst>
      <p:ext uri="{BB962C8B-B14F-4D97-AF65-F5344CB8AC3E}">
        <p14:creationId xmlns:p14="http://schemas.microsoft.com/office/powerpoint/2010/main" val="3760125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7A0726-2E62-44CF-BE20-2AEA9946D40A}"/>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BENEFITS &amp; LIMITATIONS</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Three things the technology earns. Three things it still has to overcome.</a:t>
            </a:r>
          </a:p>
        </p:txBody>
      </p:sp>
      <p:sp>
        <p:nvSpPr>
          <p:cNvPr id="6" name="Rectangle 5"/>
          <p:cNvSpPr/>
          <p:nvPr/>
        </p:nvSpPr>
        <p:spPr>
          <a:xfrm>
            <a:off x="548640" y="1691640"/>
            <a:ext cx="5440680" cy="502920"/>
          </a:xfrm>
          <a:prstGeom prst="rect">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5074920" cy="50292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BENEFITS</a:t>
            </a:r>
          </a:p>
        </p:txBody>
      </p:sp>
      <p:sp>
        <p:nvSpPr>
          <p:cNvPr id="8" name="Rectangle 7"/>
          <p:cNvSpPr/>
          <p:nvPr/>
        </p:nvSpPr>
        <p:spPr>
          <a:xfrm>
            <a:off x="548640" y="2286000"/>
            <a:ext cx="5440680" cy="1005840"/>
          </a:xfrm>
          <a:prstGeom prst="rect">
            <a:avLst/>
          </a:prstGeom>
          <a:solidFill>
            <a:srgbClr val="E8F0E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564892"/>
            <a:ext cx="457200" cy="45720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8388" y="2651760"/>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350007"/>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Fewer payment errors and disputes</a:t>
            </a:r>
          </a:p>
        </p:txBody>
      </p:sp>
      <p:sp>
        <p:nvSpPr>
          <p:cNvPr id="12" name="TextBox 11"/>
          <p:cNvSpPr txBox="1"/>
          <p:nvPr/>
        </p:nvSpPr>
        <p:spPr>
          <a:xfrm>
            <a:off x="1325880" y="2651759"/>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Automatic triggers remove manual discretion over when and how royalties are paid.</a:t>
            </a:r>
          </a:p>
        </p:txBody>
      </p:sp>
      <p:sp>
        <p:nvSpPr>
          <p:cNvPr id="13" name="Rectangle 12"/>
          <p:cNvSpPr/>
          <p:nvPr/>
        </p:nvSpPr>
        <p:spPr>
          <a:xfrm>
            <a:off x="548640" y="3364992"/>
            <a:ext cx="5440680" cy="1005840"/>
          </a:xfrm>
          <a:prstGeom prst="rect">
            <a:avLst/>
          </a:prstGeom>
          <a:solidFill>
            <a:srgbClr val="E8F0E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3643884"/>
            <a:ext cx="457200" cy="45720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8388" y="3730752"/>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3429000"/>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One auditable record</a:t>
            </a:r>
          </a:p>
        </p:txBody>
      </p:sp>
      <p:sp>
        <p:nvSpPr>
          <p:cNvPr id="17" name="TextBox 16"/>
          <p:cNvSpPr txBox="1"/>
          <p:nvPr/>
        </p:nvSpPr>
        <p:spPr>
          <a:xfrm>
            <a:off x="1325880" y="3730752"/>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Talent, rights holders and Apple TV+ verify the same entries, so reconciliation shrinks.</a:t>
            </a:r>
          </a:p>
        </p:txBody>
      </p:sp>
      <p:sp>
        <p:nvSpPr>
          <p:cNvPr id="18" name="Rectangle 17"/>
          <p:cNvSpPr/>
          <p:nvPr/>
        </p:nvSpPr>
        <p:spPr>
          <a:xfrm>
            <a:off x="548640" y="4443984"/>
            <a:ext cx="5440680" cy="1005840"/>
          </a:xfrm>
          <a:prstGeom prst="rect">
            <a:avLst/>
          </a:prstGeom>
          <a:solidFill>
            <a:srgbClr val="E8F0E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4722876"/>
            <a:ext cx="457200" cy="45720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8388" y="4809744"/>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4507992"/>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Faster payment, ready to scale</a:t>
            </a:r>
          </a:p>
        </p:txBody>
      </p:sp>
      <p:sp>
        <p:nvSpPr>
          <p:cNvPr id="22" name="TextBox 21"/>
          <p:cNvSpPr txBox="1"/>
          <p:nvPr/>
        </p:nvSpPr>
        <p:spPr>
          <a:xfrm>
            <a:off x="1325880" y="4809744"/>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Payment starts when a rights window opens, so new territories add less manual work.</a:t>
            </a:r>
          </a:p>
        </p:txBody>
      </p:sp>
      <p:sp>
        <p:nvSpPr>
          <p:cNvPr id="23" name="Rectangle 22"/>
          <p:cNvSpPr/>
          <p:nvPr/>
        </p:nvSpPr>
        <p:spPr>
          <a:xfrm>
            <a:off x="6199632" y="1691640"/>
            <a:ext cx="5440680" cy="502920"/>
          </a:xfrm>
          <a:prstGeom prst="rect">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1691640"/>
            <a:ext cx="5074920" cy="50292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LIMITATIONS</a:t>
            </a:r>
          </a:p>
        </p:txBody>
      </p:sp>
      <p:sp>
        <p:nvSpPr>
          <p:cNvPr id="25" name="Rectangle 24"/>
          <p:cNvSpPr/>
          <p:nvPr/>
        </p:nvSpPr>
        <p:spPr>
          <a:xfrm>
            <a:off x="6199632" y="2286000"/>
            <a:ext cx="5440680" cy="1005840"/>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2564892"/>
            <a:ext cx="457200" cy="45720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9380" y="2651760"/>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76872" y="2350007"/>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Legal enforceability</a:t>
            </a:r>
          </a:p>
        </p:txBody>
      </p:sp>
      <p:sp>
        <p:nvSpPr>
          <p:cNvPr id="29" name="TextBox 28"/>
          <p:cNvSpPr txBox="1"/>
          <p:nvPr/>
        </p:nvSpPr>
        <p:spPr>
          <a:xfrm>
            <a:off x="6976872" y="2651759"/>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Code that runs correctly is not automatically binding in every jurisdiction; case law is unsettled.</a:t>
            </a:r>
          </a:p>
        </p:txBody>
      </p:sp>
      <p:sp>
        <p:nvSpPr>
          <p:cNvPr id="30" name="Rectangle 29"/>
          <p:cNvSpPr/>
          <p:nvPr/>
        </p:nvSpPr>
        <p:spPr>
          <a:xfrm>
            <a:off x="6199632" y="3364992"/>
            <a:ext cx="5440680" cy="1005840"/>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82512" y="3643884"/>
            <a:ext cx="457200" cy="45720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69380" y="3730752"/>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76872" y="3429000"/>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Cost and integration</a:t>
            </a:r>
          </a:p>
        </p:txBody>
      </p:sp>
      <p:sp>
        <p:nvSpPr>
          <p:cNvPr id="34" name="TextBox 33"/>
          <p:cNvSpPr txBox="1"/>
          <p:nvPr/>
        </p:nvSpPr>
        <p:spPr>
          <a:xfrm>
            <a:off x="6976872" y="3730752"/>
            <a:ext cx="4526280" cy="685800"/>
          </a:xfrm>
          <a:prstGeom prst="rect">
            <a:avLst/>
          </a:prstGeom>
          <a:noFill/>
        </p:spPr>
        <p:txBody>
          <a:bodyPr wrap="square" lIns="45720" rIns="45720" tIns="27432" bIns="27432" anchor="t">
            <a:spAutoFit/>
          </a:bodyPr>
          <a:lstStyle/>
          <a:p>
            <a:pPr algn="l">
              <a:lnSpc>
                <a:spcPct val="105000"/>
              </a:lnSpc>
              <a:spcAft>
                <a:spcPts val="0"/>
              </a:spcAft>
            </a:pPr>
            <a:r>
              <a:rPr lang="en-GB" sz="1300" b="0" i="0" dirty="0">
                <a:solidFill>
                  <a:srgbClr val="2A2218"/>
                </a:solidFill>
                <a:latin typeface="Times New Roman"/>
              </a:rPr>
              <a:t>Build, run and integration costs; 28% of firms cite uncertain return on investment </a:t>
            </a:r>
            <a:r>
              <a:rPr lang="en-GB" sz="1300" b="0" i="1" dirty="0">
                <a:solidFill>
                  <a:srgbClr val="7A7060"/>
                </a:solidFill>
                <a:latin typeface="Times New Roman"/>
              </a:rPr>
              <a:t>(Deloitte, 2019).</a:t>
            </a:r>
          </a:p>
        </p:txBody>
      </p:sp>
      <p:sp>
        <p:nvSpPr>
          <p:cNvPr id="35" name="Rectangle 34"/>
          <p:cNvSpPr/>
          <p:nvPr/>
        </p:nvSpPr>
        <p:spPr>
          <a:xfrm>
            <a:off x="6199632" y="4443984"/>
            <a:ext cx="5440680" cy="1005840"/>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82512" y="4722876"/>
            <a:ext cx="457200" cy="45720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69380" y="4809744"/>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76872" y="4507992"/>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Skills and coding risk</a:t>
            </a:r>
          </a:p>
        </p:txBody>
      </p:sp>
      <p:sp>
        <p:nvSpPr>
          <p:cNvPr id="39" name="TextBox 38"/>
          <p:cNvSpPr txBox="1"/>
          <p:nvPr/>
        </p:nvSpPr>
        <p:spPr>
          <a:xfrm>
            <a:off x="6976872" y="4809744"/>
            <a:ext cx="4526280" cy="685800"/>
          </a:xfrm>
          <a:prstGeom prst="rect">
            <a:avLst/>
          </a:prstGeom>
          <a:noFill/>
        </p:spPr>
        <p:txBody>
          <a:bodyPr wrap="square" lIns="45720" rIns="45720" tIns="27432" bIns="27432" anchor="t">
            <a:spAutoFit/>
          </a:bodyPr>
          <a:lstStyle/>
          <a:p>
            <a:pPr algn="l">
              <a:lnSpc>
                <a:spcPct val="105000"/>
              </a:lnSpc>
              <a:spcAft>
                <a:spcPts val="0"/>
              </a:spcAft>
            </a:pPr>
            <a:r>
              <a:rPr lang="en-GB" sz="1300" b="0" i="0" dirty="0">
                <a:solidFill>
                  <a:srgbClr val="2A2218"/>
                </a:solidFill>
                <a:latin typeface="Times New Roman"/>
              </a:rPr>
              <a:t>Needs legal and technical skills, or a miscoded term pays the wrong party; 28% of firms cite skills gaps </a:t>
            </a:r>
            <a:r>
              <a:rPr lang="en-GB" sz="1300" b="0" i="1" dirty="0">
                <a:solidFill>
                  <a:srgbClr val="7A7060"/>
                </a:solidFill>
                <a:latin typeface="Times New Roman"/>
              </a:rPr>
              <a:t>(Deloitte, 2019).</a:t>
            </a:r>
          </a:p>
        </p:txBody>
      </p:sp>
      <p:sp>
        <p:nvSpPr>
          <p:cNvPr id="40" name="TextBox 39"/>
          <p:cNvSpPr txBox="1"/>
          <p:nvPr/>
        </p:nvSpPr>
        <p:spPr>
          <a:xfrm>
            <a:off x="548640" y="6355080"/>
            <a:ext cx="11064240" cy="274320"/>
          </a:xfrm>
          <a:prstGeom prst="rect">
            <a:avLst/>
          </a:prstGeom>
          <a:noFill/>
        </p:spPr>
        <p:txBody>
          <a:bodyPr wrap="square" lIns="45720" rIns="45720" tIns="27432" bIns="27432" anchor="t">
            <a:spAutoFit/>
          </a:bodyPr>
          <a:lstStyle/>
          <a:p>
            <a:pPr algn="l">
              <a:lnSpc>
                <a:spcPct val="105000"/>
              </a:lnSpc>
              <a:spcAft>
                <a:spcPts val="0"/>
              </a:spcAft>
            </a:pPr>
            <a:r>
              <a:rPr lang="en-GB" sz="1000" b="0" i="1" dirty="0">
                <a:solidFill>
                  <a:srgbClr val="7A7060"/>
                </a:solidFill>
                <a:latin typeface="Times New Roman"/>
              </a:rPr>
              <a:t>Jensen &amp; Meckling (1976); Werbach &amp; Cornell (2017); Levy (2017); Deloitte (2019); Gartner (2024)</a:t>
            </a:r>
          </a:p>
        </p:txBody>
      </p:sp>
      <p:sp>
        <p:nvSpPr>
          <p:cNvPr id="41"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5</a:t>
            </a:r>
          </a:p>
        </p:txBody>
      </p:sp>
      <p:sp>
        <p:nvSpPr>
          <p:cNvPr id="42" name="Hype strip"/>
          <p:cNvSpPr/>
          <p:nvPr/>
        </p:nvSpPr>
        <p:spPr>
          <a:xfrm>
            <a:off x="548640" y="5596128"/>
            <a:ext cx="11091672" cy="658368"/>
          </a:xfrm>
          <a:prstGeom prst="rect">
            <a:avLst/>
          </a:prstGeom>
          <a:solidFill>
            <a:srgbClr val="FBF7EC"/>
          </a:solidFill>
          <a:ln w="12700">
            <a:solidFill>
              <a:srgbClr val="EAE0C8"/>
            </a:solidFill>
          </a:ln>
        </p:spPr>
        <p:txBody>
          <a:bodyPr rtlCol="0" anchor="ctr"/>
          <a:lstStyle/>
          <a:p>
            <a:pPr algn="ctr"/>
            <a:endParaRPr lang="en-GB"/>
          </a:p>
        </p:txBody>
      </p:sp>
      <p:sp>
        <p:nvSpPr>
          <p:cNvPr id="43" name="Hype curve"/>
          <p:cNvSpPr/>
          <p:nvPr/>
        </p:nvSpPr>
        <p:spPr>
          <a:xfrm>
            <a:off x="713232" y="5660136"/>
            <a:ext cx="1645920" cy="329184"/>
          </a:xfrm>
          <a:custGeom>
            <a:avLst/>
            <a:gdLst/>
            <a:ahLst/>
            <a:cxnLst/>
            <a:rect l="0" t="0" r="r" b="b"/>
            <a:pathLst>
              <a:path w="1800" h="360" fill="none">
                <a:moveTo>
                  <a:pt x="0" y="293"/>
                </a:moveTo>
                <a:lnTo>
                  <a:pt x="22" y="291"/>
                </a:lnTo>
                <a:lnTo>
                  <a:pt x="45" y="288"/>
                </a:lnTo>
                <a:lnTo>
                  <a:pt x="67" y="284"/>
                </a:lnTo>
                <a:lnTo>
                  <a:pt x="90" y="279"/>
                </a:lnTo>
                <a:lnTo>
                  <a:pt x="112" y="270"/>
                </a:lnTo>
                <a:lnTo>
                  <a:pt x="135" y="259"/>
                </a:lnTo>
                <a:lnTo>
                  <a:pt x="157" y="244"/>
                </a:lnTo>
                <a:lnTo>
                  <a:pt x="180" y="225"/>
                </a:lnTo>
                <a:lnTo>
                  <a:pt x="202" y="202"/>
                </a:lnTo>
                <a:lnTo>
                  <a:pt x="225" y="175"/>
                </a:lnTo>
                <a:lnTo>
                  <a:pt x="247" y="145"/>
                </a:lnTo>
                <a:lnTo>
                  <a:pt x="270" y="114"/>
                </a:lnTo>
                <a:lnTo>
                  <a:pt x="292" y="83"/>
                </a:lnTo>
                <a:lnTo>
                  <a:pt x="315" y="54"/>
                </a:lnTo>
                <a:lnTo>
                  <a:pt x="337" y="29"/>
                </a:lnTo>
                <a:lnTo>
                  <a:pt x="360" y="11"/>
                </a:lnTo>
                <a:lnTo>
                  <a:pt x="382" y="1"/>
                </a:lnTo>
                <a:lnTo>
                  <a:pt x="405" y="0"/>
                </a:lnTo>
                <a:lnTo>
                  <a:pt x="427" y="7"/>
                </a:lnTo>
                <a:lnTo>
                  <a:pt x="450" y="23"/>
                </a:lnTo>
                <a:lnTo>
                  <a:pt x="472" y="46"/>
                </a:lnTo>
                <a:lnTo>
                  <a:pt x="495" y="74"/>
                </a:lnTo>
                <a:lnTo>
                  <a:pt x="517" y="104"/>
                </a:lnTo>
                <a:lnTo>
                  <a:pt x="540" y="135"/>
                </a:lnTo>
                <a:lnTo>
                  <a:pt x="562" y="164"/>
                </a:lnTo>
                <a:lnTo>
                  <a:pt x="585" y="191"/>
                </a:lnTo>
                <a:lnTo>
                  <a:pt x="607" y="213"/>
                </a:lnTo>
                <a:lnTo>
                  <a:pt x="630" y="232"/>
                </a:lnTo>
                <a:lnTo>
                  <a:pt x="652" y="246"/>
                </a:lnTo>
                <a:lnTo>
                  <a:pt x="675" y="257"/>
                </a:lnTo>
                <a:lnTo>
                  <a:pt x="697" y="264"/>
                </a:lnTo>
                <a:lnTo>
                  <a:pt x="720" y="268"/>
                </a:lnTo>
                <a:lnTo>
                  <a:pt x="742" y="270"/>
                </a:lnTo>
                <a:lnTo>
                  <a:pt x="765" y="271"/>
                </a:lnTo>
                <a:lnTo>
                  <a:pt x="787" y="270"/>
                </a:lnTo>
                <a:lnTo>
                  <a:pt x="810" y="268"/>
                </a:lnTo>
                <a:lnTo>
                  <a:pt x="832" y="265"/>
                </a:lnTo>
                <a:lnTo>
                  <a:pt x="855" y="261"/>
                </a:lnTo>
                <a:lnTo>
                  <a:pt x="877" y="257"/>
                </a:lnTo>
                <a:lnTo>
                  <a:pt x="900" y="253"/>
                </a:lnTo>
                <a:lnTo>
                  <a:pt x="922" y="248"/>
                </a:lnTo>
                <a:lnTo>
                  <a:pt x="945" y="242"/>
                </a:lnTo>
                <a:lnTo>
                  <a:pt x="967" y="236"/>
                </a:lnTo>
                <a:lnTo>
                  <a:pt x="990" y="229"/>
                </a:lnTo>
                <a:lnTo>
                  <a:pt x="1012" y="222"/>
                </a:lnTo>
                <a:lnTo>
                  <a:pt x="1035" y="214"/>
                </a:lnTo>
                <a:lnTo>
                  <a:pt x="1057" y="206"/>
                </a:lnTo>
                <a:lnTo>
                  <a:pt x="1080" y="198"/>
                </a:lnTo>
                <a:lnTo>
                  <a:pt x="1102" y="189"/>
                </a:lnTo>
                <a:lnTo>
                  <a:pt x="1125" y="180"/>
                </a:lnTo>
                <a:lnTo>
                  <a:pt x="1147" y="171"/>
                </a:lnTo>
                <a:lnTo>
                  <a:pt x="1170" y="162"/>
                </a:lnTo>
                <a:lnTo>
                  <a:pt x="1192" y="152"/>
                </a:lnTo>
                <a:lnTo>
                  <a:pt x="1215" y="143"/>
                </a:lnTo>
                <a:lnTo>
                  <a:pt x="1237" y="134"/>
                </a:lnTo>
                <a:lnTo>
                  <a:pt x="1260" y="125"/>
                </a:lnTo>
                <a:lnTo>
                  <a:pt x="1282" y="117"/>
                </a:lnTo>
                <a:lnTo>
                  <a:pt x="1305" y="109"/>
                </a:lnTo>
                <a:lnTo>
                  <a:pt x="1327" y="101"/>
                </a:lnTo>
                <a:lnTo>
                  <a:pt x="1350" y="94"/>
                </a:lnTo>
                <a:lnTo>
                  <a:pt x="1372" y="87"/>
                </a:lnTo>
                <a:lnTo>
                  <a:pt x="1395" y="81"/>
                </a:lnTo>
                <a:lnTo>
                  <a:pt x="1417" y="76"/>
                </a:lnTo>
                <a:lnTo>
                  <a:pt x="1440" y="70"/>
                </a:lnTo>
                <a:lnTo>
                  <a:pt x="1462" y="66"/>
                </a:lnTo>
                <a:lnTo>
                  <a:pt x="1485" y="61"/>
                </a:lnTo>
                <a:lnTo>
                  <a:pt x="1507" y="57"/>
                </a:lnTo>
                <a:lnTo>
                  <a:pt x="1530" y="54"/>
                </a:lnTo>
                <a:lnTo>
                  <a:pt x="1552" y="51"/>
                </a:lnTo>
                <a:lnTo>
                  <a:pt x="1575" y="48"/>
                </a:lnTo>
                <a:lnTo>
                  <a:pt x="1597" y="46"/>
                </a:lnTo>
                <a:lnTo>
                  <a:pt x="1620" y="44"/>
                </a:lnTo>
                <a:lnTo>
                  <a:pt x="1642" y="42"/>
                </a:lnTo>
                <a:lnTo>
                  <a:pt x="1665" y="40"/>
                </a:lnTo>
                <a:lnTo>
                  <a:pt x="1687" y="38"/>
                </a:lnTo>
                <a:lnTo>
                  <a:pt x="1710" y="37"/>
                </a:lnTo>
                <a:lnTo>
                  <a:pt x="1732" y="36"/>
                </a:lnTo>
                <a:lnTo>
                  <a:pt x="1755" y="35"/>
                </a:lnTo>
                <a:lnTo>
                  <a:pt x="1777" y="34"/>
                </a:lnTo>
                <a:lnTo>
                  <a:pt x="1800" y="33"/>
                </a:lnTo>
              </a:path>
            </a:pathLst>
          </a:custGeom>
          <a:noFill/>
          <a:ln w="22225">
            <a:solidFill>
              <a:srgbClr val="6E1E2A"/>
            </a:solidFill>
          </a:ln>
        </p:spPr>
        <p:txBody>
          <a:bodyPr rtlCol="0" anchor="ctr"/>
          <a:lstStyle/>
          <a:p>
            <a:endParaRPr lang="en-GB"/>
          </a:p>
        </p:txBody>
      </p:sp>
      <p:sp>
        <p:nvSpPr>
          <p:cNvPr id="44" name="Hype marker"/>
          <p:cNvSpPr/>
          <p:nvPr/>
        </p:nvSpPr>
        <p:spPr>
          <a:xfrm>
            <a:off x="1307592" y="5841769"/>
            <a:ext cx="128016" cy="128016"/>
          </a:xfrm>
          <a:prstGeom prst="ellipse">
            <a:avLst/>
          </a:prstGeom>
          <a:solidFill>
            <a:srgbClr val="B38A3C"/>
          </a:solidFill>
          <a:ln w="12700">
            <a:solidFill>
              <a:srgbClr val="FFFFFF"/>
            </a:solidFill>
          </a:ln>
        </p:spPr>
        <p:txBody>
          <a:bodyPr rtlCol="0" anchor="ctr"/>
          <a:lstStyle/>
          <a:p>
            <a:endParaRPr lang="en-GB"/>
          </a:p>
        </p:txBody>
      </p:sp>
      <p:sp>
        <p:nvSpPr>
          <p:cNvPr id="45" name="Hype caption"/>
          <p:cNvSpPr txBox="1"/>
          <p:nvPr/>
        </p:nvSpPr>
        <p:spPr>
          <a:xfrm>
            <a:off x="640080" y="5998464"/>
            <a:ext cx="1828800" cy="237744"/>
          </a:xfrm>
          <a:prstGeom prst="rect">
            <a:avLst/>
          </a:prstGeom>
          <a:noFill/>
        </p:spPr>
        <p:txBody>
          <a:bodyPr wrap="square" lIns="45720" rIns="45720" tIns="27432" bIns="27432" anchor="t">
            <a:spAutoFit/>
          </a:bodyPr>
          <a:lstStyle/>
          <a:p>
            <a:pPr algn="ctr">
              <a:lnSpc>
                <a:spcPct val="105000"/>
              </a:lnSpc>
              <a:spcAft>
                <a:spcPts val="0"/>
              </a:spcAft>
            </a:pPr>
            <a:r>
              <a:rPr lang="en-GB" sz="1000" b="0" i="1" dirty="0">
                <a:solidFill>
                  <a:srgbClr val="7A7060"/>
                </a:solidFill>
                <a:latin typeface="Times New Roman"/>
              </a:rPr>
              <a:t>Gartner Hype Cycle</a:t>
            </a:r>
          </a:p>
        </p:txBody>
      </p:sp>
      <p:sp>
        <p:nvSpPr>
          <p:cNvPr id="46" name="Hype text"/>
          <p:cNvSpPr txBox="1"/>
          <p:nvPr/>
        </p:nvSpPr>
        <p:spPr>
          <a:xfrm>
            <a:off x="2651760" y="5596128"/>
            <a:ext cx="8869680" cy="658368"/>
          </a:xfrm>
          <a:prstGeom prst="rect">
            <a:avLst/>
          </a:prstGeom>
          <a:noFill/>
        </p:spPr>
        <p:txBody>
          <a:bodyPr wrap="square" lIns="45720" rIns="45720" tIns="27432" bIns="27432" anchor="ctr"/>
          <a:lstStyle/>
          <a:p>
            <a:pPr algn="l">
              <a:lnSpc>
                <a:spcPct val="105000"/>
              </a:lnSpc>
              <a:spcAft>
                <a:spcPts val="0"/>
              </a:spcAft>
            </a:pPr>
            <a:r>
              <a:rPr lang="en-GB" sz="1300" b="1" i="0" dirty="0">
                <a:solidFill>
                  <a:srgbClr val="6E1E2A"/>
                </a:solidFill>
                <a:latin typeface="Times New Roman"/>
              </a:rPr>
              <a:t>Blockchain is entering the Trough of Disillusionment (Gartner, 2024). </a:t>
            </a:r>
            <a:r>
              <a:rPr lang="en-GB" sz="1200" b="0" i="0" dirty="0">
                <a:solidFill>
                  <a:srgbClr val="2A2218"/>
                </a:solidFill>
                <a:latin typeface="Times New Roman"/>
              </a:rPr>
              <a:t>Hype has cooled, so prove value in one territory before scaling. Gartner’s 2025 emerging-tech cycle now tracks it as programmable money.</a:t>
            </a:r>
          </a:p>
        </p:txBody>
      </p:sp>
    </p:spTree>
    <p:extLst>
      <p:ext uri="{BB962C8B-B14F-4D97-AF65-F5344CB8AC3E}">
        <p14:creationId xmlns:p14="http://schemas.microsoft.com/office/powerpoint/2010/main" val="3653943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4FF2F3-FC75-4709-8B51-DBD24B1C559A}"/>
              </a:ext>
            </a:extLst>
          </p:cNvPr>
          <p:cNvSpPr txBox="1"/>
          <p:nvPr/>
        </p:nvSpPr>
        <p:spPr>
          <a:xfrm>
            <a:off x="1920240" y="539054"/>
            <a:ext cx="8229600"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ORGANISATIONAL IMPACT</a:t>
            </a:r>
          </a:p>
        </p:txBody>
      </p:sp>
      <p:sp>
        <p:nvSpPr>
          <p:cNvPr id="5" name="TextBox 4">
            <a:extLst>
              <a:ext uri="{FF2B5EF4-FFF2-40B4-BE49-F238E27FC236}">
                <a16:creationId xmlns:a16="http://schemas.microsoft.com/office/drawing/2014/main" id="{96D33EEF-3BBB-4CD7-88A8-388EB5C6CB94}"/>
              </a:ext>
            </a:extLst>
          </p:cNvPr>
          <p:cNvSpPr txBox="1"/>
          <p:nvPr/>
        </p:nvSpPr>
        <p:spPr>
          <a:xfrm>
            <a:off x="548640" y="1325880"/>
            <a:ext cx="10789920" cy="717953"/>
          </a:xfrm>
          <a:prstGeom prst="rect">
            <a:avLst/>
          </a:prstGeom>
          <a:noFill/>
        </p:spPr>
        <p:txBody>
          <a:bodyPr wrap="square">
            <a:spAutoFit/>
          </a:bodyPr>
          <a:lstStyle/>
          <a:p>
            <a:pPr algn="l">
              <a:lnSpc>
                <a:spcPct val="105000"/>
              </a:lnSpc>
            </a:pPr>
            <a:r>
              <a:rPr sz="2000" i="0">
                <a:solidFill>
                  <a:srgbClr val="2A2218"/>
                </a:solidFill>
                <a:latin typeface="Times New Roman" panose="02020603050405020304" pitchFamily="18" charset="0"/>
                <a:cs typeface="Times New Roman" panose="02020603050405020304" pitchFamily="18" charset="0"/>
              </a:rPr>
              <a:t>Three functions keep three versions of the truth.</a:t>
            </a:r>
          </a:p>
          <a:p>
            <a:pPr algn="l">
              <a:lnSpc>
                <a:spcPct val="105000"/>
              </a:lnSpc>
            </a:pPr>
            <a:r>
              <a:rPr sz="2000" i="0">
                <a:solidFill>
                  <a:srgbClr val="2A2218"/>
                </a:solidFill>
                <a:latin typeface="Times New Roman" panose="02020603050405020304" pitchFamily="18" charset="0"/>
                <a:cs typeface="Times New Roman" panose="02020603050405020304" pitchFamily="18" charset="0"/>
              </a:rPr>
              <a:t>This is what happens when they keep one.</a:t>
            </a:r>
          </a:p>
        </p:txBody>
      </p:sp>
      <p:sp>
        <p:nvSpPr>
          <p:cNvPr id="6" name="TextBox 5">
            <a:extLst>
              <a:ext uri="{FF2B5EF4-FFF2-40B4-BE49-F238E27FC236}">
                <a16:creationId xmlns:a16="http://schemas.microsoft.com/office/drawing/2014/main" id="{8C8A79E8-F824-424D-B2DC-2D818E8AABA0}"/>
              </a:ext>
            </a:extLst>
          </p:cNvPr>
          <p:cNvSpPr txBox="1"/>
          <p:nvPr/>
        </p:nvSpPr>
        <p:spPr>
          <a:xfrm>
            <a:off x="640080" y="3566160"/>
            <a:ext cx="1828800" cy="369332"/>
          </a:xfrm>
          <a:prstGeom prst="rect">
            <a:avLst/>
          </a:prstGeom>
          <a:noFill/>
        </p:spPr>
        <p:txBody>
          <a:bodyPr wrap="square">
            <a:spAutoFit/>
          </a:bodyPr>
          <a:lstStyle/>
          <a:p>
            <a:pPr algn="ctr"/>
            <a:r>
              <a:rPr b="1" i="0">
                <a:latin typeface="Times New Roman" panose="02020603050405020304" pitchFamily="18" charset="0"/>
                <a:cs typeface="Times New Roman" panose="02020603050405020304" pitchFamily="18" charset="0"/>
              </a:rPr>
              <a:t>Legal</a:t>
            </a:r>
          </a:p>
        </p:txBody>
      </p:sp>
      <p:sp>
        <p:nvSpPr>
          <p:cNvPr id="7" name="Rectangle 6">
            <a:extLst>
              <a:ext uri="{FF2B5EF4-FFF2-40B4-BE49-F238E27FC236}">
                <a16:creationId xmlns:a16="http://schemas.microsoft.com/office/drawing/2014/main" id="{B9A8EA0C-22E0-4693-A6DD-F87F147D5373}"/>
              </a:ext>
            </a:extLst>
          </p:cNvPr>
          <p:cNvSpPr/>
          <p:nvPr/>
        </p:nvSpPr>
        <p:spPr>
          <a:xfrm>
            <a:off x="685800" y="3977639"/>
            <a:ext cx="1005840" cy="685800"/>
          </a:xfrm>
          <a:prstGeom prst="rect">
            <a:avLst/>
          </a:prstGeom>
          <a:solidFill>
            <a:srgbClr val="EAE0C8"/>
          </a:solid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5173B6A-A093-4A10-AA59-CC1A04522D78}"/>
              </a:ext>
            </a:extLst>
          </p:cNvPr>
          <p:cNvSpPr txBox="1"/>
          <p:nvPr/>
        </p:nvSpPr>
        <p:spPr>
          <a:xfrm>
            <a:off x="64008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before</a:t>
            </a:r>
          </a:p>
        </p:txBody>
      </p:sp>
      <p:sp>
        <p:nvSpPr>
          <p:cNvPr id="9" name="Rectangle 8">
            <a:extLst>
              <a:ext uri="{FF2B5EF4-FFF2-40B4-BE49-F238E27FC236}">
                <a16:creationId xmlns:a16="http://schemas.microsoft.com/office/drawing/2014/main" id="{62E6D4AE-B5A7-4D0D-B8CF-E624DDF1173D}"/>
              </a:ext>
            </a:extLst>
          </p:cNvPr>
          <p:cNvSpPr/>
          <p:nvPr/>
        </p:nvSpPr>
        <p:spPr>
          <a:xfrm>
            <a:off x="1737360" y="4288155"/>
            <a:ext cx="457200" cy="190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8F224DFD-04D8-42CC-87E5-DB1CBA811163}"/>
              </a:ext>
            </a:extLst>
          </p:cNvPr>
          <p:cNvSpPr/>
          <p:nvPr/>
        </p:nvSpPr>
        <p:spPr>
          <a:xfrm>
            <a:off x="2240280" y="3977639"/>
            <a:ext cx="1005840" cy="685800"/>
          </a:xfrm>
          <a:prstGeom prst="rect">
            <a:avLst/>
          </a:prstGeom>
          <a:solidFill>
            <a:srgbClr val="E8F0E8"/>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B491A07-D1D7-418D-99E2-040D26C50A0A}"/>
              </a:ext>
            </a:extLst>
          </p:cNvPr>
          <p:cNvSpPr txBox="1"/>
          <p:nvPr/>
        </p:nvSpPr>
        <p:spPr>
          <a:xfrm>
            <a:off x="219456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after</a:t>
            </a:r>
          </a:p>
        </p:txBody>
      </p:sp>
      <p:sp>
        <p:nvSpPr>
          <p:cNvPr id="12" name="TextBox 11">
            <a:extLst>
              <a:ext uri="{FF2B5EF4-FFF2-40B4-BE49-F238E27FC236}">
                <a16:creationId xmlns:a16="http://schemas.microsoft.com/office/drawing/2014/main" id="{DB596ED0-BA22-47E4-92D5-71ABEDDEECA9}"/>
              </a:ext>
            </a:extLst>
          </p:cNvPr>
          <p:cNvSpPr txBox="1"/>
          <p:nvPr/>
        </p:nvSpPr>
        <p:spPr>
          <a:xfrm>
            <a:off x="4480560" y="3566160"/>
            <a:ext cx="1828800" cy="369332"/>
          </a:xfrm>
          <a:prstGeom prst="rect">
            <a:avLst/>
          </a:prstGeom>
          <a:noFill/>
        </p:spPr>
        <p:txBody>
          <a:bodyPr wrap="square">
            <a:spAutoFit/>
          </a:bodyPr>
          <a:lstStyle/>
          <a:p>
            <a:pPr algn="ctr"/>
            <a:r>
              <a:rPr b="1" i="0">
                <a:latin typeface="Times New Roman" panose="02020603050405020304" pitchFamily="18" charset="0"/>
                <a:cs typeface="Times New Roman" panose="02020603050405020304" pitchFamily="18" charset="0"/>
              </a:rPr>
              <a:t>Rights Ops</a:t>
            </a:r>
          </a:p>
        </p:txBody>
      </p:sp>
      <p:sp>
        <p:nvSpPr>
          <p:cNvPr id="13" name="Rectangle 12">
            <a:extLst>
              <a:ext uri="{FF2B5EF4-FFF2-40B4-BE49-F238E27FC236}">
                <a16:creationId xmlns:a16="http://schemas.microsoft.com/office/drawing/2014/main" id="{8F88F278-7671-4552-BF5B-B6180F13AC47}"/>
              </a:ext>
            </a:extLst>
          </p:cNvPr>
          <p:cNvSpPr/>
          <p:nvPr/>
        </p:nvSpPr>
        <p:spPr>
          <a:xfrm>
            <a:off x="4526280" y="3977639"/>
            <a:ext cx="1005840" cy="685800"/>
          </a:xfrm>
          <a:prstGeom prst="rect">
            <a:avLst/>
          </a:prstGeom>
          <a:solidFill>
            <a:srgbClr val="EAE0C8"/>
          </a:solid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59DFBDD-1583-4535-8690-6C29729E6228}"/>
              </a:ext>
            </a:extLst>
          </p:cNvPr>
          <p:cNvSpPr txBox="1"/>
          <p:nvPr/>
        </p:nvSpPr>
        <p:spPr>
          <a:xfrm>
            <a:off x="448056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before</a:t>
            </a:r>
          </a:p>
        </p:txBody>
      </p:sp>
      <p:sp>
        <p:nvSpPr>
          <p:cNvPr id="15" name="Rectangle 14">
            <a:extLst>
              <a:ext uri="{FF2B5EF4-FFF2-40B4-BE49-F238E27FC236}">
                <a16:creationId xmlns:a16="http://schemas.microsoft.com/office/drawing/2014/main" id="{B089F5F9-7463-435E-9FD2-FF00C0176E29}"/>
              </a:ext>
            </a:extLst>
          </p:cNvPr>
          <p:cNvSpPr/>
          <p:nvPr/>
        </p:nvSpPr>
        <p:spPr>
          <a:xfrm>
            <a:off x="5577840" y="4288155"/>
            <a:ext cx="457200" cy="190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CC41A194-557F-43B0-AB9C-7D5A947F36F4}"/>
              </a:ext>
            </a:extLst>
          </p:cNvPr>
          <p:cNvSpPr/>
          <p:nvPr/>
        </p:nvSpPr>
        <p:spPr>
          <a:xfrm>
            <a:off x="6080760" y="3977639"/>
            <a:ext cx="1005840" cy="685800"/>
          </a:xfrm>
          <a:prstGeom prst="rect">
            <a:avLst/>
          </a:prstGeom>
          <a:solidFill>
            <a:srgbClr val="E8F0E8"/>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65DA3DA4-2977-426E-9F1F-EC40763EA007}"/>
              </a:ext>
            </a:extLst>
          </p:cNvPr>
          <p:cNvSpPr txBox="1"/>
          <p:nvPr/>
        </p:nvSpPr>
        <p:spPr>
          <a:xfrm>
            <a:off x="603504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after</a:t>
            </a:r>
          </a:p>
        </p:txBody>
      </p:sp>
      <p:sp>
        <p:nvSpPr>
          <p:cNvPr id="18" name="TextBox 17">
            <a:extLst>
              <a:ext uri="{FF2B5EF4-FFF2-40B4-BE49-F238E27FC236}">
                <a16:creationId xmlns:a16="http://schemas.microsoft.com/office/drawing/2014/main" id="{95533EFF-A6AE-4227-92E7-8375A589C5BA}"/>
              </a:ext>
            </a:extLst>
          </p:cNvPr>
          <p:cNvSpPr txBox="1"/>
          <p:nvPr/>
        </p:nvSpPr>
        <p:spPr>
          <a:xfrm>
            <a:off x="8321040" y="3566160"/>
            <a:ext cx="1828800" cy="369332"/>
          </a:xfrm>
          <a:prstGeom prst="rect">
            <a:avLst/>
          </a:prstGeom>
          <a:noFill/>
        </p:spPr>
        <p:txBody>
          <a:bodyPr wrap="square">
            <a:spAutoFit/>
          </a:bodyPr>
          <a:lstStyle/>
          <a:p>
            <a:pPr algn="ctr"/>
            <a:r>
              <a:rPr b="1" i="0">
                <a:latin typeface="Times New Roman" panose="02020603050405020304" pitchFamily="18" charset="0"/>
                <a:cs typeface="Times New Roman" panose="02020603050405020304" pitchFamily="18" charset="0"/>
              </a:rPr>
              <a:t>Finance</a:t>
            </a:r>
          </a:p>
        </p:txBody>
      </p:sp>
      <p:sp>
        <p:nvSpPr>
          <p:cNvPr id="19" name="Rectangle 18">
            <a:extLst>
              <a:ext uri="{FF2B5EF4-FFF2-40B4-BE49-F238E27FC236}">
                <a16:creationId xmlns:a16="http://schemas.microsoft.com/office/drawing/2014/main" id="{0EBAB0A0-7E28-4ECB-8E19-1A098005FF56}"/>
              </a:ext>
            </a:extLst>
          </p:cNvPr>
          <p:cNvSpPr/>
          <p:nvPr/>
        </p:nvSpPr>
        <p:spPr>
          <a:xfrm>
            <a:off x="8366759" y="3977639"/>
            <a:ext cx="1005840" cy="685800"/>
          </a:xfrm>
          <a:prstGeom prst="rect">
            <a:avLst/>
          </a:prstGeom>
          <a:solidFill>
            <a:srgbClr val="EAE0C8"/>
          </a:solid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ACA227C-DD50-4619-A062-A0BF35EC3662}"/>
              </a:ext>
            </a:extLst>
          </p:cNvPr>
          <p:cNvSpPr txBox="1"/>
          <p:nvPr/>
        </p:nvSpPr>
        <p:spPr>
          <a:xfrm>
            <a:off x="832104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before</a:t>
            </a:r>
          </a:p>
        </p:txBody>
      </p:sp>
      <p:sp>
        <p:nvSpPr>
          <p:cNvPr id="21" name="Rectangle 20">
            <a:extLst>
              <a:ext uri="{FF2B5EF4-FFF2-40B4-BE49-F238E27FC236}">
                <a16:creationId xmlns:a16="http://schemas.microsoft.com/office/drawing/2014/main" id="{C12CD252-92F1-45D9-BAF4-BF12C2553F30}"/>
              </a:ext>
            </a:extLst>
          </p:cNvPr>
          <p:cNvSpPr/>
          <p:nvPr/>
        </p:nvSpPr>
        <p:spPr>
          <a:xfrm>
            <a:off x="9418319" y="4288155"/>
            <a:ext cx="457200" cy="190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9AB02997-2AE0-474B-B34B-09C07DE4A4CC}"/>
              </a:ext>
            </a:extLst>
          </p:cNvPr>
          <p:cNvSpPr/>
          <p:nvPr/>
        </p:nvSpPr>
        <p:spPr>
          <a:xfrm>
            <a:off x="9921240" y="3977639"/>
            <a:ext cx="1005840" cy="685800"/>
          </a:xfrm>
          <a:prstGeom prst="rect">
            <a:avLst/>
          </a:prstGeom>
          <a:solidFill>
            <a:srgbClr val="E8F0E8"/>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2A5AFD8E-27A4-4F6A-B945-96614C53E63E}"/>
              </a:ext>
            </a:extLst>
          </p:cNvPr>
          <p:cNvSpPr txBox="1"/>
          <p:nvPr/>
        </p:nvSpPr>
        <p:spPr>
          <a:xfrm>
            <a:off x="9875519"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after</a:t>
            </a:r>
          </a:p>
        </p:txBody>
      </p:sp>
      <p:sp>
        <p:nvSpPr>
          <p:cNvPr id="24" name="Rectangle 23">
            <a:extLst>
              <a:ext uri="{FF2B5EF4-FFF2-40B4-BE49-F238E27FC236}">
                <a16:creationId xmlns:a16="http://schemas.microsoft.com/office/drawing/2014/main" id="{4ACCBEFF-ECAF-4B5B-B6DC-01E876F6D51F}"/>
              </a:ext>
            </a:extLst>
          </p:cNvPr>
          <p:cNvSpPr/>
          <p:nvPr/>
        </p:nvSpPr>
        <p:spPr>
          <a:xfrm>
            <a:off x="731520" y="5114289"/>
            <a:ext cx="10424159"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C2B0639E-FA87-4E16-B419-E62B7D4EA089}"/>
              </a:ext>
            </a:extLst>
          </p:cNvPr>
          <p:cNvSpPr txBox="1"/>
          <p:nvPr/>
        </p:nvSpPr>
        <p:spPr>
          <a:xfrm>
            <a:off x="731520" y="5212080"/>
            <a:ext cx="106984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single source of truth</a:t>
            </a:r>
          </a:p>
        </p:txBody>
      </p:sp>
      <p:sp>
        <p:nvSpPr>
          <p:cNvPr id="26" name="Rectangle 25"/>
          <p:cNvSpPr/>
          <p:nvPr/>
        </p:nvSpPr>
        <p:spPr>
          <a:xfrm>
            <a:off x="548640" y="5623560"/>
            <a:ext cx="5394960" cy="9601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650992"/>
            <a:ext cx="5120640" cy="914400"/>
          </a:xfrm>
          <a:prstGeom prst="rect">
            <a:avLst/>
          </a:prstGeom>
          <a:noFill/>
        </p:spPr>
        <p:txBody>
          <a:bodyPr wrap="square" lIns="45720" rIns="45720" tIns="27432" bIns="27432" anchor="ctr">
            <a:spAutoFit/>
          </a:bodyPr>
          <a:lstStyle/>
          <a:p>
            <a:pPr algn="l">
              <a:lnSpc>
                <a:spcPct val="105000"/>
              </a:lnSpc>
              <a:spcAft>
                <a:spcPts val="0"/>
              </a:spcAft>
            </a:pPr>
            <a:r>
              <a:rPr sz="1300" b="1" i="0">
                <a:solidFill>
                  <a:srgbClr val="6E1E2A"/>
                </a:solidFill>
                <a:latin typeface="Times New Roman"/>
              </a:rPr>
              <a:t>STRUCTURE: </a:t>
            </a:r>
            <a:r>
              <a:rPr sz="1300" b="0" i="0">
                <a:solidFill>
                  <a:srgbClr val="2A2218"/>
                </a:solidFill>
                <a:latin typeface="Times New Roman"/>
              </a:rPr>
              <a:t>A small cross-functional rights-ledger team with one named owner replaces three separate reconciliations.</a:t>
            </a:r>
          </a:p>
        </p:txBody>
      </p:sp>
      <p:sp>
        <p:nvSpPr>
          <p:cNvPr id="28" name="Rectangle 27"/>
          <p:cNvSpPr/>
          <p:nvPr/>
        </p:nvSpPr>
        <p:spPr>
          <a:xfrm>
            <a:off x="6245352" y="5623560"/>
            <a:ext cx="5394960" cy="9601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5650992"/>
            <a:ext cx="5120640" cy="914400"/>
          </a:xfrm>
          <a:prstGeom prst="rect">
            <a:avLst/>
          </a:prstGeom>
          <a:noFill/>
        </p:spPr>
        <p:txBody>
          <a:bodyPr wrap="square" lIns="45720" rIns="45720" tIns="27432" bIns="27432" anchor="ctr">
            <a:spAutoFit/>
          </a:bodyPr>
          <a:lstStyle/>
          <a:p>
            <a:pPr algn="l">
              <a:lnSpc>
                <a:spcPct val="105000"/>
              </a:lnSpc>
              <a:spcAft>
                <a:spcPts val="0"/>
              </a:spcAft>
            </a:pPr>
            <a:r>
              <a:rPr sz="1300" b="1" i="0">
                <a:solidFill>
                  <a:srgbClr val="6E1E2A"/>
                </a:solidFill>
                <a:latin typeface="Times New Roman"/>
              </a:rPr>
              <a:t>CULTURE: </a:t>
            </a:r>
            <a:r>
              <a:rPr sz="1300" b="0" i="0">
                <a:solidFill>
                  <a:srgbClr val="2A2218"/>
                </a:solidFill>
                <a:latin typeface="Times New Roman"/>
              </a:rPr>
              <a:t>Shift from checking after the event to verifying as terms are encoded; shared accountability needs training and trust.</a:t>
            </a:r>
          </a:p>
        </p:txBody>
      </p:sp>
      <p:sp>
        <p:nvSpPr>
          <p:cNvPr id="30"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6</a:t>
            </a:r>
          </a:p>
        </p:txBody>
      </p:sp>
      <p:sp>
        <p:nvSpPr>
          <p:cNvPr id="31" name="Value chain card 1"/>
          <p:cNvSpPr/>
          <p:nvPr/>
        </p:nvSpPr>
        <p:spPr>
          <a:xfrm>
            <a:off x="548640" y="2286000"/>
            <a:ext cx="5394960" cy="914400"/>
          </a:xfrm>
          <a:prstGeom prst="rect">
            <a:avLst/>
          </a:prstGeom>
          <a:solidFill>
            <a:srgbClr val="FBF7EC"/>
          </a:solidFill>
          <a:ln w="12700">
            <a:solidFill>
              <a:srgbClr val="EAE0C8"/>
            </a:solidFill>
          </a:ln>
        </p:spPr>
        <p:txBody>
          <a:bodyPr rtlCol="0" anchor="ctr"/>
          <a:lstStyle/>
          <a:p>
            <a:pPr algn="ctr"/>
            <a:endParaRPr lang="en-GB"/>
          </a:p>
        </p:txBody>
      </p:sp>
      <p:sp>
        <p:nvSpPr>
          <p:cNvPr id="32" name="Value chain text 1"/>
          <p:cNvSpPr txBox="1"/>
          <p:nvPr/>
        </p:nvSpPr>
        <p:spPr>
          <a:xfrm>
            <a:off x="685800" y="2304288"/>
            <a:ext cx="5120640" cy="877824"/>
          </a:xfrm>
          <a:prstGeom prst="rect">
            <a:avLst/>
          </a:prstGeom>
          <a:noFill/>
        </p:spPr>
        <p:txBody>
          <a:bodyPr wrap="square" lIns="45720" rIns="45720" tIns="27432" bIns="27432" anchor="ctr"/>
          <a:lstStyle/>
          <a:p>
            <a:pPr algn="l">
              <a:lnSpc>
                <a:spcPct val="105000"/>
              </a:lnSpc>
              <a:spcAft>
                <a:spcPts val="0"/>
              </a:spcAft>
            </a:pPr>
            <a:r>
              <a:rPr lang="en-GB" sz="1300" b="1" i="0" dirty="0">
                <a:solidFill>
                  <a:srgbClr val="6E1E2A"/>
                </a:solidFill>
                <a:latin typeface="Times New Roman"/>
              </a:rPr>
              <a:t>SUPPORT ACTIVITY: Technology development. </a:t>
            </a:r>
            <a:r>
              <a:rPr lang="en-GB" sz="1300" b="0" i="0" dirty="0">
                <a:solidFill>
                  <a:srgbClr val="2A2218"/>
                </a:solidFill>
                <a:latin typeface="Times New Roman"/>
              </a:rPr>
              <a:t>Contract terms become reviewed code that Legal and engineers sign off together, replacing manual spreadsheet checks.</a:t>
            </a:r>
          </a:p>
        </p:txBody>
      </p:sp>
      <p:sp>
        <p:nvSpPr>
          <p:cNvPr id="33" name="Value chain card 2"/>
          <p:cNvSpPr/>
          <p:nvPr/>
        </p:nvSpPr>
        <p:spPr>
          <a:xfrm>
            <a:off x="6245352" y="2286000"/>
            <a:ext cx="5394960" cy="914400"/>
          </a:xfrm>
          <a:prstGeom prst="rect">
            <a:avLst/>
          </a:prstGeom>
          <a:solidFill>
            <a:srgbClr val="FBF7EC"/>
          </a:solidFill>
          <a:ln w="12700">
            <a:solidFill>
              <a:srgbClr val="EAE0C8"/>
            </a:solidFill>
          </a:ln>
        </p:spPr>
        <p:txBody>
          <a:bodyPr rtlCol="0" anchor="ctr"/>
          <a:lstStyle/>
          <a:p>
            <a:pPr algn="ctr"/>
            <a:endParaRPr lang="en-GB"/>
          </a:p>
        </p:txBody>
      </p:sp>
      <p:sp>
        <p:nvSpPr>
          <p:cNvPr id="34" name="Value chain text 2"/>
          <p:cNvSpPr txBox="1"/>
          <p:nvPr/>
        </p:nvSpPr>
        <p:spPr>
          <a:xfrm>
            <a:off x="6382512" y="2304288"/>
            <a:ext cx="5120640" cy="877824"/>
          </a:xfrm>
          <a:prstGeom prst="rect">
            <a:avLst/>
          </a:prstGeom>
          <a:noFill/>
        </p:spPr>
        <p:txBody>
          <a:bodyPr wrap="square" lIns="45720" rIns="45720" tIns="27432" bIns="27432" anchor="ctr"/>
          <a:lstStyle/>
          <a:p>
            <a:pPr algn="l">
              <a:lnSpc>
                <a:spcPct val="105000"/>
              </a:lnSpc>
              <a:spcAft>
                <a:spcPts val="0"/>
              </a:spcAft>
            </a:pPr>
            <a:r>
              <a:rPr lang="en-GB" sz="1300" b="1" i="0" dirty="0">
                <a:solidFill>
                  <a:srgbClr val="6E1E2A"/>
                </a:solidFill>
                <a:latin typeface="Times New Roman"/>
              </a:rPr>
              <a:t>PRIMARY ACTIVITY: Inbound logistics (receiving content rights). </a:t>
            </a:r>
            <a:r>
              <a:rPr lang="en-GB" sz="1300" b="0" i="0" dirty="0">
                <a:solidFill>
                  <a:srgbClr val="2A2218"/>
                </a:solidFill>
                <a:latin typeface="Times New Roman"/>
              </a:rPr>
              <a:t>Rights windows and payment terms are read from one shared record, not re-confirmed by hand for each territory.</a:t>
            </a:r>
          </a:p>
        </p:txBody>
      </p:sp>
      <p:sp>
        <p:nvSpPr>
          <p:cNvPr id="35" name="Value chain source"/>
          <p:cNvSpPr txBox="1"/>
          <p:nvPr/>
        </p:nvSpPr>
        <p:spPr>
          <a:xfrm>
            <a:off x="548640" y="3246120"/>
            <a:ext cx="11064240" cy="246888"/>
          </a:xfrm>
          <a:prstGeom prst="rect">
            <a:avLst/>
          </a:prstGeom>
          <a:noFill/>
        </p:spPr>
        <p:txBody>
          <a:bodyPr wrap="square" lIns="45720" rIns="45720" tIns="27432" bIns="27432" anchor="t">
            <a:spAutoFit/>
          </a:bodyPr>
          <a:lstStyle/>
          <a:p>
            <a:pPr algn="l">
              <a:lnSpc>
                <a:spcPct val="105000"/>
              </a:lnSpc>
              <a:spcAft>
                <a:spcPts val="0"/>
              </a:spcAft>
            </a:pPr>
            <a:r>
              <a:rPr lang="en-GB" sz="1000" b="0" i="1" dirty="0">
                <a:solidFill>
                  <a:srgbClr val="7A7060"/>
                </a:solidFill>
                <a:latin typeface="Times New Roman"/>
              </a:rPr>
              <a:t>Value chain: Porter (1985), Competitive Advantage</a:t>
            </a:r>
          </a:p>
        </p:txBody>
      </p:sp>
    </p:spTree>
    <p:extLst>
      <p:ext uri="{BB962C8B-B14F-4D97-AF65-F5344CB8AC3E}">
        <p14:creationId xmlns:p14="http://schemas.microsoft.com/office/powerpoint/2010/main" val="2390285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B083DF-0B0B-4A69-BD01-10207CDC363B}"/>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STAKEHOLDER RESPONSE</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6E1E2A"/>
                </a:solidFill>
                <a:latin typeface="Times New Roman"/>
              </a:rPr>
              <a:t>Stakeholder group: </a:t>
            </a:r>
            <a:r>
              <a:rPr sz="1800" b="1" i="0">
                <a:solidFill>
                  <a:srgbClr val="2A2218"/>
                </a:solidFill>
                <a:latin typeface="Times New Roman"/>
              </a:rPr>
              <a:t>Legal and rights teams.</a:t>
            </a:r>
          </a:p>
          <a:p>
            <a:pPr algn="l">
              <a:lnSpc>
                <a:spcPct val="105000"/>
              </a:lnSpc>
              <a:spcAft>
                <a:spcPts val="0"/>
              </a:spcAft>
            </a:pPr>
            <a:r>
              <a:rPr sz="1800" b="0" i="0">
                <a:solidFill>
                  <a:srgbClr val="2A2218"/>
                </a:solidFill>
                <a:latin typeface="Times New Roman"/>
              </a:rPr>
              <a:t>They would answer for it if a regulator asked, so their concerns are professional, not resistance to change.</a:t>
            </a:r>
          </a:p>
        </p:txBody>
      </p:sp>
      <p:sp>
        <p:nvSpPr>
          <p:cNvPr id="6" name="Rectangle 5"/>
          <p:cNvSpPr/>
          <p:nvPr/>
        </p:nvSpPr>
        <p:spPr>
          <a:xfrm>
            <a:off x="548640" y="2240280"/>
            <a:ext cx="3566160" cy="4572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3291840" cy="45720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Regulatory uncertainty</a:t>
            </a:r>
          </a:p>
        </p:txBody>
      </p:sp>
      <p:sp>
        <p:nvSpPr>
          <p:cNvPr id="8" name="Rectangle 7"/>
          <p:cNvSpPr/>
          <p:nvPr/>
        </p:nvSpPr>
        <p:spPr>
          <a:xfrm>
            <a:off x="548640" y="2697480"/>
            <a:ext cx="3566160" cy="36576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889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CONCERN</a:t>
            </a:r>
          </a:p>
        </p:txBody>
      </p:sp>
      <p:sp>
        <p:nvSpPr>
          <p:cNvPr id="10" name="TextBox 9"/>
          <p:cNvSpPr txBox="1"/>
          <p:nvPr/>
        </p:nvSpPr>
        <p:spPr>
          <a:xfrm>
            <a:off x="685800" y="3063240"/>
            <a:ext cx="3291840" cy="137160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Which country's law governs a cross-border payment dispute? An immutable ledger can also clash with GDPR rights to erase data.</a:t>
            </a:r>
          </a:p>
        </p:txBody>
      </p:sp>
      <p:sp>
        <p:nvSpPr>
          <p:cNvPr id="11" name="TextBox 10"/>
          <p:cNvSpPr txBox="1"/>
          <p:nvPr/>
        </p:nvSpPr>
        <p:spPr>
          <a:xfrm>
            <a:off x="685800" y="452628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B38A3C"/>
                </a:solidFill>
                <a:latin typeface="Times New Roman"/>
              </a:rPr>
              <a:t>OUR RESPONSE</a:t>
            </a:r>
          </a:p>
        </p:txBody>
      </p:sp>
      <p:sp>
        <p:nvSpPr>
          <p:cNvPr id="12" name="TextBox 11"/>
          <p:cNvSpPr txBox="1"/>
          <p:nvPr/>
        </p:nvSpPr>
        <p:spPr>
          <a:xfrm>
            <a:off x="685800" y="4800600"/>
            <a:ext cx="3291840" cy="14630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Phased rollout, starting in territories with clearer digital-contract rules. Keep personal data off the ledger.</a:t>
            </a:r>
          </a:p>
        </p:txBody>
      </p:sp>
      <p:sp>
        <p:nvSpPr>
          <p:cNvPr id="13" name="Rectangle 12"/>
          <p:cNvSpPr/>
          <p:nvPr/>
        </p:nvSpPr>
        <p:spPr>
          <a:xfrm>
            <a:off x="4311396" y="2240280"/>
            <a:ext cx="3566160" cy="457200"/>
          </a:xfrm>
          <a:prstGeom prst="rect">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8556" y="2240280"/>
            <a:ext cx="3291840" cy="45720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Enforceability</a:t>
            </a:r>
          </a:p>
        </p:txBody>
      </p:sp>
      <p:sp>
        <p:nvSpPr>
          <p:cNvPr id="15" name="Rectangle 14"/>
          <p:cNvSpPr/>
          <p:nvPr/>
        </p:nvSpPr>
        <p:spPr>
          <a:xfrm>
            <a:off x="4311396" y="2697480"/>
            <a:ext cx="3566160" cy="36576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8556" y="27889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CONCERN</a:t>
            </a:r>
          </a:p>
        </p:txBody>
      </p:sp>
      <p:sp>
        <p:nvSpPr>
          <p:cNvPr id="17" name="TextBox 16"/>
          <p:cNvSpPr txBox="1"/>
          <p:nvPr/>
        </p:nvSpPr>
        <p:spPr>
          <a:xfrm>
            <a:off x="4448556" y="3063240"/>
            <a:ext cx="3291840" cy="137160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Correct execution does not make a payment legally binding, and there is little settled case law.</a:t>
            </a:r>
          </a:p>
        </p:txBody>
      </p:sp>
      <p:sp>
        <p:nvSpPr>
          <p:cNvPr id="18" name="TextBox 17"/>
          <p:cNvSpPr txBox="1"/>
          <p:nvPr/>
        </p:nvSpPr>
        <p:spPr>
          <a:xfrm>
            <a:off x="4448556" y="452628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6E1E2A"/>
                </a:solidFill>
                <a:latin typeface="Times New Roman"/>
              </a:rPr>
              <a:t>OUR RESPONSE</a:t>
            </a:r>
          </a:p>
        </p:txBody>
      </p:sp>
      <p:sp>
        <p:nvSpPr>
          <p:cNvPr id="19" name="TextBox 18"/>
          <p:cNvSpPr txBox="1"/>
          <p:nvPr/>
        </p:nvSpPr>
        <p:spPr>
          <a:xfrm>
            <a:off x="4448556" y="4800600"/>
            <a:ext cx="3291840" cy="14630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Standing legal review. The written contract stays the master; the ledger executes it.</a:t>
            </a:r>
          </a:p>
        </p:txBody>
      </p:sp>
      <p:sp>
        <p:nvSpPr>
          <p:cNvPr id="20" name="Rectangle 19"/>
          <p:cNvSpPr/>
          <p:nvPr/>
        </p:nvSpPr>
        <p:spPr>
          <a:xfrm>
            <a:off x="8074152" y="2240280"/>
            <a:ext cx="3566160" cy="457200"/>
          </a:xfrm>
          <a:prstGeom prst="rect">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2" y="2240280"/>
            <a:ext cx="3291840" cy="45720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Integration</a:t>
            </a:r>
          </a:p>
        </p:txBody>
      </p:sp>
      <p:sp>
        <p:nvSpPr>
          <p:cNvPr id="22" name="Rectangle 21"/>
          <p:cNvSpPr/>
          <p:nvPr/>
        </p:nvSpPr>
        <p:spPr>
          <a:xfrm>
            <a:off x="8074152" y="2697480"/>
            <a:ext cx="3566160" cy="36576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27889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CONCERN</a:t>
            </a:r>
          </a:p>
        </p:txBody>
      </p:sp>
      <p:sp>
        <p:nvSpPr>
          <p:cNvPr id="24" name="TextBox 23"/>
          <p:cNvSpPr txBox="1"/>
          <p:nvPr/>
        </p:nvSpPr>
        <p:spPr>
          <a:xfrm>
            <a:off x="8211312" y="3063240"/>
            <a:ext cx="3291840" cy="137160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The ledger must work with existing contract and finance systems, or it adds another version of the truth.</a:t>
            </a:r>
          </a:p>
        </p:txBody>
      </p:sp>
      <p:sp>
        <p:nvSpPr>
          <p:cNvPr id="25" name="TextBox 24"/>
          <p:cNvSpPr txBox="1"/>
          <p:nvPr/>
        </p:nvSpPr>
        <p:spPr>
          <a:xfrm>
            <a:off x="8211312" y="452628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OUR RESPONSE</a:t>
            </a:r>
          </a:p>
        </p:txBody>
      </p:sp>
      <p:sp>
        <p:nvSpPr>
          <p:cNvPr id="26" name="TextBox 25"/>
          <p:cNvSpPr txBox="1"/>
          <p:nvPr/>
        </p:nvSpPr>
        <p:spPr>
          <a:xfrm>
            <a:off x="8211312" y="4800600"/>
            <a:ext cx="3291840" cy="14630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Pilot in one territory first, connect to current systems, and put Legal in the design team.</a:t>
            </a:r>
          </a:p>
        </p:txBody>
      </p:sp>
      <p:sp>
        <p:nvSpPr>
          <p:cNvPr id="27"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7</a:t>
            </a:r>
          </a:p>
        </p:txBody>
      </p:sp>
    </p:spTree>
    <p:extLst>
      <p:ext uri="{BB962C8B-B14F-4D97-AF65-F5344CB8AC3E}">
        <p14:creationId xmlns:p14="http://schemas.microsoft.com/office/powerpoint/2010/main" val="77073305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1672" cy="521207"/>
          </a:xfrm>
          <a:prstGeom prst="rect">
            <a:avLst/>
          </a:prstGeom>
          <a:noFill/>
        </p:spPr>
        <p:txBody>
          <a:bodyPr wrap="square" anchor="t" lIns="45720" rIns="45720" tIns="27432" bIns="27432">
            <a:spAutoFit/>
          </a:bodyPr>
          <a:lstStyle/>
          <a:p>
            <a:pPr algn="ctr"/>
            <a:r>
              <a:rPr sz="2800" b="1" i="0">
                <a:solidFill>
                  <a:srgbClr val="6E1E2A"/>
                </a:solidFill>
                <a:latin typeface="Times New Roman"/>
              </a:rPr>
              <a:t>CHANGE &amp; DIGITAL CONFIDENCE</a:t>
            </a:r>
          </a:p>
        </p:txBody>
      </p:sp>
      <p:sp>
        <p:nvSpPr>
          <p:cNvPr id="3" name="Headline"/>
          <p:cNvSpPr txBox="1"/>
          <p:nvPr/>
        </p:nvSpPr>
        <p:spPr>
          <a:xfrm>
            <a:off x="548640" y="1097280"/>
            <a:ext cx="11064240" cy="548640"/>
          </a:xfrm>
          <a:prstGeom prst="rect">
            <a:avLst/>
          </a:prstGeom>
          <a:noFill/>
        </p:spPr>
        <p:txBody>
          <a:bodyPr wrap="square" anchor="t" lIns="45720" rIns="45720" tIns="27432" bIns="27432">
            <a:spAutoFit/>
          </a:bodyPr>
          <a:lstStyle/>
          <a:p>
            <a:pPr algn="l">
              <a:lnSpc>
                <a:spcPct val="105000"/>
              </a:lnSpc>
              <a:spcAft>
                <a:spcPts val="0"/>
              </a:spcAft>
            </a:pPr>
            <a:r>
              <a:rPr lang="en-GB" sz="1800" b="0" i="0" dirty="0">
                <a:solidFill>
                  <a:srgbClr val="2A2218"/>
                </a:solidFill>
                <a:latin typeface="Times New Roman"/>
              </a:rPr>
              <a:t>Yes, if Legal helps shape the design, a one-territory pilot proves its value, and teams are trained before go-live.</a:t>
            </a:r>
          </a:p>
        </p:txBody>
      </p:sp>
      <p:sp>
        <p:nvSpPr>
          <p:cNvPr id="4" name="TAM header bar"/>
          <p:cNvSpPr/>
          <p:nvPr/>
        </p:nvSpPr>
        <p:spPr>
          <a:xfrm>
            <a:off x="548640" y="1828800"/>
            <a:ext cx="5440680" cy="457200"/>
          </a:xfrm>
          <a:prstGeom prst="rect">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AM header"/>
          <p:cNvSpPr txBox="1"/>
          <p:nvPr/>
        </p:nvSpPr>
        <p:spPr>
          <a:xfrm>
            <a:off x="685800" y="1828800"/>
            <a:ext cx="5120640" cy="457200"/>
          </a:xfrm>
          <a:prstGeom prst="rect">
            <a:avLst/>
          </a:prstGeom>
          <a:noFill/>
        </p:spPr>
        <p:txBody>
          <a:bodyPr wrap="square" anchor="ctr" lIns="45720" rIns="45720" tIns="27432" bIns="27432">
            <a:spAutoFit/>
          </a:bodyPr>
          <a:lstStyle/>
          <a:p>
            <a:pPr algn="l"/>
            <a:r>
              <a:rPr sz="1400" b="1" i="0">
                <a:solidFill>
                  <a:srgbClr val="FFFFFF"/>
                </a:solidFill>
                <a:latin typeface="Times New Roman"/>
              </a:rPr>
              <a:t>TAM: WILL LEGAL AND RIGHTS TEAMS ADOPT IT?</a:t>
            </a:r>
          </a:p>
        </p:txBody>
      </p:sp>
      <p:sp>
        <p:nvSpPr>
          <p:cNvPr id="6" name="TAM body"/>
          <p:cNvSpPr/>
          <p:nvPr/>
        </p:nvSpPr>
        <p:spPr>
          <a:xfrm>
            <a:off x="548640" y="2286000"/>
            <a:ext cx="5440680" cy="242316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M label 1"/>
          <p:cNvSpPr txBox="1"/>
          <p:nvPr/>
        </p:nvSpPr>
        <p:spPr>
          <a:xfrm>
            <a:off x="685800" y="2359152"/>
            <a:ext cx="5120640" cy="274320"/>
          </a:xfrm>
          <a:prstGeom prst="rect">
            <a:avLst/>
          </a:prstGeom>
          <a:noFill/>
        </p:spPr>
        <p:txBody>
          <a:bodyPr wrap="square" anchor="t" lIns="45720" rIns="45720" tIns="27432" bIns="27432">
            <a:spAutoFit/>
          </a:bodyPr>
          <a:lstStyle/>
          <a:p>
            <a:pPr algn="l"/>
            <a:r>
              <a:rPr sz="1200" b="1" i="0">
                <a:solidFill>
                  <a:srgbClr val="6E1E2A"/>
                </a:solidFill>
                <a:latin typeface="Times New Roman"/>
              </a:rPr>
              <a:t>PERCEIVED USEFULNESS</a:t>
            </a:r>
          </a:p>
        </p:txBody>
      </p:sp>
      <p:sp>
        <p:nvSpPr>
          <p:cNvPr id="8" name="TAM answer 1"/>
          <p:cNvSpPr txBox="1"/>
          <p:nvPr/>
        </p:nvSpPr>
        <p:spPr>
          <a:xfrm>
            <a:off x="685800" y="2633472"/>
            <a:ext cx="5120640" cy="731520"/>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Useful if it answers their concerns: a verifiable record for regulators, the written contract kept as master, and no extra version of the truth.</a:t>
            </a:r>
          </a:p>
        </p:txBody>
      </p:sp>
      <p:sp>
        <p:nvSpPr>
          <p:cNvPr id="9" name="TAM label 2"/>
          <p:cNvSpPr txBox="1"/>
          <p:nvPr/>
        </p:nvSpPr>
        <p:spPr>
          <a:xfrm>
            <a:off x="685800" y="3429000"/>
            <a:ext cx="5120640" cy="274320"/>
          </a:xfrm>
          <a:prstGeom prst="rect">
            <a:avLst/>
          </a:prstGeom>
          <a:noFill/>
        </p:spPr>
        <p:txBody>
          <a:bodyPr wrap="square" anchor="t" lIns="45720" rIns="45720" tIns="27432" bIns="27432">
            <a:spAutoFit/>
          </a:bodyPr>
          <a:lstStyle/>
          <a:p>
            <a:pPr algn="l"/>
            <a:r>
              <a:rPr sz="1200" b="1" i="0">
                <a:solidFill>
                  <a:srgbClr val="6E1E2A"/>
                </a:solidFill>
                <a:latin typeface="Times New Roman"/>
              </a:rPr>
              <a:t>PERCEIVED EASE OF USE</a:t>
            </a:r>
          </a:p>
        </p:txBody>
      </p:sp>
      <p:sp>
        <p:nvSpPr>
          <p:cNvPr id="10" name="TAM answer 2"/>
          <p:cNvSpPr txBox="1"/>
          <p:nvPr/>
        </p:nvSpPr>
        <p:spPr>
          <a:xfrm>
            <a:off x="685800" y="3703320"/>
            <a:ext cx="5120640" cy="731520"/>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Hard: unfamiliar tools, coding and integration with existing systems. Easy: plug into current systems, no coding by users, and a simple read-only view of the record.</a:t>
            </a:r>
          </a:p>
        </p:txBody>
      </p:sp>
      <p:sp>
        <p:nvSpPr>
          <p:cNvPr id="11" name="Kotter header bar"/>
          <p:cNvSpPr/>
          <p:nvPr/>
        </p:nvSpPr>
        <p:spPr>
          <a:xfrm>
            <a:off x="6199632" y="1828800"/>
            <a:ext cx="5440680" cy="457200"/>
          </a:xfrm>
          <a:prstGeom prst="rect">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Kotter header"/>
          <p:cNvSpPr txBox="1"/>
          <p:nvPr/>
        </p:nvSpPr>
        <p:spPr>
          <a:xfrm>
            <a:off x="6336792" y="1828800"/>
            <a:ext cx="5120640" cy="457200"/>
          </a:xfrm>
          <a:prstGeom prst="rect">
            <a:avLst/>
          </a:prstGeom>
          <a:noFill/>
        </p:spPr>
        <p:txBody>
          <a:bodyPr wrap="square" anchor="ctr" lIns="45720" rIns="45720" tIns="27432" bIns="27432">
            <a:spAutoFit/>
          </a:bodyPr>
          <a:lstStyle/>
          <a:p>
            <a:pPr algn="l"/>
            <a:r>
              <a:rPr sz="1400" b="1" i="0">
                <a:solidFill>
                  <a:srgbClr val="FFFFFF"/>
                </a:solidFill>
                <a:latin typeface="Times New Roman"/>
              </a:rPr>
              <a:t>KOTTER: CHANGE STEPS FOR APPLE TV+</a:t>
            </a:r>
          </a:p>
        </p:txBody>
      </p:sp>
      <p:sp>
        <p:nvSpPr>
          <p:cNvPr id="13" name="Kotter body"/>
          <p:cNvSpPr/>
          <p:nvPr/>
        </p:nvSpPr>
        <p:spPr>
          <a:xfrm>
            <a:off x="6199632" y="2286000"/>
            <a:ext cx="5440680" cy="242316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otter label 1"/>
          <p:cNvSpPr txBox="1"/>
          <p:nvPr/>
        </p:nvSpPr>
        <p:spPr>
          <a:xfrm>
            <a:off x="6336792" y="2359152"/>
            <a:ext cx="5120640" cy="27432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F5D3A"/>
                </a:solidFill>
                <a:latin typeface="Times New Roman"/>
              </a:rPr>
              <a:t>STEP 2: FORM A GUIDING COALITION</a:t>
            </a:r>
          </a:p>
        </p:txBody>
      </p:sp>
      <p:sp>
        <p:nvSpPr>
          <p:cNvPr id="15" name="Kotter answer 1"/>
          <p:cNvSpPr txBox="1"/>
          <p:nvPr/>
        </p:nvSpPr>
        <p:spPr>
          <a:xfrm>
            <a:off x="6336792" y="2615184"/>
            <a:ext cx="5120640" cy="384048"/>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Put Legal, Rights Ops and Finance in the ledger design team under one named owner from the start.</a:t>
            </a:r>
          </a:p>
        </p:txBody>
      </p:sp>
      <p:sp>
        <p:nvSpPr>
          <p:cNvPr id="16" name="Kotter label 2"/>
          <p:cNvSpPr txBox="1"/>
          <p:nvPr/>
        </p:nvSpPr>
        <p:spPr>
          <a:xfrm>
            <a:off x="6336792" y="3154680"/>
            <a:ext cx="5120640" cy="27432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F5D3A"/>
                </a:solidFill>
                <a:latin typeface="Times New Roman"/>
              </a:rPr>
              <a:t>STEP 6: GENERATE SHORT-TERM WINS</a:t>
            </a:r>
          </a:p>
        </p:txBody>
      </p:sp>
      <p:sp>
        <p:nvSpPr>
          <p:cNvPr id="17" name="Kotter answer 2"/>
          <p:cNvSpPr txBox="1"/>
          <p:nvPr/>
        </p:nvSpPr>
        <p:spPr>
          <a:xfrm>
            <a:off x="6336792" y="3410712"/>
            <a:ext cx="5120640" cy="384048"/>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Pilot in one territory, then share the dispute and payment-time results to win over the next territory.</a:t>
            </a:r>
          </a:p>
        </p:txBody>
      </p:sp>
      <p:sp>
        <p:nvSpPr>
          <p:cNvPr id="18" name="Kotter label 3"/>
          <p:cNvSpPr txBox="1"/>
          <p:nvPr/>
        </p:nvSpPr>
        <p:spPr>
          <a:xfrm>
            <a:off x="6336792" y="3950208"/>
            <a:ext cx="5120640" cy="27432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F5D3A"/>
                </a:solidFill>
                <a:latin typeface="Times New Roman"/>
              </a:rPr>
              <a:t>STEP 8: ANCHOR NEW APPROACHES IN THE CULTURE</a:t>
            </a:r>
          </a:p>
        </p:txBody>
      </p:sp>
      <p:sp>
        <p:nvSpPr>
          <p:cNvPr id="19" name="Kotter answer 3"/>
          <p:cNvSpPr txBox="1"/>
          <p:nvPr/>
        </p:nvSpPr>
        <p:spPr>
          <a:xfrm>
            <a:off x="6336792" y="4206240"/>
            <a:ext cx="5120640" cy="384048"/>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Make the quarterly legal and governance review permanent, so new territories join under the same checks.</a:t>
            </a:r>
          </a:p>
        </p:txBody>
      </p:sp>
      <p:sp>
        <p:nvSpPr>
          <p:cNvPr id="20" name="Bottom header bar 1"/>
          <p:cNvSpPr/>
          <p:nvPr/>
        </p:nvSpPr>
        <p:spPr>
          <a:xfrm>
            <a:off x="548640" y="4892040"/>
            <a:ext cx="5440680" cy="41148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ttom header 1"/>
          <p:cNvSpPr txBox="1"/>
          <p:nvPr/>
        </p:nvSpPr>
        <p:spPr>
          <a:xfrm>
            <a:off x="685800" y="4892040"/>
            <a:ext cx="5120640" cy="411480"/>
          </a:xfrm>
          <a:prstGeom prst="rect">
            <a:avLst/>
          </a:prstGeom>
          <a:noFill/>
        </p:spPr>
        <p:txBody>
          <a:bodyPr wrap="square" anchor="ctr" lIns="45720" rIns="45720" tIns="27432" bIns="27432">
            <a:spAutoFit/>
          </a:bodyPr>
          <a:lstStyle/>
          <a:p>
            <a:pPr algn="l"/>
            <a:r>
              <a:rPr sz="1400" b="1" i="0">
                <a:solidFill>
                  <a:srgbClr val="FFFFFF"/>
                </a:solidFill>
                <a:latin typeface="Times New Roman"/>
              </a:rPr>
              <a:t>BARRIER OR RESISTANCE</a:t>
            </a:r>
          </a:p>
        </p:txBody>
      </p:sp>
      <p:sp>
        <p:nvSpPr>
          <p:cNvPr id="22" name="Bottom body 1"/>
          <p:cNvSpPr/>
          <p:nvPr/>
        </p:nvSpPr>
        <p:spPr>
          <a:xfrm>
            <a:off x="548640" y="5303520"/>
            <a:ext cx="5440680" cy="91440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ttom answer 1"/>
          <p:cNvSpPr txBox="1"/>
          <p:nvPr/>
        </p:nvSpPr>
        <p:spPr>
          <a:xfrm>
            <a:off x="685800" y="5376672"/>
            <a:ext cx="5120640" cy="777240"/>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Legal and rights teams fear answering for a wrongly coded payment. Reduce it with dual sign-off, a manual override and a dispute freeze, so any payment can be stopped.</a:t>
            </a:r>
          </a:p>
        </p:txBody>
      </p:sp>
      <p:sp>
        <p:nvSpPr>
          <p:cNvPr id="24" name="Bottom header bar 2"/>
          <p:cNvSpPr/>
          <p:nvPr/>
        </p:nvSpPr>
        <p:spPr>
          <a:xfrm>
            <a:off x="6199632" y="4892040"/>
            <a:ext cx="5440680" cy="411480"/>
          </a:xfrm>
          <a:prstGeom prst="rect">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ttom header 2"/>
          <p:cNvSpPr txBox="1"/>
          <p:nvPr/>
        </p:nvSpPr>
        <p:spPr>
          <a:xfrm>
            <a:off x="6336792" y="4892040"/>
            <a:ext cx="5120640" cy="411480"/>
          </a:xfrm>
          <a:prstGeom prst="rect">
            <a:avLst/>
          </a:prstGeom>
          <a:noFill/>
        </p:spPr>
        <p:txBody>
          <a:bodyPr wrap="square" anchor="ctr" lIns="45720" rIns="45720" tIns="27432" bIns="27432">
            <a:spAutoFit/>
          </a:bodyPr>
          <a:lstStyle/>
          <a:p>
            <a:pPr algn="l"/>
            <a:r>
              <a:rPr sz="1400" b="1" i="0">
                <a:solidFill>
                  <a:srgbClr val="FFFFFF"/>
                </a:solidFill>
                <a:latin typeface="Times New Roman"/>
              </a:rPr>
              <a:t>BUILDING DIGITAL CONFIDENCE</a:t>
            </a:r>
          </a:p>
        </p:txBody>
      </p:sp>
      <p:sp>
        <p:nvSpPr>
          <p:cNvPr id="26" name="Bottom body 2"/>
          <p:cNvSpPr/>
          <p:nvPr/>
        </p:nvSpPr>
        <p:spPr>
          <a:xfrm>
            <a:off x="6199632" y="5303520"/>
            <a:ext cx="5440680" cy="91440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ttom answer 2"/>
          <p:cNvSpPr txBox="1"/>
          <p:nvPr/>
        </p:nvSpPr>
        <p:spPr>
          <a:xfrm>
            <a:off x="6336792" y="5376672"/>
            <a:ext cx="5120640" cy="777240"/>
          </a:xfrm>
          <a:prstGeom prst="rect">
            <a:avLst/>
          </a:prstGeom>
          <a:noFill/>
        </p:spPr>
        <p:txBody>
          <a:bodyPr wrap="square" anchor="t" lIns="45720" rIns="45720" tIns="27432" bIns="27432">
            <a:spAutoFit/>
          </a:bodyPr>
          <a:lstStyle/>
          <a:p>
            <a:pPr algn="l">
              <a:lnSpc>
                <a:spcPct val="105000"/>
              </a:lnSpc>
              <a:spcAft>
                <a:spcPts val="0"/>
              </a:spcAft>
            </a:pPr>
            <a:r>
              <a:rPr lang="en-GB" sz="1200" b="0" i="0" dirty="0">
                <a:solidFill>
                  <a:srgbClr val="2A2218"/>
                </a:solidFill>
                <a:latin typeface="Times New Roman"/>
              </a:rPr>
              <a:t>Legal, Rights Ops and Finance staff are trained before the pilot starts: how the shared record works, how to read a smart-contract term, and when to freeze a payment.</a:t>
            </a:r>
          </a:p>
        </p:txBody>
      </p:sp>
      <p:sp>
        <p:nvSpPr>
          <p:cNvPr id="28"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8</a:t>
            </a:r>
          </a:p>
        </p:txBody>
      </p:sp>
      <p:sp>
        <p:nvSpPr>
          <p:cNvPr id="29" name="Sources"/>
          <p:cNvSpPr txBox="1"/>
          <p:nvPr/>
        </p:nvSpPr>
        <p:spPr>
          <a:xfrm>
            <a:off x="548640" y="6355080"/>
            <a:ext cx="10424160" cy="246888"/>
          </a:xfrm>
          <a:prstGeom prst="rect">
            <a:avLst/>
          </a:prstGeom>
          <a:noFill/>
        </p:spPr>
        <p:txBody>
          <a:bodyPr wrap="square" lIns="45720" rIns="45720" tIns="27432" bIns="27432" anchor="t">
            <a:spAutoFit/>
          </a:bodyPr>
          <a:lstStyle/>
          <a:p>
            <a:pPr algn="l">
              <a:lnSpc>
                <a:spcPct val="105000"/>
              </a:lnSpc>
              <a:spcAft>
                <a:spcPts val="0"/>
              </a:spcAft>
            </a:pPr>
            <a:r>
              <a:rPr lang="en-GB" sz="1000" b="0" i="1" dirty="0">
                <a:solidFill>
                  <a:srgbClr val="7A7060"/>
                </a:solidFill>
                <a:latin typeface="Times New Roman"/>
              </a:rPr>
              <a:t>Davis (1989), MIS Quarterly, 13(3); Kotter (1996), Leading 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3EBE52-889E-4F8A-A391-7215AC2CA915}"/>
              </a:ext>
            </a:extLst>
          </p:cNvPr>
          <p:cNvSpPr txBox="1"/>
          <p:nvPr/>
        </p:nvSpPr>
        <p:spPr>
          <a:xfrm>
            <a:off x="1554480" y="391079"/>
            <a:ext cx="8229600"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STRATEGIC FIT</a:t>
            </a:r>
          </a:p>
        </p:txBody>
      </p:sp>
      <p:sp>
        <p:nvSpPr>
          <p:cNvPr id="5" name="TextBox 4">
            <a:extLst>
              <a:ext uri="{FF2B5EF4-FFF2-40B4-BE49-F238E27FC236}">
                <a16:creationId xmlns:a16="http://schemas.microsoft.com/office/drawing/2014/main" id="{D5F13EEE-1ADA-488D-9759-0A1EFC07AF3D}"/>
              </a:ext>
            </a:extLst>
          </p:cNvPr>
          <p:cNvSpPr txBox="1"/>
          <p:nvPr/>
        </p:nvSpPr>
        <p:spPr>
          <a:xfrm>
            <a:off x="548640" y="1737360"/>
            <a:ext cx="10789920" cy="363882"/>
          </a:xfrm>
          <a:prstGeom prst="rect">
            <a:avLst/>
          </a:prstGeom>
          <a:noFill/>
        </p:spPr>
        <p:txBody>
          <a:bodyPr wrap="square">
            <a:spAutoFit/>
          </a:bodyPr>
          <a:lstStyle/>
          <a:p>
            <a:pPr algn="l">
              <a:lnSpc>
                <a:spcPct val="105000"/>
              </a:lnSpc>
            </a:pPr>
            <a:r>
              <a:rPr i="0" dirty="0">
                <a:solidFill>
                  <a:srgbClr val="2A2218"/>
                </a:solidFill>
                <a:latin typeface="Times New Roman" panose="02020603050405020304" pitchFamily="18" charset="0"/>
                <a:cs typeface="Times New Roman" panose="02020603050405020304" pitchFamily="18" charset="0"/>
              </a:rPr>
              <a:t>Every verified payment is a small deposit</a:t>
            </a:r>
            <a:r>
              <a:rPr lang="en-US" i="0" dirty="0">
                <a:solidFill>
                  <a:srgbClr val="2A2218"/>
                </a:solidFill>
                <a:latin typeface="Times New Roman" panose="02020603050405020304" pitchFamily="18" charset="0"/>
                <a:cs typeface="Times New Roman" panose="02020603050405020304" pitchFamily="18" charset="0"/>
              </a:rPr>
              <a:t> </a:t>
            </a:r>
            <a:r>
              <a:rPr i="0" dirty="0">
                <a:solidFill>
                  <a:srgbClr val="2A2218"/>
                </a:solidFill>
                <a:latin typeface="Times New Roman" panose="02020603050405020304" pitchFamily="18" charset="0"/>
                <a:cs typeface="Times New Roman" panose="02020603050405020304" pitchFamily="18" charset="0"/>
              </a:rPr>
              <a:t>in talent trust.</a:t>
            </a:r>
          </a:p>
        </p:txBody>
      </p:sp>
      <p:sp>
        <p:nvSpPr>
          <p:cNvPr id="6" name="Rectangle 5">
            <a:extLst>
              <a:ext uri="{FF2B5EF4-FFF2-40B4-BE49-F238E27FC236}">
                <a16:creationId xmlns:a16="http://schemas.microsoft.com/office/drawing/2014/main" id="{4A378CA0-48B7-4BF0-858B-0416518BC648}"/>
              </a:ext>
            </a:extLst>
          </p:cNvPr>
          <p:cNvSpPr/>
          <p:nvPr/>
        </p:nvSpPr>
        <p:spPr>
          <a:xfrm>
            <a:off x="1371600" y="4265295"/>
            <a:ext cx="1188720" cy="320040"/>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C3B48156-66C0-4C6B-B84E-D5D57F501C40}"/>
              </a:ext>
            </a:extLst>
          </p:cNvPr>
          <p:cNvSpPr/>
          <p:nvPr/>
        </p:nvSpPr>
        <p:spPr>
          <a:xfrm>
            <a:off x="1819656" y="3890391"/>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C7A6AA09-91D4-4CC5-9992-9C71BA71AC93}"/>
              </a:ext>
            </a:extLst>
          </p:cNvPr>
          <p:cNvSpPr/>
          <p:nvPr/>
        </p:nvSpPr>
        <p:spPr>
          <a:xfrm>
            <a:off x="1878177" y="3948912"/>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80E26BC4-9A92-450B-AEFD-0A3C396DF061}"/>
              </a:ext>
            </a:extLst>
          </p:cNvPr>
          <p:cNvSpPr/>
          <p:nvPr/>
        </p:nvSpPr>
        <p:spPr>
          <a:xfrm>
            <a:off x="2926080" y="4155567"/>
            <a:ext cx="1188720" cy="429768"/>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BD041AF3-C05A-499E-9299-9213B7DE2396}"/>
              </a:ext>
            </a:extLst>
          </p:cNvPr>
          <p:cNvSpPr/>
          <p:nvPr/>
        </p:nvSpPr>
        <p:spPr>
          <a:xfrm>
            <a:off x="3374136" y="3780663"/>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43E67AB5-F483-497F-AF4E-A4A69C9CDC96}"/>
              </a:ext>
            </a:extLst>
          </p:cNvPr>
          <p:cNvSpPr/>
          <p:nvPr/>
        </p:nvSpPr>
        <p:spPr>
          <a:xfrm>
            <a:off x="3432657" y="3839184"/>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921C507-995A-4200-B7C0-C9730368ABDE}"/>
              </a:ext>
            </a:extLst>
          </p:cNvPr>
          <p:cNvSpPr/>
          <p:nvPr/>
        </p:nvSpPr>
        <p:spPr>
          <a:xfrm>
            <a:off x="4480560" y="4045839"/>
            <a:ext cx="1188720" cy="539496"/>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25CB58ED-9A92-4B99-B690-CBE9683DEF6A}"/>
              </a:ext>
            </a:extLst>
          </p:cNvPr>
          <p:cNvSpPr/>
          <p:nvPr/>
        </p:nvSpPr>
        <p:spPr>
          <a:xfrm>
            <a:off x="4928616" y="3670935"/>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F1D5BCAE-61A0-47E0-9368-D19CC2E3DFB2}"/>
              </a:ext>
            </a:extLst>
          </p:cNvPr>
          <p:cNvSpPr/>
          <p:nvPr/>
        </p:nvSpPr>
        <p:spPr>
          <a:xfrm>
            <a:off x="4987137" y="3729456"/>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ABB5DA42-DA1C-4E08-ADF2-AA492DFD0C60}"/>
              </a:ext>
            </a:extLst>
          </p:cNvPr>
          <p:cNvSpPr/>
          <p:nvPr/>
        </p:nvSpPr>
        <p:spPr>
          <a:xfrm>
            <a:off x="6035040" y="3936111"/>
            <a:ext cx="1188720" cy="649224"/>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185D518A-C4C4-4882-952E-111A3709A302}"/>
              </a:ext>
            </a:extLst>
          </p:cNvPr>
          <p:cNvSpPr/>
          <p:nvPr/>
        </p:nvSpPr>
        <p:spPr>
          <a:xfrm>
            <a:off x="6483096" y="3561207"/>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ED9AD062-02ED-4C37-9DBA-0959E337752C}"/>
              </a:ext>
            </a:extLst>
          </p:cNvPr>
          <p:cNvSpPr/>
          <p:nvPr/>
        </p:nvSpPr>
        <p:spPr>
          <a:xfrm>
            <a:off x="6541617" y="3619728"/>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3FFA4679-5E23-4077-91C2-2E04F7557F25}"/>
              </a:ext>
            </a:extLst>
          </p:cNvPr>
          <p:cNvSpPr/>
          <p:nvPr/>
        </p:nvSpPr>
        <p:spPr>
          <a:xfrm>
            <a:off x="7589520" y="3826383"/>
            <a:ext cx="1188720" cy="758952"/>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FDE6826F-C49B-4D4C-8FFC-D3C1C862A1EF}"/>
              </a:ext>
            </a:extLst>
          </p:cNvPr>
          <p:cNvSpPr/>
          <p:nvPr/>
        </p:nvSpPr>
        <p:spPr>
          <a:xfrm>
            <a:off x="8037576" y="3451479"/>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Oval 19">
            <a:extLst>
              <a:ext uri="{FF2B5EF4-FFF2-40B4-BE49-F238E27FC236}">
                <a16:creationId xmlns:a16="http://schemas.microsoft.com/office/drawing/2014/main" id="{5CC0BBB6-89E0-4360-96DF-B7C918B53413}"/>
              </a:ext>
            </a:extLst>
          </p:cNvPr>
          <p:cNvSpPr/>
          <p:nvPr/>
        </p:nvSpPr>
        <p:spPr>
          <a:xfrm>
            <a:off x="8096097" y="3510000"/>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AAD1A037-D87E-4197-9C6D-8A741DA2845A}"/>
              </a:ext>
            </a:extLst>
          </p:cNvPr>
          <p:cNvSpPr/>
          <p:nvPr/>
        </p:nvSpPr>
        <p:spPr>
          <a:xfrm>
            <a:off x="9144000" y="3716655"/>
            <a:ext cx="1188720" cy="868680"/>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id="{8C8DF8DA-6430-4637-9095-955A3695F3B3}"/>
              </a:ext>
            </a:extLst>
          </p:cNvPr>
          <p:cNvSpPr/>
          <p:nvPr/>
        </p:nvSpPr>
        <p:spPr>
          <a:xfrm>
            <a:off x="9592056" y="3341751"/>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952DC7DE-0D2C-4255-8DC3-CB6B7BE5266C}"/>
              </a:ext>
            </a:extLst>
          </p:cNvPr>
          <p:cNvSpPr/>
          <p:nvPr/>
        </p:nvSpPr>
        <p:spPr>
          <a:xfrm>
            <a:off x="9650577" y="3400272"/>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C29453D-ADE7-472B-B7E2-ADB6D6B0F7AD}"/>
              </a:ext>
            </a:extLst>
          </p:cNvPr>
          <p:cNvSpPr txBox="1"/>
          <p:nvPr/>
        </p:nvSpPr>
        <p:spPr>
          <a:xfrm>
            <a:off x="914400" y="4722495"/>
            <a:ext cx="10058400" cy="369332"/>
          </a:xfrm>
          <a:prstGeom prst="rect">
            <a:avLst/>
          </a:prstGeom>
          <a:noFill/>
        </p:spPr>
        <p:txBody>
          <a:bodyPr wrap="square">
            <a:spAutoFit/>
          </a:bodyPr>
          <a:lstStyle/>
          <a:p>
            <a:pPr algn="l"/>
            <a:r>
              <a:rPr b="0" i="1" dirty="0">
                <a:latin typeface="Times New Roman" panose="02020603050405020304" pitchFamily="18" charset="0"/>
                <a:cs typeface="Times New Roman" panose="02020603050405020304" pitchFamily="18" charset="0"/>
              </a:rPr>
              <a:t>verified payments accumulating over time →</a:t>
            </a:r>
          </a:p>
        </p:txBody>
      </p:sp>
      <p:sp>
        <p:nvSpPr>
          <p:cNvPr id="25"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9</a:t>
            </a:r>
          </a:p>
        </p:txBody>
      </p:sp>
      <p:sp>
        <p:nvSpPr>
          <p:cNvPr id="26" name="Fit bullets"/>
          <p:cNvSpPr txBox="1"/>
          <p:nvPr/>
        </p:nvSpPr>
        <p:spPr>
          <a:xfrm>
            <a:off x="548640" y="2240280"/>
            <a:ext cx="11064240" cy="1005840"/>
          </a:xfrm>
          <a:prstGeom prst="rect">
            <a:avLst/>
          </a:prstGeom>
          <a:noFill/>
        </p:spPr>
        <p:txBody>
          <a:bodyPr wrap="square" lIns="45720" rIns="45720" tIns="27432" bIns="27432" anchor="t">
            <a:spAutoFit/>
          </a:bodyPr>
          <a:lstStyle/>
          <a:p>
            <a:pPr algn="l" marL="228600" indent="-228600">
              <a:lnSpc>
                <a:spcPct val="105000"/>
              </a:lnSpc>
              <a:spcAft>
                <a:spcPts val="600"/>
              </a:spcAft>
              <a:buClr>
                <a:srgbClr val="6E1E2A"/>
              </a:buClr>
              <a:buFont typeface="Arial"/>
              <a:buChar char="•"/>
            </a:pPr>
            <a:r>
              <a:rPr lang="en-GB" sz="1400" b="1" i="0" dirty="0">
                <a:solidFill>
                  <a:srgbClr val="6E1E2A"/>
                </a:solidFill>
                <a:latin typeface="Times New Roman"/>
              </a:rPr>
              <a:t>Talent retention: </a:t>
            </a:r>
            <a:r>
              <a:rPr lang="en-GB" sz="1400" b="0" i="0" dirty="0">
                <a:solidFill>
                  <a:srgbClr val="2A2218"/>
                </a:solidFill>
                <a:latin typeface="Times New Roman"/>
              </a:rPr>
              <a:t>payments creators can verify give them a reason to stay, keeping the originals that anchor Apple’s Services ecosystem.</a:t>
            </a:r>
          </a:p>
          <a:p>
            <a:pPr algn="l" marL="228600" indent="-228600">
              <a:lnSpc>
                <a:spcPct val="105000"/>
              </a:lnSpc>
              <a:spcAft>
                <a:spcPts val="0"/>
              </a:spcAft>
              <a:buClr>
                <a:srgbClr val="6E1E2A"/>
              </a:buClr>
              <a:buFont typeface="Arial"/>
              <a:buChar char="•"/>
            </a:pPr>
            <a:r>
              <a:rPr lang="en-GB" sz="1400" b="1" i="0" dirty="0">
                <a:solidFill>
                  <a:srgbClr val="6E1E2A"/>
                </a:solidFill>
                <a:latin typeface="Times New Roman"/>
              </a:rPr>
              <a:t>Agility: </a:t>
            </a:r>
            <a:r>
              <a:rPr lang="en-GB" sz="1400" b="0" i="0" dirty="0">
                <a:solidFill>
                  <a:srgbClr val="2A2218"/>
                </a:solidFill>
                <a:latin typeface="Times New Roman"/>
              </a:rPr>
              <a:t>a ledger partners already trust lets Apple TV+ add licensing partners faster, widening reach without adding disputes.</a:t>
            </a:r>
          </a:p>
        </p:txBody>
      </p:sp>
    </p:spTree>
    <p:extLst>
      <p:ext uri="{BB962C8B-B14F-4D97-AF65-F5344CB8AC3E}">
        <p14:creationId xmlns:p14="http://schemas.microsoft.com/office/powerpoint/2010/main" val="3949364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C4AF12-83F7-426E-854B-39C142C377DC}"/>
              </a:ext>
            </a:extLst>
          </p:cNvPr>
          <p:cNvSpPr txBox="1"/>
          <p:nvPr/>
        </p:nvSpPr>
        <p:spPr>
          <a:xfrm>
            <a:off x="1758315" y="373158"/>
            <a:ext cx="8229600"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SUSTAINING ADVANTAGE</a:t>
            </a:r>
          </a:p>
        </p:txBody>
      </p:sp>
      <p:sp>
        <p:nvSpPr>
          <p:cNvPr id="6" name="TextBox 5">
            <a:extLst>
              <a:ext uri="{FF2B5EF4-FFF2-40B4-BE49-F238E27FC236}">
                <a16:creationId xmlns:a16="http://schemas.microsoft.com/office/drawing/2014/main" id="{18ADF28A-13DD-44A1-8C01-49E69FF32335}"/>
              </a:ext>
            </a:extLst>
          </p:cNvPr>
          <p:cNvSpPr txBox="1"/>
          <p:nvPr/>
        </p:nvSpPr>
        <p:spPr>
          <a:xfrm>
            <a:off x="548640" y="1097413"/>
            <a:ext cx="10789920" cy="717953"/>
          </a:xfrm>
          <a:prstGeom prst="rect">
            <a:avLst/>
          </a:prstGeom>
          <a:noFill/>
        </p:spPr>
        <p:txBody>
          <a:bodyPr wrap="square">
            <a:spAutoFit/>
          </a:bodyPr>
          <a:lstStyle/>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Being early is real.</a:t>
            </a:r>
          </a:p>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Staying ahead is a different claim entirely.</a:t>
            </a:r>
          </a:p>
        </p:txBody>
      </p:sp>
      <p:sp>
        <p:nvSpPr>
          <p:cNvPr id="7" name="Rectangle 6">
            <a:extLst>
              <a:ext uri="{FF2B5EF4-FFF2-40B4-BE49-F238E27FC236}">
                <a16:creationId xmlns:a16="http://schemas.microsoft.com/office/drawing/2014/main" id="{9A91CF42-2D2B-400E-A053-0E4EC8518FA8}"/>
              </a:ext>
            </a:extLst>
          </p:cNvPr>
          <p:cNvSpPr/>
          <p:nvPr/>
        </p:nvSpPr>
        <p:spPr>
          <a:xfrm rot="20661465">
            <a:off x="1065628" y="3826434"/>
            <a:ext cx="1709224"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E2CA1BCF-5E8B-4B8E-974A-B115D32341BB}"/>
              </a:ext>
            </a:extLst>
          </p:cNvPr>
          <p:cNvSpPr/>
          <p:nvPr/>
        </p:nvSpPr>
        <p:spPr>
          <a:xfrm rot="20535319">
            <a:off x="2702091" y="3332658"/>
            <a:ext cx="1728138"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1449EF4-8164-4FC6-95D2-9EADC9483475}"/>
              </a:ext>
            </a:extLst>
          </p:cNvPr>
          <p:cNvSpPr/>
          <p:nvPr/>
        </p:nvSpPr>
        <p:spPr>
          <a:xfrm rot="20790256">
            <a:off x="4365751" y="2871800"/>
            <a:ext cx="1692659"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6F0A30E-E0CA-480C-9AA0-485822FA7AC1}"/>
              </a:ext>
            </a:extLst>
          </p:cNvPr>
          <p:cNvSpPr/>
          <p:nvPr/>
        </p:nvSpPr>
        <p:spPr>
          <a:xfrm rot="21054583">
            <a:off x="6024573" y="2542616"/>
            <a:ext cx="1666855"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210B8819-CDBB-4E08-8CBA-0DBE8E7A8BD5}"/>
              </a:ext>
            </a:extLst>
          </p:cNvPr>
          <p:cNvSpPr/>
          <p:nvPr/>
        </p:nvSpPr>
        <p:spPr>
          <a:xfrm rot="21325564">
            <a:off x="7678331" y="2345106"/>
            <a:ext cx="1651179"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52039C7D-82B1-42AD-A927-9F17976D918C}"/>
              </a:ext>
            </a:extLst>
          </p:cNvPr>
          <p:cNvSpPr/>
          <p:nvPr/>
        </p:nvSpPr>
        <p:spPr>
          <a:xfrm>
            <a:off x="548640" y="2011680"/>
            <a:ext cx="1097280" cy="1097280"/>
          </a:xfrm>
          <a:prstGeom prst="ellipse">
            <a:avLst/>
          </a:prstGeom>
          <a:no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5D75E72-F9B8-4192-BAE1-C60F936F78A6}"/>
              </a:ext>
            </a:extLst>
          </p:cNvPr>
          <p:cNvSpPr txBox="1"/>
          <p:nvPr/>
        </p:nvSpPr>
        <p:spPr>
          <a:xfrm>
            <a:off x="274320" y="3154680"/>
            <a:ext cx="1645920" cy="584775"/>
          </a:xfrm>
          <a:prstGeom prst="rect">
            <a:avLst/>
          </a:prstGeom>
          <a:noFill/>
        </p:spPr>
        <p:txBody>
          <a:bodyPr wrap="square">
            <a:spAutoFit/>
          </a:bodyPr>
          <a:lstStyle/>
          <a:p>
            <a:pPr algn="ctr"/>
            <a:r>
              <a:rPr sz="1600" b="0" i="1">
                <a:solidFill>
                  <a:srgbClr val="7A7060"/>
                </a:solidFill>
                <a:latin typeface="Times New Roman" panose="02020603050405020304" pitchFamily="18" charset="0"/>
                <a:cs typeface="Times New Roman" panose="02020603050405020304" pitchFamily="18" charset="0"/>
              </a:rPr>
              <a:t>Apple TV+ (early)</a:t>
            </a:r>
          </a:p>
        </p:txBody>
      </p:sp>
      <p:sp>
        <p:nvSpPr>
          <p:cNvPr id="14" name="Rectangle 13">
            <a:extLst>
              <a:ext uri="{FF2B5EF4-FFF2-40B4-BE49-F238E27FC236}">
                <a16:creationId xmlns:a16="http://schemas.microsoft.com/office/drawing/2014/main" id="{FAA2DB67-2962-4C05-8F4A-8901153BF16D}"/>
              </a:ext>
            </a:extLst>
          </p:cNvPr>
          <p:cNvSpPr/>
          <p:nvPr/>
        </p:nvSpPr>
        <p:spPr>
          <a:xfrm>
            <a:off x="7863840" y="1965960"/>
            <a:ext cx="3474720" cy="1097280"/>
          </a:xfrm>
          <a:prstGeom prst="rect">
            <a:avLst/>
          </a:prstGeom>
          <a:solidFill>
            <a:srgbClr val="EA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C82A7A-EA9D-450A-85B1-2CD3BF0ABBF7}"/>
              </a:ext>
            </a:extLst>
          </p:cNvPr>
          <p:cNvSpPr txBox="1"/>
          <p:nvPr/>
        </p:nvSpPr>
        <p:spPr>
          <a:xfrm>
            <a:off x="7863840" y="3108960"/>
            <a:ext cx="3474720" cy="338554"/>
          </a:xfrm>
          <a:prstGeom prst="rect">
            <a:avLst/>
          </a:prstGeom>
          <a:noFill/>
        </p:spPr>
        <p:txBody>
          <a:bodyPr wrap="square">
            <a:spAutoFit/>
          </a:bodyPr>
          <a:lstStyle/>
          <a:p>
            <a:pPr algn="ctr"/>
            <a:r>
              <a:rPr sz="1600" b="0" i="1">
                <a:solidFill>
                  <a:srgbClr val="7A7060"/>
                </a:solidFill>
                <a:latin typeface="Times New Roman" panose="02020603050405020304" pitchFamily="18" charset="0"/>
                <a:cs typeface="Times New Roman" panose="02020603050405020304" pitchFamily="18" charset="0"/>
              </a:rPr>
              <a:t>convergence zone</a:t>
            </a:r>
          </a:p>
        </p:txBody>
      </p:sp>
      <p:sp>
        <p:nvSpPr>
          <p:cNvPr id="16" name="Oval 15">
            <a:extLst>
              <a:ext uri="{FF2B5EF4-FFF2-40B4-BE49-F238E27FC236}">
                <a16:creationId xmlns:a16="http://schemas.microsoft.com/office/drawing/2014/main" id="{CAFA75D4-8CC9-41B3-9778-8335EA82D94B}"/>
              </a:ext>
            </a:extLst>
          </p:cNvPr>
          <p:cNvSpPr/>
          <p:nvPr/>
        </p:nvSpPr>
        <p:spPr>
          <a:xfrm>
            <a:off x="1024127" y="3999586"/>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FF284759-2534-46B9-8AE1-564DFB6EB166}"/>
              </a:ext>
            </a:extLst>
          </p:cNvPr>
          <p:cNvSpPr/>
          <p:nvPr/>
        </p:nvSpPr>
        <p:spPr>
          <a:xfrm>
            <a:off x="2670048" y="353872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F7511AFD-B4B2-4133-AFC8-F0E8DCBDC781}"/>
              </a:ext>
            </a:extLst>
          </p:cNvPr>
          <p:cNvSpPr/>
          <p:nvPr/>
        </p:nvSpPr>
        <p:spPr>
          <a:xfrm>
            <a:off x="4315968" y="3012034"/>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4BA71070-7156-4F80-8F23-9E71853070B0}"/>
              </a:ext>
            </a:extLst>
          </p:cNvPr>
          <p:cNvSpPr/>
          <p:nvPr/>
        </p:nvSpPr>
        <p:spPr>
          <a:xfrm>
            <a:off x="5961888" y="2617013"/>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20" name="Oval 19">
            <a:extLst>
              <a:ext uri="{FF2B5EF4-FFF2-40B4-BE49-F238E27FC236}">
                <a16:creationId xmlns:a16="http://schemas.microsoft.com/office/drawing/2014/main" id="{442E2629-9F14-4868-BBFD-80C34A015042}"/>
              </a:ext>
            </a:extLst>
          </p:cNvPr>
          <p:cNvSpPr/>
          <p:nvPr/>
        </p:nvSpPr>
        <p:spPr>
          <a:xfrm>
            <a:off x="7607808" y="2353666"/>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05EEE5FE-BA48-42E2-866B-D85D4B82D1F7}"/>
              </a:ext>
            </a:extLst>
          </p:cNvPr>
          <p:cNvSpPr/>
          <p:nvPr/>
        </p:nvSpPr>
        <p:spPr>
          <a:xfrm>
            <a:off x="9253728" y="2221992"/>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22" name="VRIO card 1"/>
          <p:cNvSpPr/>
          <p:nvPr/>
        </p:nvSpPr>
        <p:spPr>
          <a:xfrm>
            <a:off x="548640" y="4370832"/>
            <a:ext cx="2651760" cy="118872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RIO label 1"/>
          <p:cNvSpPr txBox="1"/>
          <p:nvPr/>
        </p:nvSpPr>
        <p:spPr>
          <a:xfrm>
            <a:off x="594360" y="4425696"/>
            <a:ext cx="2560320" cy="274320"/>
          </a:xfrm>
          <a:prstGeom prst="rect">
            <a:avLst/>
          </a:prstGeom>
          <a:noFill/>
        </p:spPr>
        <p:txBody>
          <a:bodyPr wrap="square" anchor="t" lIns="45720" rIns="45720" tIns="27432" bIns="27432">
            <a:spAutoFit/>
          </a:bodyPr>
          <a:lstStyle/>
          <a:p>
            <a:pPr algn="l"/>
            <a:r>
              <a:rPr sz="1200" b="1" i="0">
                <a:solidFill>
                  <a:srgbClr val="6E1E2A"/>
                </a:solidFill>
                <a:latin typeface="Times New Roman"/>
              </a:rPr>
              <a:t>V: VALUABLE?</a:t>
            </a:r>
          </a:p>
        </p:txBody>
      </p:sp>
      <p:sp>
        <p:nvSpPr>
          <p:cNvPr id="24" name="VRIO answer 1"/>
          <p:cNvSpPr txBox="1"/>
          <p:nvPr/>
        </p:nvSpPr>
        <p:spPr>
          <a:xfrm>
            <a:off x="594360" y="4700016"/>
            <a:ext cx="2560320" cy="82296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A2218"/>
                </a:solidFill>
                <a:latin typeface="Times New Roman"/>
              </a:rPr>
              <a:t>Yes: </a:t>
            </a:r>
            <a:r>
              <a:rPr lang="en-GB" sz="1200" b="0" i="0" dirty="0">
                <a:solidFill>
                  <a:srgbClr val="2A2218"/>
                </a:solidFill>
                <a:latin typeface="Times New Roman"/>
              </a:rPr>
              <a:t>one shared record cuts payment disputes, so Apple TV+ spends less time reconciling as licensing partners multiply.</a:t>
            </a:r>
          </a:p>
        </p:txBody>
      </p:sp>
      <p:sp>
        <p:nvSpPr>
          <p:cNvPr id="25" name="VRIO card 2"/>
          <p:cNvSpPr/>
          <p:nvPr/>
        </p:nvSpPr>
        <p:spPr>
          <a:xfrm>
            <a:off x="3355848" y="4370832"/>
            <a:ext cx="2651760" cy="118872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RIO label 2"/>
          <p:cNvSpPr txBox="1"/>
          <p:nvPr/>
        </p:nvSpPr>
        <p:spPr>
          <a:xfrm>
            <a:off x="3401568" y="4425696"/>
            <a:ext cx="2560320" cy="274320"/>
          </a:xfrm>
          <a:prstGeom prst="rect">
            <a:avLst/>
          </a:prstGeom>
          <a:noFill/>
        </p:spPr>
        <p:txBody>
          <a:bodyPr wrap="square" anchor="t" lIns="45720" rIns="45720" tIns="27432" bIns="27432">
            <a:spAutoFit/>
          </a:bodyPr>
          <a:lstStyle/>
          <a:p>
            <a:pPr algn="l"/>
            <a:r>
              <a:rPr sz="1200" b="1" i="0">
                <a:solidFill>
                  <a:srgbClr val="6E1E2A"/>
                </a:solidFill>
                <a:latin typeface="Times New Roman"/>
              </a:rPr>
              <a:t>R: RARE?</a:t>
            </a:r>
          </a:p>
        </p:txBody>
      </p:sp>
      <p:sp>
        <p:nvSpPr>
          <p:cNvPr id="27" name="VRIO answer 2"/>
          <p:cNvSpPr txBox="1"/>
          <p:nvPr/>
        </p:nvSpPr>
        <p:spPr>
          <a:xfrm>
            <a:off x="3401568" y="4700016"/>
            <a:ext cx="2560320" cy="82296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A2218"/>
                </a:solidFill>
                <a:latin typeface="Times New Roman"/>
              </a:rPr>
              <a:t>Yes, for now: </a:t>
            </a:r>
            <a:r>
              <a:rPr lang="en-GB" sz="1200" b="0" i="0" dirty="0">
                <a:solidFill>
                  <a:srgbClr val="2A2218"/>
                </a:solidFill>
                <a:latin typeface="Times New Roman"/>
              </a:rPr>
              <a:t>no major video streamer found using one as core infrastructure, so Apple TV+ would be early.</a:t>
            </a:r>
          </a:p>
        </p:txBody>
      </p:sp>
      <p:sp>
        <p:nvSpPr>
          <p:cNvPr id="28" name="VRIO card 3"/>
          <p:cNvSpPr/>
          <p:nvPr/>
        </p:nvSpPr>
        <p:spPr>
          <a:xfrm>
            <a:off x="6163055" y="4370832"/>
            <a:ext cx="2651760" cy="118872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RIO label 3"/>
          <p:cNvSpPr txBox="1"/>
          <p:nvPr/>
        </p:nvSpPr>
        <p:spPr>
          <a:xfrm>
            <a:off x="6208775" y="4425696"/>
            <a:ext cx="2560320" cy="274320"/>
          </a:xfrm>
          <a:prstGeom prst="rect">
            <a:avLst/>
          </a:prstGeom>
          <a:noFill/>
        </p:spPr>
        <p:txBody>
          <a:bodyPr wrap="square" anchor="t" lIns="45720" rIns="45720" tIns="27432" bIns="27432">
            <a:spAutoFit/>
          </a:bodyPr>
          <a:lstStyle/>
          <a:p>
            <a:pPr algn="l"/>
            <a:r>
              <a:rPr sz="1200" b="1" i="0">
                <a:solidFill>
                  <a:srgbClr val="6E1E2A"/>
                </a:solidFill>
                <a:latin typeface="Times New Roman"/>
              </a:rPr>
              <a:t>I: HARD TO IMITATE?</a:t>
            </a:r>
          </a:p>
        </p:txBody>
      </p:sp>
      <p:sp>
        <p:nvSpPr>
          <p:cNvPr id="30" name="VRIO answer 3"/>
          <p:cNvSpPr txBox="1"/>
          <p:nvPr/>
        </p:nvSpPr>
        <p:spPr>
          <a:xfrm>
            <a:off x="6208775" y="4700016"/>
            <a:ext cx="2560320" cy="82296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A2218"/>
                </a:solidFill>
                <a:latin typeface="Times New Roman"/>
              </a:rPr>
              <a:t>No for the code, yes for the trust: </a:t>
            </a:r>
            <a:r>
              <a:rPr lang="en-GB" sz="1200" b="0" i="0" dirty="0">
                <a:solidFill>
                  <a:srgbClr val="2A2218"/>
                </a:solidFill>
                <a:latin typeface="Times New Roman"/>
              </a:rPr>
              <a:t>rivals can copy the technology, but not Apple TV+’s accumulated payment history.</a:t>
            </a:r>
          </a:p>
        </p:txBody>
      </p:sp>
      <p:sp>
        <p:nvSpPr>
          <p:cNvPr id="31" name="VRIO card 4"/>
          <p:cNvSpPr/>
          <p:nvPr/>
        </p:nvSpPr>
        <p:spPr>
          <a:xfrm>
            <a:off x="8970263" y="4370832"/>
            <a:ext cx="2651760" cy="1188720"/>
          </a:xfrm>
          <a:prstGeom prst="rect">
            <a:avLst/>
          </a:prstGeom>
          <a:solidFill>
            <a:srgbClr val="FBF7EC"/>
          </a:solidFill>
          <a:ln w="9525">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RIO label 4"/>
          <p:cNvSpPr txBox="1"/>
          <p:nvPr/>
        </p:nvSpPr>
        <p:spPr>
          <a:xfrm>
            <a:off x="9015984" y="4425696"/>
            <a:ext cx="2560320" cy="274320"/>
          </a:xfrm>
          <a:prstGeom prst="rect">
            <a:avLst/>
          </a:prstGeom>
          <a:noFill/>
        </p:spPr>
        <p:txBody>
          <a:bodyPr wrap="square" anchor="t" lIns="45720" rIns="45720" tIns="27432" bIns="27432">
            <a:spAutoFit/>
          </a:bodyPr>
          <a:lstStyle/>
          <a:p>
            <a:pPr algn="l"/>
            <a:r>
              <a:rPr sz="1200" b="1" i="0">
                <a:solidFill>
                  <a:srgbClr val="6E1E2A"/>
                </a:solidFill>
                <a:latin typeface="Times New Roman"/>
              </a:rPr>
              <a:t>O: ORGANISED?</a:t>
            </a:r>
          </a:p>
        </p:txBody>
      </p:sp>
      <p:sp>
        <p:nvSpPr>
          <p:cNvPr id="33" name="VRIO answer 4"/>
          <p:cNvSpPr txBox="1"/>
          <p:nvPr/>
        </p:nvSpPr>
        <p:spPr>
          <a:xfrm>
            <a:off x="9015984" y="4700016"/>
            <a:ext cx="2560320" cy="822960"/>
          </a:xfrm>
          <a:prstGeom prst="rect">
            <a:avLst/>
          </a:prstGeom>
          <a:noFill/>
        </p:spPr>
        <p:txBody>
          <a:bodyPr wrap="square" anchor="t" lIns="45720" rIns="45720" tIns="27432" bIns="27432">
            <a:spAutoFit/>
          </a:bodyPr>
          <a:lstStyle/>
          <a:p>
            <a:pPr algn="l">
              <a:lnSpc>
                <a:spcPct val="100000"/>
              </a:lnSpc>
              <a:spcAft>
                <a:spcPts val="0"/>
              </a:spcAft>
            </a:pPr>
            <a:r>
              <a:rPr lang="en-GB" sz="1200" b="1" i="0" dirty="0">
                <a:solidFill>
                  <a:srgbClr val="2A2218"/>
                </a:solidFill>
                <a:latin typeface="Times New Roman"/>
              </a:rPr>
              <a:t>Not yet: </a:t>
            </a:r>
            <a:r>
              <a:rPr lang="en-GB" sz="1200" b="0" i="0" dirty="0">
                <a:solidFill>
                  <a:srgbClr val="2A2218"/>
                </a:solidFill>
                <a:latin typeface="Times New Roman"/>
              </a:rPr>
              <a:t>a named owner and cross-functional team are proposed, but dual sign-off and standing legal review are still needed.</a:t>
            </a:r>
          </a:p>
        </p:txBody>
      </p:sp>
      <p:sp>
        <p:nvSpPr>
          <p:cNvPr id="34"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10</a:t>
            </a:r>
          </a:p>
        </p:txBody>
      </p:sp>
      <p:sp>
        <p:nvSpPr>
          <p:cNvPr id="35" name="VRIO verdict"/>
          <p:cNvSpPr txBox="1"/>
          <p:nvPr/>
        </p:nvSpPr>
        <p:spPr>
          <a:xfrm>
            <a:off x="548640" y="5687568"/>
            <a:ext cx="11064240" cy="365760"/>
          </a:xfrm>
          <a:prstGeom prst="rect">
            <a:avLst/>
          </a:prstGeom>
          <a:noFill/>
        </p:spPr>
        <p:txBody>
          <a:bodyPr wrap="square" lIns="45720" rIns="45720" tIns="27432" bIns="27432" anchor="t">
            <a:spAutoFit/>
          </a:bodyPr>
          <a:lstStyle/>
          <a:p>
            <a:pPr algn="l">
              <a:lnSpc>
                <a:spcPct val="105000"/>
              </a:lnSpc>
              <a:spcAft>
                <a:spcPts val="0"/>
              </a:spcAft>
            </a:pPr>
            <a:r>
              <a:rPr lang="en-GB" sz="1400" b="1" i="0" dirty="0">
                <a:solidFill>
                  <a:srgbClr val="6E1E2A"/>
                </a:solidFill>
                <a:latin typeface="Times New Roman"/>
              </a:rPr>
              <a:t>VERDICT: </a:t>
            </a:r>
            <a:r>
              <a:rPr lang="en-GB" sz="1400" b="0" i="0" dirty="0">
                <a:solidFill>
                  <a:srgbClr val="2A2218"/>
                </a:solidFill>
                <a:latin typeface="Times New Roman"/>
              </a:rPr>
              <a:t>V and R pass, I passes on trust alone, O is not yet met, so the advantage is temporary until the team and trust are built.</a:t>
            </a:r>
          </a:p>
        </p:txBody>
      </p:sp>
      <p:sp>
        <p:nvSpPr>
          <p:cNvPr id="36" name="VRIO source"/>
          <p:cNvSpPr txBox="1"/>
          <p:nvPr/>
        </p:nvSpPr>
        <p:spPr>
          <a:xfrm>
            <a:off x="548640" y="6144768"/>
            <a:ext cx="5486400" cy="246888"/>
          </a:xfrm>
          <a:prstGeom prst="rect">
            <a:avLst/>
          </a:prstGeom>
          <a:noFill/>
        </p:spPr>
        <p:txBody>
          <a:bodyPr wrap="square" lIns="45720" rIns="45720" tIns="27432" bIns="27432" anchor="t">
            <a:spAutoFit/>
          </a:bodyPr>
          <a:lstStyle/>
          <a:p>
            <a:pPr algn="l">
              <a:lnSpc>
                <a:spcPct val="105000"/>
              </a:lnSpc>
              <a:spcAft>
                <a:spcPts val="0"/>
              </a:spcAft>
            </a:pPr>
            <a:r>
              <a:rPr lang="en-GB" sz="1100" b="0" i="1" dirty="0">
                <a:solidFill>
                  <a:srgbClr val="7A7060"/>
                </a:solidFill>
                <a:latin typeface="Times New Roman"/>
              </a:rPr>
              <a:t>(Barney, 1991)</a:t>
            </a:r>
          </a:p>
        </p:txBody>
      </p:sp>
    </p:spTree>
    <p:extLst>
      <p:ext uri="{BB962C8B-B14F-4D97-AF65-F5344CB8AC3E}">
        <p14:creationId xmlns:p14="http://schemas.microsoft.com/office/powerpoint/2010/main" val="810683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959D69-9C71-4FDB-B5B8-C8373F4FEC39}"/>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ETHICS &amp; RISK</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1800" b="0" i="0">
                <a:solidFill>
                  <a:srgbClr val="2A2218"/>
                </a:solidFill>
                <a:latin typeface="Times New Roman"/>
              </a:rPr>
              <a:t>Ethics: talent receive verifiable, fair payment, but immutability must not override people's data rights.</a:t>
            </a:r>
          </a:p>
        </p:txBody>
      </p:sp>
      <p:sp>
        <p:nvSpPr>
          <p:cNvPr id="6" name="Rectangle 5"/>
          <p:cNvSpPr/>
          <p:nvPr/>
        </p:nvSpPr>
        <p:spPr>
          <a:xfrm>
            <a:off x="548640" y="2240280"/>
            <a:ext cx="3566160" cy="41148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19" y="2468879"/>
            <a:ext cx="640080" cy="64008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3135" y="259049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468880"/>
            <a:ext cx="251460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Data privacy</a:t>
            </a:r>
          </a:p>
        </p:txBody>
      </p:sp>
      <p:sp>
        <p:nvSpPr>
          <p:cNvPr id="10" name="TextBox 9"/>
          <p:cNvSpPr txBox="1"/>
          <p:nvPr/>
        </p:nvSpPr>
        <p:spPr>
          <a:xfrm>
            <a:off x="685800" y="329184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RISK</a:t>
            </a:r>
          </a:p>
        </p:txBody>
      </p:sp>
      <p:sp>
        <p:nvSpPr>
          <p:cNvPr id="11" name="TextBox 10"/>
          <p:cNvSpPr txBox="1"/>
          <p:nvPr/>
        </p:nvSpPr>
        <p:spPr>
          <a:xfrm>
            <a:off x="685800" y="3566160"/>
            <a:ext cx="3291840" cy="12344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Ledger entries can hold commercially sensitive or personal data, yet some laws let people correct or erase their data.</a:t>
            </a:r>
          </a:p>
        </p:txBody>
      </p:sp>
      <p:sp>
        <p:nvSpPr>
          <p:cNvPr id="12" name="TextBox 11"/>
          <p:cNvSpPr txBox="1"/>
          <p:nvPr/>
        </p:nvSpPr>
        <p:spPr>
          <a:xfrm>
            <a:off x="685800" y="48463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CONTROL</a:t>
            </a:r>
          </a:p>
        </p:txBody>
      </p:sp>
      <p:sp>
        <p:nvSpPr>
          <p:cNvPr id="13" name="TextBox 12"/>
          <p:cNvSpPr txBox="1"/>
          <p:nvPr/>
        </p:nvSpPr>
        <p:spPr>
          <a:xfrm>
            <a:off x="685800" y="5120640"/>
            <a:ext cx="329184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Keep personal data off the ledger; record only a verification hash.</a:t>
            </a:r>
          </a:p>
        </p:txBody>
      </p:sp>
      <p:sp>
        <p:nvSpPr>
          <p:cNvPr id="14" name="Rectangle 13"/>
          <p:cNvSpPr/>
          <p:nvPr/>
        </p:nvSpPr>
        <p:spPr>
          <a:xfrm>
            <a:off x="4311396" y="2240280"/>
            <a:ext cx="3566160" cy="41148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94276" y="2468879"/>
            <a:ext cx="640080" cy="64008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15891" y="259049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25796" y="2468880"/>
            <a:ext cx="251460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Cross-border regulation</a:t>
            </a:r>
          </a:p>
        </p:txBody>
      </p:sp>
      <p:sp>
        <p:nvSpPr>
          <p:cNvPr id="18" name="TextBox 17"/>
          <p:cNvSpPr txBox="1"/>
          <p:nvPr/>
        </p:nvSpPr>
        <p:spPr>
          <a:xfrm>
            <a:off x="4448556" y="329184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RISK</a:t>
            </a:r>
          </a:p>
        </p:txBody>
      </p:sp>
      <p:sp>
        <p:nvSpPr>
          <p:cNvPr id="19" name="TextBox 18"/>
          <p:cNvSpPr txBox="1"/>
          <p:nvPr/>
        </p:nvSpPr>
        <p:spPr>
          <a:xfrm>
            <a:off x="4448556" y="3566160"/>
            <a:ext cx="3291840" cy="12344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No settled international standard for enforcing smart-contract royalties across jurisdictions.</a:t>
            </a:r>
          </a:p>
        </p:txBody>
      </p:sp>
      <p:sp>
        <p:nvSpPr>
          <p:cNvPr id="20" name="TextBox 19"/>
          <p:cNvSpPr txBox="1"/>
          <p:nvPr/>
        </p:nvSpPr>
        <p:spPr>
          <a:xfrm>
            <a:off x="4448556" y="48463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CONTROL</a:t>
            </a:r>
          </a:p>
        </p:txBody>
      </p:sp>
      <p:sp>
        <p:nvSpPr>
          <p:cNvPr id="21" name="TextBox 20"/>
          <p:cNvSpPr txBox="1"/>
          <p:nvPr/>
        </p:nvSpPr>
        <p:spPr>
          <a:xfrm>
            <a:off x="4448556" y="5120640"/>
            <a:ext cx="329184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Phased rollout by territory, starting where digital-contract law is clearer.</a:t>
            </a:r>
          </a:p>
        </p:txBody>
      </p:sp>
      <p:sp>
        <p:nvSpPr>
          <p:cNvPr id="22" name="Rectangle 21"/>
          <p:cNvSpPr/>
          <p:nvPr/>
        </p:nvSpPr>
        <p:spPr>
          <a:xfrm>
            <a:off x="8074152" y="2240280"/>
            <a:ext cx="3566160" cy="41148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57032" y="2468879"/>
            <a:ext cx="640080" cy="64008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78647" y="259049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88552" y="2468880"/>
            <a:ext cx="251460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Smart-contract error</a:t>
            </a:r>
          </a:p>
        </p:txBody>
      </p:sp>
      <p:sp>
        <p:nvSpPr>
          <p:cNvPr id="26" name="TextBox 25"/>
          <p:cNvSpPr txBox="1"/>
          <p:nvPr/>
        </p:nvSpPr>
        <p:spPr>
          <a:xfrm>
            <a:off x="8211312" y="329184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RISK</a:t>
            </a:r>
          </a:p>
        </p:txBody>
      </p:sp>
      <p:sp>
        <p:nvSpPr>
          <p:cNvPr id="27" name="TextBox 26"/>
          <p:cNvSpPr txBox="1"/>
          <p:nvPr/>
        </p:nvSpPr>
        <p:spPr>
          <a:xfrm>
            <a:off x="8211312" y="3566160"/>
            <a:ext cx="3291840" cy="12344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The most serious risk: a wrong term in code keeps paying the wrong party until someone notices.</a:t>
            </a:r>
          </a:p>
        </p:txBody>
      </p:sp>
      <p:sp>
        <p:nvSpPr>
          <p:cNvPr id="28" name="TextBox 27"/>
          <p:cNvSpPr txBox="1"/>
          <p:nvPr/>
        </p:nvSpPr>
        <p:spPr>
          <a:xfrm>
            <a:off x="8211312" y="48463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CONTROL</a:t>
            </a:r>
          </a:p>
        </p:txBody>
      </p:sp>
      <p:sp>
        <p:nvSpPr>
          <p:cNvPr id="29" name="TextBox 28"/>
          <p:cNvSpPr txBox="1"/>
          <p:nvPr/>
        </p:nvSpPr>
        <p:spPr>
          <a:xfrm>
            <a:off x="8211312" y="5120640"/>
            <a:ext cx="329184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Legal and technical sign-off before go-live, plus a manual override and dispute freeze.</a:t>
            </a:r>
          </a:p>
        </p:txBody>
      </p:sp>
      <p:sp>
        <p:nvSpPr>
          <p:cNvPr id="30" name="TextBox 29"/>
          <p:cNvSpPr txBox="1"/>
          <p:nvPr/>
        </p:nvSpPr>
        <p:spPr>
          <a:xfrm>
            <a:off x="11155680" y="6355080"/>
            <a:ext cx="822960" cy="365760"/>
          </a:xfrm>
          <a:prstGeom prst="rect">
            <a:avLst/>
          </a:prstGeom>
          <a:noFill/>
        </p:spPr>
        <p:txBody>
          <a:bodyPr wrap="square" lIns="45720" rIns="45720" tIns="27432" bIns="27432" anchor="t">
            <a:spAutoFit/>
          </a:bodyPr>
          <a:lstStyle/>
          <a:p>
            <a:pPr algn="r">
              <a:lnSpc>
                <a:spcPct val="105000"/>
              </a:lnSpc>
              <a:spcAft>
                <a:spcPts val="0"/>
              </a:spcAft>
            </a:pPr>
            <a:r>
              <a:rPr sz="1000" b="0" i="0">
                <a:solidFill>
                  <a:srgbClr val="7A7060"/>
                </a:solidFill>
                <a:latin typeface="Times New Roman"/>
              </a:rPr>
              <a:t>11</a:t>
            </a:r>
          </a:p>
        </p:txBody>
      </p:sp>
    </p:spTree>
    <p:extLst>
      <p:ext uri="{BB962C8B-B14F-4D97-AF65-F5344CB8AC3E}">
        <p14:creationId xmlns:p14="http://schemas.microsoft.com/office/powerpoint/2010/main" val="3028663827"/>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a:extLst>
              <a:ext uri="{FF2B5EF4-FFF2-40B4-BE49-F238E27FC236}">
                <a16:creationId xmlns:a16="http://schemas.microsoft.com/office/drawing/2014/main" id="{53959D69-9C71-4FDB-B5B8-C8373F4FEC39}"/>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RECOMMENDATIONS</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Three practical steps to make the ledger work for Apple TV+.</a:t>
            </a:r>
          </a:p>
        </p:txBody>
      </p:sp>
      <p:sp>
        <p:nvSpPr>
          <p:cNvPr id="6" name="Rectangle 5"/>
          <p:cNvSpPr/>
          <p:nvPr/>
        </p:nvSpPr>
        <p:spPr>
          <a:xfrm>
            <a:off x="548640" y="2011680"/>
            <a:ext cx="11091672" cy="128016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731520" cy="73152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86000"/>
            <a:ext cx="731520" cy="731520"/>
          </a:xfrm>
          <a:prstGeom prst="rect">
            <a:avLst/>
          </a:prstGeom>
          <a:noFill/>
        </p:spPr>
        <p:txBody>
          <a:bodyPr wrap="square" lIns="45720" rIns="45720" tIns="27432" bIns="27432" anchor="ctr">
            <a:spAutoFit/>
          </a:bodyPr>
          <a:lstStyle/>
          <a:p>
            <a:pPr algn="ctr">
              <a:lnSpc>
                <a:spcPct val="105000"/>
              </a:lnSpc>
              <a:spcAft>
                <a:spcPts val="0"/>
              </a:spcAft>
            </a:pPr>
            <a:r>
              <a:rPr sz="2800" b="1" i="0">
                <a:solidFill>
                  <a:srgbClr val="FFFFFF"/>
                </a:solidFill>
                <a:latin typeface="Times New Roman"/>
              </a:rPr>
              <a:t>1</a:t>
            </a:r>
          </a:p>
        </p:txBody>
      </p:sp>
      <p:sp>
        <p:nvSpPr>
          <p:cNvPr id="9" name="TextBox 8"/>
          <p:cNvSpPr txBox="1"/>
          <p:nvPr/>
        </p:nvSpPr>
        <p:spPr>
          <a:xfrm>
            <a:off x="1783080" y="2121408"/>
            <a:ext cx="9601200" cy="36576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2A2218"/>
                </a:solidFill>
                <a:latin typeface="Times New Roman"/>
              </a:rPr>
              <a:t>Set up a standing governance review</a:t>
            </a:r>
          </a:p>
        </p:txBody>
      </p:sp>
      <p:sp>
        <p:nvSpPr>
          <p:cNvPr id="10" name="TextBox 9"/>
          <p:cNvSpPr txBox="1"/>
          <p:nvPr/>
        </p:nvSpPr>
        <p:spPr>
          <a:xfrm>
            <a:off x="1783080" y="2514600"/>
            <a:ext cx="9601200" cy="7315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Legal, Rights Ops and Finance meet every quarter to check the ledger still cuts cost and disputes as new territories and rights types are added.</a:t>
            </a:r>
          </a:p>
        </p:txBody>
      </p:sp>
      <p:sp>
        <p:nvSpPr>
          <p:cNvPr id="11" name="Rectangle 10"/>
          <p:cNvSpPr/>
          <p:nvPr/>
        </p:nvSpPr>
        <p:spPr>
          <a:xfrm>
            <a:off x="548640" y="3429000"/>
            <a:ext cx="11091672" cy="128016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3703320"/>
            <a:ext cx="731520" cy="73152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03320"/>
            <a:ext cx="731520" cy="731520"/>
          </a:xfrm>
          <a:prstGeom prst="rect">
            <a:avLst/>
          </a:prstGeom>
          <a:noFill/>
        </p:spPr>
        <p:txBody>
          <a:bodyPr wrap="square" lIns="45720" rIns="45720" tIns="27432" bIns="27432" anchor="ctr">
            <a:spAutoFit/>
          </a:bodyPr>
          <a:lstStyle/>
          <a:p>
            <a:pPr algn="ctr">
              <a:lnSpc>
                <a:spcPct val="105000"/>
              </a:lnSpc>
              <a:spcAft>
                <a:spcPts val="0"/>
              </a:spcAft>
            </a:pPr>
            <a:r>
              <a:rPr sz="2800" b="1" i="0">
                <a:solidFill>
                  <a:srgbClr val="FFFFFF"/>
                </a:solidFill>
                <a:latin typeface="Times New Roman"/>
              </a:rPr>
              <a:t>2</a:t>
            </a:r>
          </a:p>
        </p:txBody>
      </p:sp>
      <p:sp>
        <p:nvSpPr>
          <p:cNvPr id="14" name="TextBox 13"/>
          <p:cNvSpPr txBox="1"/>
          <p:nvPr/>
        </p:nvSpPr>
        <p:spPr>
          <a:xfrm>
            <a:off x="1783080" y="3538728"/>
            <a:ext cx="9601200" cy="36576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2A2218"/>
                </a:solidFill>
                <a:latin typeface="Times New Roman"/>
              </a:rPr>
              <a:t>Require dual sign-off before go-live</a:t>
            </a:r>
          </a:p>
        </p:txBody>
      </p:sp>
      <p:sp>
        <p:nvSpPr>
          <p:cNvPr id="15" name="TextBox 14"/>
          <p:cNvSpPr txBox="1"/>
          <p:nvPr/>
        </p:nvSpPr>
        <p:spPr>
          <a:xfrm>
            <a:off x="1783080" y="3931920"/>
            <a:ext cx="9601200" cy="7315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A legal and a technical sign-off on every smart contract that controls live payments, with a manual override and a freeze for disputed payments.</a:t>
            </a:r>
          </a:p>
        </p:txBody>
      </p:sp>
      <p:sp>
        <p:nvSpPr>
          <p:cNvPr id="16" name="Rectangle 15"/>
          <p:cNvSpPr/>
          <p:nvPr/>
        </p:nvSpPr>
        <p:spPr>
          <a:xfrm>
            <a:off x="548640" y="4846320"/>
            <a:ext cx="11091672" cy="128016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5120640"/>
            <a:ext cx="731520" cy="73152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20640"/>
            <a:ext cx="731520" cy="731520"/>
          </a:xfrm>
          <a:prstGeom prst="rect">
            <a:avLst/>
          </a:prstGeom>
          <a:noFill/>
        </p:spPr>
        <p:txBody>
          <a:bodyPr wrap="square" lIns="45720" rIns="45720" tIns="27432" bIns="27432" anchor="ctr">
            <a:spAutoFit/>
          </a:bodyPr>
          <a:lstStyle/>
          <a:p>
            <a:pPr algn="ctr">
              <a:lnSpc>
                <a:spcPct val="105000"/>
              </a:lnSpc>
              <a:spcAft>
                <a:spcPts val="0"/>
              </a:spcAft>
            </a:pPr>
            <a:r>
              <a:rPr sz="2800" b="1" i="0">
                <a:solidFill>
                  <a:srgbClr val="FFFFFF"/>
                </a:solidFill>
                <a:latin typeface="Times New Roman"/>
              </a:rPr>
              <a:t>3</a:t>
            </a:r>
          </a:p>
        </p:txBody>
      </p:sp>
      <p:sp>
        <p:nvSpPr>
          <p:cNvPr id="19" name="TextBox 18"/>
          <p:cNvSpPr txBox="1"/>
          <p:nvPr/>
        </p:nvSpPr>
        <p:spPr>
          <a:xfrm>
            <a:off x="1783080" y="4956048"/>
            <a:ext cx="9601200" cy="36576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2A2218"/>
                </a:solidFill>
                <a:latin typeface="Times New Roman"/>
              </a:rPr>
              <a:t>Invest in relationships, not just technology</a:t>
            </a:r>
          </a:p>
        </p:txBody>
      </p:sp>
      <p:sp>
        <p:nvSpPr>
          <p:cNvPr id="20" name="TextBox 19"/>
          <p:cNvSpPr txBox="1"/>
          <p:nvPr/>
        </p:nvSpPr>
        <p:spPr>
          <a:xfrm>
            <a:off x="1783080" y="5349240"/>
            <a:ext cx="9601200" cy="7315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Give talent and rights holders visible payment history and clear timelines. Competitors will copy the tech; trust built over time is harder to copy.</a:t>
            </a:r>
          </a:p>
        </p:txBody>
      </p:sp>
      <p:sp>
        <p:nvSpPr>
          <p:cNvPr id="21" name="TextBox 20"/>
          <p:cNvSpPr txBox="1"/>
          <p:nvPr/>
        </p:nvSpPr>
        <p:spPr>
          <a:xfrm>
            <a:off x="11155680" y="6355080"/>
            <a:ext cx="822960" cy="365760"/>
          </a:xfrm>
          <a:prstGeom prst="rect">
            <a:avLst/>
          </a:prstGeom>
          <a:noFill/>
        </p:spPr>
        <p:txBody>
          <a:bodyPr wrap="square" lIns="45720" rIns="45720" tIns="27432" bIns="27432" anchor="t">
            <a:spAutoFit/>
          </a:bodyPr>
          <a:lstStyle/>
          <a:p>
            <a:pPr algn="r">
              <a:lnSpc>
                <a:spcPct val="105000"/>
              </a:lnSpc>
              <a:spcAft>
                <a:spcPts val="0"/>
              </a:spcAft>
            </a:pPr>
            <a:r>
              <a:rPr sz="1000" b="0" i="0">
                <a:solidFill>
                  <a:srgbClr val="7A7060"/>
                </a:solidFill>
                <a:latin typeface="Times New Roman"/>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5749FB7-5BB1-4471-BEFC-654E6D36581E}"/>
              </a:ext>
            </a:extLst>
          </p:cNvPr>
          <p:cNvSpPr txBox="1"/>
          <p:nvPr/>
        </p:nvSpPr>
        <p:spPr>
          <a:xfrm>
            <a:off x="548640" y="411480"/>
            <a:ext cx="11091672"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E6612BCA-9A3C-4F0B-A80B-DC3DAF8AE56B}"/>
              </a:ext>
            </a:extLst>
          </p:cNvPr>
          <p:cNvSpPr txBox="1"/>
          <p:nvPr/>
        </p:nvSpPr>
        <p:spPr>
          <a:xfrm>
            <a:off x="548640" y="1371600"/>
            <a:ext cx="10789920" cy="394788"/>
          </a:xfrm>
          <a:prstGeom prst="rect">
            <a:avLst/>
          </a:prstGeom>
          <a:noFill/>
        </p:spPr>
        <p:txBody>
          <a:bodyPr wrap="square">
            <a:spAutoFit/>
          </a:bodyPr>
          <a:lstStyle/>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Yes</a:t>
            </a:r>
            <a:r>
              <a:rPr lang="en-US" sz="2000" i="0" dirty="0">
                <a:solidFill>
                  <a:srgbClr val="2A2218"/>
                </a:solidFill>
                <a:latin typeface="Times New Roman" panose="02020603050405020304" pitchFamily="18" charset="0"/>
                <a:cs typeface="Times New Roman" panose="02020603050405020304" pitchFamily="18" charset="0"/>
              </a:rPr>
              <a:t>; </a:t>
            </a:r>
            <a:r>
              <a:rPr sz="2000" i="0" dirty="0">
                <a:solidFill>
                  <a:srgbClr val="2A2218"/>
                </a:solidFill>
                <a:latin typeface="Times New Roman" panose="02020603050405020304" pitchFamily="18" charset="0"/>
                <a:cs typeface="Times New Roman" panose="02020603050405020304" pitchFamily="18" charset="0"/>
              </a:rPr>
              <a:t>if the ledger is governed as law,</a:t>
            </a:r>
            <a:r>
              <a:rPr lang="en-US" sz="2000" i="0" dirty="0">
                <a:solidFill>
                  <a:srgbClr val="2A2218"/>
                </a:solidFill>
                <a:latin typeface="Times New Roman" panose="02020603050405020304" pitchFamily="18" charset="0"/>
                <a:cs typeface="Times New Roman" panose="02020603050405020304" pitchFamily="18" charset="0"/>
              </a:rPr>
              <a:t> </a:t>
            </a:r>
            <a:r>
              <a:rPr sz="2000" i="0" dirty="0">
                <a:solidFill>
                  <a:srgbClr val="2A2218"/>
                </a:solidFill>
                <a:latin typeface="Times New Roman" panose="02020603050405020304" pitchFamily="18" charset="0"/>
                <a:cs typeface="Times New Roman" panose="02020603050405020304" pitchFamily="18" charset="0"/>
              </a:rPr>
              <a:t>not deployed as a technical fix.</a:t>
            </a:r>
          </a:p>
        </p:txBody>
      </p:sp>
      <p:sp>
        <p:nvSpPr>
          <p:cNvPr id="8" name="TextBox 7"/>
          <p:cNvSpPr txBox="1"/>
          <p:nvPr/>
        </p:nvSpPr>
        <p:spPr>
          <a:xfrm>
            <a:off x="548640" y="2331720"/>
            <a:ext cx="11064240" cy="45720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7A7060"/>
                </a:solidFill>
                <a:latin typeface="Times New Roman"/>
              </a:rPr>
              <a:t>KEY TAKEAWAYS</a:t>
            </a:r>
          </a:p>
        </p:txBody>
      </p:sp>
      <p:sp>
        <p:nvSpPr>
          <p:cNvPr id="9" name="Rectangle 8"/>
          <p:cNvSpPr/>
          <p:nvPr/>
        </p:nvSpPr>
        <p:spPr>
          <a:xfrm>
            <a:off x="548640" y="2788920"/>
            <a:ext cx="3566160" cy="32004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3108960"/>
            <a:ext cx="640080" cy="64008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8855" y="323057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3108960"/>
            <a:ext cx="242316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Real gains, one new risk</a:t>
            </a:r>
          </a:p>
        </p:txBody>
      </p:sp>
      <p:sp>
        <p:nvSpPr>
          <p:cNvPr id="13" name="TextBox 12"/>
          <p:cNvSpPr txBox="1"/>
          <p:nvPr/>
        </p:nvSpPr>
        <p:spPr>
          <a:xfrm>
            <a:off x="731520" y="4023360"/>
            <a:ext cx="3200400" cy="1828800"/>
          </a:xfrm>
          <a:prstGeom prst="rect">
            <a:avLst/>
          </a:prstGeom>
          <a:noFill/>
        </p:spPr>
        <p:txBody>
          <a:bodyPr wrap="square" lIns="45720" rIns="45720" tIns="27432" bIns="27432" anchor="t">
            <a:spAutoFit/>
          </a:bodyPr>
          <a:lstStyle/>
          <a:p>
            <a:pPr algn="l">
              <a:lnSpc>
                <a:spcPct val="105000"/>
              </a:lnSpc>
              <a:spcAft>
                <a:spcPts val="0"/>
              </a:spcAft>
            </a:pPr>
            <a:r>
              <a:rPr sz="1500" b="0" i="0">
                <a:solidFill>
                  <a:srgbClr val="2A2218"/>
                </a:solidFill>
                <a:latin typeface="Times New Roman"/>
              </a:rPr>
              <a:t>Automation cuts payment errors and disputes, but a wrongly coded term becomes the risk to control.</a:t>
            </a:r>
          </a:p>
        </p:txBody>
      </p:sp>
      <p:sp>
        <p:nvSpPr>
          <p:cNvPr id="14" name="Rectangle 13"/>
          <p:cNvSpPr/>
          <p:nvPr/>
        </p:nvSpPr>
        <p:spPr>
          <a:xfrm>
            <a:off x="4311396" y="2788920"/>
            <a:ext cx="3566160" cy="32004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9996" y="3108960"/>
            <a:ext cx="640080" cy="64008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1611" y="323057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7236" y="3108960"/>
            <a:ext cx="242316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Legal concerns are legitimate</a:t>
            </a:r>
          </a:p>
        </p:txBody>
      </p:sp>
      <p:sp>
        <p:nvSpPr>
          <p:cNvPr id="18" name="TextBox 17"/>
          <p:cNvSpPr txBox="1"/>
          <p:nvPr/>
        </p:nvSpPr>
        <p:spPr>
          <a:xfrm>
            <a:off x="4494276" y="4023360"/>
            <a:ext cx="3200400" cy="1828800"/>
          </a:xfrm>
          <a:prstGeom prst="rect">
            <a:avLst/>
          </a:prstGeom>
          <a:noFill/>
        </p:spPr>
        <p:txBody>
          <a:bodyPr wrap="square" lIns="45720" rIns="45720" tIns="27432" bIns="27432" anchor="t">
            <a:spAutoFit/>
          </a:bodyPr>
          <a:lstStyle/>
          <a:p>
            <a:pPr algn="l">
              <a:lnSpc>
                <a:spcPct val="105000"/>
              </a:lnSpc>
              <a:spcAft>
                <a:spcPts val="0"/>
              </a:spcAft>
            </a:pPr>
            <a:r>
              <a:rPr sz="1500" b="0" i="0">
                <a:solidFill>
                  <a:srgbClr val="2A2218"/>
                </a:solidFill>
                <a:latin typeface="Times New Roman"/>
              </a:rPr>
              <a:t>Regulation, enforceability and integration are real questions. Answer them with phased rollout and legal review.</a:t>
            </a:r>
          </a:p>
        </p:txBody>
      </p:sp>
      <p:sp>
        <p:nvSpPr>
          <p:cNvPr id="19" name="Rectangle 18"/>
          <p:cNvSpPr/>
          <p:nvPr/>
        </p:nvSpPr>
        <p:spPr>
          <a:xfrm>
            <a:off x="8074152" y="2788920"/>
            <a:ext cx="3566160" cy="32004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02752" y="3108960"/>
            <a:ext cx="640080" cy="64008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24367" y="323057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9992" y="3108960"/>
            <a:ext cx="242316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Trust is the lasting edge</a:t>
            </a:r>
          </a:p>
        </p:txBody>
      </p:sp>
      <p:sp>
        <p:nvSpPr>
          <p:cNvPr id="23" name="TextBox 22"/>
          <p:cNvSpPr txBox="1"/>
          <p:nvPr/>
        </p:nvSpPr>
        <p:spPr>
          <a:xfrm>
            <a:off x="8257031" y="4023360"/>
            <a:ext cx="3200400" cy="1828800"/>
          </a:xfrm>
          <a:prstGeom prst="rect">
            <a:avLst/>
          </a:prstGeom>
          <a:noFill/>
        </p:spPr>
        <p:txBody>
          <a:bodyPr wrap="square" lIns="45720" rIns="45720" tIns="27432" bIns="27432" anchor="t">
            <a:spAutoFit/>
          </a:bodyPr>
          <a:lstStyle/>
          <a:p>
            <a:pPr algn="l">
              <a:lnSpc>
                <a:spcPct val="105000"/>
              </a:lnSpc>
              <a:spcAft>
                <a:spcPts val="0"/>
              </a:spcAft>
            </a:pPr>
            <a:r>
              <a:rPr sz="1500" b="0" i="0">
                <a:solidFill>
                  <a:srgbClr val="2A2218"/>
                </a:solidFill>
                <a:latin typeface="Times New Roman"/>
              </a:rPr>
              <a:t>Competitors will copy the technology. Accumulated trust with talent and rights holders is what stays.</a:t>
            </a:r>
          </a:p>
        </p:txBody>
      </p:sp>
      <p:sp>
        <p:nvSpPr>
          <p:cNvPr id="24" name="TextBox 23"/>
          <p:cNvSpPr txBox="1"/>
          <p:nvPr/>
        </p:nvSpPr>
        <p:spPr>
          <a:xfrm>
            <a:off x="11155680" y="6355080"/>
            <a:ext cx="822960" cy="365760"/>
          </a:xfrm>
          <a:prstGeom prst="rect">
            <a:avLst/>
          </a:prstGeom>
          <a:noFill/>
        </p:spPr>
        <p:txBody>
          <a:bodyPr wrap="square" lIns="45720" rIns="45720" tIns="27432" bIns="27432" anchor="t">
            <a:spAutoFit/>
          </a:bodyPr>
          <a:lstStyle/>
          <a:p>
            <a:pPr algn="r">
              <a:lnSpc>
                <a:spcPct val="105000"/>
              </a:lnSpc>
              <a:spcAft>
                <a:spcPts val="0"/>
              </a:spcAft>
            </a:pPr>
            <a:r>
              <a:rPr sz="1000" b="0" i="0">
                <a:solidFill>
                  <a:srgbClr val="7A7060"/>
                </a:solidFill>
                <a:latin typeface="Times New Roman"/>
              </a:rPr>
              <a:t>13</a:t>
            </a:r>
          </a:p>
        </p:txBody>
      </p:sp>
    </p:spTree>
    <p:extLst>
      <p:ext uri="{BB962C8B-B14F-4D97-AF65-F5344CB8AC3E}">
        <p14:creationId xmlns:p14="http://schemas.microsoft.com/office/powerpoint/2010/main" val="2175281024"/>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11480"/>
            <a:ext cx="11091672" cy="521207"/>
          </a:xfrm>
          <a:prstGeom prst="rect">
            <a:avLst/>
          </a:prstGeom>
          <a:noFill/>
        </p:spPr>
        <p:txBody>
          <a:bodyPr wrap="square" anchor="t" lIns="45720" rIns="45720" tIns="27432" bIns="27432">
            <a:spAutoFit/>
          </a:bodyPr>
          <a:lstStyle/>
          <a:p>
            <a:pPr algn="ctr"/>
            <a:r>
              <a:rPr sz="2800" b="1" i="0">
                <a:solidFill>
                  <a:srgbClr val="6E1E2A"/>
                </a:solidFill>
                <a:latin typeface="Times New Roman"/>
              </a:rPr>
              <a:t>REFERENCES</a:t>
            </a:r>
          </a:p>
        </p:txBody>
      </p:sp>
      <p:sp>
        <p:nvSpPr>
          <p:cNvPr id="3" name="References column 1"/>
          <p:cNvSpPr txBox="1"/>
          <p:nvPr/>
        </p:nvSpPr>
        <p:spPr>
          <a:xfrm>
            <a:off x="548640" y="1188720"/>
            <a:ext cx="5440680" cy="5029200"/>
          </a:xfrm>
          <a:prstGeom prst="rect">
            <a:avLst/>
          </a:prstGeom>
          <a:noFill/>
        </p:spPr>
        <p:txBody>
          <a:bodyPr wrap="square">
            <a:spAutoFit/>
          </a:bodyPr>
          <a:lstStyle/>
          <a:p>
            <a:pPr>
              <a:spcAft>
                <a:spcPts val="500"/>
              </a:spcAft>
            </a:pPr>
            <a:r>
              <a:rPr sz="1000">
                <a:solidFill>
                  <a:srgbClr val="2A2218"/>
                </a:solidFill>
                <a:latin typeface="Times New Roman"/>
              </a:rPr>
              <a:t>9to5Mac (2024) 'Apple TV+ will license its movies to other services to reduce losses, per report', 18 November. Available at: https://9to5mac.com/2024/11/18/apple-tv-will-license-its-movies-to-other-services-to-reduce-losses-per-report/ (Accessed: 22 August 2026).</a:t>
            </a:r>
          </a:p>
          <a:p>
            <a:pPr>
              <a:spcAft>
                <a:spcPts val="500"/>
              </a:spcAft>
            </a:pPr>
            <a:r>
              <a:rPr sz="1000">
                <a:solidFill>
                  <a:srgbClr val="2A2218"/>
                </a:solidFill>
                <a:latin typeface="Times New Roman"/>
              </a:rPr>
              <a:t>Barney, J. (1991) 'Firm resources and sustained competitive advantage', Journal of Management, 17(1), pp. 99–120.</a:t>
            </a:r>
          </a:p>
          <a:p>
            <a:pPr>
              <a:spcAft>
                <a:spcPts val="500"/>
              </a:spcAft>
            </a:pPr>
            <a:r>
              <a:rPr sz="1000">
                <a:solidFill>
                  <a:srgbClr val="2A2218"/>
                </a:solidFill>
                <a:latin typeface="Times New Roman"/>
              </a:rPr>
              <a:t>Billboard (2023) 'The MLC receives over $424M in unmatched "black box" streaming royalties'. Available at: https://www.themlc.com/news/billboard-mlc-receives-over-424m-unmatched-black-box-streaming-royalties (Accessed: 23 August 2026).</a:t>
            </a:r>
          </a:p>
          <a:p>
            <a:pPr>
              <a:spcAft>
                <a:spcPts val="500"/>
              </a:spcAft>
            </a:pPr>
            <a:r>
              <a:rPr sz="1000">
                <a:solidFill>
                  <a:srgbClr val="2A2218"/>
                </a:solidFill>
                <a:latin typeface="Times New Roman"/>
              </a:rPr>
              <a:t>Davis, F.D. (1989) 'Perceived usefulness, perceived ease of use, and user acceptance of information technology', MIS Quarterly, 13(3), pp. 319–340.</a:t>
            </a:r>
          </a:p>
          <a:p>
            <a:pPr>
              <a:spcAft>
                <a:spcPts val="500"/>
              </a:spcAft>
            </a:pPr>
            <a:r>
              <a:rPr sz="1000">
                <a:solidFill>
                  <a:srgbClr val="2A2218"/>
                </a:solidFill>
                <a:latin typeface="Times New Roman"/>
              </a:rPr>
              <a:t>Deloitte (2019) 'Deloitte's 2019 Global Blockchain Survey: Blockchain gets down to business'. Deloitte Insights.</a:t>
            </a:r>
          </a:p>
          <a:p>
            <a:pPr>
              <a:spcAft>
                <a:spcPts val="500"/>
              </a:spcAft>
            </a:pPr>
            <a:r>
              <a:rPr sz="1000">
                <a:solidFill>
                  <a:srgbClr val="2A2218"/>
                </a:solidFill>
                <a:latin typeface="Times New Roman"/>
              </a:rPr>
              <a:t>DiMaggio, P.J. and Powell, W.W. (1983) 'The iron cage revisited: institutional isomorphism and collective rationality in organizational fields', American Sociological Review, 48(2), pp. 147–160.</a:t>
            </a:r>
          </a:p>
          <a:p>
            <a:pPr>
              <a:spcAft>
                <a:spcPts val="500"/>
              </a:spcAft>
            </a:pPr>
            <a:r>
              <a:rPr sz="1000">
                <a:solidFill>
                  <a:srgbClr val="2A2218"/>
                </a:solidFill>
                <a:latin typeface="Times New Roman"/>
              </a:rPr>
              <a:t>European Parliament and Council (2016) Regulation (EU) 2016/679 (General Data Protection Regulation). Official Journal of the European Union, L119, pp. 1–88.</a:t>
            </a:r>
          </a:p>
          <a:p>
            <a:pPr>
              <a:spcAft>
                <a:spcPts val="500"/>
              </a:spcAft>
            </a:pPr>
            <a:r>
              <a:rPr sz="1000">
                <a:solidFill>
                  <a:srgbClr val="2A2218"/>
                </a:solidFill>
                <a:latin typeface="Times New Roman"/>
              </a:rPr>
              <a:t>Finck, M. (2018) 'Blockchains and data protection in the European Union', European Data Protection Law Review, 4(1), pp. 17–35.</a:t>
            </a:r>
          </a:p>
          <a:p>
            <a:pPr>
              <a:spcAft>
                <a:spcPts val="500"/>
              </a:spcAft>
            </a:pPr>
            <a:r>
              <a:rPr sz="1000">
                <a:solidFill>
                  <a:srgbClr val="2A2218"/>
                </a:solidFill>
                <a:latin typeface="Times New Roman"/>
              </a:rPr>
              <a:t>García, R., Cediel, A., Teixidó, M. and Gil, R. (2023) 'A review of media copyright management using blockchain technologies from the academic and business perspectives'. arXiv:2307.16244 [Preprint].</a:t>
            </a:r>
          </a:p>
          <a:p>
            <a:pPr>
              <a:spcAft>
                <a:spcPts val="500"/>
              </a:spcAft>
            </a:pPr>
            <a:r>
              <a:rPr sz="1000">
                <a:solidFill>
                  <a:srgbClr val="2A2218"/>
                </a:solidFill>
                <a:latin typeface="Times New Roman"/>
              </a:rPr>
              <a:t>Gartner (2024) 'Hype Cycle for Web3 and Blockchain, 2024'. Available at: https://www.gartner.com/en/documents/5623191.</a:t>
            </a:r>
          </a:p>
          <a:p>
            <a:pPr>
              <a:spcAft>
                <a:spcPts val="500"/>
              </a:spcAft>
            </a:pPr>
            <a:r>
              <a:rPr sz="1000">
                <a:solidFill>
                  <a:srgbClr val="2A2218"/>
                </a:solidFill>
                <a:latin typeface="Times New Roman"/>
              </a:rPr>
              <a:t>Iansiti, M. and Lakhani, K.R. (2017) 'The truth about blockchain', Harvard Business Review, 95(1), pp. 118–127.</a:t>
            </a:r>
          </a:p>
        </p:txBody>
      </p:sp>
      <p:sp>
        <p:nvSpPr>
          <p:cNvPr id="4" name="References column 2"/>
          <p:cNvSpPr txBox="1"/>
          <p:nvPr/>
        </p:nvSpPr>
        <p:spPr>
          <a:xfrm>
            <a:off x="6199631" y="1188720"/>
            <a:ext cx="5440680" cy="5029200"/>
          </a:xfrm>
          <a:prstGeom prst="rect">
            <a:avLst/>
          </a:prstGeom>
          <a:noFill/>
        </p:spPr>
        <p:txBody>
          <a:bodyPr wrap="square">
            <a:spAutoFit/>
          </a:bodyPr>
          <a:lstStyle/>
          <a:p>
            <a:pPr>
              <a:spcAft>
                <a:spcPts val="500"/>
              </a:spcAft>
            </a:pPr>
            <a:r>
              <a:rPr sz="1000">
                <a:solidFill>
                  <a:srgbClr val="2A2218"/>
                </a:solidFill>
                <a:latin typeface="Times New Roman"/>
              </a:rPr>
              <a:t>Jensen, M.C. and Meckling, W.H. (1976) 'Theory of the firm: managerial behavior, agency costs and ownership structure', Journal of Financial Economics, 3(4), pp. 305–360.</a:t>
            </a:r>
          </a:p>
          <a:p>
            <a:pPr>
              <a:spcAft>
                <a:spcPts val="500"/>
              </a:spcAft>
            </a:pPr>
            <a:r>
              <a:rPr sz="1000">
                <a:solidFill>
                  <a:srgbClr val="2A2218"/>
                </a:solidFill>
                <a:latin typeface="Times New Roman"/>
              </a:rPr>
              <a:t>Kotter, J.P. (1996) Leading Change. Boston, MA: Harvard Business School Press.</a:t>
            </a:r>
          </a:p>
          <a:p>
            <a:pPr>
              <a:spcAft>
                <a:spcPts val="500"/>
              </a:spcAft>
            </a:pPr>
            <a:r>
              <a:rPr sz="1000">
                <a:solidFill>
                  <a:srgbClr val="2A2218"/>
                </a:solidFill>
                <a:latin typeface="Times New Roman"/>
              </a:rPr>
              <a:t>Levy, K.E.C. (2017) 'Book-smart, not street-smart: blockchain-based smart contracts and the social workings of law', Engaging Science, Technology, and Society, 3, pp. 1–15.</a:t>
            </a:r>
          </a:p>
          <a:p>
            <a:pPr>
              <a:spcAft>
                <a:spcPts val="500"/>
              </a:spcAft>
            </a:pPr>
            <a:r>
              <a:rPr sz="1000">
                <a:solidFill>
                  <a:srgbClr val="2A2218"/>
                </a:solidFill>
                <a:latin typeface="Times New Roman"/>
              </a:rPr>
              <a:t>Porter, M.E. (1985) Competitive Advantage: Creating and Sustaining Superior Performance. New York: Free Press.</a:t>
            </a:r>
          </a:p>
          <a:p>
            <a:pPr>
              <a:spcAft>
                <a:spcPts val="500"/>
              </a:spcAft>
            </a:pPr>
            <a:r>
              <a:rPr sz="1000">
                <a:solidFill>
                  <a:srgbClr val="2A2218"/>
                </a:solidFill>
                <a:latin typeface="Times New Roman"/>
              </a:rPr>
              <a:t>Sharp, A. (2023) 'Addressing the music industry's biggest broken record: why blockchain, smart contracts, and NFTs are an unmatched solution to the music industry's $424 million unmatched royalty problem', Entertainment and Sports Lawyer, Summer. American Bar Association.</a:t>
            </a:r>
          </a:p>
          <a:p>
            <a:pPr>
              <a:spcAft>
                <a:spcPts val="500"/>
              </a:spcAft>
            </a:pPr>
            <a:r>
              <a:rPr sz="1000">
                <a:solidFill>
                  <a:srgbClr val="2A2218"/>
                </a:solidFill>
                <a:latin typeface="Times New Roman"/>
              </a:rPr>
              <a:t>U.S. Copyright Royalty Board (2023) Determination of Royalty Rates and Terms for Making and Distributing Phonorecords (Phonorecords III Remand). Federal Register, August. Washington, DC: Library of Congress.</a:t>
            </a:r>
          </a:p>
          <a:p>
            <a:pPr>
              <a:spcAft>
                <a:spcPts val="500"/>
              </a:spcAft>
            </a:pPr>
            <a:r>
              <a:rPr sz="1000">
                <a:solidFill>
                  <a:srgbClr val="2A2218"/>
                </a:solidFill>
                <a:latin typeface="Times New Roman"/>
              </a:rPr>
              <a:t>Werbach, K. and Cornell, N. (2017) 'Contracts ex machina', Duke Law Journal, 67(2), pp. 313–382.</a:t>
            </a:r>
          </a:p>
          <a:p>
            <a:pPr>
              <a:spcAft>
                <a:spcPts val="500"/>
              </a:spcAft>
            </a:pPr>
            <a:r>
              <a:rPr sz="1000">
                <a:solidFill>
                  <a:srgbClr val="2A2218"/>
                </a:solidFill>
                <a:latin typeface="Times New Roman"/>
              </a:rPr>
              <a:t>Williamson, O.E. (1979) 'Transaction-cost economics: the governance of contractual relations', Journal of Law and Economics, 22(2), pp. 233–261.</a:t>
            </a:r>
          </a:p>
          <a:p>
            <a:pPr>
              <a:spcAft>
                <a:spcPts val="500"/>
              </a:spcAft>
            </a:pPr>
            <a:r>
              <a:rPr sz="1000">
                <a:solidFill>
                  <a:srgbClr val="2A2218"/>
                </a:solidFill>
                <a:latin typeface="Times New Roman"/>
              </a:rPr>
              <a:t>Zhao, S. and O'Mahony, D. (2018) 'BMCProtector: a blockchain and smart contract based application for music copyright protection', Proceedings of the 2018 International Conference on Blockchain Technology and Application (ICBTA 2018), Xi'an, China, 10–12 December. doi: 10.1145/3301403.3301404.</a:t>
            </a:r>
          </a:p>
        </p:txBody>
      </p:sp>
      <p:sp>
        <p:nvSpPr>
          <p:cNvPr id="5" name="Slide number"/>
          <p:cNvSpPr txBox="1"/>
          <p:nvPr/>
        </p:nvSpPr>
        <p:spPr>
          <a:xfrm>
            <a:off x="11155680" y="6355080"/>
            <a:ext cx="822960" cy="365760"/>
          </a:xfrm>
          <a:prstGeom prst="rect">
            <a:avLst/>
          </a:prstGeom>
          <a:noFill/>
        </p:spPr>
        <p:txBody>
          <a:bodyPr wrap="square" anchor="t" lIns="45720" rIns="45720" tIns="27432" bIns="27432">
            <a:spAutoFit/>
          </a:bodyPr>
          <a:lstStyle/>
          <a:p>
            <a:pPr algn="r"/>
            <a:r>
              <a:rPr sz="1000" b="0" i="0">
                <a:solidFill>
                  <a:srgbClr val="7A7060"/>
                </a:solidFill>
                <a:latin typeface="Times New Roman"/>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4221</Words>
  <Application>Microsoft Office PowerPoint</Application>
  <PresentationFormat>Widescreen</PresentationFormat>
  <Paragraphs>143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Bindu Baral</dc:creator>
  <cp:lastModifiedBy>Bindu Baral</cp:lastModifiedBy>
  <cp:revision>20</cp:revision>
  <dcterms:created xsi:type="dcterms:W3CDTF">2026-09-13T09:18:07Z</dcterms:created>
  <dcterms:modified xsi:type="dcterms:W3CDTF">2026-09-13T11:14:21Z</dcterms:modified>
</cp:coreProperties>
</file>