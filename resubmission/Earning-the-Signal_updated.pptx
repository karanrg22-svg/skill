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5"/>
    <p:sldId id="267" r:id="rId18"/>
    <p:sldId id="260" r:id="rId6"/>
    <p:sldId id="261" r:id="rId7"/>
    <p:sldId id="268" r:id="rId19"/>
    <p:sldId id="269" r:id="rId20"/>
    <p:sldId id="265" r:id="rId11"/>
    <p:sldId id="270" r:id="rId21"/>
    <p:sldId id="266" r:id="rId12"/>
    <p:sldId id="2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50" d="100"/>
          <a:sy n="50" d="100"/>
        </p:scale>
        <p:origin x="1284" y="3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notesMaster" Target="notesMasters/notesMaster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p>
            <a:r>
              <a:t>I am presenting as Apple TV+’s Digital Transformation Consultant. The main argument I want to defend is a focused one: personalisation should be viewed as a retention tool that must be earned through transparency, rather than treated as an automatic benefit of technology. Across the next ten slides, I will examine the technology behind it, its effects on customers and the data teams developing it, and the measures needed to maintain the trust on which it depends.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p>
            <a:r>
              <a:t>Start with the churn number, because it sets the stakes for everything that follows. Broadband TV News (2025) puts Apple TV+’s monthly churn at 5.5%, up from roughly 2% in 2019. That is not a minor change: the platform is losing a much larger share of its subscriber base each month than before, in a market where switching services costs subscribers very little. Reichheld (2003) explains the economics behind this: retaining an existing subscriber is reliably cheaper than acquiring a new one, so an increase in churn of this scale should concern a subscription business before it becomes a wider growth problem.</a:t>
            </a:r>
          </a:p>
          <a:p/>
          <a:p>
            <a:r>
              <a:t>At the same time, personalisation is no longer a nice-to-have. Gracenote’s 2025 State of Play survey found that 74% of subscribers now rate recommendations as “very” or “extremely” important to their satisfaction, up from 58% in 2021. An industry-cited figure suggests that more than 80% of Netflix viewing is recommendation-driven. I am flagging this as secondary reporting rather than a verified primary source, so it needs checking before inclusion in the final deck. Even without it, the direction is clear: subscribers expect to be understood, and they increasingly judge a service by how well it does this.</a:t>
            </a:r>
          </a:p>
          <a:p/>
          <a:p>
            <a:r>
              <a:t>Here is the tension I want to name early. The same data collection that enables effective recommendations is also a sensitivity point in this brief. Subscribers already concerned about pricing or content changes may interpret extensive data use as surveillance rather than service. That is why the fourth tile on this slide is deliberately blank. We do not have a hard number showing how much data collection subscribers will tolerate before the relationship shifts from “this service gets me” to “this service is watching me.” A purely growth-focused reading would treat rising interest in recommendations as permission to collect more data. I do not think that interpretation holds when the churn number sits beside it.</a:t>
            </a:r>
          </a:p>
          <a:p/>
          <a:p>
            <a:r>
              <a:t>So the question this deck addresses is not whether to personalise. The data already answers that. The question is how much transparency must accompany data collection for subscribers to keep accepting it. Ultimately, this is a trust problem wearing a technology costume, which is where I want to take this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p>
            <a:r>
              <a:t>The mechanism itself is not complicated. Viewing history, search queries, and behavioural signals such as pauses and rewinds enter the system as one stream of data. What matters is what happens after that stream splits.</a:t>
            </a:r>
          </a:p>
          <a:p/>
          <a:p>
            <a:r>
              <a:t>One branch is customer-facing: the recommendation engine decides what appears on a subscriber’s home screen. Apple’s privacy documentation states that viewing and activity data is collected “to tailor features and offer personalised recommendations” (Apple Inc., 2025). Subscribers see the result of this branch whenever they open the app, even though the mechanism producing those recommendations remains largely invisible.</a:t>
            </a:r>
          </a:p>
          <a:p/>
          <a:p>
            <a:r>
              <a:t>The other branch is internal: marketing segmentation uses the same underlying data to determine who receives particular promotional messages, pricing offers, or win-back campaigns. This branch is not explained with the same level of clarity. I am not suggesting that anything is hidden or improper; the issue is the difference in visibility. Martin and Murphy (2017) argue that this information asymmetry is a broader feature of marketing’s use of behavioural data, rather than something unique to this platform. The information that makes targeting effective can also make it difficult for the person being targeted to understand or assess it. A subscriber can judge the recommendation branch simply by seeing what the app suggests, but there is no equivalent view of the marketing branch because its outputs are not presented in the same way.</a:t>
            </a:r>
          </a:p>
          <a:p/>
          <a:p>
            <a:r>
              <a:t>This asymmetry is why Slide 6 treats data analysts and marketing as requiring different governance from the customer-facing recommendation team, even though all three use the same data pipeline. It also means the claim that Apple TV+ is “transparent” cannot rely only on the recommendation branch. If transparency covers only the part of the data flow that subscribers can already observe, it is more a demonstration than genuine transparency. The argument therefore depends on addressing both branches, not just the visible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p>
            <a:r>
              <a:t>The benefit side is well supported by evidence, so I will state it clearly before adding the complication. Gracenote (2025) reports that recommendation quality is “very important” to 74% of subscribers, suggesting that better content discovery can improve how users experience a platform with a catalogue the size of Apple TV+’s. Poor discovery can contribute to churn, and personalisation can reduce that problem.</a:t>
            </a:r>
          </a:p>
          <a:p/>
          <a:p>
            <a:r>
              <a:t>However, a 2025 peer-reviewed study of subscription video-on-demand by Mokoena and Obagbuwa (2025) challenges the idea that personalisation alone drives retention. Their findings show that overall value and satisfaction are stronger predictors of continuance intent, with personalisation acting as one contributing factor rather than the decisive one. This is an important correction for a data-driven team because it would be easy to look at the 74% figure and assume that the recommendation engine is already doing most of the retention work.</a:t>
            </a:r>
          </a:p>
          <a:p/>
          <a:p>
            <a:r>
              <a:t>I also want to recognise a limitation of this counter-study rather than apply it uncritically. Its national market context differs from Apple TV+’s core markets, so applying its findings directly to this platform is an inference rather than a one-to-one transfer of the results.</a:t>
            </a:r>
          </a:p>
          <a:p/>
          <a:p>
            <a:r>
              <a:t>Taken together, the evidence suggests that personalisation is necessary but not sufficient for renewal. The missing part is the privacy cost in the calculus introduced on Slide 3. A subscriber can consider recommendations highly important and still leave if the cost of the data trade-off has increased without them fully understanding it. Usefulness is more likely to support renewal when the privacy cost is managed at the same time, rather than treated as a separate issue.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p>
            <a:r>
              <a:t>Personalisation at this scale does not only change what customers see; it also changes the purpose of two internal functions, and it changes them together.</a:t>
            </a:r>
          </a:p>
          <a:p/>
          <a:p>
            <a:r>
              <a:t>Take data analysts first. Their role was traditionally more retrospective: collect engagement metrics, report what happened in the previous quarter, and pass the findings upward. That reporting work remains, but it is no longer the main responsibility. Analysts increasingly influence the model’s inputs directly by deciding which behavioural signals are weighted, which are excluded, and which proxy variables may indirectly represent factors such as age, income, or household composition without being explicitly labelled that way. This means model-fairness review needs to become a regular part of the role rather than an occasional external audit. An analyst who only reports the outputs is effectively reporting on decisions that were already shaped upstream through the model’s inputs.</a:t>
            </a:r>
          </a:p>
          <a:p/>
          <a:p>
            <a:r>
              <a:t>Marketing is changing in a similar way. Segmentation once relied mainly on broad groups such as age bands, regions, and subscription tiers. It now allows individually targeted messaging based on the same behavioural data used by the recommendation engine described on Slide 4. This gives marketing a stronger targeting capability, but it also uses data that subscribers are likely to associate with receiving better show recommendations, rather than with receiving more precisely targeted promotional offers.</a:t>
            </a:r>
          </a:p>
          <a:p/>
          <a:p>
            <a:r>
              <a:t>Since both functions now rely on one shared data pipeline rather than separate sources, it is harder to justify treating their governance as two unrelated internal policies. Different rules for teams using the same underlying data could create exactly the kind of inconsistency that a regulator or concerned subscriber would notice. A shared governance checkpoint across both functions is therefore more defensible, which connects directly to the regulatory risk discussed on Slide 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p>
            <a:r>
              <a:t>Three risks, ranked rather than presented as a generic “AI ethics” slide.</a:t>
            </a:r>
          </a:p>
          <a:p/>
          <a:p>
            <a:r>
              <a:t>The first is privacy, specifically the ATT gap from Slide 9. If it remains unaddressed, the exposure increases whenever a regulator or journalist tests what “opting out” actually covers compared with what subscribers believe it covers. The mitigation is practical: extend the “why am I seeing this” mechanism from Slide 7 to the marketing-segmentation branch, rather than limiting it to the recommendation branch where it is easier to implement.</a:t>
            </a:r>
          </a:p>
          <a:p/>
          <a:p>
            <a:r>
              <a:t>The second is algorithmic bias. A recommendation model trained on existing viewing behaviour can gradually narrow what subscribers are shown, reinforcing what they have already watched instead of introducing genuinely new content. This is a documented limitation of collaborative filtering that Ricci, Rokach and Shapira (2015) discuss in detail, rather than a hypothetical risk. If left unaddressed, it can build quietly because a narrowing range of recommendations does not become obvious in the way a data breach does. The mitigation is to make diversity-of-recommendation auditing a regular analyst responsibility rather than an occasional review, linking directly to the role change discussed on Slide 6.</a:t>
            </a:r>
          </a:p>
          <a:p/>
          <a:p>
            <a:r>
              <a:t>The third risk is regulatory. Data-protection regulation increasingly requires demonstrable purpose limitation, meaning organisations must show that data collected for one stated purpose is not quietly reused for another. The GDPR establishes this principle directly (European Parliament and Council, 2016): Article 5 requires personal data to be collected for specified, explicit purposes and not further processed in ways incompatible with those purposes. The two-branch data flow from Slide 4 creates a potential exposure if the marketing branch is not separately and explicitly justified, because it currently relies on the same collection consent as the recommendation branch. The mitigation is formal purpose-limitation documentation that treats the two branches separately and justifies each on its own terms.</a:t>
            </a:r>
          </a:p>
          <a:p/>
          <a:p>
            <a:r>
              <a:t>Three recommendations follow, each linked to a different theory rather than being three unrelated actions. First, informed by Privacy Calculus, build the subscriber-facing “why am I seeing this” feature for every recommendation. This can increase perceived benefit while reducing perceived privacy cost, addressing both constructs from Slide 3 through one feature. Second, informed by Social Exchange Theory, create a visible “data value exchange” summary: an on-request, account-level report showing what data was used and what benefit it provided. This makes the Slide 7 ledger something subscribers can inspect rather than simply trust. Third, informed by Zuboff, establish a standing internal purpose-limitation review that formally separates the recommendation and marketing-segmentation branches, with the marketing branch subject to a stricter and separately justified data-minimisation standard because it carries the behavioural surplus.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p>
            <a:r>
              <a:t>Returning to the tension I opened with on Slide 2: does personalisation sustain retention, or does it put it at risk? The honest answer is both, and which outcome occurs depends on a variable this deck has repeatedly returned to, rather than on the sophistication of the model itself. Personalisation can support retention when transparency makes the value exchange visible and when those measures remain in place even when they become commercially inconvenient. Without that level of transparency, the same data behind the 74%-importance figure from Slide 2 can become a trigger for the trust erosion discussed throughout this analysis.</a:t>
            </a:r>
          </a:p>
          <a:p/>
          <a:p>
            <a:r>
              <a:t>To recap the three main arguments developed in this deck. First, personalisation is necessary but not sufficient for renewal. Slide 5 showed that the privacy-cost side of the calculus, rather than the benefit alone, determines whether usefulness actually leads to a renewed subscription. Second, customer concerns and data-analyst concerns are two sides of one ledger rather than opposing camps. Slide 7 argued that the apparent conflict is driven by the invisibility of part of the exchange, not by personalisation itself. Third, sustained competitive advantage depends on transparency that remains credible despite commercial inconvenience, rather than on machine-learning sophistication alone. Slide 9 showed that as ML accuracy converges across the market, trust becomes the scarce differentiator.</a:t>
            </a:r>
          </a:p>
          <a:p/>
          <a:p>
            <a:r>
              <a:t>None of this is an argument against personalisation. It is an argument against treating personalisation as self-justifying simply because the accuracy figures look strong. The recommendations on Slide 10 put this into practice: make the exchange visible, make it inspectable, and apply a stricter standard to the less visible part of the data pipeline than to the part subscribers already see working for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 the framework to Apple TV+; do not just describe it. (Replaces old Slide 3 Privacy Calculus.)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old Slide 7 (Social Exchange ledger). Brief requires barriers, how concerns are managed, change management and digital confidence.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old Slides 8 and 9 (funnel, Zuboff). Reuse idea from old Slide 9: as ML converges, accuracy alone is a weak differentiator - reframe as VRIO rarity/imitability.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Exactly three. Each must follow from your Task 1-3 findings and cite evidence. Old theory-linked recommendations are removed.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Remove: Culnan and Armstrong, Smith et al., Acquisti et al., Martin and Murphy, Blau, Zeithaml et al., Zuboff, and anything unverifiable. Add: Barney (1991), Kotter (1995), Gomez-Uribe and Hunt (2015), framework sources, peer-reviewed sources on creative work, ethics, diversity.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5F0F5-C63F-4494-9B72-12552D5C40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F08DAA-1DFE-442D-B9C3-C1A2E22FB9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F9F8FF-55B0-4E7D-BC00-586B4EB07252}"/>
              </a:ext>
            </a:extLst>
          </p:cNvPr>
          <p:cNvSpPr>
            <a:spLocks noGrp="1"/>
          </p:cNvSpPr>
          <p:nvPr>
            <p:ph type="dt" sz="half" idx="10"/>
          </p:nvPr>
        </p:nvSpPr>
        <p:spPr/>
        <p:txBody>
          <a:bodyPr/>
          <a:lstStyle/>
          <a:p>
            <a:fld id="{C692E3EE-4F76-47AB-B7A1-76301979C83A}" type="datetimeFigureOut">
              <a:rPr lang="en-US" smtClean="0"/>
              <a:t>9/13/2026</a:t>
            </a:fld>
            <a:endParaRPr lang="en-US"/>
          </a:p>
        </p:txBody>
      </p:sp>
      <p:sp>
        <p:nvSpPr>
          <p:cNvPr id="5" name="Footer Placeholder 4">
            <a:extLst>
              <a:ext uri="{FF2B5EF4-FFF2-40B4-BE49-F238E27FC236}">
                <a16:creationId xmlns:a16="http://schemas.microsoft.com/office/drawing/2014/main" id="{26F41024-E717-468A-8E30-6737024007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82902D-2045-486F-94D0-BDBF7955CFB7}"/>
              </a:ext>
            </a:extLst>
          </p:cNvPr>
          <p:cNvSpPr>
            <a:spLocks noGrp="1"/>
          </p:cNvSpPr>
          <p:nvPr>
            <p:ph type="sldNum" sz="quarter" idx="12"/>
          </p:nvPr>
        </p:nvSpPr>
        <p:spPr/>
        <p:txBody>
          <a:bodyPr/>
          <a:lstStyle/>
          <a:p>
            <a:fld id="{F878D185-0559-4796-B1EF-37F2B7272B01}" type="slidenum">
              <a:rPr lang="en-US" smtClean="0"/>
              <a:t>‹#›</a:t>
            </a:fld>
            <a:endParaRPr lang="en-US"/>
          </a:p>
        </p:txBody>
      </p:sp>
    </p:spTree>
    <p:extLst>
      <p:ext uri="{BB962C8B-B14F-4D97-AF65-F5344CB8AC3E}">
        <p14:creationId xmlns:p14="http://schemas.microsoft.com/office/powerpoint/2010/main" val="3902703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72161-7E34-479F-ADCC-613D5A99B0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D369D7-A036-4C9E-9277-39314595EA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84E2C0-0A09-407B-A979-067808A043C4}"/>
              </a:ext>
            </a:extLst>
          </p:cNvPr>
          <p:cNvSpPr>
            <a:spLocks noGrp="1"/>
          </p:cNvSpPr>
          <p:nvPr>
            <p:ph type="dt" sz="half" idx="10"/>
          </p:nvPr>
        </p:nvSpPr>
        <p:spPr/>
        <p:txBody>
          <a:bodyPr/>
          <a:lstStyle/>
          <a:p>
            <a:fld id="{C692E3EE-4F76-47AB-B7A1-76301979C83A}" type="datetimeFigureOut">
              <a:rPr lang="en-US" smtClean="0"/>
              <a:t>9/13/2026</a:t>
            </a:fld>
            <a:endParaRPr lang="en-US"/>
          </a:p>
        </p:txBody>
      </p:sp>
      <p:sp>
        <p:nvSpPr>
          <p:cNvPr id="5" name="Footer Placeholder 4">
            <a:extLst>
              <a:ext uri="{FF2B5EF4-FFF2-40B4-BE49-F238E27FC236}">
                <a16:creationId xmlns:a16="http://schemas.microsoft.com/office/drawing/2014/main" id="{024E418D-3928-4C86-87CA-C0FF9D2D5C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836EFD-16E6-4BC2-9109-F10B32261B3B}"/>
              </a:ext>
            </a:extLst>
          </p:cNvPr>
          <p:cNvSpPr>
            <a:spLocks noGrp="1"/>
          </p:cNvSpPr>
          <p:nvPr>
            <p:ph type="sldNum" sz="quarter" idx="12"/>
          </p:nvPr>
        </p:nvSpPr>
        <p:spPr/>
        <p:txBody>
          <a:bodyPr/>
          <a:lstStyle/>
          <a:p>
            <a:fld id="{F878D185-0559-4796-B1EF-37F2B7272B01}" type="slidenum">
              <a:rPr lang="en-US" smtClean="0"/>
              <a:t>‹#›</a:t>
            </a:fld>
            <a:endParaRPr lang="en-US"/>
          </a:p>
        </p:txBody>
      </p:sp>
    </p:spTree>
    <p:extLst>
      <p:ext uri="{BB962C8B-B14F-4D97-AF65-F5344CB8AC3E}">
        <p14:creationId xmlns:p14="http://schemas.microsoft.com/office/powerpoint/2010/main" val="2350552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7176A-3979-44AE-AB84-6E9976D5EC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34B570-6D32-4051-8C52-C83BA25958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32B2CA-8950-48B5-974F-512E2D656085}"/>
              </a:ext>
            </a:extLst>
          </p:cNvPr>
          <p:cNvSpPr>
            <a:spLocks noGrp="1"/>
          </p:cNvSpPr>
          <p:nvPr>
            <p:ph type="dt" sz="half" idx="10"/>
          </p:nvPr>
        </p:nvSpPr>
        <p:spPr/>
        <p:txBody>
          <a:bodyPr/>
          <a:lstStyle/>
          <a:p>
            <a:fld id="{C692E3EE-4F76-47AB-B7A1-76301979C83A}" type="datetimeFigureOut">
              <a:rPr lang="en-US" smtClean="0"/>
              <a:t>9/13/2026</a:t>
            </a:fld>
            <a:endParaRPr lang="en-US"/>
          </a:p>
        </p:txBody>
      </p:sp>
      <p:sp>
        <p:nvSpPr>
          <p:cNvPr id="5" name="Footer Placeholder 4">
            <a:extLst>
              <a:ext uri="{FF2B5EF4-FFF2-40B4-BE49-F238E27FC236}">
                <a16:creationId xmlns:a16="http://schemas.microsoft.com/office/drawing/2014/main" id="{4AE2A720-C0BB-4A11-9735-956DBF9FFC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88AE14-3B44-41B6-B35C-499094A99F8F}"/>
              </a:ext>
            </a:extLst>
          </p:cNvPr>
          <p:cNvSpPr>
            <a:spLocks noGrp="1"/>
          </p:cNvSpPr>
          <p:nvPr>
            <p:ph type="sldNum" sz="quarter" idx="12"/>
          </p:nvPr>
        </p:nvSpPr>
        <p:spPr/>
        <p:txBody>
          <a:bodyPr/>
          <a:lstStyle/>
          <a:p>
            <a:fld id="{F878D185-0559-4796-B1EF-37F2B7272B01}" type="slidenum">
              <a:rPr lang="en-US" smtClean="0"/>
              <a:t>‹#›</a:t>
            </a:fld>
            <a:endParaRPr lang="en-US"/>
          </a:p>
        </p:txBody>
      </p:sp>
    </p:spTree>
    <p:extLst>
      <p:ext uri="{BB962C8B-B14F-4D97-AF65-F5344CB8AC3E}">
        <p14:creationId xmlns:p14="http://schemas.microsoft.com/office/powerpoint/2010/main" val="444376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17E77-47E1-4C9E-8B54-14E7B15A10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2F0E9C-6088-4322-BDF4-F29D107DFE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66EF39-80E5-4677-B7AB-D8D465944E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07B609-CF47-475E-9DF0-4F665538843E}"/>
              </a:ext>
            </a:extLst>
          </p:cNvPr>
          <p:cNvSpPr>
            <a:spLocks noGrp="1"/>
          </p:cNvSpPr>
          <p:nvPr>
            <p:ph type="dt" sz="half" idx="10"/>
          </p:nvPr>
        </p:nvSpPr>
        <p:spPr/>
        <p:txBody>
          <a:bodyPr/>
          <a:lstStyle/>
          <a:p>
            <a:fld id="{C692E3EE-4F76-47AB-B7A1-76301979C83A}" type="datetimeFigureOut">
              <a:rPr lang="en-US" smtClean="0"/>
              <a:t>9/13/2026</a:t>
            </a:fld>
            <a:endParaRPr lang="en-US"/>
          </a:p>
        </p:txBody>
      </p:sp>
      <p:sp>
        <p:nvSpPr>
          <p:cNvPr id="6" name="Footer Placeholder 5">
            <a:extLst>
              <a:ext uri="{FF2B5EF4-FFF2-40B4-BE49-F238E27FC236}">
                <a16:creationId xmlns:a16="http://schemas.microsoft.com/office/drawing/2014/main" id="{BE319137-3AB0-4FB9-B5A8-E2206C00C7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9ED27B-A536-40AD-9E2B-DD84066D349E}"/>
              </a:ext>
            </a:extLst>
          </p:cNvPr>
          <p:cNvSpPr>
            <a:spLocks noGrp="1"/>
          </p:cNvSpPr>
          <p:nvPr>
            <p:ph type="sldNum" sz="quarter" idx="12"/>
          </p:nvPr>
        </p:nvSpPr>
        <p:spPr/>
        <p:txBody>
          <a:bodyPr/>
          <a:lstStyle/>
          <a:p>
            <a:fld id="{F878D185-0559-4796-B1EF-37F2B7272B01}" type="slidenum">
              <a:rPr lang="en-US" smtClean="0"/>
              <a:t>‹#›</a:t>
            </a:fld>
            <a:endParaRPr lang="en-US"/>
          </a:p>
        </p:txBody>
      </p:sp>
    </p:spTree>
    <p:extLst>
      <p:ext uri="{BB962C8B-B14F-4D97-AF65-F5344CB8AC3E}">
        <p14:creationId xmlns:p14="http://schemas.microsoft.com/office/powerpoint/2010/main" val="1466603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E3AE5-B6A8-414A-BBB5-9687D4B7D3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2D5F5A-E957-420E-9D96-2D56E00BCB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926875-556D-4A97-A427-EC95B794A6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6255B2-C470-46FB-95E9-49D540EBA5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443AC1-8422-4BC5-A9A4-4E96615E5C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8590D5-454B-4C00-A12C-A35352E8723C}"/>
              </a:ext>
            </a:extLst>
          </p:cNvPr>
          <p:cNvSpPr>
            <a:spLocks noGrp="1"/>
          </p:cNvSpPr>
          <p:nvPr>
            <p:ph type="dt" sz="half" idx="10"/>
          </p:nvPr>
        </p:nvSpPr>
        <p:spPr/>
        <p:txBody>
          <a:bodyPr/>
          <a:lstStyle/>
          <a:p>
            <a:fld id="{C692E3EE-4F76-47AB-B7A1-76301979C83A}" type="datetimeFigureOut">
              <a:rPr lang="en-US" smtClean="0"/>
              <a:t>9/13/2026</a:t>
            </a:fld>
            <a:endParaRPr lang="en-US"/>
          </a:p>
        </p:txBody>
      </p:sp>
      <p:sp>
        <p:nvSpPr>
          <p:cNvPr id="8" name="Footer Placeholder 7">
            <a:extLst>
              <a:ext uri="{FF2B5EF4-FFF2-40B4-BE49-F238E27FC236}">
                <a16:creationId xmlns:a16="http://schemas.microsoft.com/office/drawing/2014/main" id="{A7883226-5E5D-4453-B286-FA03604DCC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C656DD-096F-467C-BA85-1F0812A4F0C5}"/>
              </a:ext>
            </a:extLst>
          </p:cNvPr>
          <p:cNvSpPr>
            <a:spLocks noGrp="1"/>
          </p:cNvSpPr>
          <p:nvPr>
            <p:ph type="sldNum" sz="quarter" idx="12"/>
          </p:nvPr>
        </p:nvSpPr>
        <p:spPr/>
        <p:txBody>
          <a:bodyPr/>
          <a:lstStyle/>
          <a:p>
            <a:fld id="{F878D185-0559-4796-B1EF-37F2B7272B01}" type="slidenum">
              <a:rPr lang="en-US" smtClean="0"/>
              <a:t>‹#›</a:t>
            </a:fld>
            <a:endParaRPr lang="en-US"/>
          </a:p>
        </p:txBody>
      </p:sp>
    </p:spTree>
    <p:extLst>
      <p:ext uri="{BB962C8B-B14F-4D97-AF65-F5344CB8AC3E}">
        <p14:creationId xmlns:p14="http://schemas.microsoft.com/office/powerpoint/2010/main" val="3345153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D677B-5A3D-4A85-A8A2-1E7B400638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618FC-4EB8-445A-9EAB-998F41BA1556}"/>
              </a:ext>
            </a:extLst>
          </p:cNvPr>
          <p:cNvSpPr>
            <a:spLocks noGrp="1"/>
          </p:cNvSpPr>
          <p:nvPr>
            <p:ph type="dt" sz="half" idx="10"/>
          </p:nvPr>
        </p:nvSpPr>
        <p:spPr/>
        <p:txBody>
          <a:bodyPr/>
          <a:lstStyle/>
          <a:p>
            <a:fld id="{C692E3EE-4F76-47AB-B7A1-76301979C83A}" type="datetimeFigureOut">
              <a:rPr lang="en-US" smtClean="0"/>
              <a:t>9/13/2026</a:t>
            </a:fld>
            <a:endParaRPr lang="en-US"/>
          </a:p>
        </p:txBody>
      </p:sp>
      <p:sp>
        <p:nvSpPr>
          <p:cNvPr id="4" name="Footer Placeholder 3">
            <a:extLst>
              <a:ext uri="{FF2B5EF4-FFF2-40B4-BE49-F238E27FC236}">
                <a16:creationId xmlns:a16="http://schemas.microsoft.com/office/drawing/2014/main" id="{0B68F63A-9820-47F0-9CC1-673940FB8E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E32B28-D19C-44A4-AD41-BB25487D8151}"/>
              </a:ext>
            </a:extLst>
          </p:cNvPr>
          <p:cNvSpPr>
            <a:spLocks noGrp="1"/>
          </p:cNvSpPr>
          <p:nvPr>
            <p:ph type="sldNum" sz="quarter" idx="12"/>
          </p:nvPr>
        </p:nvSpPr>
        <p:spPr/>
        <p:txBody>
          <a:bodyPr/>
          <a:lstStyle/>
          <a:p>
            <a:fld id="{F878D185-0559-4796-B1EF-37F2B7272B01}" type="slidenum">
              <a:rPr lang="en-US" smtClean="0"/>
              <a:t>‹#›</a:t>
            </a:fld>
            <a:endParaRPr lang="en-US"/>
          </a:p>
        </p:txBody>
      </p:sp>
    </p:spTree>
    <p:extLst>
      <p:ext uri="{BB962C8B-B14F-4D97-AF65-F5344CB8AC3E}">
        <p14:creationId xmlns:p14="http://schemas.microsoft.com/office/powerpoint/2010/main" val="761356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252B31-BC6D-4E6F-9264-6CA64CAB430F}"/>
              </a:ext>
            </a:extLst>
          </p:cNvPr>
          <p:cNvSpPr>
            <a:spLocks noGrp="1"/>
          </p:cNvSpPr>
          <p:nvPr>
            <p:ph type="dt" sz="half" idx="10"/>
          </p:nvPr>
        </p:nvSpPr>
        <p:spPr/>
        <p:txBody>
          <a:bodyPr/>
          <a:lstStyle/>
          <a:p>
            <a:fld id="{C692E3EE-4F76-47AB-B7A1-76301979C83A}" type="datetimeFigureOut">
              <a:rPr lang="en-US" smtClean="0"/>
              <a:t>9/13/2026</a:t>
            </a:fld>
            <a:endParaRPr lang="en-US"/>
          </a:p>
        </p:txBody>
      </p:sp>
      <p:sp>
        <p:nvSpPr>
          <p:cNvPr id="3" name="Footer Placeholder 2">
            <a:extLst>
              <a:ext uri="{FF2B5EF4-FFF2-40B4-BE49-F238E27FC236}">
                <a16:creationId xmlns:a16="http://schemas.microsoft.com/office/drawing/2014/main" id="{DF64DA01-8219-4F44-9A6D-08D40514B0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23271D-574D-4ABE-9DFD-25945EBE2B5A}"/>
              </a:ext>
            </a:extLst>
          </p:cNvPr>
          <p:cNvSpPr>
            <a:spLocks noGrp="1"/>
          </p:cNvSpPr>
          <p:nvPr>
            <p:ph type="sldNum" sz="quarter" idx="12"/>
          </p:nvPr>
        </p:nvSpPr>
        <p:spPr/>
        <p:txBody>
          <a:bodyPr/>
          <a:lstStyle/>
          <a:p>
            <a:fld id="{F878D185-0559-4796-B1EF-37F2B7272B01}" type="slidenum">
              <a:rPr lang="en-US" smtClean="0"/>
              <a:t>‹#›</a:t>
            </a:fld>
            <a:endParaRPr lang="en-US"/>
          </a:p>
        </p:txBody>
      </p:sp>
    </p:spTree>
    <p:extLst>
      <p:ext uri="{BB962C8B-B14F-4D97-AF65-F5344CB8AC3E}">
        <p14:creationId xmlns:p14="http://schemas.microsoft.com/office/powerpoint/2010/main" val="3117295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03B89-A3D4-48D1-96C8-EBB18D1F28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192AE3-D35E-442F-A6F7-D1692237A8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6783A0-2649-4DA2-AB50-5C62AFD6C3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41E002-4EF4-4B06-9290-D7BFD60BDFE1}"/>
              </a:ext>
            </a:extLst>
          </p:cNvPr>
          <p:cNvSpPr>
            <a:spLocks noGrp="1"/>
          </p:cNvSpPr>
          <p:nvPr>
            <p:ph type="dt" sz="half" idx="10"/>
          </p:nvPr>
        </p:nvSpPr>
        <p:spPr/>
        <p:txBody>
          <a:bodyPr/>
          <a:lstStyle/>
          <a:p>
            <a:fld id="{C692E3EE-4F76-47AB-B7A1-76301979C83A}" type="datetimeFigureOut">
              <a:rPr lang="en-US" smtClean="0"/>
              <a:t>9/13/2026</a:t>
            </a:fld>
            <a:endParaRPr lang="en-US"/>
          </a:p>
        </p:txBody>
      </p:sp>
      <p:sp>
        <p:nvSpPr>
          <p:cNvPr id="6" name="Footer Placeholder 5">
            <a:extLst>
              <a:ext uri="{FF2B5EF4-FFF2-40B4-BE49-F238E27FC236}">
                <a16:creationId xmlns:a16="http://schemas.microsoft.com/office/drawing/2014/main" id="{DF8BB7AD-81B4-428A-9E30-740F255C42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D1BBC7-9E0E-44B3-BAFC-AA04EDB45D2E}"/>
              </a:ext>
            </a:extLst>
          </p:cNvPr>
          <p:cNvSpPr>
            <a:spLocks noGrp="1"/>
          </p:cNvSpPr>
          <p:nvPr>
            <p:ph type="sldNum" sz="quarter" idx="12"/>
          </p:nvPr>
        </p:nvSpPr>
        <p:spPr/>
        <p:txBody>
          <a:bodyPr/>
          <a:lstStyle/>
          <a:p>
            <a:fld id="{F878D185-0559-4796-B1EF-37F2B7272B01}" type="slidenum">
              <a:rPr lang="en-US" smtClean="0"/>
              <a:t>‹#›</a:t>
            </a:fld>
            <a:endParaRPr lang="en-US"/>
          </a:p>
        </p:txBody>
      </p:sp>
    </p:spTree>
    <p:extLst>
      <p:ext uri="{BB962C8B-B14F-4D97-AF65-F5344CB8AC3E}">
        <p14:creationId xmlns:p14="http://schemas.microsoft.com/office/powerpoint/2010/main" val="3527339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11F6E-4ECC-4751-91D0-B3C6523137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EFEF9A-EBD7-4692-93AC-DB44950BBD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8CB3EB-B5C8-470F-9F9D-F4335350CE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E95970-1C03-4871-899D-DB8CBC480E7D}"/>
              </a:ext>
            </a:extLst>
          </p:cNvPr>
          <p:cNvSpPr>
            <a:spLocks noGrp="1"/>
          </p:cNvSpPr>
          <p:nvPr>
            <p:ph type="dt" sz="half" idx="10"/>
          </p:nvPr>
        </p:nvSpPr>
        <p:spPr/>
        <p:txBody>
          <a:bodyPr/>
          <a:lstStyle/>
          <a:p>
            <a:fld id="{C692E3EE-4F76-47AB-B7A1-76301979C83A}" type="datetimeFigureOut">
              <a:rPr lang="en-US" smtClean="0"/>
              <a:t>9/13/2026</a:t>
            </a:fld>
            <a:endParaRPr lang="en-US"/>
          </a:p>
        </p:txBody>
      </p:sp>
      <p:sp>
        <p:nvSpPr>
          <p:cNvPr id="6" name="Footer Placeholder 5">
            <a:extLst>
              <a:ext uri="{FF2B5EF4-FFF2-40B4-BE49-F238E27FC236}">
                <a16:creationId xmlns:a16="http://schemas.microsoft.com/office/drawing/2014/main" id="{055685C9-0EA6-4DFE-8DE8-EBAFEA63BF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CAEDA0-01DA-4ADA-9CB4-0DE641A9F7E0}"/>
              </a:ext>
            </a:extLst>
          </p:cNvPr>
          <p:cNvSpPr>
            <a:spLocks noGrp="1"/>
          </p:cNvSpPr>
          <p:nvPr>
            <p:ph type="sldNum" sz="quarter" idx="12"/>
          </p:nvPr>
        </p:nvSpPr>
        <p:spPr/>
        <p:txBody>
          <a:bodyPr/>
          <a:lstStyle/>
          <a:p>
            <a:fld id="{F878D185-0559-4796-B1EF-37F2B7272B01}" type="slidenum">
              <a:rPr lang="en-US" smtClean="0"/>
              <a:t>‹#›</a:t>
            </a:fld>
            <a:endParaRPr lang="en-US"/>
          </a:p>
        </p:txBody>
      </p:sp>
    </p:spTree>
    <p:extLst>
      <p:ext uri="{BB962C8B-B14F-4D97-AF65-F5344CB8AC3E}">
        <p14:creationId xmlns:p14="http://schemas.microsoft.com/office/powerpoint/2010/main" val="1411376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D8EAC-9730-40ED-A28A-0CA0BDB3E03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051FE9-0D29-4643-9AA4-C212C39EC8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EEE508-0098-45D0-8D8C-3540CC5A528D}"/>
              </a:ext>
            </a:extLst>
          </p:cNvPr>
          <p:cNvSpPr>
            <a:spLocks noGrp="1"/>
          </p:cNvSpPr>
          <p:nvPr>
            <p:ph type="dt" sz="half" idx="10"/>
          </p:nvPr>
        </p:nvSpPr>
        <p:spPr/>
        <p:txBody>
          <a:bodyPr/>
          <a:lstStyle/>
          <a:p>
            <a:fld id="{C692E3EE-4F76-47AB-B7A1-76301979C83A}" type="datetimeFigureOut">
              <a:rPr lang="en-US" smtClean="0"/>
              <a:t>9/13/2026</a:t>
            </a:fld>
            <a:endParaRPr lang="en-US"/>
          </a:p>
        </p:txBody>
      </p:sp>
      <p:sp>
        <p:nvSpPr>
          <p:cNvPr id="5" name="Footer Placeholder 4">
            <a:extLst>
              <a:ext uri="{FF2B5EF4-FFF2-40B4-BE49-F238E27FC236}">
                <a16:creationId xmlns:a16="http://schemas.microsoft.com/office/drawing/2014/main" id="{C27696E9-03F7-4F03-B472-D41B78AA0D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E589D9-E0CA-4E0F-9C0C-77C81EB2BD94}"/>
              </a:ext>
            </a:extLst>
          </p:cNvPr>
          <p:cNvSpPr>
            <a:spLocks noGrp="1"/>
          </p:cNvSpPr>
          <p:nvPr>
            <p:ph type="sldNum" sz="quarter" idx="12"/>
          </p:nvPr>
        </p:nvSpPr>
        <p:spPr/>
        <p:txBody>
          <a:bodyPr/>
          <a:lstStyle/>
          <a:p>
            <a:fld id="{F878D185-0559-4796-B1EF-37F2B7272B01}" type="slidenum">
              <a:rPr lang="en-US" smtClean="0"/>
              <a:t>‹#›</a:t>
            </a:fld>
            <a:endParaRPr lang="en-US"/>
          </a:p>
        </p:txBody>
      </p:sp>
    </p:spTree>
    <p:extLst>
      <p:ext uri="{BB962C8B-B14F-4D97-AF65-F5344CB8AC3E}">
        <p14:creationId xmlns:p14="http://schemas.microsoft.com/office/powerpoint/2010/main" val="2876663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2299AE-E43F-4937-837C-7891718F2A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AEFA8B-C7B6-454A-B2B4-A328FC4FBA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3A7EB3-AAD4-4301-A20A-3DBD21E2CB2E}"/>
              </a:ext>
            </a:extLst>
          </p:cNvPr>
          <p:cNvSpPr>
            <a:spLocks noGrp="1"/>
          </p:cNvSpPr>
          <p:nvPr>
            <p:ph type="dt" sz="half" idx="10"/>
          </p:nvPr>
        </p:nvSpPr>
        <p:spPr/>
        <p:txBody>
          <a:bodyPr/>
          <a:lstStyle/>
          <a:p>
            <a:fld id="{C692E3EE-4F76-47AB-B7A1-76301979C83A}" type="datetimeFigureOut">
              <a:rPr lang="en-US" smtClean="0"/>
              <a:t>9/13/2026</a:t>
            </a:fld>
            <a:endParaRPr lang="en-US"/>
          </a:p>
        </p:txBody>
      </p:sp>
      <p:sp>
        <p:nvSpPr>
          <p:cNvPr id="5" name="Footer Placeholder 4">
            <a:extLst>
              <a:ext uri="{FF2B5EF4-FFF2-40B4-BE49-F238E27FC236}">
                <a16:creationId xmlns:a16="http://schemas.microsoft.com/office/drawing/2014/main" id="{975B0B1D-DABF-4FED-B270-ACB30BDFAC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23290-8734-419E-A936-EAEEF851BFFD}"/>
              </a:ext>
            </a:extLst>
          </p:cNvPr>
          <p:cNvSpPr>
            <a:spLocks noGrp="1"/>
          </p:cNvSpPr>
          <p:nvPr>
            <p:ph type="sldNum" sz="quarter" idx="12"/>
          </p:nvPr>
        </p:nvSpPr>
        <p:spPr/>
        <p:txBody>
          <a:bodyPr/>
          <a:lstStyle/>
          <a:p>
            <a:fld id="{F878D185-0559-4796-B1EF-37F2B7272B01}" type="slidenum">
              <a:rPr lang="en-US" smtClean="0"/>
              <a:t>‹#›</a:t>
            </a:fld>
            <a:endParaRPr lang="en-US"/>
          </a:p>
        </p:txBody>
      </p:sp>
    </p:spTree>
    <p:extLst>
      <p:ext uri="{BB962C8B-B14F-4D97-AF65-F5344CB8AC3E}">
        <p14:creationId xmlns:p14="http://schemas.microsoft.com/office/powerpoint/2010/main" val="341559735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8C2AB-0E2F-4D2A-9ECB-9CFA17599F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D98FDD-C454-407A-AE5E-F4FA73A903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083CC6-7C1F-4C9F-B2F0-0FB5234EE0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92E3EE-4F76-47AB-B7A1-76301979C83A}" type="datetimeFigureOut">
              <a:rPr lang="en-US" smtClean="0"/>
              <a:t>9/13/2026</a:t>
            </a:fld>
            <a:endParaRPr lang="en-US"/>
          </a:p>
        </p:txBody>
      </p:sp>
      <p:sp>
        <p:nvSpPr>
          <p:cNvPr id="5" name="Footer Placeholder 4">
            <a:extLst>
              <a:ext uri="{FF2B5EF4-FFF2-40B4-BE49-F238E27FC236}">
                <a16:creationId xmlns:a16="http://schemas.microsoft.com/office/drawing/2014/main" id="{CE622646-C659-4343-B485-7B489A35FA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CC5E17-1ABE-432F-9EFE-8915594B2F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78D185-0559-4796-B1EF-37F2B7272B01}" type="slidenum">
              <a:rPr lang="en-US" smtClean="0"/>
              <a:t>‹#›</a:t>
            </a:fld>
            <a:endParaRPr lang="en-US"/>
          </a:p>
        </p:txBody>
      </p:sp>
    </p:spTree>
    <p:extLst>
      <p:ext uri="{BB962C8B-B14F-4D97-AF65-F5344CB8AC3E}">
        <p14:creationId xmlns:p14="http://schemas.microsoft.com/office/powerpoint/2010/main" val="2110242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Shape 0">
            <a:extLst>
              <a:ext uri="{FF2B5EF4-FFF2-40B4-BE49-F238E27FC236}">
                <a16:creationId xmlns:a16="http://schemas.microsoft.com/office/drawing/2014/main" id="{5D70E491-328E-40E5-9752-701D58659D1A}"/>
              </a:ext>
            </a:extLst>
          </p:cNvPr>
          <p:cNvSpPr/>
          <p:nvPr/>
        </p:nvSpPr>
        <p:spPr>
          <a:xfrm>
            <a:off x="792480" y="1335024"/>
            <a:ext cx="82296" cy="109728"/>
          </a:xfrm>
          <a:prstGeom prst="rect">
            <a:avLst/>
          </a:prstGeom>
          <a:solidFill>
            <a:srgbClr val="CADCFC"/>
          </a:solidFill>
        </p:spPr>
      </p:sp>
      <p:sp>
        <p:nvSpPr>
          <p:cNvPr id="49" name="Shape 1">
            <a:extLst>
              <a:ext uri="{FF2B5EF4-FFF2-40B4-BE49-F238E27FC236}">
                <a16:creationId xmlns:a16="http://schemas.microsoft.com/office/drawing/2014/main" id="{F35E566D-DDD4-40BC-B8C6-0E932033E5E0}"/>
              </a:ext>
            </a:extLst>
          </p:cNvPr>
          <p:cNvSpPr/>
          <p:nvPr/>
        </p:nvSpPr>
        <p:spPr>
          <a:xfrm>
            <a:off x="929640" y="1261872"/>
            <a:ext cx="82296" cy="182880"/>
          </a:xfrm>
          <a:prstGeom prst="rect">
            <a:avLst/>
          </a:prstGeom>
          <a:solidFill>
            <a:srgbClr val="CADCFC"/>
          </a:solidFill>
        </p:spPr>
      </p:sp>
      <p:sp>
        <p:nvSpPr>
          <p:cNvPr id="50" name="Shape 2">
            <a:extLst>
              <a:ext uri="{FF2B5EF4-FFF2-40B4-BE49-F238E27FC236}">
                <a16:creationId xmlns:a16="http://schemas.microsoft.com/office/drawing/2014/main" id="{5C8584C5-C082-4E7A-8B89-27BDDEA960E0}"/>
              </a:ext>
            </a:extLst>
          </p:cNvPr>
          <p:cNvSpPr/>
          <p:nvPr/>
        </p:nvSpPr>
        <p:spPr>
          <a:xfrm>
            <a:off x="1066800" y="1188720"/>
            <a:ext cx="82296" cy="256032"/>
          </a:xfrm>
          <a:prstGeom prst="rect">
            <a:avLst/>
          </a:prstGeom>
          <a:solidFill>
            <a:srgbClr val="CADCFC"/>
          </a:solidFill>
        </p:spPr>
      </p:sp>
      <p:sp>
        <p:nvSpPr>
          <p:cNvPr id="51" name="Text 3">
            <a:extLst>
              <a:ext uri="{FF2B5EF4-FFF2-40B4-BE49-F238E27FC236}">
                <a16:creationId xmlns:a16="http://schemas.microsoft.com/office/drawing/2014/main" id="{D232DBED-F896-4752-A5FE-7D9CF24400C1}"/>
              </a:ext>
            </a:extLst>
          </p:cNvPr>
          <p:cNvSpPr txBox="1"/>
          <p:nvPr/>
        </p:nvSpPr>
        <p:spPr>
          <a:xfrm>
            <a:off x="1066800" y="2926080"/>
            <a:ext cx="10332720" cy="118872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400" b="1" dirty="0">
                <a:solidFill>
                  <a:schemeClr val="accent1">
                    <a:lumMod val="75000"/>
                  </a:schemeClr>
                </a:solidFill>
                <a:latin typeface="Calibri" panose="020F0502020204030204" pitchFamily="34" charset="0"/>
                <a:ea typeface="Calibri" panose="020F0502020204030204" pitchFamily="34" charset="-122"/>
                <a:cs typeface="Calibri" panose="020F0502020204030204" pitchFamily="34" charset="-120"/>
              </a:rPr>
              <a:t>Earning the Signal</a:t>
            </a:r>
            <a:endParaRPr lang="en-US" sz="4400" dirty="0">
              <a:solidFill>
                <a:schemeClr val="accent1">
                  <a:lumMod val="75000"/>
                </a:schemeClr>
              </a:solidFill>
            </a:endParaRPr>
          </a:p>
        </p:txBody>
      </p:sp>
      <p:sp>
        <p:nvSpPr>
          <p:cNvPr id="52" name="Text 4">
            <a:extLst>
              <a:ext uri="{FF2B5EF4-FFF2-40B4-BE49-F238E27FC236}">
                <a16:creationId xmlns:a16="http://schemas.microsoft.com/office/drawing/2014/main" id="{9C24407A-185C-45D1-BF6E-7FFB86C037F5}"/>
              </a:ext>
            </a:extLst>
          </p:cNvPr>
          <p:cNvSpPr txBox="1"/>
          <p:nvPr/>
        </p:nvSpPr>
        <p:spPr>
          <a:xfrm>
            <a:off x="1524000" y="4069080"/>
            <a:ext cx="9418320" cy="8229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chemeClr val="accent1">
                    <a:lumMod val="75000"/>
                  </a:schemeClr>
                </a:solidFill>
                <a:latin typeface="Calibri" panose="020F0502020204030204" pitchFamily="34" charset="0"/>
                <a:ea typeface="Calibri" panose="020F0502020204030204" pitchFamily="34" charset="-122"/>
                <a:cs typeface="Calibri" panose="020F0502020204030204" pitchFamily="34" charset="-120"/>
              </a:rPr>
              <a:t>Personalisation as a Retention Lever, Not a Surveillance Risk</a:t>
            </a:r>
            <a:endParaRPr lang="en-US" sz="2000" dirty="0">
              <a:solidFill>
                <a:schemeClr val="accent1">
                  <a:lumMod val="75000"/>
                </a:schemeClr>
              </a:solidFill>
            </a:endParaRPr>
          </a:p>
        </p:txBody>
      </p:sp>
      <p:sp>
        <p:nvSpPr>
          <p:cNvPr id="53" name="Text 5">
            <a:extLst>
              <a:ext uri="{FF2B5EF4-FFF2-40B4-BE49-F238E27FC236}">
                <a16:creationId xmlns:a16="http://schemas.microsoft.com/office/drawing/2014/main" id="{656ADBE2-8F8D-4506-B083-78EDA215205F}"/>
              </a:ext>
            </a:extLst>
          </p:cNvPr>
          <p:cNvSpPr txBox="1"/>
          <p:nvPr/>
        </p:nvSpPr>
        <p:spPr>
          <a:xfrm>
            <a:off x="1524000" y="5120640"/>
            <a:ext cx="9418320" cy="5486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i="1"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Digital Transformation Consultant Briefing  —  Apple TV+</a:t>
            </a:r>
            <a:endParaRPr lang="en-US" sz="1600" dirty="0">
              <a:solidFill>
                <a:schemeClr val="accent1">
                  <a:lumMod val="75000"/>
                </a:schemeClr>
              </a:solidFill>
            </a:endParaRPr>
          </a:p>
        </p:txBody>
      </p:sp>
      <p:sp>
        <p:nvSpPr>
          <p:cNvPr id="54" name="TextBox 53"/>
          <p:cNvSpPr txBox="1"/>
          <p:nvPr/>
        </p:nvSpPr>
        <p:spPr>
          <a:xfrm>
            <a:off x="10424160" y="45720"/>
            <a:ext cx="1645920" cy="320040"/>
          </a:xfrm>
          <a:prstGeom prst="rect">
            <a:avLst/>
          </a:prstGeom>
          <a:noFill/>
        </p:spPr>
        <p:txBody>
          <a:bodyPr wrap="none">
            <a:spAutoFit/>
          </a:bodyPr>
          <a:lstStyle/>
          <a:p>
            <a:pPr>
              <a:defRPr sz="1200" b="1"/>
            </a:pPr>
            <a:r>
              <a:t>Intro</a:t>
            </a:r>
          </a:p>
        </p:txBody>
      </p:sp>
      <p:sp>
        <p:nvSpPr>
          <p:cNvPr id="55" name="UPDATE COMMENT - delete before submitting"/>
          <p:cNvSpPr txBox="1"/>
          <p:nvPr/>
        </p:nvSpPr>
        <p:spPr>
          <a:xfrm>
            <a:off x="274320" y="4572000"/>
            <a:ext cx="11612880" cy="2194560"/>
          </a:xfrm>
          <a:prstGeom prst="rect">
            <a:avLst/>
          </a:prstGeom>
          <a:solidFill>
            <a:srgbClr val="FFF0F0"/>
          </a:solidFill>
          <a:ln>
            <a:solidFill>
              <a:srgbClr val="C00000"/>
            </a:solidFill>
          </a:ln>
        </p:spPr>
        <p:txBody>
          <a:bodyPr wrap="square">
            <a:spAutoFit/>
          </a:bodyPr>
          <a:lstStyle/>
          <a:p>
            <a:pPr>
              <a:defRPr sz="1100" b="1">
                <a:solidFill>
                  <a:srgbClr val="A00000"/>
                </a:solidFill>
              </a:defRPr>
            </a:pPr>
            <a:r>
              <a:t>UPDATE - Slide 1 (title)</a:t>
            </a:r>
          </a:p>
          <a:p>
            <a:pPr>
              <a:defRPr sz="1100">
                <a:solidFill>
                  <a:srgbClr val="A00000"/>
                </a:solidFill>
              </a:defRPr>
            </a:pPr>
            <a:r>
              <a:t>CHANGE: title/subtitle to plain wording naming the technology (ML recommendation engine) and the challenge. Show SRN only, no name.</a:t>
            </a:r>
          </a:p>
          <a:p>
            <a:pPr>
              <a:defRPr sz="1100">
                <a:solidFill>
                  <a:srgbClr val="A00000"/>
                </a:solidFill>
              </a:defRPr>
            </a:pPr>
            <a:r>
              <a:t>NOTES - REMOVE: 'The main argument I want to defend...' thesis and 'Across the next ten slides...'. KEEP: first sentence. ADD: 1 sentence purpose; 1 sentence listing Task 1, 2, 3.</a:t>
            </a:r>
          </a:p>
        </p:txBody>
      </p:sp>
    </p:spTree>
    <p:extLst>
      <p:ext uri="{BB962C8B-B14F-4D97-AF65-F5344CB8AC3E}">
        <p14:creationId xmlns:p14="http://schemas.microsoft.com/office/powerpoint/2010/main" val="2170609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984219F9-9B86-444A-A93D-C84A27C20694}"/>
              </a:ext>
            </a:extLst>
          </p:cNvPr>
          <p:cNvSpPr txBox="1"/>
          <p:nvPr/>
        </p:nvSpPr>
        <p:spPr>
          <a:xfrm>
            <a:off x="563880" y="914400"/>
            <a:ext cx="11064240" cy="73152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Subscribers Expect to Be Understood</a:t>
            </a:r>
            <a:endParaRPr lang="en-US" sz="3000" dirty="0"/>
          </a:p>
        </p:txBody>
      </p:sp>
      <p:sp>
        <p:nvSpPr>
          <p:cNvPr id="5" name="Shape 1">
            <a:extLst>
              <a:ext uri="{FF2B5EF4-FFF2-40B4-BE49-F238E27FC236}">
                <a16:creationId xmlns:a16="http://schemas.microsoft.com/office/drawing/2014/main" id="{F1E09319-27E5-4B97-8EEE-47840098855F}"/>
              </a:ext>
            </a:extLst>
          </p:cNvPr>
          <p:cNvSpPr/>
          <p:nvPr/>
        </p:nvSpPr>
        <p:spPr>
          <a:xfrm>
            <a:off x="563880" y="1920240"/>
            <a:ext cx="2514600" cy="1920240"/>
          </a:xfrm>
          <a:prstGeom prst="roundRect">
            <a:avLst>
              <a:gd name="adj" fmla="val 4762"/>
            </a:avLst>
          </a:prstGeom>
          <a:solidFill>
            <a:srgbClr val="F2F5FB"/>
          </a:solidFill>
          <a:ln w="12700">
            <a:solidFill>
              <a:srgbClr val="CADCFC"/>
            </a:solidFill>
            <a:prstDash val="solid"/>
          </a:ln>
        </p:spPr>
      </p:sp>
      <p:sp>
        <p:nvSpPr>
          <p:cNvPr id="6" name="Text 2">
            <a:extLst>
              <a:ext uri="{FF2B5EF4-FFF2-40B4-BE49-F238E27FC236}">
                <a16:creationId xmlns:a16="http://schemas.microsoft.com/office/drawing/2014/main" id="{44625332-360B-4800-A3AD-01AA8C24B25F}"/>
              </a:ext>
            </a:extLst>
          </p:cNvPr>
          <p:cNvSpPr txBox="1"/>
          <p:nvPr/>
        </p:nvSpPr>
        <p:spPr>
          <a:xfrm>
            <a:off x="563880" y="2148840"/>
            <a:ext cx="2514600" cy="8229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000" b="1" dirty="0">
                <a:solidFill>
                  <a:srgbClr val="1E2761"/>
                </a:solidFill>
                <a:latin typeface="Calibri" panose="020F0502020204030204" pitchFamily="34" charset="0"/>
                <a:ea typeface="Calibri" panose="020F0502020204030204" pitchFamily="34" charset="-122"/>
                <a:cs typeface="Calibri" panose="020F0502020204030204" pitchFamily="34" charset="-120"/>
              </a:rPr>
              <a:t>5.5%</a:t>
            </a:r>
            <a:endParaRPr lang="en-US" sz="4000" dirty="0"/>
          </a:p>
        </p:txBody>
      </p:sp>
      <p:sp>
        <p:nvSpPr>
          <p:cNvPr id="7" name="Text 3">
            <a:extLst>
              <a:ext uri="{FF2B5EF4-FFF2-40B4-BE49-F238E27FC236}">
                <a16:creationId xmlns:a16="http://schemas.microsoft.com/office/drawing/2014/main" id="{CF0C5FAE-9394-488C-99B5-887BD6FF73A6}"/>
              </a:ext>
            </a:extLst>
          </p:cNvPr>
          <p:cNvSpPr txBox="1"/>
          <p:nvPr/>
        </p:nvSpPr>
        <p:spPr>
          <a:xfrm>
            <a:off x="701040" y="2971800"/>
            <a:ext cx="2240280" cy="77724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dirty="0">
                <a:solidFill>
                  <a:srgbClr val="27314D"/>
                </a:solidFill>
                <a:latin typeface="Cambria" panose="02040503050406030204" pitchFamily="34" charset="0"/>
                <a:ea typeface="Cambria" panose="02040503050406030204" pitchFamily="34" charset="-122"/>
                <a:cs typeface="Cambria" panose="02040503050406030204" pitchFamily="34" charset="-120"/>
              </a:rPr>
              <a:t>Monthly churn</a:t>
            </a:r>
            <a:endParaRPr lang="en-US" sz="1150" dirty="0"/>
          </a:p>
          <a:p>
            <a:pPr marL="0" indent="0" algn="ctr">
              <a:buNone/>
            </a:pPr>
            <a:r>
              <a:rPr lang="en-US" sz="1150" dirty="0">
                <a:solidFill>
                  <a:srgbClr val="27314D"/>
                </a:solidFill>
                <a:latin typeface="Cambria" panose="02040503050406030204" pitchFamily="34" charset="0"/>
                <a:ea typeface="Cambria" panose="02040503050406030204" pitchFamily="34" charset="-122"/>
                <a:cs typeface="Cambria" panose="02040503050406030204" pitchFamily="34" charset="-120"/>
              </a:rPr>
              <a:t>(up from ~2% in 2019)</a:t>
            </a:r>
            <a:endParaRPr lang="en-US" sz="1150" dirty="0"/>
          </a:p>
        </p:txBody>
      </p:sp>
      <p:sp>
        <p:nvSpPr>
          <p:cNvPr id="8" name="Shape 4">
            <a:extLst>
              <a:ext uri="{FF2B5EF4-FFF2-40B4-BE49-F238E27FC236}">
                <a16:creationId xmlns:a16="http://schemas.microsoft.com/office/drawing/2014/main" id="{00061506-E7C1-4794-B87C-297E31FE132A}"/>
              </a:ext>
            </a:extLst>
          </p:cNvPr>
          <p:cNvSpPr/>
          <p:nvPr/>
        </p:nvSpPr>
        <p:spPr>
          <a:xfrm>
            <a:off x="3352800" y="1920240"/>
            <a:ext cx="2514600" cy="1920240"/>
          </a:xfrm>
          <a:prstGeom prst="roundRect">
            <a:avLst>
              <a:gd name="adj" fmla="val 4762"/>
            </a:avLst>
          </a:prstGeom>
          <a:solidFill>
            <a:srgbClr val="F2F5FB"/>
          </a:solidFill>
          <a:ln w="12700">
            <a:solidFill>
              <a:srgbClr val="CADCFC"/>
            </a:solidFill>
            <a:prstDash val="solid"/>
          </a:ln>
        </p:spPr>
      </p:sp>
      <p:sp>
        <p:nvSpPr>
          <p:cNvPr id="9" name="Text 5">
            <a:extLst>
              <a:ext uri="{FF2B5EF4-FFF2-40B4-BE49-F238E27FC236}">
                <a16:creationId xmlns:a16="http://schemas.microsoft.com/office/drawing/2014/main" id="{2D5A7A48-3F4B-4051-B582-5D5933F94623}"/>
              </a:ext>
            </a:extLst>
          </p:cNvPr>
          <p:cNvSpPr txBox="1"/>
          <p:nvPr/>
        </p:nvSpPr>
        <p:spPr>
          <a:xfrm>
            <a:off x="3352800" y="2148840"/>
            <a:ext cx="2514600" cy="8229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000" b="1" dirty="0">
                <a:solidFill>
                  <a:srgbClr val="1E2761"/>
                </a:solidFill>
                <a:latin typeface="Calibri" panose="020F0502020204030204" pitchFamily="34" charset="0"/>
                <a:ea typeface="Calibri" panose="020F0502020204030204" pitchFamily="34" charset="-122"/>
                <a:cs typeface="Calibri" panose="020F0502020204030204" pitchFamily="34" charset="-120"/>
              </a:rPr>
              <a:t>74%</a:t>
            </a:r>
            <a:endParaRPr lang="en-US" sz="4000" dirty="0"/>
          </a:p>
        </p:txBody>
      </p:sp>
      <p:sp>
        <p:nvSpPr>
          <p:cNvPr id="10" name="Text 6">
            <a:extLst>
              <a:ext uri="{FF2B5EF4-FFF2-40B4-BE49-F238E27FC236}">
                <a16:creationId xmlns:a16="http://schemas.microsoft.com/office/drawing/2014/main" id="{861ACD24-7797-4FC1-9D19-3BF85B000ACC}"/>
              </a:ext>
            </a:extLst>
          </p:cNvPr>
          <p:cNvSpPr txBox="1"/>
          <p:nvPr/>
        </p:nvSpPr>
        <p:spPr>
          <a:xfrm>
            <a:off x="3489960" y="2971800"/>
            <a:ext cx="2240280" cy="77724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dirty="0">
                <a:solidFill>
                  <a:srgbClr val="27314D"/>
                </a:solidFill>
                <a:latin typeface="Cambria" panose="02040503050406030204" pitchFamily="34" charset="0"/>
                <a:ea typeface="Cambria" panose="02040503050406030204" pitchFamily="34" charset="-122"/>
                <a:cs typeface="Cambria" panose="02040503050406030204" pitchFamily="34" charset="-120"/>
              </a:rPr>
              <a:t>rate recommendations “very/extremely</a:t>
            </a:r>
            <a:endParaRPr lang="en-US" sz="1150" dirty="0"/>
          </a:p>
          <a:p>
            <a:pPr marL="0" indent="0" algn="ctr">
              <a:buNone/>
            </a:pPr>
            <a:r>
              <a:rPr lang="en-US" sz="1150" dirty="0">
                <a:solidFill>
                  <a:srgbClr val="27314D"/>
                </a:solidFill>
                <a:latin typeface="Cambria" panose="02040503050406030204" pitchFamily="34" charset="0"/>
                <a:ea typeface="Cambria" panose="02040503050406030204" pitchFamily="34" charset="-122"/>
                <a:cs typeface="Cambria" panose="02040503050406030204" pitchFamily="34" charset="-120"/>
              </a:rPr>
              <a:t>important” (2025, up from 58% in 2021)</a:t>
            </a:r>
            <a:endParaRPr lang="en-US" sz="1150" dirty="0"/>
          </a:p>
        </p:txBody>
      </p:sp>
      <p:sp>
        <p:nvSpPr>
          <p:cNvPr id="11" name="Shape 7">
            <a:extLst>
              <a:ext uri="{FF2B5EF4-FFF2-40B4-BE49-F238E27FC236}">
                <a16:creationId xmlns:a16="http://schemas.microsoft.com/office/drawing/2014/main" id="{9FBC1FED-90A1-46AE-B62C-ACD64776B864}"/>
              </a:ext>
            </a:extLst>
          </p:cNvPr>
          <p:cNvSpPr/>
          <p:nvPr/>
        </p:nvSpPr>
        <p:spPr>
          <a:xfrm>
            <a:off x="6141720" y="1920240"/>
            <a:ext cx="2514600" cy="1920240"/>
          </a:xfrm>
          <a:prstGeom prst="roundRect">
            <a:avLst>
              <a:gd name="adj" fmla="val 4762"/>
            </a:avLst>
          </a:prstGeom>
          <a:solidFill>
            <a:srgbClr val="F2F5FB"/>
          </a:solidFill>
          <a:ln w="12700">
            <a:solidFill>
              <a:srgbClr val="CADCFC"/>
            </a:solidFill>
            <a:prstDash val="solid"/>
          </a:ln>
        </p:spPr>
      </p:sp>
      <p:sp>
        <p:nvSpPr>
          <p:cNvPr id="12" name="Text 8">
            <a:extLst>
              <a:ext uri="{FF2B5EF4-FFF2-40B4-BE49-F238E27FC236}">
                <a16:creationId xmlns:a16="http://schemas.microsoft.com/office/drawing/2014/main" id="{650D8524-0CDB-4AF0-BD56-B4EBCBCEDF7B}"/>
              </a:ext>
            </a:extLst>
          </p:cNvPr>
          <p:cNvSpPr txBox="1"/>
          <p:nvPr/>
        </p:nvSpPr>
        <p:spPr>
          <a:xfrm>
            <a:off x="6141720" y="2148840"/>
            <a:ext cx="2514600" cy="8229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000" b="1" dirty="0">
                <a:solidFill>
                  <a:srgbClr val="1E2761"/>
                </a:solidFill>
                <a:latin typeface="Calibri" panose="020F0502020204030204" pitchFamily="34" charset="0"/>
                <a:ea typeface="Calibri" panose="020F0502020204030204" pitchFamily="34" charset="-122"/>
                <a:cs typeface="Calibri" panose="020F0502020204030204" pitchFamily="34" charset="-120"/>
              </a:rPr>
              <a:t>&gt;80%</a:t>
            </a:r>
            <a:endParaRPr lang="en-US" sz="4000" dirty="0"/>
          </a:p>
        </p:txBody>
      </p:sp>
      <p:sp>
        <p:nvSpPr>
          <p:cNvPr id="13" name="Text 9">
            <a:extLst>
              <a:ext uri="{FF2B5EF4-FFF2-40B4-BE49-F238E27FC236}">
                <a16:creationId xmlns:a16="http://schemas.microsoft.com/office/drawing/2014/main" id="{2D42DCBE-E10C-43F8-AB8F-085B5025BD6D}"/>
              </a:ext>
            </a:extLst>
          </p:cNvPr>
          <p:cNvSpPr txBox="1"/>
          <p:nvPr/>
        </p:nvSpPr>
        <p:spPr>
          <a:xfrm>
            <a:off x="6278880" y="2971800"/>
            <a:ext cx="2240280" cy="77724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dirty="0">
                <a:solidFill>
                  <a:srgbClr val="27314D"/>
                </a:solidFill>
                <a:latin typeface="Cambria" panose="02040503050406030204" pitchFamily="34" charset="0"/>
                <a:ea typeface="Cambria" panose="02040503050406030204" pitchFamily="34" charset="-122"/>
                <a:cs typeface="Cambria" panose="02040503050406030204" pitchFamily="34" charset="-120"/>
              </a:rPr>
              <a:t>of Netflix viewing driven by its</a:t>
            </a:r>
            <a:endParaRPr lang="en-US" sz="1150" dirty="0"/>
          </a:p>
          <a:p>
            <a:pPr marL="0" indent="0" algn="ctr">
              <a:buNone/>
            </a:pPr>
            <a:r>
              <a:rPr lang="en-US" sz="1150" dirty="0">
                <a:solidFill>
                  <a:srgbClr val="27314D"/>
                </a:solidFill>
                <a:latin typeface="Cambria" panose="02040503050406030204" pitchFamily="34" charset="0"/>
                <a:ea typeface="Cambria" panose="02040503050406030204" pitchFamily="34" charset="-122"/>
                <a:cs typeface="Cambria" panose="02040503050406030204" pitchFamily="34" charset="-120"/>
              </a:rPr>
              <a:t>recommendation engine*</a:t>
            </a:r>
            <a:endParaRPr lang="en-US" sz="1150" dirty="0"/>
          </a:p>
        </p:txBody>
      </p:sp>
      <p:sp>
        <p:nvSpPr>
          <p:cNvPr id="14" name="Shape 10">
            <a:extLst>
              <a:ext uri="{FF2B5EF4-FFF2-40B4-BE49-F238E27FC236}">
                <a16:creationId xmlns:a16="http://schemas.microsoft.com/office/drawing/2014/main" id="{6101C2F0-F0D6-471F-8E65-B6B2B7F6AE02}"/>
              </a:ext>
            </a:extLst>
          </p:cNvPr>
          <p:cNvSpPr/>
          <p:nvPr/>
        </p:nvSpPr>
        <p:spPr>
          <a:xfrm>
            <a:off x="8930640" y="1920240"/>
            <a:ext cx="2514600" cy="1920240"/>
          </a:xfrm>
          <a:prstGeom prst="roundRect">
            <a:avLst>
              <a:gd name="adj" fmla="val 4762"/>
            </a:avLst>
          </a:prstGeom>
          <a:solidFill>
            <a:srgbClr val="FFFFFF"/>
          </a:solidFill>
          <a:ln w="25400">
            <a:solidFill>
              <a:srgbClr val="F96167"/>
            </a:solidFill>
            <a:prstDash val="solid"/>
          </a:ln>
        </p:spPr>
      </p:sp>
      <p:sp>
        <p:nvSpPr>
          <p:cNvPr id="15" name="Text 11">
            <a:extLst>
              <a:ext uri="{FF2B5EF4-FFF2-40B4-BE49-F238E27FC236}">
                <a16:creationId xmlns:a16="http://schemas.microsoft.com/office/drawing/2014/main" id="{8AB7F83C-C8E5-4C2E-8539-44547E1964BB}"/>
              </a:ext>
            </a:extLst>
          </p:cNvPr>
          <p:cNvSpPr txBox="1"/>
          <p:nvPr/>
        </p:nvSpPr>
        <p:spPr>
          <a:xfrm>
            <a:off x="8930640" y="2148840"/>
            <a:ext cx="2514600" cy="8229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000" b="1" dirty="0">
                <a:solidFill>
                  <a:srgbClr val="F96167"/>
                </a:solidFill>
                <a:latin typeface="Calibri" panose="020F0502020204030204" pitchFamily="34" charset="0"/>
                <a:ea typeface="Calibri" panose="020F0502020204030204" pitchFamily="34" charset="-122"/>
                <a:cs typeface="Calibri" panose="020F0502020204030204" pitchFamily="34" charset="-120"/>
              </a:rPr>
              <a:t>?</a:t>
            </a:r>
            <a:endParaRPr lang="en-US" sz="4000" dirty="0"/>
          </a:p>
        </p:txBody>
      </p:sp>
      <p:sp>
        <p:nvSpPr>
          <p:cNvPr id="16" name="Text 12">
            <a:extLst>
              <a:ext uri="{FF2B5EF4-FFF2-40B4-BE49-F238E27FC236}">
                <a16:creationId xmlns:a16="http://schemas.microsoft.com/office/drawing/2014/main" id="{0475AC9C-2EB2-460D-8C1D-4BC18466C54F}"/>
              </a:ext>
            </a:extLst>
          </p:cNvPr>
          <p:cNvSpPr txBox="1"/>
          <p:nvPr/>
        </p:nvSpPr>
        <p:spPr>
          <a:xfrm>
            <a:off x="9067800" y="2971800"/>
            <a:ext cx="2240280" cy="77724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dirty="0">
                <a:solidFill>
                  <a:srgbClr val="27314D"/>
                </a:solidFill>
                <a:latin typeface="Cambria" panose="02040503050406030204" pitchFamily="34" charset="0"/>
                <a:ea typeface="Cambria" panose="02040503050406030204" pitchFamily="34" charset="-122"/>
                <a:cs typeface="Cambria" panose="02040503050406030204" pitchFamily="34" charset="-120"/>
              </a:rPr>
              <a:t>Tolerance threshold —</a:t>
            </a:r>
            <a:endParaRPr lang="en-US" sz="1150" dirty="0"/>
          </a:p>
          <a:p>
            <a:pPr marL="0" indent="0" algn="ctr">
              <a:buNone/>
            </a:pPr>
            <a:r>
              <a:rPr lang="en-US" sz="1150" dirty="0">
                <a:solidFill>
                  <a:srgbClr val="27314D"/>
                </a:solidFill>
                <a:latin typeface="Cambria" panose="02040503050406030204" pitchFamily="34" charset="0"/>
                <a:ea typeface="Cambria" panose="02040503050406030204" pitchFamily="34" charset="-122"/>
                <a:cs typeface="Cambria" panose="02040503050406030204" pitchFamily="34" charset="-120"/>
              </a:rPr>
              <a:t>unknown</a:t>
            </a:r>
            <a:endParaRPr lang="en-US" sz="1150" dirty="0"/>
          </a:p>
        </p:txBody>
      </p:sp>
      <p:sp>
        <p:nvSpPr>
          <p:cNvPr id="17" name="Text 13">
            <a:extLst>
              <a:ext uri="{FF2B5EF4-FFF2-40B4-BE49-F238E27FC236}">
                <a16:creationId xmlns:a16="http://schemas.microsoft.com/office/drawing/2014/main" id="{F7E50F63-A989-464E-9C1C-1FDD408A2CE9}"/>
              </a:ext>
            </a:extLst>
          </p:cNvPr>
          <p:cNvSpPr txBox="1"/>
          <p:nvPr/>
        </p:nvSpPr>
        <p:spPr>
          <a:xfrm>
            <a:off x="563880" y="3950208"/>
            <a:ext cx="11064240" cy="27432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950" i="1" dirty="0">
                <a:solidFill>
                  <a:srgbClr val="6B7590"/>
                </a:solidFill>
                <a:latin typeface="Calibri" panose="020F0502020204030204" pitchFamily="34" charset="0"/>
                <a:ea typeface="Calibri" panose="020F0502020204030204" pitchFamily="34" charset="-122"/>
                <a:cs typeface="Calibri" panose="020F0502020204030204" pitchFamily="34" charset="-120"/>
              </a:rPr>
              <a:t>*industry-cited figure via secondary reporting — verify original source before final citation</a:t>
            </a:r>
            <a:endParaRPr lang="en-US" sz="950" dirty="0"/>
          </a:p>
        </p:txBody>
      </p:sp>
      <p:sp>
        <p:nvSpPr>
          <p:cNvPr id="18" name="Shape 14">
            <a:extLst>
              <a:ext uri="{FF2B5EF4-FFF2-40B4-BE49-F238E27FC236}">
                <a16:creationId xmlns:a16="http://schemas.microsoft.com/office/drawing/2014/main" id="{BDB1A1AA-23BB-4386-980F-9DEA8001C410}"/>
              </a:ext>
            </a:extLst>
          </p:cNvPr>
          <p:cNvSpPr/>
          <p:nvPr/>
        </p:nvSpPr>
        <p:spPr>
          <a:xfrm>
            <a:off x="1112520" y="4526280"/>
            <a:ext cx="9966960" cy="0"/>
          </a:xfrm>
          <a:prstGeom prst="line">
            <a:avLst/>
          </a:prstGeom>
          <a:noFill/>
          <a:ln w="12700">
            <a:solidFill>
              <a:srgbClr val="CADCFC"/>
            </a:solidFill>
            <a:prstDash val="solid"/>
          </a:ln>
        </p:spPr>
      </p:sp>
      <p:sp>
        <p:nvSpPr>
          <p:cNvPr id="19" name="Text 15">
            <a:extLst>
              <a:ext uri="{FF2B5EF4-FFF2-40B4-BE49-F238E27FC236}">
                <a16:creationId xmlns:a16="http://schemas.microsoft.com/office/drawing/2014/main" id="{3FFE17E0-FDA2-478A-825E-6A23B78B5731}"/>
              </a:ext>
            </a:extLst>
          </p:cNvPr>
          <p:cNvSpPr txBox="1"/>
          <p:nvPr/>
        </p:nvSpPr>
        <p:spPr>
          <a:xfrm>
            <a:off x="1112520" y="4754880"/>
            <a:ext cx="9966960" cy="118872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i="1" dirty="0">
                <a:solidFill>
                  <a:srgbClr val="1E2761"/>
                </a:solidFill>
                <a:latin typeface="Cambria" panose="02040503050406030204" pitchFamily="34" charset="0"/>
                <a:ea typeface="Cambria" panose="02040503050406030204" pitchFamily="34" charset="-122"/>
                <a:cs typeface="Cambria" panose="02040503050406030204" pitchFamily="34" charset="-120"/>
              </a:rPr>
              <a:t>“Subscribers now expect to be understood — but the same data that earns retention can just as easily read as surveillance.”</a:t>
            </a:r>
            <a:endParaRPr lang="en-US" sz="1800" dirty="0"/>
          </a:p>
        </p:txBody>
      </p:sp>
      <p:sp>
        <p:nvSpPr>
          <p:cNvPr id="20" name="TextBox 19"/>
          <p:cNvSpPr txBox="1"/>
          <p:nvPr/>
        </p:nvSpPr>
        <p:spPr>
          <a:xfrm>
            <a:off x="10424160" y="45720"/>
            <a:ext cx="1645920" cy="320040"/>
          </a:xfrm>
          <a:prstGeom prst="rect">
            <a:avLst/>
          </a:prstGeom>
          <a:noFill/>
        </p:spPr>
        <p:txBody>
          <a:bodyPr wrap="none">
            <a:spAutoFit/>
          </a:bodyPr>
          <a:lstStyle/>
          <a:p>
            <a:pPr>
              <a:defRPr sz="1200" b="1"/>
            </a:pPr>
            <a:r>
              <a:t>Intro</a:t>
            </a:r>
          </a:p>
        </p:txBody>
      </p:sp>
      <p:sp>
        <p:nvSpPr>
          <p:cNvPr id="21" name="UPDATE COMMENT - delete before submitting"/>
          <p:cNvSpPr txBox="1"/>
          <p:nvPr/>
        </p:nvSpPr>
        <p:spPr>
          <a:xfrm>
            <a:off x="274320" y="4572000"/>
            <a:ext cx="11612880" cy="2194560"/>
          </a:xfrm>
          <a:prstGeom prst="rect">
            <a:avLst/>
          </a:prstGeom>
          <a:solidFill>
            <a:srgbClr val="FFF0F0"/>
          </a:solidFill>
          <a:ln>
            <a:solidFill>
              <a:srgbClr val="C00000"/>
            </a:solidFill>
          </a:ln>
        </p:spPr>
        <p:txBody>
          <a:bodyPr wrap="square">
            <a:spAutoFit/>
          </a:bodyPr>
          <a:lstStyle/>
          <a:p>
            <a:pPr>
              <a:defRPr sz="1100" b="1">
                <a:solidFill>
                  <a:srgbClr val="A00000"/>
                </a:solidFill>
              </a:defRPr>
            </a:pPr>
            <a:r>
              <a:t>UPDATE - Slide 2 -&gt; Apple TV+ background and challenge</a:t>
            </a:r>
          </a:p>
          <a:p>
            <a:pPr>
              <a:defRPr sz="1100">
                <a:solidFill>
                  <a:srgbClr val="A00000"/>
                </a:solidFill>
              </a:defRPr>
            </a:pPr>
            <a:r>
              <a:t>SLIDE - REMOVE: the blank 4th tile; the '5.5% (up from ~2% in 2019)' tile unless re-sourced (that comparison looked like US INDUSTRY churn, not Apple TV+). KEEP: only verified stats with source. ADD: what Apple TV+ is + ecosystem strategy (from brief); ONE challenge: using data to improve recommendations without limiting creativity; why it matters.</a:t>
            </a:r>
          </a:p>
          <a:p>
            <a:pPr>
              <a:defRPr sz="1100">
                <a:solidFill>
                  <a:srgbClr val="A00000"/>
                </a:solidFill>
              </a:defRPr>
            </a:pPr>
            <a:r>
              <a:t>NOTES - REMOVE: 'fourth tile deliberately blank', Netflix 80% claim and 'needs checking' note, 'trust problem wearing a technology costume'. KEEP: Reichheld (2003), Gracenote 74% (verify).</a:t>
            </a:r>
          </a:p>
        </p:txBody>
      </p:sp>
    </p:spTree>
    <p:extLst>
      <p:ext uri="{BB962C8B-B14F-4D97-AF65-F5344CB8AC3E}">
        <p14:creationId xmlns:p14="http://schemas.microsoft.com/office/powerpoint/2010/main" val="270881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AA02A78-BC87-4FA8-A95D-45FED84FA8A3}"/>
              </a:ext>
            </a:extLst>
          </p:cNvPr>
          <p:cNvSpPr txBox="1"/>
          <p:nvPr/>
        </p:nvSpPr>
        <p:spPr>
          <a:xfrm>
            <a:off x="563880" y="297180"/>
            <a:ext cx="11064240" cy="73152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One Stream of Data, Two Audiences</a:t>
            </a:r>
            <a:endParaRPr lang="en-US" sz="3000" dirty="0"/>
          </a:p>
        </p:txBody>
      </p:sp>
      <p:sp>
        <p:nvSpPr>
          <p:cNvPr id="3" name="Shape 1">
            <a:extLst>
              <a:ext uri="{FF2B5EF4-FFF2-40B4-BE49-F238E27FC236}">
                <a16:creationId xmlns:a16="http://schemas.microsoft.com/office/drawing/2014/main" id="{EE29A155-B90C-4FB6-B9B4-38A0D9931153}"/>
              </a:ext>
            </a:extLst>
          </p:cNvPr>
          <p:cNvSpPr/>
          <p:nvPr/>
        </p:nvSpPr>
        <p:spPr>
          <a:xfrm>
            <a:off x="655320" y="2400300"/>
            <a:ext cx="3108960" cy="1463040"/>
          </a:xfrm>
          <a:prstGeom prst="roundRect">
            <a:avLst>
              <a:gd name="adj" fmla="val 6250"/>
            </a:avLst>
          </a:prstGeom>
          <a:solidFill>
            <a:srgbClr val="F2F5FB"/>
          </a:solidFill>
          <a:ln w="12700">
            <a:solidFill>
              <a:srgbClr val="CADCFC"/>
            </a:solidFill>
            <a:prstDash val="solid"/>
          </a:ln>
        </p:spPr>
      </p:sp>
      <p:sp>
        <p:nvSpPr>
          <p:cNvPr id="4" name="Text 2">
            <a:extLst>
              <a:ext uri="{FF2B5EF4-FFF2-40B4-BE49-F238E27FC236}">
                <a16:creationId xmlns:a16="http://schemas.microsoft.com/office/drawing/2014/main" id="{E7CF5626-B68F-49D2-9D5E-75D993725008}"/>
              </a:ext>
            </a:extLst>
          </p:cNvPr>
          <p:cNvSpPr txBox="1"/>
          <p:nvPr/>
        </p:nvSpPr>
        <p:spPr>
          <a:xfrm>
            <a:off x="838200" y="2537460"/>
            <a:ext cx="2743200" cy="118872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Viewing history,</a:t>
            </a:r>
            <a:endParaRPr lang="en-US" sz="1500" dirty="0"/>
          </a:p>
          <a:p>
            <a:pPr marL="0" indent="0" algn="ctr">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search,</a:t>
            </a:r>
            <a:endParaRPr lang="en-US" sz="1500" dirty="0"/>
          </a:p>
          <a:p>
            <a:pPr marL="0" indent="0" algn="ctr">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pauses / rewinds</a:t>
            </a:r>
            <a:endParaRPr lang="en-US" sz="1500" dirty="0"/>
          </a:p>
        </p:txBody>
      </p:sp>
      <p:sp>
        <p:nvSpPr>
          <p:cNvPr id="5" name="Shape 3">
            <a:extLst>
              <a:ext uri="{FF2B5EF4-FFF2-40B4-BE49-F238E27FC236}">
                <a16:creationId xmlns:a16="http://schemas.microsoft.com/office/drawing/2014/main" id="{D09C69CE-A654-4A8A-BC37-CFD6D800E693}"/>
              </a:ext>
            </a:extLst>
          </p:cNvPr>
          <p:cNvSpPr/>
          <p:nvPr/>
        </p:nvSpPr>
        <p:spPr>
          <a:xfrm>
            <a:off x="6964680" y="1303020"/>
            <a:ext cx="4480560" cy="1737360"/>
          </a:xfrm>
          <a:prstGeom prst="roundRect">
            <a:avLst>
              <a:gd name="adj" fmla="val 5263"/>
            </a:avLst>
          </a:prstGeom>
          <a:solidFill>
            <a:srgbClr val="FFFFFF"/>
          </a:solidFill>
          <a:ln w="25400">
            <a:solidFill>
              <a:srgbClr val="1E56A0"/>
            </a:solidFill>
            <a:prstDash val="solid"/>
          </a:ln>
        </p:spPr>
      </p:sp>
      <p:sp>
        <p:nvSpPr>
          <p:cNvPr id="6" name="Text 4">
            <a:extLst>
              <a:ext uri="{FF2B5EF4-FFF2-40B4-BE49-F238E27FC236}">
                <a16:creationId xmlns:a16="http://schemas.microsoft.com/office/drawing/2014/main" id="{829AF059-FA7C-49C8-9272-5B5A62D903C3}"/>
              </a:ext>
            </a:extLst>
          </p:cNvPr>
          <p:cNvSpPr txBox="1"/>
          <p:nvPr/>
        </p:nvSpPr>
        <p:spPr>
          <a:xfrm>
            <a:off x="7147560" y="1467612"/>
            <a:ext cx="4114800" cy="3657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rgbClr val="1E56A0"/>
                </a:solidFill>
                <a:latin typeface="Calibri" panose="020F0502020204030204" pitchFamily="34" charset="0"/>
                <a:ea typeface="Calibri" panose="020F0502020204030204" pitchFamily="34" charset="-122"/>
                <a:cs typeface="Calibri" panose="020F0502020204030204" pitchFamily="34" charset="-120"/>
              </a:rPr>
              <a:t>Recommendation Engine</a:t>
            </a:r>
            <a:endParaRPr lang="en-US" sz="1500" dirty="0"/>
          </a:p>
        </p:txBody>
      </p:sp>
      <p:sp>
        <p:nvSpPr>
          <p:cNvPr id="7" name="Text 5">
            <a:extLst>
              <a:ext uri="{FF2B5EF4-FFF2-40B4-BE49-F238E27FC236}">
                <a16:creationId xmlns:a16="http://schemas.microsoft.com/office/drawing/2014/main" id="{60994B01-2343-481C-8F8B-52FEF982800B}"/>
              </a:ext>
            </a:extLst>
          </p:cNvPr>
          <p:cNvSpPr txBox="1"/>
          <p:nvPr/>
        </p:nvSpPr>
        <p:spPr>
          <a:xfrm>
            <a:off x="7147560" y="1869948"/>
            <a:ext cx="4114800" cy="10058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dirty="0">
                <a:solidFill>
                  <a:srgbClr val="27314D"/>
                </a:solidFill>
                <a:latin typeface="Cambria" panose="02040503050406030204" pitchFamily="34" charset="0"/>
                <a:ea typeface="Cambria" panose="02040503050406030204" pitchFamily="34" charset="-122"/>
                <a:cs typeface="Cambria" panose="02040503050406030204" pitchFamily="34" charset="-120"/>
              </a:rPr>
              <a:t>Customer-facing. Disclosed: data used “to tailor features and offer personalised recommendations” (Apple Inc., 2025).</a:t>
            </a:r>
            <a:endParaRPr lang="en-US" sz="1150" dirty="0"/>
          </a:p>
        </p:txBody>
      </p:sp>
      <p:sp>
        <p:nvSpPr>
          <p:cNvPr id="8" name="Shape 6">
            <a:extLst>
              <a:ext uri="{FF2B5EF4-FFF2-40B4-BE49-F238E27FC236}">
                <a16:creationId xmlns:a16="http://schemas.microsoft.com/office/drawing/2014/main" id="{48B5A71A-ACB5-4D5F-8736-5BA645C0262A}"/>
              </a:ext>
            </a:extLst>
          </p:cNvPr>
          <p:cNvSpPr/>
          <p:nvPr/>
        </p:nvSpPr>
        <p:spPr>
          <a:xfrm>
            <a:off x="6964680" y="3680460"/>
            <a:ext cx="4480560" cy="1737360"/>
          </a:xfrm>
          <a:prstGeom prst="roundRect">
            <a:avLst>
              <a:gd name="adj" fmla="val 5263"/>
            </a:avLst>
          </a:prstGeom>
          <a:solidFill>
            <a:srgbClr val="FFFFFF"/>
          </a:solidFill>
          <a:ln w="25400">
            <a:solidFill>
              <a:srgbClr val="F96167"/>
            </a:solidFill>
            <a:prstDash val="solid"/>
          </a:ln>
        </p:spPr>
      </p:sp>
      <p:sp>
        <p:nvSpPr>
          <p:cNvPr id="9" name="Text 7">
            <a:extLst>
              <a:ext uri="{FF2B5EF4-FFF2-40B4-BE49-F238E27FC236}">
                <a16:creationId xmlns:a16="http://schemas.microsoft.com/office/drawing/2014/main" id="{AC4D5A3E-48AA-4CAE-A818-004D88D10C2E}"/>
              </a:ext>
            </a:extLst>
          </p:cNvPr>
          <p:cNvSpPr txBox="1"/>
          <p:nvPr/>
        </p:nvSpPr>
        <p:spPr>
          <a:xfrm>
            <a:off x="7147560" y="3845052"/>
            <a:ext cx="4114800" cy="3657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rgbClr val="F96167"/>
                </a:solidFill>
                <a:latin typeface="Calibri" panose="020F0502020204030204" pitchFamily="34" charset="0"/>
                <a:ea typeface="Calibri" panose="020F0502020204030204" pitchFamily="34" charset="-122"/>
                <a:cs typeface="Calibri" panose="020F0502020204030204" pitchFamily="34" charset="-120"/>
              </a:rPr>
              <a:t>Marketing Segmentation</a:t>
            </a:r>
            <a:endParaRPr lang="en-US" sz="1500" dirty="0"/>
          </a:p>
        </p:txBody>
      </p:sp>
      <p:sp>
        <p:nvSpPr>
          <p:cNvPr id="10" name="Text 8">
            <a:extLst>
              <a:ext uri="{FF2B5EF4-FFF2-40B4-BE49-F238E27FC236}">
                <a16:creationId xmlns:a16="http://schemas.microsoft.com/office/drawing/2014/main" id="{9B4A37D9-5654-4BEA-B143-99CB9C053BB9}"/>
              </a:ext>
            </a:extLst>
          </p:cNvPr>
          <p:cNvSpPr txBox="1"/>
          <p:nvPr/>
        </p:nvSpPr>
        <p:spPr>
          <a:xfrm>
            <a:off x="7147560" y="4247388"/>
            <a:ext cx="4114800" cy="10058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dirty="0">
                <a:solidFill>
                  <a:srgbClr val="27314D"/>
                </a:solidFill>
                <a:latin typeface="Cambria" panose="02040503050406030204" pitchFamily="34" charset="0"/>
                <a:ea typeface="Cambria" panose="02040503050406030204" pitchFamily="34" charset="-122"/>
                <a:cs typeface="Cambria" panose="02040503050406030204" pitchFamily="34" charset="-120"/>
              </a:rPr>
              <a:t>Internal / commercial. Not disclosed with the same clarity as the recommendation branch.</a:t>
            </a:r>
            <a:endParaRPr lang="en-US" sz="1150" dirty="0"/>
          </a:p>
        </p:txBody>
      </p:sp>
      <p:sp>
        <p:nvSpPr>
          <p:cNvPr id="11" name="Shape 9">
            <a:extLst>
              <a:ext uri="{FF2B5EF4-FFF2-40B4-BE49-F238E27FC236}">
                <a16:creationId xmlns:a16="http://schemas.microsoft.com/office/drawing/2014/main" id="{52ADC4D8-622A-4AD8-AA36-80DEF1B6B615}"/>
              </a:ext>
            </a:extLst>
          </p:cNvPr>
          <p:cNvSpPr/>
          <p:nvPr/>
        </p:nvSpPr>
        <p:spPr>
          <a:xfrm>
            <a:off x="3764280" y="3131820"/>
            <a:ext cx="914400" cy="0"/>
          </a:xfrm>
          <a:prstGeom prst="line">
            <a:avLst/>
          </a:prstGeom>
          <a:noFill/>
          <a:ln w="19050">
            <a:solidFill>
              <a:srgbClr val="6B7590"/>
            </a:solidFill>
            <a:prstDash val="solid"/>
          </a:ln>
        </p:spPr>
      </p:sp>
      <p:sp>
        <p:nvSpPr>
          <p:cNvPr id="12" name="Shape 10">
            <a:extLst>
              <a:ext uri="{FF2B5EF4-FFF2-40B4-BE49-F238E27FC236}">
                <a16:creationId xmlns:a16="http://schemas.microsoft.com/office/drawing/2014/main" id="{128636EB-6302-471F-B80E-DB3AFDE8F760}"/>
              </a:ext>
            </a:extLst>
          </p:cNvPr>
          <p:cNvSpPr/>
          <p:nvPr/>
        </p:nvSpPr>
        <p:spPr>
          <a:xfrm>
            <a:off x="4678680" y="2171700"/>
            <a:ext cx="2286000" cy="0"/>
          </a:xfrm>
          <a:prstGeom prst="line">
            <a:avLst/>
          </a:prstGeom>
          <a:noFill/>
          <a:ln w="19050">
            <a:solidFill>
              <a:srgbClr val="6B7590"/>
            </a:solidFill>
            <a:prstDash val="solid"/>
            <a:tailEnd type="triangle"/>
          </a:ln>
        </p:spPr>
      </p:sp>
      <p:sp>
        <p:nvSpPr>
          <p:cNvPr id="13" name="Shape 11">
            <a:extLst>
              <a:ext uri="{FF2B5EF4-FFF2-40B4-BE49-F238E27FC236}">
                <a16:creationId xmlns:a16="http://schemas.microsoft.com/office/drawing/2014/main" id="{884A184A-DD5C-4812-9E34-63D8369078C2}"/>
              </a:ext>
            </a:extLst>
          </p:cNvPr>
          <p:cNvSpPr/>
          <p:nvPr/>
        </p:nvSpPr>
        <p:spPr>
          <a:xfrm>
            <a:off x="4678680" y="4549140"/>
            <a:ext cx="2286000" cy="0"/>
          </a:xfrm>
          <a:prstGeom prst="line">
            <a:avLst/>
          </a:prstGeom>
          <a:noFill/>
          <a:ln w="19050">
            <a:solidFill>
              <a:srgbClr val="6B7590"/>
            </a:solidFill>
            <a:prstDash val="solid"/>
            <a:tailEnd type="triangle"/>
          </a:ln>
        </p:spPr>
      </p:sp>
      <p:sp>
        <p:nvSpPr>
          <p:cNvPr id="14" name="Shape 12">
            <a:extLst>
              <a:ext uri="{FF2B5EF4-FFF2-40B4-BE49-F238E27FC236}">
                <a16:creationId xmlns:a16="http://schemas.microsoft.com/office/drawing/2014/main" id="{D1832578-49A9-4A66-818E-CD66F1250516}"/>
              </a:ext>
            </a:extLst>
          </p:cNvPr>
          <p:cNvSpPr/>
          <p:nvPr/>
        </p:nvSpPr>
        <p:spPr>
          <a:xfrm>
            <a:off x="4678680" y="2171700"/>
            <a:ext cx="0" cy="2377440"/>
          </a:xfrm>
          <a:prstGeom prst="line">
            <a:avLst/>
          </a:prstGeom>
          <a:noFill/>
          <a:ln w="19050">
            <a:solidFill>
              <a:srgbClr val="6B7590"/>
            </a:solidFill>
            <a:prstDash val="solid"/>
          </a:ln>
        </p:spPr>
      </p:sp>
      <p:sp>
        <p:nvSpPr>
          <p:cNvPr id="15" name="Text 13">
            <a:extLst>
              <a:ext uri="{FF2B5EF4-FFF2-40B4-BE49-F238E27FC236}">
                <a16:creationId xmlns:a16="http://schemas.microsoft.com/office/drawing/2014/main" id="{9C7928E2-E50D-4138-A2A1-B6AC32AE65DE}"/>
              </a:ext>
            </a:extLst>
          </p:cNvPr>
          <p:cNvSpPr txBox="1"/>
          <p:nvPr/>
        </p:nvSpPr>
        <p:spPr>
          <a:xfrm>
            <a:off x="563880" y="6012180"/>
            <a:ext cx="11064240" cy="5486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i="1" dirty="0">
                <a:solidFill>
                  <a:srgbClr val="6B7590"/>
                </a:solidFill>
                <a:latin typeface="Cambria" panose="02040503050406030204" pitchFamily="34" charset="0"/>
                <a:ea typeface="Cambria" panose="02040503050406030204" pitchFamily="34" charset="-122"/>
                <a:cs typeface="Cambria" panose="02040503050406030204" pitchFamily="34" charset="-120"/>
              </a:rPr>
              <a:t>One stream of data enters on the left; only one of the two branches on the right is visible to the subscriber.</a:t>
            </a:r>
            <a:endParaRPr lang="en-US" sz="1300" dirty="0"/>
          </a:p>
        </p:txBody>
      </p:sp>
      <p:sp>
        <p:nvSpPr>
          <p:cNvPr id="16" name="TextBox 15"/>
          <p:cNvSpPr txBox="1"/>
          <p:nvPr/>
        </p:nvSpPr>
        <p:spPr>
          <a:xfrm>
            <a:off x="10424160" y="45720"/>
            <a:ext cx="1645920" cy="320040"/>
          </a:xfrm>
          <a:prstGeom prst="rect">
            <a:avLst/>
          </a:prstGeom>
          <a:noFill/>
        </p:spPr>
        <p:txBody>
          <a:bodyPr wrap="none">
            <a:spAutoFit/>
          </a:bodyPr>
          <a:lstStyle/>
          <a:p>
            <a:pPr>
              <a:defRPr sz="1200" b="1"/>
            </a:pPr>
            <a:r>
              <a:t>Task 1</a:t>
            </a:r>
          </a:p>
        </p:txBody>
      </p:sp>
      <p:sp>
        <p:nvSpPr>
          <p:cNvPr id="17" name="UPDATE COMMENT - delete before submitting"/>
          <p:cNvSpPr txBox="1"/>
          <p:nvPr/>
        </p:nvSpPr>
        <p:spPr>
          <a:xfrm>
            <a:off x="274320" y="4572000"/>
            <a:ext cx="11612880" cy="2194560"/>
          </a:xfrm>
          <a:prstGeom prst="rect">
            <a:avLst/>
          </a:prstGeom>
          <a:solidFill>
            <a:srgbClr val="FFF0F0"/>
          </a:solidFill>
          <a:ln>
            <a:solidFill>
              <a:srgbClr val="C00000"/>
            </a:solidFill>
          </a:ln>
        </p:spPr>
        <p:txBody>
          <a:bodyPr wrap="square">
            <a:spAutoFit/>
          </a:bodyPr>
          <a:lstStyle/>
          <a:p>
            <a:pPr>
              <a:defRPr sz="1100" b="1">
                <a:solidFill>
                  <a:srgbClr val="A00000"/>
                </a:solidFill>
              </a:defRPr>
            </a:pPr>
            <a:r>
              <a:t>UPDATE - old Slide 4 -&gt; now Slide 3 'The chosen technology'</a:t>
            </a:r>
          </a:p>
          <a:p>
            <a:pPr>
              <a:defRPr sz="1100">
                <a:solidFill>
                  <a:srgbClr val="A00000"/>
                </a:solidFill>
              </a:defRPr>
            </a:pPr>
            <a:r>
              <a:t>SLIDE - REMOVE: the 'two audiences' / marketing-segmentation branch. KEEP: input stream -&gt; recommendation engine -&gt; home screen as a simple input-process-output diagram. ADD: plain-language name 'machine-learning recommendation engine' + 1-2 streaming examples (e.g. Gomez-Uribe and Hunt, 2015) + Resnick and Varian (1997) definition.</a:t>
            </a:r>
          </a:p>
          <a:p>
            <a:pPr>
              <a:defRPr sz="1100">
                <a:solidFill>
                  <a:srgbClr val="A00000"/>
                </a:solidFill>
              </a:defRPr>
            </a:pPr>
            <a:r>
              <a:t>NOTES - REMOVE: marketing branch paragraph, Martin and Murphy (2017), 'This asymmetry...', 'If transparency covers only...'. KEEP: data inputs paragraph and Apple Inc. (2025) quote.</a:t>
            </a:r>
          </a:p>
        </p:txBody>
      </p:sp>
    </p:spTree>
    <p:extLst>
      <p:ext uri="{BB962C8B-B14F-4D97-AF65-F5344CB8AC3E}">
        <p14:creationId xmlns:p14="http://schemas.microsoft.com/office/powerpoint/2010/main" val="3324191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D920DB2-8F75-46CE-9B55-E01098751B7B}"/>
              </a:ext>
            </a:extLst>
          </p:cNvPr>
          <p:cNvSpPr txBox="1"/>
          <p:nvPr/>
        </p:nvSpPr>
        <p:spPr>
          <a:xfrm>
            <a:off x="563880" y="297180"/>
            <a:ext cx="11064240" cy="73152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Benefit Is Well-Evidenced. So Is Its Limit.</a:t>
            </a:r>
            <a:endParaRPr lang="en-US" sz="3000" dirty="0"/>
          </a:p>
        </p:txBody>
      </p:sp>
      <p:sp>
        <p:nvSpPr>
          <p:cNvPr id="3" name="Shape 1">
            <a:extLst>
              <a:ext uri="{FF2B5EF4-FFF2-40B4-BE49-F238E27FC236}">
                <a16:creationId xmlns:a16="http://schemas.microsoft.com/office/drawing/2014/main" id="{A0485DC1-48CB-4A42-94CF-6F45E13B8EA7}"/>
              </a:ext>
            </a:extLst>
          </p:cNvPr>
          <p:cNvSpPr/>
          <p:nvPr/>
        </p:nvSpPr>
        <p:spPr>
          <a:xfrm>
            <a:off x="6096000" y="1668780"/>
            <a:ext cx="0" cy="3291840"/>
          </a:xfrm>
          <a:prstGeom prst="line">
            <a:avLst/>
          </a:prstGeom>
          <a:noFill/>
          <a:ln w="19050">
            <a:solidFill>
              <a:srgbClr val="27314D"/>
            </a:solidFill>
            <a:prstDash val="solid"/>
          </a:ln>
        </p:spPr>
      </p:sp>
      <p:sp>
        <p:nvSpPr>
          <p:cNvPr id="4" name="Shape 2">
            <a:extLst>
              <a:ext uri="{FF2B5EF4-FFF2-40B4-BE49-F238E27FC236}">
                <a16:creationId xmlns:a16="http://schemas.microsoft.com/office/drawing/2014/main" id="{EA4B5343-5982-4CBF-85AA-5EE8AD04E596}"/>
              </a:ext>
            </a:extLst>
          </p:cNvPr>
          <p:cNvSpPr/>
          <p:nvPr/>
        </p:nvSpPr>
        <p:spPr>
          <a:xfrm>
            <a:off x="6096000" y="2034540"/>
            <a:ext cx="4206240" cy="1188720"/>
          </a:xfrm>
          <a:prstGeom prst="rect">
            <a:avLst/>
          </a:prstGeom>
          <a:solidFill>
            <a:srgbClr val="1E56A0"/>
          </a:solidFill>
        </p:spPr>
      </p:sp>
      <p:sp>
        <p:nvSpPr>
          <p:cNvPr id="5" name="Text 3">
            <a:extLst>
              <a:ext uri="{FF2B5EF4-FFF2-40B4-BE49-F238E27FC236}">
                <a16:creationId xmlns:a16="http://schemas.microsoft.com/office/drawing/2014/main" id="{F9DF9787-9811-4671-8171-022993A9CE15}"/>
              </a:ext>
            </a:extLst>
          </p:cNvPr>
          <p:cNvSpPr txBox="1"/>
          <p:nvPr/>
        </p:nvSpPr>
        <p:spPr>
          <a:xfrm>
            <a:off x="6096000" y="1714500"/>
            <a:ext cx="4206240" cy="27432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1E56A0"/>
                </a:solidFill>
                <a:latin typeface="Calibri" panose="020F0502020204030204" pitchFamily="34" charset="0"/>
                <a:ea typeface="Calibri" panose="020F0502020204030204" pitchFamily="34" charset="-122"/>
                <a:cs typeface="Calibri" panose="020F0502020204030204" pitchFamily="34" charset="-120"/>
              </a:rPr>
              <a:t>Benefit</a:t>
            </a:r>
            <a:endParaRPr lang="en-US" sz="1200" dirty="0"/>
          </a:p>
        </p:txBody>
      </p:sp>
      <p:sp>
        <p:nvSpPr>
          <p:cNvPr id="6" name="Text 4">
            <a:extLst>
              <a:ext uri="{FF2B5EF4-FFF2-40B4-BE49-F238E27FC236}">
                <a16:creationId xmlns:a16="http://schemas.microsoft.com/office/drawing/2014/main" id="{77F096BD-B9E1-48CC-A256-E2966A099447}"/>
              </a:ext>
            </a:extLst>
          </p:cNvPr>
          <p:cNvSpPr txBox="1"/>
          <p:nvPr/>
        </p:nvSpPr>
        <p:spPr>
          <a:xfrm>
            <a:off x="6278880" y="2171700"/>
            <a:ext cx="3840480" cy="91440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dirty="0">
                <a:solidFill>
                  <a:srgbClr val="FFFFFF"/>
                </a:solidFill>
                <a:latin typeface="Cambria" panose="02040503050406030204" pitchFamily="34" charset="0"/>
                <a:ea typeface="Cambria" panose="02040503050406030204" pitchFamily="34" charset="-122"/>
                <a:cs typeface="Cambria" panose="02040503050406030204" pitchFamily="34" charset="-120"/>
              </a:rPr>
              <a:t>Recommendation quality now rated “very important” by 74% of subscribers (Gracenote, 2025).</a:t>
            </a:r>
            <a:endParaRPr lang="en-US" sz="1250" dirty="0"/>
          </a:p>
        </p:txBody>
      </p:sp>
      <p:sp>
        <p:nvSpPr>
          <p:cNvPr id="7" name="Shape 5">
            <a:extLst>
              <a:ext uri="{FF2B5EF4-FFF2-40B4-BE49-F238E27FC236}">
                <a16:creationId xmlns:a16="http://schemas.microsoft.com/office/drawing/2014/main" id="{C2723383-375D-43B2-BF8B-8E84D0C1E320}"/>
              </a:ext>
            </a:extLst>
          </p:cNvPr>
          <p:cNvSpPr/>
          <p:nvPr/>
        </p:nvSpPr>
        <p:spPr>
          <a:xfrm>
            <a:off x="2520696" y="3680460"/>
            <a:ext cx="3575304" cy="1188720"/>
          </a:xfrm>
          <a:prstGeom prst="rect">
            <a:avLst/>
          </a:prstGeom>
          <a:solidFill>
            <a:srgbClr val="F96167"/>
          </a:solidFill>
        </p:spPr>
      </p:sp>
      <p:sp>
        <p:nvSpPr>
          <p:cNvPr id="8" name="Text 6">
            <a:extLst>
              <a:ext uri="{FF2B5EF4-FFF2-40B4-BE49-F238E27FC236}">
                <a16:creationId xmlns:a16="http://schemas.microsoft.com/office/drawing/2014/main" id="{F7D3A132-2C33-4DD2-8777-136E5A1C44EF}"/>
              </a:ext>
            </a:extLst>
          </p:cNvPr>
          <p:cNvSpPr txBox="1"/>
          <p:nvPr/>
        </p:nvSpPr>
        <p:spPr>
          <a:xfrm>
            <a:off x="2520696" y="3360420"/>
            <a:ext cx="3575304" cy="27432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1200" b="1" dirty="0">
                <a:solidFill>
                  <a:srgbClr val="F96167"/>
                </a:solidFill>
                <a:latin typeface="Calibri" panose="020F0502020204030204" pitchFamily="34" charset="0"/>
                <a:ea typeface="Calibri" panose="020F0502020204030204" pitchFamily="34" charset="-122"/>
                <a:cs typeface="Calibri" panose="020F0502020204030204" pitchFamily="34" charset="-120"/>
              </a:rPr>
              <a:t>Limitation</a:t>
            </a:r>
            <a:endParaRPr lang="en-US" sz="1200" dirty="0"/>
          </a:p>
        </p:txBody>
      </p:sp>
      <p:sp>
        <p:nvSpPr>
          <p:cNvPr id="9" name="Text 7">
            <a:extLst>
              <a:ext uri="{FF2B5EF4-FFF2-40B4-BE49-F238E27FC236}">
                <a16:creationId xmlns:a16="http://schemas.microsoft.com/office/drawing/2014/main" id="{D7B5254F-33C7-4069-8392-D02B9D74B4BB}"/>
              </a:ext>
            </a:extLst>
          </p:cNvPr>
          <p:cNvSpPr txBox="1"/>
          <p:nvPr/>
        </p:nvSpPr>
        <p:spPr>
          <a:xfrm>
            <a:off x="2703576" y="3817620"/>
            <a:ext cx="3209544" cy="91440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1250" dirty="0">
                <a:solidFill>
                  <a:srgbClr val="FFFFFF"/>
                </a:solidFill>
                <a:latin typeface="Cambria" panose="02040503050406030204" pitchFamily="34" charset="0"/>
                <a:ea typeface="Cambria" panose="02040503050406030204" pitchFamily="34" charset="-122"/>
                <a:cs typeface="Cambria" panose="02040503050406030204" pitchFamily="34" charset="-120"/>
              </a:rPr>
              <a:t>Personalisation without earned trust does not guarantee renewal (Mokoena &amp; Obagbuwa, 2025).</a:t>
            </a:r>
            <a:endParaRPr lang="en-US" sz="1250" dirty="0"/>
          </a:p>
        </p:txBody>
      </p:sp>
      <p:sp>
        <p:nvSpPr>
          <p:cNvPr id="10" name="Text 8">
            <a:extLst>
              <a:ext uri="{FF2B5EF4-FFF2-40B4-BE49-F238E27FC236}">
                <a16:creationId xmlns:a16="http://schemas.microsoft.com/office/drawing/2014/main" id="{1E15B15B-6A8F-4D85-8B6B-E2F9E202B186}"/>
              </a:ext>
            </a:extLst>
          </p:cNvPr>
          <p:cNvSpPr txBox="1"/>
          <p:nvPr/>
        </p:nvSpPr>
        <p:spPr>
          <a:xfrm>
            <a:off x="563880" y="6012180"/>
            <a:ext cx="11064240" cy="5486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i="1" dirty="0">
                <a:solidFill>
                  <a:srgbClr val="6B7590"/>
                </a:solidFill>
                <a:latin typeface="Cambria" panose="02040503050406030204" pitchFamily="34" charset="0"/>
                <a:ea typeface="Cambria" panose="02040503050406030204" pitchFamily="34" charset="-122"/>
                <a:cs typeface="Cambria" panose="02040503050406030204" pitchFamily="34" charset="-120"/>
              </a:rPr>
              <a:t>The benefit is evidenced. So is the limit on how far it carries you alone.</a:t>
            </a:r>
            <a:endParaRPr lang="en-US" sz="1300" dirty="0"/>
          </a:p>
        </p:txBody>
      </p:sp>
      <p:sp>
        <p:nvSpPr>
          <p:cNvPr id="11" name="TextBox 10"/>
          <p:cNvSpPr txBox="1"/>
          <p:nvPr/>
        </p:nvSpPr>
        <p:spPr>
          <a:xfrm>
            <a:off x="10424160" y="45720"/>
            <a:ext cx="1645920" cy="320040"/>
          </a:xfrm>
          <a:prstGeom prst="rect">
            <a:avLst/>
          </a:prstGeom>
          <a:noFill/>
        </p:spPr>
        <p:txBody>
          <a:bodyPr wrap="none">
            <a:spAutoFit/>
          </a:bodyPr>
          <a:lstStyle/>
          <a:p>
            <a:pPr>
              <a:defRPr sz="1200" b="1"/>
            </a:pPr>
            <a:r>
              <a:t>Task 1</a:t>
            </a:r>
          </a:p>
        </p:txBody>
      </p:sp>
      <p:sp>
        <p:nvSpPr>
          <p:cNvPr id="12" name="UPDATE COMMENT - delete before submitting"/>
          <p:cNvSpPr txBox="1"/>
          <p:nvPr/>
        </p:nvSpPr>
        <p:spPr>
          <a:xfrm>
            <a:off x="274320" y="4572000"/>
            <a:ext cx="11612880" cy="2194560"/>
          </a:xfrm>
          <a:prstGeom prst="rect">
            <a:avLst/>
          </a:prstGeom>
          <a:solidFill>
            <a:srgbClr val="FFF0F0"/>
          </a:solidFill>
          <a:ln>
            <a:solidFill>
              <a:srgbClr val="C00000"/>
            </a:solidFill>
          </a:ln>
        </p:spPr>
        <p:txBody>
          <a:bodyPr wrap="square">
            <a:spAutoFit/>
          </a:bodyPr>
          <a:lstStyle/>
          <a:p>
            <a:pPr>
              <a:defRPr sz="1100" b="1">
                <a:solidFill>
                  <a:srgbClr val="A00000"/>
                </a:solidFill>
              </a:defRPr>
            </a:pPr>
            <a:r>
              <a:t>UPDATE - Slide 5 Benefits and limitations</a:t>
            </a:r>
          </a:p>
          <a:p>
            <a:pPr>
              <a:defRPr sz="1100">
                <a:solidFill>
                  <a:srgbClr val="A00000"/>
                </a:solidFill>
              </a:defRPr>
            </a:pPr>
            <a:r>
              <a:t>SLIDE - KEEP: benefit/limit structure and Gracenote + Mokoena and Obagbuwa evidence. ADD: at least 3 benefits and 3 limitations, each with a source; a creativity-specific limitation (narrowing content / originality) e.g. Ricci et al. (2015); say which matters most. Optional: Hype Cycle placement if sourced.</a:t>
            </a:r>
          </a:p>
          <a:p>
            <a:pPr>
              <a:defRPr sz="1100">
                <a:solidFill>
                  <a:srgbClr val="A00000"/>
                </a:solidFill>
              </a:defRPr>
            </a:pPr>
            <a:r>
              <a:t>NOTES - REMOVE: final paragraph linking back to the privacy calculus (Slide 3).</a:t>
            </a:r>
          </a:p>
        </p:txBody>
      </p:sp>
    </p:spTree>
    <p:extLst>
      <p:ext uri="{BB962C8B-B14F-4D97-AF65-F5344CB8AC3E}">
        <p14:creationId xmlns:p14="http://schemas.microsoft.com/office/powerpoint/2010/main" val="4148891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EA7FA68-8380-44C4-873E-6FC2E8BC62C8}"/>
              </a:ext>
            </a:extLst>
          </p:cNvPr>
          <p:cNvSpPr txBox="1"/>
          <p:nvPr/>
        </p:nvSpPr>
        <p:spPr>
          <a:xfrm>
            <a:off x="563880" y="297180"/>
            <a:ext cx="11064240" cy="73152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Two Functions Shift Together</a:t>
            </a:r>
            <a:endParaRPr lang="en-US" sz="3000" dirty="0"/>
          </a:p>
        </p:txBody>
      </p:sp>
      <p:sp>
        <p:nvSpPr>
          <p:cNvPr id="3" name="Text 1">
            <a:extLst>
              <a:ext uri="{FF2B5EF4-FFF2-40B4-BE49-F238E27FC236}">
                <a16:creationId xmlns:a16="http://schemas.microsoft.com/office/drawing/2014/main" id="{9C5105F8-64BC-46D2-B0EA-9141AB41C1F1}"/>
              </a:ext>
            </a:extLst>
          </p:cNvPr>
          <p:cNvSpPr txBox="1"/>
          <p:nvPr/>
        </p:nvSpPr>
        <p:spPr>
          <a:xfrm>
            <a:off x="1112520" y="1874520"/>
            <a:ext cx="1371600" cy="45720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Data</a:t>
            </a:r>
            <a:endParaRPr lang="en-US" sz="1300" dirty="0"/>
          </a:p>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Analysts</a:t>
            </a:r>
            <a:endParaRPr lang="en-US" sz="1300" dirty="0"/>
          </a:p>
        </p:txBody>
      </p:sp>
      <p:sp>
        <p:nvSpPr>
          <p:cNvPr id="4" name="Shape 2">
            <a:extLst>
              <a:ext uri="{FF2B5EF4-FFF2-40B4-BE49-F238E27FC236}">
                <a16:creationId xmlns:a16="http://schemas.microsoft.com/office/drawing/2014/main" id="{8A0D7724-45AD-4D62-B09F-6E9E9D91133F}"/>
              </a:ext>
            </a:extLst>
          </p:cNvPr>
          <p:cNvSpPr/>
          <p:nvPr/>
        </p:nvSpPr>
        <p:spPr>
          <a:xfrm>
            <a:off x="2667000" y="1485900"/>
            <a:ext cx="3291840" cy="1234440"/>
          </a:xfrm>
          <a:prstGeom prst="roundRect">
            <a:avLst>
              <a:gd name="adj" fmla="val 5926"/>
            </a:avLst>
          </a:prstGeom>
          <a:solidFill>
            <a:srgbClr val="F2F5FB"/>
          </a:solidFill>
          <a:ln w="12700">
            <a:solidFill>
              <a:srgbClr val="CADCFC"/>
            </a:solidFill>
            <a:prstDash val="solid"/>
          </a:ln>
        </p:spPr>
      </p:sp>
      <p:sp>
        <p:nvSpPr>
          <p:cNvPr id="5" name="Text 3">
            <a:extLst>
              <a:ext uri="{FF2B5EF4-FFF2-40B4-BE49-F238E27FC236}">
                <a16:creationId xmlns:a16="http://schemas.microsoft.com/office/drawing/2014/main" id="{55A3E030-E9CB-4A65-913A-6F8666829285}"/>
              </a:ext>
            </a:extLst>
          </p:cNvPr>
          <p:cNvSpPr txBox="1"/>
          <p:nvPr/>
        </p:nvSpPr>
        <p:spPr>
          <a:xfrm>
            <a:off x="2804160" y="1577340"/>
            <a:ext cx="3017520" cy="10515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27314D"/>
                </a:solidFill>
                <a:latin typeface="Cambria" panose="02040503050406030204" pitchFamily="34" charset="0"/>
                <a:ea typeface="Cambria" panose="02040503050406030204" pitchFamily="34" charset="-122"/>
                <a:cs typeface="Cambria" panose="02040503050406030204" pitchFamily="34" charset="-120"/>
              </a:rPr>
              <a:t>Reports engagement</a:t>
            </a:r>
            <a:endParaRPr lang="en-US" sz="1200" dirty="0"/>
          </a:p>
          <a:p>
            <a:pPr marL="0" indent="0" algn="ctr">
              <a:buNone/>
            </a:pPr>
            <a:r>
              <a:rPr lang="en-US" sz="1200" dirty="0">
                <a:solidFill>
                  <a:srgbClr val="27314D"/>
                </a:solidFill>
                <a:latin typeface="Cambria" panose="02040503050406030204" pitchFamily="34" charset="0"/>
                <a:ea typeface="Cambria" panose="02040503050406030204" pitchFamily="34" charset="-122"/>
                <a:cs typeface="Cambria" panose="02040503050406030204" pitchFamily="34" charset="-120"/>
              </a:rPr>
              <a:t>metrics</a:t>
            </a:r>
            <a:endParaRPr lang="en-US" sz="1200" dirty="0"/>
          </a:p>
        </p:txBody>
      </p:sp>
      <p:sp>
        <p:nvSpPr>
          <p:cNvPr id="6" name="Shape 4">
            <a:extLst>
              <a:ext uri="{FF2B5EF4-FFF2-40B4-BE49-F238E27FC236}">
                <a16:creationId xmlns:a16="http://schemas.microsoft.com/office/drawing/2014/main" id="{1E09DB23-2D8A-4C36-B398-EB496C6A04B9}"/>
              </a:ext>
            </a:extLst>
          </p:cNvPr>
          <p:cNvSpPr/>
          <p:nvPr/>
        </p:nvSpPr>
        <p:spPr>
          <a:xfrm>
            <a:off x="5958840" y="2103120"/>
            <a:ext cx="1371600" cy="0"/>
          </a:xfrm>
          <a:prstGeom prst="line">
            <a:avLst/>
          </a:prstGeom>
          <a:noFill/>
          <a:ln w="19050">
            <a:solidFill>
              <a:srgbClr val="6B7590"/>
            </a:solidFill>
            <a:prstDash val="solid"/>
            <a:tailEnd type="triangle"/>
          </a:ln>
        </p:spPr>
      </p:sp>
      <p:sp>
        <p:nvSpPr>
          <p:cNvPr id="7" name="Shape 5">
            <a:extLst>
              <a:ext uri="{FF2B5EF4-FFF2-40B4-BE49-F238E27FC236}">
                <a16:creationId xmlns:a16="http://schemas.microsoft.com/office/drawing/2014/main" id="{ACD20751-DCF2-46E3-ADDB-F62F9955C7E5}"/>
              </a:ext>
            </a:extLst>
          </p:cNvPr>
          <p:cNvSpPr/>
          <p:nvPr/>
        </p:nvSpPr>
        <p:spPr>
          <a:xfrm>
            <a:off x="7330440" y="1485900"/>
            <a:ext cx="3291840" cy="1234440"/>
          </a:xfrm>
          <a:prstGeom prst="roundRect">
            <a:avLst>
              <a:gd name="adj" fmla="val 5926"/>
            </a:avLst>
          </a:prstGeom>
          <a:solidFill>
            <a:srgbClr val="FFFFFF"/>
          </a:solidFill>
          <a:ln w="19050">
            <a:solidFill>
              <a:srgbClr val="1E56A0"/>
            </a:solidFill>
            <a:prstDash val="solid"/>
          </a:ln>
        </p:spPr>
      </p:sp>
      <p:sp>
        <p:nvSpPr>
          <p:cNvPr id="8" name="Text 6">
            <a:extLst>
              <a:ext uri="{FF2B5EF4-FFF2-40B4-BE49-F238E27FC236}">
                <a16:creationId xmlns:a16="http://schemas.microsoft.com/office/drawing/2014/main" id="{1799711A-ADD4-4926-9578-49FFA84070C4}"/>
              </a:ext>
            </a:extLst>
          </p:cNvPr>
          <p:cNvSpPr txBox="1"/>
          <p:nvPr/>
        </p:nvSpPr>
        <p:spPr>
          <a:xfrm>
            <a:off x="7467600" y="1577340"/>
            <a:ext cx="3017520" cy="10515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1E2761"/>
                </a:solidFill>
                <a:latin typeface="Cambria" panose="02040503050406030204" pitchFamily="34" charset="0"/>
                <a:ea typeface="Cambria" panose="02040503050406030204" pitchFamily="34" charset="-122"/>
                <a:cs typeface="Cambria" panose="02040503050406030204" pitchFamily="34" charset="-120"/>
              </a:rPr>
              <a:t>Shapes model inputs +</a:t>
            </a:r>
            <a:endParaRPr lang="en-US" sz="1200" dirty="0"/>
          </a:p>
          <a:p>
            <a:pPr marL="0" indent="0" algn="ctr">
              <a:buNone/>
            </a:pPr>
            <a:r>
              <a:rPr lang="en-US" sz="1200" b="1" dirty="0">
                <a:solidFill>
                  <a:srgbClr val="1E2761"/>
                </a:solidFill>
                <a:latin typeface="Cambria" panose="02040503050406030204" pitchFamily="34" charset="0"/>
                <a:ea typeface="Cambria" panose="02040503050406030204" pitchFamily="34" charset="-122"/>
                <a:cs typeface="Cambria" panose="02040503050406030204" pitchFamily="34" charset="-120"/>
              </a:rPr>
              <a:t>fairness review</a:t>
            </a:r>
            <a:endParaRPr lang="en-US" sz="1200" dirty="0"/>
          </a:p>
        </p:txBody>
      </p:sp>
      <p:sp>
        <p:nvSpPr>
          <p:cNvPr id="9" name="Text 7">
            <a:extLst>
              <a:ext uri="{FF2B5EF4-FFF2-40B4-BE49-F238E27FC236}">
                <a16:creationId xmlns:a16="http://schemas.microsoft.com/office/drawing/2014/main" id="{D7FD24B5-A748-4612-A4E3-81795909E6AA}"/>
              </a:ext>
            </a:extLst>
          </p:cNvPr>
          <p:cNvSpPr txBox="1"/>
          <p:nvPr/>
        </p:nvSpPr>
        <p:spPr>
          <a:xfrm>
            <a:off x="1112520" y="3703320"/>
            <a:ext cx="1371600" cy="45720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Marketing</a:t>
            </a:r>
            <a:endParaRPr lang="en-US" sz="1300" dirty="0"/>
          </a:p>
        </p:txBody>
      </p:sp>
      <p:sp>
        <p:nvSpPr>
          <p:cNvPr id="10" name="Shape 8">
            <a:extLst>
              <a:ext uri="{FF2B5EF4-FFF2-40B4-BE49-F238E27FC236}">
                <a16:creationId xmlns:a16="http://schemas.microsoft.com/office/drawing/2014/main" id="{6292A8FF-B9DF-4142-B30C-343965F65002}"/>
              </a:ext>
            </a:extLst>
          </p:cNvPr>
          <p:cNvSpPr/>
          <p:nvPr/>
        </p:nvSpPr>
        <p:spPr>
          <a:xfrm>
            <a:off x="2667000" y="3314700"/>
            <a:ext cx="3291840" cy="1234440"/>
          </a:xfrm>
          <a:prstGeom prst="roundRect">
            <a:avLst>
              <a:gd name="adj" fmla="val 5926"/>
            </a:avLst>
          </a:prstGeom>
          <a:solidFill>
            <a:srgbClr val="F2F5FB"/>
          </a:solidFill>
          <a:ln w="12700">
            <a:solidFill>
              <a:srgbClr val="CADCFC"/>
            </a:solidFill>
            <a:prstDash val="solid"/>
          </a:ln>
        </p:spPr>
      </p:sp>
      <p:sp>
        <p:nvSpPr>
          <p:cNvPr id="11" name="Text 9">
            <a:extLst>
              <a:ext uri="{FF2B5EF4-FFF2-40B4-BE49-F238E27FC236}">
                <a16:creationId xmlns:a16="http://schemas.microsoft.com/office/drawing/2014/main" id="{F2B853A2-7DC7-4824-B86B-E815B80CE693}"/>
              </a:ext>
            </a:extLst>
          </p:cNvPr>
          <p:cNvSpPr txBox="1"/>
          <p:nvPr/>
        </p:nvSpPr>
        <p:spPr>
          <a:xfrm>
            <a:off x="2804160" y="3406140"/>
            <a:ext cx="3017520" cy="10515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27314D"/>
                </a:solidFill>
                <a:latin typeface="Cambria" panose="02040503050406030204" pitchFamily="34" charset="0"/>
                <a:ea typeface="Cambria" panose="02040503050406030204" pitchFamily="34" charset="-122"/>
                <a:cs typeface="Cambria" panose="02040503050406030204" pitchFamily="34" charset="-120"/>
              </a:rPr>
              <a:t>Broad-cohort</a:t>
            </a:r>
            <a:endParaRPr lang="en-US" sz="1200" dirty="0"/>
          </a:p>
          <a:p>
            <a:pPr marL="0" indent="0" algn="ctr">
              <a:buNone/>
            </a:pPr>
            <a:r>
              <a:rPr lang="en-US" sz="1200" dirty="0">
                <a:solidFill>
                  <a:srgbClr val="27314D"/>
                </a:solidFill>
                <a:latin typeface="Cambria" panose="02040503050406030204" pitchFamily="34" charset="0"/>
                <a:ea typeface="Cambria" panose="02040503050406030204" pitchFamily="34" charset="-122"/>
                <a:cs typeface="Cambria" panose="02040503050406030204" pitchFamily="34" charset="-120"/>
              </a:rPr>
              <a:t>segmentation</a:t>
            </a:r>
            <a:endParaRPr lang="en-US" sz="1200" dirty="0"/>
          </a:p>
        </p:txBody>
      </p:sp>
      <p:sp>
        <p:nvSpPr>
          <p:cNvPr id="12" name="Shape 10">
            <a:extLst>
              <a:ext uri="{FF2B5EF4-FFF2-40B4-BE49-F238E27FC236}">
                <a16:creationId xmlns:a16="http://schemas.microsoft.com/office/drawing/2014/main" id="{CE2B72A4-DDF2-48E3-B1A8-33020B1592A0}"/>
              </a:ext>
            </a:extLst>
          </p:cNvPr>
          <p:cNvSpPr/>
          <p:nvPr/>
        </p:nvSpPr>
        <p:spPr>
          <a:xfrm>
            <a:off x="5958840" y="3931920"/>
            <a:ext cx="1371600" cy="0"/>
          </a:xfrm>
          <a:prstGeom prst="line">
            <a:avLst/>
          </a:prstGeom>
          <a:noFill/>
          <a:ln w="19050">
            <a:solidFill>
              <a:srgbClr val="6B7590"/>
            </a:solidFill>
            <a:prstDash val="solid"/>
            <a:tailEnd type="triangle"/>
          </a:ln>
        </p:spPr>
      </p:sp>
      <p:sp>
        <p:nvSpPr>
          <p:cNvPr id="13" name="Shape 11">
            <a:extLst>
              <a:ext uri="{FF2B5EF4-FFF2-40B4-BE49-F238E27FC236}">
                <a16:creationId xmlns:a16="http://schemas.microsoft.com/office/drawing/2014/main" id="{A83A4617-09A5-4B22-979D-0D3D4521A181}"/>
              </a:ext>
            </a:extLst>
          </p:cNvPr>
          <p:cNvSpPr/>
          <p:nvPr/>
        </p:nvSpPr>
        <p:spPr>
          <a:xfrm>
            <a:off x="7330440" y="3314700"/>
            <a:ext cx="3291840" cy="1234440"/>
          </a:xfrm>
          <a:prstGeom prst="roundRect">
            <a:avLst>
              <a:gd name="adj" fmla="val 5926"/>
            </a:avLst>
          </a:prstGeom>
          <a:solidFill>
            <a:srgbClr val="FFFFFF"/>
          </a:solidFill>
          <a:ln w="19050">
            <a:solidFill>
              <a:srgbClr val="1E56A0"/>
            </a:solidFill>
            <a:prstDash val="solid"/>
          </a:ln>
        </p:spPr>
      </p:sp>
      <p:sp>
        <p:nvSpPr>
          <p:cNvPr id="14" name="Text 12">
            <a:extLst>
              <a:ext uri="{FF2B5EF4-FFF2-40B4-BE49-F238E27FC236}">
                <a16:creationId xmlns:a16="http://schemas.microsoft.com/office/drawing/2014/main" id="{0264EF25-00CE-4522-A6F6-455EDDC904D3}"/>
              </a:ext>
            </a:extLst>
          </p:cNvPr>
          <p:cNvSpPr txBox="1"/>
          <p:nvPr/>
        </p:nvSpPr>
        <p:spPr>
          <a:xfrm>
            <a:off x="7467600" y="3406140"/>
            <a:ext cx="3017520" cy="10515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1E2761"/>
                </a:solidFill>
                <a:latin typeface="Cambria" panose="02040503050406030204" pitchFamily="34" charset="0"/>
                <a:ea typeface="Cambria" panose="02040503050406030204" pitchFamily="34" charset="-122"/>
                <a:cs typeface="Cambria" panose="02040503050406030204" pitchFamily="34" charset="-120"/>
              </a:rPr>
              <a:t>Individually-targeted</a:t>
            </a:r>
            <a:endParaRPr lang="en-US" sz="1200" dirty="0"/>
          </a:p>
          <a:p>
            <a:pPr marL="0" indent="0" algn="ctr">
              <a:buNone/>
            </a:pPr>
            <a:r>
              <a:rPr lang="en-US" sz="1200" b="1" dirty="0">
                <a:solidFill>
                  <a:srgbClr val="1E2761"/>
                </a:solidFill>
                <a:latin typeface="Cambria" panose="02040503050406030204" pitchFamily="34" charset="0"/>
                <a:ea typeface="Cambria" panose="02040503050406030204" pitchFamily="34" charset="-122"/>
                <a:cs typeface="Cambria" panose="02040503050406030204" pitchFamily="34" charset="-120"/>
              </a:rPr>
              <a:t>messaging</a:t>
            </a:r>
            <a:endParaRPr lang="en-US" sz="1200" dirty="0"/>
          </a:p>
        </p:txBody>
      </p:sp>
      <p:sp>
        <p:nvSpPr>
          <p:cNvPr id="15" name="Shape 13">
            <a:extLst>
              <a:ext uri="{FF2B5EF4-FFF2-40B4-BE49-F238E27FC236}">
                <a16:creationId xmlns:a16="http://schemas.microsoft.com/office/drawing/2014/main" id="{CE8AAA60-DDC7-4C55-83B8-FA086C9799DB}"/>
              </a:ext>
            </a:extLst>
          </p:cNvPr>
          <p:cNvSpPr/>
          <p:nvPr/>
        </p:nvSpPr>
        <p:spPr>
          <a:xfrm>
            <a:off x="2667000" y="5006340"/>
            <a:ext cx="7955280" cy="0"/>
          </a:xfrm>
          <a:prstGeom prst="line">
            <a:avLst/>
          </a:prstGeom>
          <a:noFill/>
          <a:ln w="15875">
            <a:solidFill>
              <a:srgbClr val="6B7590"/>
            </a:solidFill>
            <a:prstDash val="dash"/>
          </a:ln>
        </p:spPr>
      </p:sp>
      <p:sp>
        <p:nvSpPr>
          <p:cNvPr id="16" name="Text 14">
            <a:extLst>
              <a:ext uri="{FF2B5EF4-FFF2-40B4-BE49-F238E27FC236}">
                <a16:creationId xmlns:a16="http://schemas.microsoft.com/office/drawing/2014/main" id="{FC56288F-F83B-45B4-9987-CD33FEEB0EB5}"/>
              </a:ext>
            </a:extLst>
          </p:cNvPr>
          <p:cNvSpPr txBox="1"/>
          <p:nvPr/>
        </p:nvSpPr>
        <p:spPr>
          <a:xfrm>
            <a:off x="2667000" y="5070348"/>
            <a:ext cx="7955280" cy="3200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i="1" dirty="0">
                <a:solidFill>
                  <a:srgbClr val="6B7590"/>
                </a:solidFill>
                <a:latin typeface="Calibri" panose="020F0502020204030204" pitchFamily="34" charset="0"/>
                <a:ea typeface="Calibri" panose="020F0502020204030204" pitchFamily="34" charset="-122"/>
                <a:cs typeface="Calibri" panose="020F0502020204030204" pitchFamily="34" charset="-120"/>
              </a:rPr>
              <a:t>shared governance checkpoint</a:t>
            </a:r>
            <a:endParaRPr lang="en-US" sz="1100" dirty="0"/>
          </a:p>
        </p:txBody>
      </p:sp>
      <p:sp>
        <p:nvSpPr>
          <p:cNvPr id="17" name="Text 15">
            <a:extLst>
              <a:ext uri="{FF2B5EF4-FFF2-40B4-BE49-F238E27FC236}">
                <a16:creationId xmlns:a16="http://schemas.microsoft.com/office/drawing/2014/main" id="{0E78005C-4EDE-4BDF-A20E-95A0627ACBC4}"/>
              </a:ext>
            </a:extLst>
          </p:cNvPr>
          <p:cNvSpPr txBox="1"/>
          <p:nvPr/>
        </p:nvSpPr>
        <p:spPr>
          <a:xfrm>
            <a:off x="563880" y="6012180"/>
            <a:ext cx="11064240" cy="5486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i="1" dirty="0">
                <a:solidFill>
                  <a:srgbClr val="6B7590"/>
                </a:solidFill>
                <a:latin typeface="Cambria" panose="02040503050406030204" pitchFamily="34" charset="0"/>
                <a:ea typeface="Cambria" panose="02040503050406030204" pitchFamily="34" charset="-122"/>
                <a:cs typeface="Cambria" panose="02040503050406030204" pitchFamily="34" charset="-120"/>
              </a:rPr>
              <a:t>Both functions draw on the same underlying data — the point where they meet is where governance has to live.</a:t>
            </a:r>
            <a:endParaRPr lang="en-US" sz="1300" dirty="0"/>
          </a:p>
        </p:txBody>
      </p:sp>
      <p:sp>
        <p:nvSpPr>
          <p:cNvPr id="18" name="TextBox 17"/>
          <p:cNvSpPr txBox="1"/>
          <p:nvPr/>
        </p:nvSpPr>
        <p:spPr>
          <a:xfrm>
            <a:off x="10424160" y="45720"/>
            <a:ext cx="1645920" cy="320040"/>
          </a:xfrm>
          <a:prstGeom prst="rect">
            <a:avLst/>
          </a:prstGeom>
          <a:noFill/>
        </p:spPr>
        <p:txBody>
          <a:bodyPr wrap="none">
            <a:spAutoFit/>
          </a:bodyPr>
          <a:lstStyle/>
          <a:p>
            <a:pPr>
              <a:defRPr sz="1200" b="1"/>
            </a:pPr>
            <a:r>
              <a:t>Task 2</a:t>
            </a:r>
          </a:p>
        </p:txBody>
      </p:sp>
      <p:sp>
        <p:nvSpPr>
          <p:cNvPr id="19" name="UPDATE COMMENT - delete before submitting"/>
          <p:cNvSpPr txBox="1"/>
          <p:nvPr/>
        </p:nvSpPr>
        <p:spPr>
          <a:xfrm>
            <a:off x="274320" y="4572000"/>
            <a:ext cx="11612880" cy="2194560"/>
          </a:xfrm>
          <a:prstGeom prst="rect">
            <a:avLst/>
          </a:prstGeom>
          <a:solidFill>
            <a:srgbClr val="FFF0F0"/>
          </a:solidFill>
          <a:ln>
            <a:solidFill>
              <a:srgbClr val="C00000"/>
            </a:solidFill>
          </a:ln>
        </p:spPr>
        <p:txBody>
          <a:bodyPr wrap="square">
            <a:spAutoFit/>
          </a:bodyPr>
          <a:lstStyle/>
          <a:p>
            <a:pPr>
              <a:defRPr sz="1100" b="1">
                <a:solidFill>
                  <a:srgbClr val="A00000"/>
                </a:solidFill>
              </a:defRPr>
            </a:pPr>
            <a:r>
              <a:t>UPDATE - old Slide 6 -&gt; Slide 6 'Organisational impact: creative teams'</a:t>
            </a:r>
          </a:p>
          <a:p>
            <a:pPr>
              <a:defRPr sz="1100">
                <a:solidFill>
                  <a:srgbClr val="A00000"/>
                </a:solidFill>
              </a:defRPr>
            </a:pPr>
            <a:r>
              <a:t>SLIDE - REMOVE: Data Analysts and Marketing columns (brief asks for ONE group). ADD: creative teams only - their concern (data may affect originality), impact on structure / culture / processes, TAM view (perceived usefulness and ease of use), 1-2 sources.</a:t>
            </a:r>
          </a:p>
          <a:p>
            <a:pPr>
              <a:defRPr sz="1100">
                <a:solidFill>
                  <a:srgbClr val="A00000"/>
                </a:solidFill>
              </a:defRPr>
            </a:pPr>
            <a:r>
              <a:t>NOTES - REMOVE: analyst paragraph, marketing paragraph, shared-governance paragraph, link to Slide 10.</a:t>
            </a:r>
          </a:p>
        </p:txBody>
      </p:sp>
    </p:spTree>
    <p:extLst>
      <p:ext uri="{BB962C8B-B14F-4D97-AF65-F5344CB8AC3E}">
        <p14:creationId xmlns:p14="http://schemas.microsoft.com/office/powerpoint/2010/main" val="1616921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5BACDB2-DEE2-42A1-863B-2A255D38B70B}"/>
              </a:ext>
            </a:extLst>
          </p:cNvPr>
          <p:cNvSpPr txBox="1"/>
          <p:nvPr/>
        </p:nvSpPr>
        <p:spPr>
          <a:xfrm>
            <a:off x="563880" y="297180"/>
            <a:ext cx="11064240" cy="73152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600" b="1" dirty="0">
                <a:solidFill>
                  <a:srgbClr val="1E2761"/>
                </a:solidFill>
                <a:latin typeface="Calibri" panose="020F0502020204030204" pitchFamily="34" charset="0"/>
                <a:ea typeface="Calibri" panose="020F0502020204030204" pitchFamily="34" charset="-122"/>
                <a:cs typeface="Calibri" panose="020F0502020204030204" pitchFamily="34" charset="-120"/>
              </a:rPr>
              <a:t>Three Risks, Ranked — and Three Matching Recommendations</a:t>
            </a:r>
            <a:endParaRPr lang="en-US" sz="2600" dirty="0"/>
          </a:p>
        </p:txBody>
      </p:sp>
      <p:pic>
        <p:nvPicPr>
          <p:cNvPr id="3" name="table">
            <a:extLst>
              <a:ext uri="{FF2B5EF4-FFF2-40B4-BE49-F238E27FC236}">
                <a16:creationId xmlns:a16="http://schemas.microsoft.com/office/drawing/2014/main" id="{C352044E-035B-4129-8B13-F7BB54DBBE91}"/>
              </a:ext>
            </a:extLst>
          </p:cNvPr>
          <p:cNvPicPr>
            <a:picLocks noGrp="1"/>
          </p:cNvPicPr>
          <p:nvPr/>
        </p:nvPicPr>
        <p:blipFill>
          <a:blip r:embed="rId2"/>
          <a:stretch>
            <a:fillRect/>
          </a:stretch>
        </p:blipFill>
        <p:spPr>
          <a:xfrm>
            <a:off x="563880" y="1165860"/>
            <a:ext cx="5486400" cy="1828800"/>
          </a:xfrm>
          <a:prstGeom prst="rect">
            <a:avLst/>
          </a:prstGeom>
        </p:spPr>
      </p:pic>
      <p:sp>
        <p:nvSpPr>
          <p:cNvPr id="4" name="Shape 1">
            <a:extLst>
              <a:ext uri="{FF2B5EF4-FFF2-40B4-BE49-F238E27FC236}">
                <a16:creationId xmlns:a16="http://schemas.microsoft.com/office/drawing/2014/main" id="{E9F0840D-AFDA-4350-AB71-B71C4257F176}"/>
              </a:ext>
            </a:extLst>
          </p:cNvPr>
          <p:cNvSpPr/>
          <p:nvPr/>
        </p:nvSpPr>
        <p:spPr>
          <a:xfrm>
            <a:off x="6324600" y="1165860"/>
            <a:ext cx="5303520" cy="603504"/>
          </a:xfrm>
          <a:prstGeom prst="roundRect">
            <a:avLst>
              <a:gd name="adj" fmla="val 9091"/>
            </a:avLst>
          </a:prstGeom>
          <a:solidFill>
            <a:srgbClr val="F2F5FB"/>
          </a:solidFill>
          <a:ln w="12700">
            <a:solidFill>
              <a:srgbClr val="CADCFC"/>
            </a:solidFill>
            <a:prstDash val="solid"/>
          </a:ln>
        </p:spPr>
      </p:sp>
      <p:sp>
        <p:nvSpPr>
          <p:cNvPr id="5" name="Text 2">
            <a:extLst>
              <a:ext uri="{FF2B5EF4-FFF2-40B4-BE49-F238E27FC236}">
                <a16:creationId xmlns:a16="http://schemas.microsoft.com/office/drawing/2014/main" id="{279D9C4C-846B-4DCC-A192-487052D42CCE}"/>
              </a:ext>
            </a:extLst>
          </p:cNvPr>
          <p:cNvSpPr txBox="1"/>
          <p:nvPr/>
        </p:nvSpPr>
        <p:spPr>
          <a:xfrm>
            <a:off x="6489192" y="1165860"/>
            <a:ext cx="4974336" cy="60350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1E2761"/>
                </a:solidFill>
                <a:latin typeface="Calibri" panose="020F0502020204030204" pitchFamily="34" charset="0"/>
                <a:ea typeface="Calibri" panose="020F0502020204030204" pitchFamily="34" charset="-122"/>
                <a:cs typeface="Calibri" panose="020F0502020204030204" pitchFamily="34" charset="-120"/>
              </a:rPr>
              <a:t>Privacy Calculus:  </a:t>
            </a:r>
            <a:r>
              <a:rPr lang="en-US" sz="1100" dirty="0">
                <a:solidFill>
                  <a:srgbClr val="27314D"/>
                </a:solidFill>
                <a:latin typeface="Cambria" panose="02040503050406030204" pitchFamily="34" charset="0"/>
                <a:ea typeface="Cambria" panose="02040503050406030204" pitchFamily="34" charset="-122"/>
                <a:cs typeface="Cambria" panose="02040503050406030204" pitchFamily="34" charset="-120"/>
              </a:rPr>
              <a:t>“Why am I seeing this” on every recommendation — raises benefit, lowers cost.</a:t>
            </a:r>
            <a:endParaRPr lang="en-US" sz="1100" dirty="0"/>
          </a:p>
        </p:txBody>
      </p:sp>
      <p:sp>
        <p:nvSpPr>
          <p:cNvPr id="6" name="Shape 3">
            <a:extLst>
              <a:ext uri="{FF2B5EF4-FFF2-40B4-BE49-F238E27FC236}">
                <a16:creationId xmlns:a16="http://schemas.microsoft.com/office/drawing/2014/main" id="{0A4A21AB-6E0C-4B65-8EDD-66AAF45881B0}"/>
              </a:ext>
            </a:extLst>
          </p:cNvPr>
          <p:cNvSpPr/>
          <p:nvPr/>
        </p:nvSpPr>
        <p:spPr>
          <a:xfrm>
            <a:off x="6324600" y="1879092"/>
            <a:ext cx="5303520" cy="603504"/>
          </a:xfrm>
          <a:prstGeom prst="roundRect">
            <a:avLst>
              <a:gd name="adj" fmla="val 9091"/>
            </a:avLst>
          </a:prstGeom>
          <a:solidFill>
            <a:srgbClr val="F2F5FB"/>
          </a:solidFill>
          <a:ln w="12700">
            <a:solidFill>
              <a:srgbClr val="CADCFC"/>
            </a:solidFill>
            <a:prstDash val="solid"/>
          </a:ln>
        </p:spPr>
      </p:sp>
      <p:sp>
        <p:nvSpPr>
          <p:cNvPr id="7" name="Text 4">
            <a:extLst>
              <a:ext uri="{FF2B5EF4-FFF2-40B4-BE49-F238E27FC236}">
                <a16:creationId xmlns:a16="http://schemas.microsoft.com/office/drawing/2014/main" id="{205F442A-E708-4A74-82A6-4D71DC1B7AD1}"/>
              </a:ext>
            </a:extLst>
          </p:cNvPr>
          <p:cNvSpPr txBox="1"/>
          <p:nvPr/>
        </p:nvSpPr>
        <p:spPr>
          <a:xfrm>
            <a:off x="6489192" y="1879092"/>
            <a:ext cx="4974336" cy="60350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1E2761"/>
                </a:solidFill>
                <a:latin typeface="Calibri" panose="020F0502020204030204" pitchFamily="34" charset="0"/>
                <a:ea typeface="Calibri" panose="020F0502020204030204" pitchFamily="34" charset="-122"/>
                <a:cs typeface="Calibri" panose="020F0502020204030204" pitchFamily="34" charset="-120"/>
              </a:rPr>
              <a:t>Social Exchange:  </a:t>
            </a:r>
            <a:r>
              <a:rPr lang="en-US" sz="1100" dirty="0">
                <a:solidFill>
                  <a:srgbClr val="27314D"/>
                </a:solidFill>
                <a:latin typeface="Cambria" panose="02040503050406030204" pitchFamily="34" charset="0"/>
                <a:ea typeface="Cambria" panose="02040503050406030204" pitchFamily="34" charset="-122"/>
                <a:cs typeface="Cambria" panose="02040503050406030204" pitchFamily="34" charset="-120"/>
              </a:rPr>
              <a:t>On-request “data value exchange” summary — makes the trust ledger visible.</a:t>
            </a:r>
            <a:endParaRPr lang="en-US" sz="1100" dirty="0"/>
          </a:p>
        </p:txBody>
      </p:sp>
      <p:sp>
        <p:nvSpPr>
          <p:cNvPr id="8" name="Shape 5">
            <a:extLst>
              <a:ext uri="{FF2B5EF4-FFF2-40B4-BE49-F238E27FC236}">
                <a16:creationId xmlns:a16="http://schemas.microsoft.com/office/drawing/2014/main" id="{1B8F7E87-9972-4422-9DE9-7AC727601EC4}"/>
              </a:ext>
            </a:extLst>
          </p:cNvPr>
          <p:cNvSpPr/>
          <p:nvPr/>
        </p:nvSpPr>
        <p:spPr>
          <a:xfrm>
            <a:off x="6324600" y="2592324"/>
            <a:ext cx="5303520" cy="603504"/>
          </a:xfrm>
          <a:prstGeom prst="roundRect">
            <a:avLst>
              <a:gd name="adj" fmla="val 9091"/>
            </a:avLst>
          </a:prstGeom>
          <a:solidFill>
            <a:srgbClr val="F2F5FB"/>
          </a:solidFill>
          <a:ln w="12700">
            <a:solidFill>
              <a:srgbClr val="CADCFC"/>
            </a:solidFill>
            <a:prstDash val="solid"/>
          </a:ln>
        </p:spPr>
      </p:sp>
      <p:sp>
        <p:nvSpPr>
          <p:cNvPr id="9" name="Text 6">
            <a:extLst>
              <a:ext uri="{FF2B5EF4-FFF2-40B4-BE49-F238E27FC236}">
                <a16:creationId xmlns:a16="http://schemas.microsoft.com/office/drawing/2014/main" id="{CC9C4596-35C8-467C-BE81-D68534E80717}"/>
              </a:ext>
            </a:extLst>
          </p:cNvPr>
          <p:cNvSpPr txBox="1"/>
          <p:nvPr/>
        </p:nvSpPr>
        <p:spPr>
          <a:xfrm>
            <a:off x="6489192" y="2592324"/>
            <a:ext cx="4974336" cy="60350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1E2761"/>
                </a:solidFill>
                <a:latin typeface="Calibri" panose="020F0502020204030204" pitchFamily="34" charset="0"/>
                <a:ea typeface="Calibri" panose="020F0502020204030204" pitchFamily="34" charset="-122"/>
                <a:cs typeface="Calibri" panose="020F0502020204030204" pitchFamily="34" charset="-120"/>
              </a:rPr>
              <a:t>Surveillance Capitalism:  </a:t>
            </a:r>
            <a:r>
              <a:rPr lang="en-US" sz="1100" dirty="0">
                <a:solidFill>
                  <a:srgbClr val="27314D"/>
                </a:solidFill>
                <a:latin typeface="Cambria" panose="02040503050406030204" pitchFamily="34" charset="0"/>
                <a:ea typeface="Cambria" panose="02040503050406030204" pitchFamily="34" charset="-122"/>
                <a:cs typeface="Cambria" panose="02040503050406030204" pitchFamily="34" charset="-120"/>
              </a:rPr>
              <a:t>Standing purpose-limitation review separating the two data branches.</a:t>
            </a:r>
            <a:endParaRPr lang="en-US" sz="1100" dirty="0"/>
          </a:p>
        </p:txBody>
      </p:sp>
      <p:sp>
        <p:nvSpPr>
          <p:cNvPr id="10" name="Shape 7">
            <a:extLst>
              <a:ext uri="{FF2B5EF4-FFF2-40B4-BE49-F238E27FC236}">
                <a16:creationId xmlns:a16="http://schemas.microsoft.com/office/drawing/2014/main" id="{A140E83E-70B5-4BA0-AAAE-69A1D35BD01C}"/>
              </a:ext>
            </a:extLst>
          </p:cNvPr>
          <p:cNvSpPr/>
          <p:nvPr/>
        </p:nvSpPr>
        <p:spPr>
          <a:xfrm>
            <a:off x="563880" y="3223260"/>
            <a:ext cx="11064240" cy="0"/>
          </a:xfrm>
          <a:prstGeom prst="line">
            <a:avLst/>
          </a:prstGeom>
          <a:noFill/>
          <a:ln w="12700">
            <a:solidFill>
              <a:srgbClr val="CADCFC"/>
            </a:solidFill>
            <a:prstDash val="solid"/>
          </a:ln>
        </p:spPr>
      </p:sp>
      <p:sp>
        <p:nvSpPr>
          <p:cNvPr id="11" name="Text 8">
            <a:extLst>
              <a:ext uri="{FF2B5EF4-FFF2-40B4-BE49-F238E27FC236}">
                <a16:creationId xmlns:a16="http://schemas.microsoft.com/office/drawing/2014/main" id="{2D23DCDA-5DB4-4444-B149-A2A9051A5386}"/>
              </a:ext>
            </a:extLst>
          </p:cNvPr>
          <p:cNvSpPr txBox="1"/>
          <p:nvPr/>
        </p:nvSpPr>
        <p:spPr>
          <a:xfrm>
            <a:off x="563880" y="3360420"/>
            <a:ext cx="11064240" cy="45720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150" i="1" dirty="0">
                <a:solidFill>
                  <a:srgbClr val="6B7590"/>
                </a:solidFill>
                <a:latin typeface="Cambria" panose="02040503050406030204" pitchFamily="34" charset="0"/>
                <a:ea typeface="Cambria" panose="02040503050406030204" pitchFamily="34" charset="-122"/>
                <a:cs typeface="Cambria" panose="02040503050406030204" pitchFamily="34" charset="-120"/>
              </a:rPr>
              <a:t>Mitigations: extend the transparency mechanism to the marketing branch · mandate diversity-of-recommendation auditing · document purpose limitation per branch.</a:t>
            </a:r>
            <a:endParaRPr lang="en-US" sz="1150" dirty="0"/>
          </a:p>
        </p:txBody>
      </p:sp>
      <p:sp>
        <p:nvSpPr>
          <p:cNvPr id="12" name="Text 9">
            <a:extLst>
              <a:ext uri="{FF2B5EF4-FFF2-40B4-BE49-F238E27FC236}">
                <a16:creationId xmlns:a16="http://schemas.microsoft.com/office/drawing/2014/main" id="{070C6BB5-0BFE-417B-8BA9-A55009B5709F}"/>
              </a:ext>
            </a:extLst>
          </p:cNvPr>
          <p:cNvSpPr txBox="1"/>
          <p:nvPr/>
        </p:nvSpPr>
        <p:spPr>
          <a:xfrm>
            <a:off x="563880" y="6012180"/>
            <a:ext cx="11064240" cy="5486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i="1" dirty="0">
                <a:solidFill>
                  <a:srgbClr val="6B7590"/>
                </a:solidFill>
                <a:latin typeface="Cambria" panose="02040503050406030204" pitchFamily="34" charset="0"/>
                <a:ea typeface="Cambria" panose="02040503050406030204" pitchFamily="34" charset="-122"/>
                <a:cs typeface="Cambria" panose="02040503050406030204" pitchFamily="34" charset="-120"/>
              </a:rPr>
              <a:t>Each recommendation traces to a different risk and a different theory — not three unrelated action items.</a:t>
            </a:r>
            <a:endParaRPr lang="en-US" sz="1300" dirty="0"/>
          </a:p>
        </p:txBody>
      </p:sp>
      <p:sp>
        <p:nvSpPr>
          <p:cNvPr id="13" name="TextBox 12"/>
          <p:cNvSpPr txBox="1"/>
          <p:nvPr/>
        </p:nvSpPr>
        <p:spPr>
          <a:xfrm>
            <a:off x="10424160" y="45720"/>
            <a:ext cx="1645920" cy="320040"/>
          </a:xfrm>
          <a:prstGeom prst="rect">
            <a:avLst/>
          </a:prstGeom>
          <a:noFill/>
        </p:spPr>
        <p:txBody>
          <a:bodyPr wrap="none">
            <a:spAutoFit/>
          </a:bodyPr>
          <a:lstStyle/>
          <a:p>
            <a:pPr>
              <a:defRPr sz="1200" b="1"/>
            </a:pPr>
            <a:r>
              <a:t>Task 3</a:t>
            </a:r>
          </a:p>
        </p:txBody>
      </p:sp>
      <p:sp>
        <p:nvSpPr>
          <p:cNvPr id="14" name="UPDATE COMMENT - delete before submitting"/>
          <p:cNvSpPr txBox="1"/>
          <p:nvPr/>
        </p:nvSpPr>
        <p:spPr>
          <a:xfrm>
            <a:off x="274320" y="4572000"/>
            <a:ext cx="11612880" cy="2194560"/>
          </a:xfrm>
          <a:prstGeom prst="rect">
            <a:avLst/>
          </a:prstGeom>
          <a:solidFill>
            <a:srgbClr val="FFF0F0"/>
          </a:solidFill>
          <a:ln>
            <a:solidFill>
              <a:srgbClr val="C00000"/>
            </a:solidFill>
          </a:ln>
        </p:spPr>
        <p:txBody>
          <a:bodyPr wrap="square">
            <a:spAutoFit/>
          </a:bodyPr>
          <a:lstStyle/>
          <a:p>
            <a:pPr>
              <a:defRPr sz="1100" b="1">
                <a:solidFill>
                  <a:srgbClr val="A00000"/>
                </a:solidFill>
              </a:defRPr>
            </a:pPr>
            <a:r>
              <a:t>UPDATE - old Slide 10 -&gt; Slide 9 'Ethical, social and risk implications'</a:t>
            </a:r>
          </a:p>
          <a:p>
            <a:pPr>
              <a:defRPr sz="1100">
                <a:solidFill>
                  <a:srgbClr val="A00000"/>
                </a:solidFill>
              </a:defRPr>
            </a:pPr>
            <a:r>
              <a:t>SLIDE - KEEP: the three risks (privacy, bias, regulatory). REMOVE: the three recommendations tied to Privacy Calculus / Social Exchange / Zuboff (move recommendations to a new Slide 10). ADD: issue | why it matters | mitigation table incl. an explicit ethical principle (fairness, autonomy, transparency) and a social point (cultural diversity); sources (GDPR, Ricci et al.).</a:t>
            </a:r>
          </a:p>
          <a:p>
            <a:pPr>
              <a:defRPr sz="1100">
                <a:solidFill>
                  <a:srgbClr val="A00000"/>
                </a:solidFill>
              </a:defRPr>
            </a:pPr>
            <a:r>
              <a:t>NOTES - REMOVE: 'ranked rather than generic' opening, ATT claim if unsourced, theory-linked recommendations.</a:t>
            </a:r>
          </a:p>
        </p:txBody>
      </p:sp>
    </p:spTree>
    <p:extLst>
      <p:ext uri="{BB962C8B-B14F-4D97-AF65-F5344CB8AC3E}">
        <p14:creationId xmlns:p14="http://schemas.microsoft.com/office/powerpoint/2010/main" val="1001355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A9F209A-1FB9-4C88-8478-8306995A58F2}"/>
              </a:ext>
            </a:extLst>
          </p:cNvPr>
          <p:cNvSpPr/>
          <p:nvPr/>
        </p:nvSpPr>
        <p:spPr>
          <a:xfrm>
            <a:off x="838200" y="370332"/>
            <a:ext cx="82296" cy="256032"/>
          </a:xfrm>
          <a:prstGeom prst="rect">
            <a:avLst/>
          </a:prstGeom>
          <a:solidFill>
            <a:srgbClr val="CADCFC"/>
          </a:solidFill>
        </p:spPr>
      </p:sp>
      <p:sp>
        <p:nvSpPr>
          <p:cNvPr id="3" name="Shape 1">
            <a:extLst>
              <a:ext uri="{FF2B5EF4-FFF2-40B4-BE49-F238E27FC236}">
                <a16:creationId xmlns:a16="http://schemas.microsoft.com/office/drawing/2014/main" id="{E575DD35-EB86-45BB-9797-B4809ED4600E}"/>
              </a:ext>
            </a:extLst>
          </p:cNvPr>
          <p:cNvSpPr/>
          <p:nvPr/>
        </p:nvSpPr>
        <p:spPr>
          <a:xfrm>
            <a:off x="975360" y="370332"/>
            <a:ext cx="82296" cy="256032"/>
          </a:xfrm>
          <a:prstGeom prst="rect">
            <a:avLst/>
          </a:prstGeom>
          <a:solidFill>
            <a:srgbClr val="CADCFC"/>
          </a:solidFill>
        </p:spPr>
      </p:sp>
      <p:sp>
        <p:nvSpPr>
          <p:cNvPr id="4" name="Shape 2">
            <a:extLst>
              <a:ext uri="{FF2B5EF4-FFF2-40B4-BE49-F238E27FC236}">
                <a16:creationId xmlns:a16="http://schemas.microsoft.com/office/drawing/2014/main" id="{1650335F-DF69-479A-9A0D-643D1EDAC0ED}"/>
              </a:ext>
            </a:extLst>
          </p:cNvPr>
          <p:cNvSpPr/>
          <p:nvPr/>
        </p:nvSpPr>
        <p:spPr>
          <a:xfrm>
            <a:off x="1112520" y="370332"/>
            <a:ext cx="82296" cy="256032"/>
          </a:xfrm>
          <a:prstGeom prst="rect">
            <a:avLst/>
          </a:prstGeom>
          <a:solidFill>
            <a:srgbClr val="CADCFC"/>
          </a:solidFill>
        </p:spPr>
      </p:sp>
      <p:sp>
        <p:nvSpPr>
          <p:cNvPr id="5" name="Text 3">
            <a:extLst>
              <a:ext uri="{FF2B5EF4-FFF2-40B4-BE49-F238E27FC236}">
                <a16:creationId xmlns:a16="http://schemas.microsoft.com/office/drawing/2014/main" id="{1AF50F62-F13F-4D59-BC58-758FABFABA27}"/>
              </a:ext>
            </a:extLst>
          </p:cNvPr>
          <p:cNvSpPr txBox="1"/>
          <p:nvPr/>
        </p:nvSpPr>
        <p:spPr>
          <a:xfrm>
            <a:off x="1386840" y="342900"/>
            <a:ext cx="5486400" cy="36576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chemeClr val="accent1">
                    <a:lumMod val="75000"/>
                  </a:schemeClr>
                </a:solidFill>
                <a:latin typeface="Calibri" panose="020F0502020204030204" pitchFamily="34" charset="0"/>
                <a:ea typeface="Calibri" panose="020F0502020204030204" pitchFamily="34" charset="-122"/>
                <a:cs typeface="Calibri" panose="020F0502020204030204" pitchFamily="34" charset="-120"/>
              </a:rPr>
              <a:t>Signal Restored</a:t>
            </a:r>
            <a:endParaRPr lang="en-US" sz="1400" dirty="0">
              <a:solidFill>
                <a:schemeClr val="accent1">
                  <a:lumMod val="75000"/>
                </a:schemeClr>
              </a:solidFill>
            </a:endParaRPr>
          </a:p>
        </p:txBody>
      </p:sp>
      <p:sp>
        <p:nvSpPr>
          <p:cNvPr id="6" name="Text 4">
            <a:extLst>
              <a:ext uri="{FF2B5EF4-FFF2-40B4-BE49-F238E27FC236}">
                <a16:creationId xmlns:a16="http://schemas.microsoft.com/office/drawing/2014/main" id="{D754A677-7BB8-4FCE-AC8A-C814AB683709}"/>
              </a:ext>
            </a:extLst>
          </p:cNvPr>
          <p:cNvSpPr txBox="1"/>
          <p:nvPr/>
        </p:nvSpPr>
        <p:spPr>
          <a:xfrm>
            <a:off x="1203960" y="1239012"/>
            <a:ext cx="10149840" cy="10058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900" i="1"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Personalisation sustains retention only where transparency makes the value exchange visible — and survives being commercially inconvenient.</a:t>
            </a:r>
            <a:endParaRPr lang="en-US" sz="1900" dirty="0">
              <a:solidFill>
                <a:schemeClr val="accent1">
                  <a:lumMod val="75000"/>
                </a:schemeClr>
              </a:solidFill>
            </a:endParaRPr>
          </a:p>
        </p:txBody>
      </p:sp>
      <p:sp>
        <p:nvSpPr>
          <p:cNvPr id="7" name="Text 5">
            <a:extLst>
              <a:ext uri="{FF2B5EF4-FFF2-40B4-BE49-F238E27FC236}">
                <a16:creationId xmlns:a16="http://schemas.microsoft.com/office/drawing/2014/main" id="{4B8F81AB-66AA-4022-8CE8-D321292C813D}"/>
              </a:ext>
            </a:extLst>
          </p:cNvPr>
          <p:cNvSpPr txBox="1"/>
          <p:nvPr/>
        </p:nvSpPr>
        <p:spPr>
          <a:xfrm>
            <a:off x="1386840" y="2199132"/>
            <a:ext cx="9784080" cy="42062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dirty="0">
                <a:solidFill>
                  <a:schemeClr val="accent1">
                    <a:lumMod val="75000"/>
                  </a:schemeClr>
                </a:solidFill>
                <a:latin typeface="Calibri" panose="020F0502020204030204" pitchFamily="34" charset="0"/>
                <a:ea typeface="Calibri" panose="020F0502020204030204" pitchFamily="34" charset="-122"/>
                <a:cs typeface="Calibri" panose="020F0502020204030204" pitchFamily="34" charset="-120"/>
              </a:rPr>
              <a:t>AC1 — Personalisation is necessary but not sufficient for renewal (Slide 5).</a:t>
            </a:r>
            <a:endParaRPr lang="en-US" sz="1250" dirty="0">
              <a:solidFill>
                <a:schemeClr val="accent1">
                  <a:lumMod val="75000"/>
                </a:schemeClr>
              </a:solidFill>
            </a:endParaRPr>
          </a:p>
        </p:txBody>
      </p:sp>
      <p:sp>
        <p:nvSpPr>
          <p:cNvPr id="8" name="Text 6">
            <a:extLst>
              <a:ext uri="{FF2B5EF4-FFF2-40B4-BE49-F238E27FC236}">
                <a16:creationId xmlns:a16="http://schemas.microsoft.com/office/drawing/2014/main" id="{6CB58417-E9CF-4D53-9827-5EEC7A92DA87}"/>
              </a:ext>
            </a:extLst>
          </p:cNvPr>
          <p:cNvSpPr txBox="1"/>
          <p:nvPr/>
        </p:nvSpPr>
        <p:spPr>
          <a:xfrm>
            <a:off x="1386840" y="2619756"/>
            <a:ext cx="9784080" cy="42062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dirty="0">
                <a:solidFill>
                  <a:schemeClr val="accent1">
                    <a:lumMod val="75000"/>
                  </a:schemeClr>
                </a:solidFill>
                <a:latin typeface="Calibri" panose="020F0502020204030204" pitchFamily="34" charset="0"/>
                <a:ea typeface="Calibri" panose="020F0502020204030204" pitchFamily="34" charset="-122"/>
                <a:cs typeface="Calibri" panose="020F0502020204030204" pitchFamily="34" charset="-120"/>
              </a:rPr>
              <a:t>AC2 — Customer and analyst concerns are two sides of one visible-or-invisible exchange (Slide 7).</a:t>
            </a:r>
            <a:endParaRPr lang="en-US" sz="1250" dirty="0">
              <a:solidFill>
                <a:schemeClr val="accent1">
                  <a:lumMod val="75000"/>
                </a:schemeClr>
              </a:solidFill>
            </a:endParaRPr>
          </a:p>
        </p:txBody>
      </p:sp>
      <p:sp>
        <p:nvSpPr>
          <p:cNvPr id="9" name="Text 7">
            <a:extLst>
              <a:ext uri="{FF2B5EF4-FFF2-40B4-BE49-F238E27FC236}">
                <a16:creationId xmlns:a16="http://schemas.microsoft.com/office/drawing/2014/main" id="{C92390B2-B381-42E0-B983-297E80E38A95}"/>
              </a:ext>
            </a:extLst>
          </p:cNvPr>
          <p:cNvSpPr txBox="1"/>
          <p:nvPr/>
        </p:nvSpPr>
        <p:spPr>
          <a:xfrm>
            <a:off x="1386840" y="3040380"/>
            <a:ext cx="9784080" cy="42062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dirty="0">
                <a:solidFill>
                  <a:schemeClr val="accent1">
                    <a:lumMod val="75000"/>
                  </a:schemeClr>
                </a:solidFill>
                <a:latin typeface="Calibri" panose="020F0502020204030204" pitchFamily="34" charset="0"/>
                <a:ea typeface="Calibri" panose="020F0502020204030204" pitchFamily="34" charset="-122"/>
                <a:cs typeface="Calibri" panose="020F0502020204030204" pitchFamily="34" charset="-120"/>
              </a:rPr>
              <a:t>AC3 — Sustained advantage depends on transparency robust to commercial inconvenience, not ML sophistication alone (Slide 9).</a:t>
            </a:r>
            <a:endParaRPr lang="en-US" sz="1250" dirty="0">
              <a:solidFill>
                <a:schemeClr val="accent1">
                  <a:lumMod val="75000"/>
                </a:schemeClr>
              </a:solidFill>
            </a:endParaRPr>
          </a:p>
        </p:txBody>
      </p:sp>
      <p:sp>
        <p:nvSpPr>
          <p:cNvPr id="10" name="Shape 8">
            <a:extLst>
              <a:ext uri="{FF2B5EF4-FFF2-40B4-BE49-F238E27FC236}">
                <a16:creationId xmlns:a16="http://schemas.microsoft.com/office/drawing/2014/main" id="{5FA6CD14-4984-4D50-B1A5-05C1DF0D1638}"/>
              </a:ext>
            </a:extLst>
          </p:cNvPr>
          <p:cNvSpPr/>
          <p:nvPr/>
        </p:nvSpPr>
        <p:spPr>
          <a:xfrm>
            <a:off x="1386840" y="3570732"/>
            <a:ext cx="9784080" cy="0"/>
          </a:xfrm>
          <a:prstGeom prst="line">
            <a:avLst/>
          </a:prstGeom>
          <a:noFill/>
          <a:ln w="12700">
            <a:solidFill>
              <a:srgbClr val="3B4A8C"/>
            </a:solidFill>
            <a:prstDash val="solid"/>
          </a:ln>
        </p:spPr>
      </p:sp>
      <p:sp>
        <p:nvSpPr>
          <p:cNvPr id="11" name="Text 9">
            <a:extLst>
              <a:ext uri="{FF2B5EF4-FFF2-40B4-BE49-F238E27FC236}">
                <a16:creationId xmlns:a16="http://schemas.microsoft.com/office/drawing/2014/main" id="{B7FBDA11-7887-4D4C-9D5C-15293CCE0F54}"/>
              </a:ext>
            </a:extLst>
          </p:cNvPr>
          <p:cNvSpPr txBox="1"/>
          <p:nvPr/>
        </p:nvSpPr>
        <p:spPr>
          <a:xfrm>
            <a:off x="1386840" y="3643884"/>
            <a:ext cx="9784080" cy="256032"/>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chemeClr val="accent1">
                    <a:lumMod val="75000"/>
                  </a:schemeClr>
                </a:solidFill>
                <a:latin typeface="Calibri" panose="020F0502020204030204" pitchFamily="34" charset="0"/>
                <a:ea typeface="Calibri" panose="020F0502020204030204" pitchFamily="34" charset="-122"/>
                <a:cs typeface="Calibri" panose="020F0502020204030204" pitchFamily="34" charset="-120"/>
              </a:rPr>
              <a:t>References</a:t>
            </a:r>
            <a:endParaRPr lang="en-US" sz="1200" dirty="0">
              <a:solidFill>
                <a:schemeClr val="accent1">
                  <a:lumMod val="75000"/>
                </a:schemeClr>
              </a:solidFill>
            </a:endParaRPr>
          </a:p>
        </p:txBody>
      </p:sp>
      <p:sp>
        <p:nvSpPr>
          <p:cNvPr id="12" name="Text 10">
            <a:extLst>
              <a:ext uri="{FF2B5EF4-FFF2-40B4-BE49-F238E27FC236}">
                <a16:creationId xmlns:a16="http://schemas.microsoft.com/office/drawing/2014/main" id="{98FB5C48-79A0-4C59-92B1-C5D2D2E7F432}"/>
              </a:ext>
            </a:extLst>
          </p:cNvPr>
          <p:cNvSpPr txBox="1"/>
          <p:nvPr/>
        </p:nvSpPr>
        <p:spPr>
          <a:xfrm>
            <a:off x="1386840" y="3909060"/>
            <a:ext cx="4709160" cy="260604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Acquisti, A., Brandimarte, L. and Loewenstein, G. (2015) Science, 347(6221), pp.509–514.</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Apple Inc. (2025) Apple TV App &amp; Privacy. Cupertino: Apple Inc.</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Blau, P.M. (1964) Exchange and Power in Social Life. New York: Wiley.</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Broadband TV News (2025) Apple TV+ churn analysis.</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Culnan, M.J. and Armstrong, P.K. (1999) Organization Science, 10(1), pp.104–115.</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European Parliament and Council (2016) Regulation (EU) 2016/679 (GDPR).</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Gracenote (2025) State of Play.</a:t>
            </a:r>
            <a:endParaRPr lang="en-US" sz="900" dirty="0">
              <a:solidFill>
                <a:schemeClr val="accent1">
                  <a:lumMod val="75000"/>
                </a:schemeClr>
              </a:solidFill>
            </a:endParaRPr>
          </a:p>
        </p:txBody>
      </p:sp>
      <p:sp>
        <p:nvSpPr>
          <p:cNvPr id="13" name="Text 11">
            <a:extLst>
              <a:ext uri="{FF2B5EF4-FFF2-40B4-BE49-F238E27FC236}">
                <a16:creationId xmlns:a16="http://schemas.microsoft.com/office/drawing/2014/main" id="{25116B24-00C3-4A24-B7CA-DDB1D6CF4E57}"/>
              </a:ext>
            </a:extLst>
          </p:cNvPr>
          <p:cNvSpPr txBox="1"/>
          <p:nvPr/>
        </p:nvSpPr>
        <p:spPr>
          <a:xfrm>
            <a:off x="6370320" y="3909060"/>
            <a:ext cx="4709160" cy="260604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Martin, K.D. and Murphy, P.E. (2017) J. of the Academy of Marketing Science, 45(2), pp.135–155.</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Mokoena, T. and Obagbuwa, O. (2025) Personalisation &amp; continuance intention in SVOD [journal tier tbc].</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Reichheld, F.F. (2003) Harvard Business Review, 81(12), pp.46–54.</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Resnick, P. and Varian, H.R. (1997) Communications of the ACM, 40(3), pp.56–58.</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Ricci, F., Rokach, L. and Shapira, B. (2015) Recommender Systems Handbook. 2nd edn. New York: Springer.</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Smith, H.J., Dinev, T. and Xu, H. (2011) MIS Quarterly, 35(4), pp.989–1015.</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Zeithaml, V.A., Berry, L.L. and Parasuraman, A. (1996) J. of Marketing, 60(2), pp.31–46.</a:t>
            </a:r>
            <a:endParaRPr lang="en-US" sz="900" dirty="0">
              <a:solidFill>
                <a:schemeClr val="accent1">
                  <a:lumMod val="75000"/>
                </a:schemeClr>
              </a:solidFill>
            </a:endParaRPr>
          </a:p>
          <a:p>
            <a:pPr marL="0" indent="0" algn="l">
              <a:lnSpc>
                <a:spcPts val="1300"/>
              </a:lnSpc>
              <a:buNone/>
            </a:pPr>
            <a:r>
              <a:rPr lang="en-US" sz="900"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Zuboff, S. (2019) The Age of Surveillance Capitalism. London: Profile Books.</a:t>
            </a:r>
            <a:endParaRPr lang="en-US" sz="900" dirty="0">
              <a:solidFill>
                <a:schemeClr val="accent1">
                  <a:lumMod val="75000"/>
                </a:schemeClr>
              </a:solidFill>
            </a:endParaRPr>
          </a:p>
        </p:txBody>
      </p:sp>
      <p:sp>
        <p:nvSpPr>
          <p:cNvPr id="14" name="TextBox 13"/>
          <p:cNvSpPr txBox="1"/>
          <p:nvPr/>
        </p:nvSpPr>
        <p:spPr>
          <a:xfrm>
            <a:off x="10424160" y="45720"/>
            <a:ext cx="1645920" cy="320040"/>
          </a:xfrm>
          <a:prstGeom prst="rect">
            <a:avLst/>
          </a:prstGeom>
          <a:noFill/>
        </p:spPr>
        <p:txBody>
          <a:bodyPr wrap="none">
            <a:spAutoFit/>
          </a:bodyPr>
          <a:lstStyle/>
          <a:p>
            <a:pPr>
              <a:defRPr sz="1200" b="1"/>
            </a:pPr>
            <a:r>
              <a:t>Conclusion</a:t>
            </a:r>
          </a:p>
        </p:txBody>
      </p:sp>
      <p:sp>
        <p:nvSpPr>
          <p:cNvPr id="15" name="UPDATE COMMENT - delete before submitting"/>
          <p:cNvSpPr txBox="1"/>
          <p:nvPr/>
        </p:nvSpPr>
        <p:spPr>
          <a:xfrm>
            <a:off x="274320" y="4572000"/>
            <a:ext cx="11612880" cy="2194560"/>
          </a:xfrm>
          <a:prstGeom prst="rect">
            <a:avLst/>
          </a:prstGeom>
          <a:solidFill>
            <a:srgbClr val="FFF0F0"/>
          </a:solidFill>
          <a:ln>
            <a:solidFill>
              <a:srgbClr val="C00000"/>
            </a:solidFill>
          </a:ln>
        </p:spPr>
        <p:txBody>
          <a:bodyPr wrap="square">
            <a:spAutoFit/>
          </a:bodyPr>
          <a:lstStyle/>
          <a:p>
            <a:pPr>
              <a:defRPr sz="1100" b="1">
                <a:solidFill>
                  <a:srgbClr val="A00000"/>
                </a:solidFill>
              </a:defRPr>
            </a:pPr>
            <a:r>
              <a:t>UPDATE - Slide 11 Conclusion</a:t>
            </a:r>
          </a:p>
          <a:p>
            <a:pPr>
              <a:defRPr sz="1100">
                <a:solidFill>
                  <a:srgbClr val="A00000"/>
                </a:solidFill>
              </a:defRPr>
            </a:pPr>
            <a:r>
              <a:t>SLIDE - REMOVE: AC1/trust-ledger recap lines. ADD: one finding per Task 1, 2, 3 and your three recommendations restated.</a:t>
            </a:r>
          </a:p>
          <a:p>
            <a:pPr>
              <a:defRPr sz="1100">
                <a:solidFill>
                  <a:srgbClr val="A00000"/>
                </a:solidFill>
              </a:defRPr>
            </a:pPr>
            <a:r>
              <a:t>NOTES - REMOVE: 'tension I opened with', 74% recap, 'None of this is an argument against personalisation'. No new evidence.</a:t>
            </a:r>
          </a:p>
        </p:txBody>
      </p:sp>
    </p:spTree>
    <p:extLst>
      <p:ext uri="{BB962C8B-B14F-4D97-AF65-F5344CB8AC3E}">
        <p14:creationId xmlns:p14="http://schemas.microsoft.com/office/powerpoint/2010/main" val="1613905709"/>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515600" cy="822960"/>
          </a:xfrm>
          <a:prstGeom prst="rect">
            <a:avLst/>
          </a:prstGeom>
          <a:noFill/>
        </p:spPr>
        <p:txBody>
          <a:bodyPr wrap="none">
            <a:spAutoFit/>
          </a:bodyPr>
          <a:lstStyle/>
          <a:p>
            <a:pPr>
              <a:defRPr sz="3000" b="1"/>
            </a:pPr>
            <a:r>
              <a:t>How the technology addresses the challenge</a:t>
            </a:r>
          </a:p>
        </p:txBody>
      </p:sp>
      <p:sp>
        <p:nvSpPr>
          <p:cNvPr id="3" name="TextBox 2"/>
          <p:cNvSpPr txBox="1"/>
          <p:nvPr/>
        </p:nvSpPr>
        <p:spPr>
          <a:xfrm>
            <a:off x="10424160" y="91440"/>
            <a:ext cx="1645920" cy="365760"/>
          </a:xfrm>
          <a:prstGeom prst="rect">
            <a:avLst/>
          </a:prstGeom>
          <a:noFill/>
        </p:spPr>
        <p:txBody>
          <a:bodyPr wrap="none">
            <a:spAutoFit/>
          </a:bodyPr>
          <a:lstStyle/>
          <a:p>
            <a:pPr>
              <a:defRPr sz="1200" b="1"/>
            </a:pPr>
            <a:r>
              <a:t>Task 1</a:t>
            </a:r>
          </a:p>
        </p:txBody>
      </p:sp>
      <p:sp>
        <p:nvSpPr>
          <p:cNvPr id="4" name="TextBox 3"/>
          <p:cNvSpPr txBox="1"/>
          <p:nvPr/>
        </p:nvSpPr>
        <p:spPr>
          <a:xfrm>
            <a:off x="640080" y="1371600"/>
            <a:ext cx="10881360" cy="3200400"/>
          </a:xfrm>
          <a:prstGeom prst="rect">
            <a:avLst/>
          </a:prstGeom>
          <a:noFill/>
        </p:spPr>
        <p:txBody>
          <a:bodyPr wrap="square">
            <a:spAutoFit/>
          </a:bodyPr>
          <a:lstStyle/>
          <a:p>
            <a:pPr>
              <a:spcAft>
                <a:spcPts val="1000"/>
              </a:spcAft>
              <a:defRPr sz="2000">
                <a:solidFill>
                  <a:srgbClr val="555555"/>
                </a:solidFill>
              </a:defRPr>
            </a:pPr>
            <a:r>
              <a:t>• [ADD: Porter's Five Forces - effect on rivalry and buyer switching vs Netflix, Prime Video, Disney+]</a:t>
            </a:r>
          </a:p>
          <a:p>
            <a:pPr>
              <a:spcAft>
                <a:spcPts val="1000"/>
              </a:spcAft>
              <a:defRPr sz="2000">
                <a:solidFill>
                  <a:srgbClr val="555555"/>
                </a:solidFill>
              </a:defRPr>
            </a:pPr>
            <a:r>
              <a:t>• [ADD: how the engine helps use data without limiting creativity]</a:t>
            </a:r>
          </a:p>
          <a:p>
            <a:pPr>
              <a:spcAft>
                <a:spcPts val="1000"/>
              </a:spcAft>
              <a:defRPr sz="2000">
                <a:solidFill>
                  <a:srgbClr val="555555"/>
                </a:solidFill>
              </a:defRPr>
            </a:pPr>
            <a:r>
              <a:t>• [ADD: where it can steer content - creative teams' concern]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515600" cy="822960"/>
          </a:xfrm>
          <a:prstGeom prst="rect">
            <a:avLst/>
          </a:prstGeom>
          <a:noFill/>
        </p:spPr>
        <p:txBody>
          <a:bodyPr wrap="none">
            <a:spAutoFit/>
          </a:bodyPr>
          <a:lstStyle/>
          <a:p>
            <a:pPr>
              <a:defRPr sz="3000" b="1"/>
            </a:pPr>
            <a:r>
              <a:t>Barriers, change management and digital confidence</a:t>
            </a:r>
          </a:p>
        </p:txBody>
      </p:sp>
      <p:sp>
        <p:nvSpPr>
          <p:cNvPr id="3" name="TextBox 2"/>
          <p:cNvSpPr txBox="1"/>
          <p:nvPr/>
        </p:nvSpPr>
        <p:spPr>
          <a:xfrm>
            <a:off x="10424160" y="91440"/>
            <a:ext cx="1645920" cy="365760"/>
          </a:xfrm>
          <a:prstGeom prst="rect">
            <a:avLst/>
          </a:prstGeom>
          <a:noFill/>
        </p:spPr>
        <p:txBody>
          <a:bodyPr wrap="none">
            <a:spAutoFit/>
          </a:bodyPr>
          <a:lstStyle/>
          <a:p>
            <a:pPr>
              <a:defRPr sz="1200" b="1"/>
            </a:pPr>
            <a:r>
              <a:t>Task 2</a:t>
            </a:r>
          </a:p>
        </p:txBody>
      </p:sp>
      <p:sp>
        <p:nvSpPr>
          <p:cNvPr id="4" name="TextBox 3"/>
          <p:cNvSpPr txBox="1"/>
          <p:nvPr/>
        </p:nvSpPr>
        <p:spPr>
          <a:xfrm>
            <a:off x="640080" y="1371600"/>
            <a:ext cx="10881360" cy="3200400"/>
          </a:xfrm>
          <a:prstGeom prst="rect">
            <a:avLst/>
          </a:prstGeom>
          <a:noFill/>
        </p:spPr>
        <p:txBody>
          <a:bodyPr wrap="square">
            <a:spAutoFit/>
          </a:bodyPr>
          <a:lstStyle/>
          <a:p>
            <a:pPr>
              <a:spcAft>
                <a:spcPts val="1000"/>
              </a:spcAft>
              <a:defRPr sz="2000">
                <a:solidFill>
                  <a:srgbClr val="555555"/>
                </a:solidFill>
              </a:defRPr>
            </a:pPr>
            <a:r>
              <a:t>• [ADD: 2-3 barriers - e.g. loss of creative control, distrust of algorithms, skills gaps]</a:t>
            </a:r>
          </a:p>
          <a:p>
            <a:pPr>
              <a:spcAft>
                <a:spcPts val="1000"/>
              </a:spcAft>
              <a:defRPr sz="2000">
                <a:solidFill>
                  <a:srgbClr val="555555"/>
                </a:solidFill>
              </a:defRPr>
            </a:pPr>
            <a:r>
              <a:t>• [ADD: change model steps (Kotter/ADKAR/Lewin) tailored to Apple TV+]</a:t>
            </a:r>
          </a:p>
          <a:p>
            <a:pPr>
              <a:spcAft>
                <a:spcPts val="1000"/>
              </a:spcAft>
              <a:defRPr sz="2000">
                <a:solidFill>
                  <a:srgbClr val="555555"/>
                </a:solidFill>
              </a:defRPr>
            </a:pPr>
            <a:r>
              <a:t>• [ADD: digital confidence actions - training, pilots, creative champions]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515600" cy="822960"/>
          </a:xfrm>
          <a:prstGeom prst="rect">
            <a:avLst/>
          </a:prstGeom>
          <a:noFill/>
        </p:spPr>
        <p:txBody>
          <a:bodyPr wrap="none">
            <a:spAutoFit/>
          </a:bodyPr>
          <a:lstStyle/>
          <a:p>
            <a:pPr>
              <a:defRPr sz="3000" b="1"/>
            </a:pPr>
            <a:r>
              <a:t>Sustained competitive advantage</a:t>
            </a:r>
          </a:p>
        </p:txBody>
      </p:sp>
      <p:sp>
        <p:nvSpPr>
          <p:cNvPr id="3" name="TextBox 2"/>
          <p:cNvSpPr txBox="1"/>
          <p:nvPr/>
        </p:nvSpPr>
        <p:spPr>
          <a:xfrm>
            <a:off x="10424160" y="91440"/>
            <a:ext cx="1645920" cy="365760"/>
          </a:xfrm>
          <a:prstGeom prst="rect">
            <a:avLst/>
          </a:prstGeom>
          <a:noFill/>
        </p:spPr>
        <p:txBody>
          <a:bodyPr wrap="none">
            <a:spAutoFit/>
          </a:bodyPr>
          <a:lstStyle/>
          <a:p>
            <a:pPr>
              <a:defRPr sz="1200" b="1"/>
            </a:pPr>
            <a:r>
              <a:t>Task 3</a:t>
            </a:r>
          </a:p>
        </p:txBody>
      </p:sp>
      <p:sp>
        <p:nvSpPr>
          <p:cNvPr id="4" name="TextBox 3"/>
          <p:cNvSpPr txBox="1"/>
          <p:nvPr/>
        </p:nvSpPr>
        <p:spPr>
          <a:xfrm>
            <a:off x="640080" y="1371600"/>
            <a:ext cx="10881360" cy="3200400"/>
          </a:xfrm>
          <a:prstGeom prst="rect">
            <a:avLst/>
          </a:prstGeom>
          <a:noFill/>
        </p:spPr>
        <p:txBody>
          <a:bodyPr wrap="square">
            <a:spAutoFit/>
          </a:bodyPr>
          <a:lstStyle/>
          <a:p>
            <a:pPr>
              <a:spcAft>
                <a:spcPts val="1000"/>
              </a:spcAft>
              <a:defRPr sz="2000">
                <a:solidFill>
                  <a:srgbClr val="555555"/>
                </a:solidFill>
              </a:defRPr>
            </a:pPr>
            <a:r>
              <a:t>• [ADD: VRIO table - Valuable, Rare, Inimitable, Organised, with verdicts]</a:t>
            </a:r>
          </a:p>
          <a:p>
            <a:pPr>
              <a:spcAft>
                <a:spcPts val="1000"/>
              </a:spcAft>
              <a:defRPr sz="2000">
                <a:solidFill>
                  <a:srgbClr val="555555"/>
                </a:solidFill>
              </a:defRPr>
            </a:pPr>
            <a:r>
              <a:t>• [ADD: 2-3 continuous-improvement actions]</a:t>
            </a:r>
          </a:p>
          <a:p>
            <a:pPr>
              <a:spcAft>
                <a:spcPts val="1000"/>
              </a:spcAft>
              <a:defRPr sz="2000">
                <a:solidFill>
                  <a:srgbClr val="555555"/>
                </a:solidFill>
              </a:defRPr>
            </a:pPr>
            <a:r>
              <a:t>• [Optional: Ansoff placement]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515600" cy="822960"/>
          </a:xfrm>
          <a:prstGeom prst="rect">
            <a:avLst/>
          </a:prstGeom>
          <a:noFill/>
        </p:spPr>
        <p:txBody>
          <a:bodyPr wrap="none">
            <a:spAutoFit/>
          </a:bodyPr>
          <a:lstStyle/>
          <a:p>
            <a:pPr>
              <a:defRPr sz="3000" b="1"/>
            </a:pPr>
            <a:r>
              <a:t>Three recommendations</a:t>
            </a:r>
          </a:p>
        </p:txBody>
      </p:sp>
      <p:sp>
        <p:nvSpPr>
          <p:cNvPr id="3" name="TextBox 2"/>
          <p:cNvSpPr txBox="1"/>
          <p:nvPr/>
        </p:nvSpPr>
        <p:spPr>
          <a:xfrm>
            <a:off x="10424160" y="91440"/>
            <a:ext cx="1645920" cy="365760"/>
          </a:xfrm>
          <a:prstGeom prst="rect">
            <a:avLst/>
          </a:prstGeom>
          <a:noFill/>
        </p:spPr>
        <p:txBody>
          <a:bodyPr wrap="none">
            <a:spAutoFit/>
          </a:bodyPr>
          <a:lstStyle/>
          <a:p>
            <a:pPr>
              <a:defRPr sz="1200" b="1"/>
            </a:pPr>
            <a:r>
              <a:t>Task 3</a:t>
            </a:r>
          </a:p>
        </p:txBody>
      </p:sp>
      <p:sp>
        <p:nvSpPr>
          <p:cNvPr id="4" name="TextBox 3"/>
          <p:cNvSpPr txBox="1"/>
          <p:nvPr/>
        </p:nvSpPr>
        <p:spPr>
          <a:xfrm>
            <a:off x="640080" y="1371600"/>
            <a:ext cx="10881360" cy="3200400"/>
          </a:xfrm>
          <a:prstGeom prst="rect">
            <a:avLst/>
          </a:prstGeom>
          <a:noFill/>
        </p:spPr>
        <p:txBody>
          <a:bodyPr wrap="square">
            <a:spAutoFit/>
          </a:bodyPr>
          <a:lstStyle/>
          <a:p>
            <a:pPr>
              <a:spcAft>
                <a:spcPts val="1000"/>
              </a:spcAft>
              <a:defRPr sz="2000">
                <a:solidFill>
                  <a:srgbClr val="555555"/>
                </a:solidFill>
              </a:defRPr>
            </a:pPr>
            <a:r>
              <a:t>• [Recommendation 1: action, owner, evidence]</a:t>
            </a:r>
          </a:p>
          <a:p>
            <a:pPr>
              <a:spcAft>
                <a:spcPts val="1000"/>
              </a:spcAft>
              <a:defRPr sz="2000">
                <a:solidFill>
                  <a:srgbClr val="555555"/>
                </a:solidFill>
              </a:defRPr>
            </a:pPr>
            <a:r>
              <a:t>• [Recommendation 2: action, owner, evidence]</a:t>
            </a:r>
          </a:p>
          <a:p>
            <a:pPr>
              <a:spcAft>
                <a:spcPts val="1000"/>
              </a:spcAft>
              <a:defRPr sz="2000">
                <a:solidFill>
                  <a:srgbClr val="555555"/>
                </a:solidFill>
              </a:defRPr>
            </a:pPr>
            <a:r>
              <a:t>• [Recommendation 3: action, owner, evidence]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515600" cy="822960"/>
          </a:xfrm>
          <a:prstGeom prst="rect">
            <a:avLst/>
          </a:prstGeom>
          <a:noFill/>
        </p:spPr>
        <p:txBody>
          <a:bodyPr wrap="none">
            <a:spAutoFit/>
          </a:bodyPr>
          <a:lstStyle/>
          <a:p>
            <a:pPr>
              <a:defRPr sz="3000" b="1"/>
            </a:pPr>
            <a:r>
              <a:t>References</a:t>
            </a:r>
          </a:p>
        </p:txBody>
      </p:sp>
      <p:sp>
        <p:nvSpPr>
          <p:cNvPr id="3" name="TextBox 2"/>
          <p:cNvSpPr txBox="1"/>
          <p:nvPr/>
        </p:nvSpPr>
        <p:spPr>
          <a:xfrm>
            <a:off x="10424160" y="91440"/>
            <a:ext cx="1645920" cy="365760"/>
          </a:xfrm>
          <a:prstGeom prst="rect">
            <a:avLst/>
          </a:prstGeom>
          <a:noFill/>
        </p:spPr>
        <p:txBody>
          <a:bodyPr wrap="none">
            <a:spAutoFit/>
          </a:bodyPr>
          <a:lstStyle/>
          <a:p>
            <a:pPr>
              <a:defRPr sz="1200" b="1"/>
            </a:pPr>
            <a:r>
              <a:t>References</a:t>
            </a:r>
          </a:p>
        </p:txBody>
      </p:sp>
      <p:sp>
        <p:nvSpPr>
          <p:cNvPr id="4" name="TextBox 3"/>
          <p:cNvSpPr txBox="1"/>
          <p:nvPr/>
        </p:nvSpPr>
        <p:spPr>
          <a:xfrm>
            <a:off x="640080" y="1371600"/>
            <a:ext cx="10881360" cy="3200400"/>
          </a:xfrm>
          <a:prstGeom prst="rect">
            <a:avLst/>
          </a:prstGeom>
          <a:noFill/>
        </p:spPr>
        <p:txBody>
          <a:bodyPr wrap="square">
            <a:spAutoFit/>
          </a:bodyPr>
          <a:lstStyle/>
          <a:p>
            <a:pPr>
              <a:spcAft>
                <a:spcPts val="1000"/>
              </a:spcAft>
              <a:defRPr sz="2000">
                <a:solidFill>
                  <a:srgbClr val="555555"/>
                </a:solidFill>
              </a:defRPr>
            </a:pPr>
            <a:r>
              <a:t>• [Alphabetical Harvard list, 12-15 sources]</a:t>
            </a:r>
          </a:p>
          <a:p>
            <a:pPr>
              <a:spcAft>
                <a:spcPts val="1000"/>
              </a:spcAft>
              <a:defRPr sz="2000">
                <a:solidFill>
                  <a:srgbClr val="555555"/>
                </a:solidFill>
              </a:defRPr>
            </a:pPr>
            <a:r>
              <a:t>• [Every in-text citation included; delete sources no longer cited]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978</Words>
  <Application>Microsoft Office PowerPoint</Application>
  <PresentationFormat>Widescreen</PresentationFormat>
  <Paragraphs>119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Karan Raj Giri</dc:creator>
  <cp:lastModifiedBy>Karan Raj Giri</cp:lastModifiedBy>
  <cp:revision>1</cp:revision>
  <dcterms:created xsi:type="dcterms:W3CDTF">2026-09-13T07:08:15Z</dcterms:created>
  <dcterms:modified xsi:type="dcterms:W3CDTF">2026-09-13T07:17:28Z</dcterms:modified>
</cp:coreProperties>
</file>