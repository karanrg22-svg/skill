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FROM YOUR DRAFT (edit into your own words, update slide cross-references):</a:t>
            </a:r>
          </a:p>
          <a:p>
            <a:r>
              <a:t>I am presenting as Apple TV+'s Digital Transformation Consultant.</a:t>
            </a:r>
          </a:p>
          <a:p/>
          <a:p>
            <a:r>
              <a:t>[ADD] 1 sentence of purpose: how a recommendation engine could help Apple TV+ use data without limiting creativity.</a:t>
            </a:r>
          </a:p>
          <a:p>
            <a:r>
              <a:t>[ADD] 1 sentence listing Task 1, 2, 3.</a:t>
            </a:r>
          </a:p>
          <a:p>
            <a:r>
              <a:t>[REMOVED] the 'personalisation must be earned through transparency' thesis.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FROM YOUR DRAFT (edit into your own words, update slide cross-references):</a:t>
            </a:r>
          </a:p>
          <a:p>
            <a:r>
              <a:t>Reichheld (2003) explains the economics behind this: retaining an existing subscriber is reliably cheaper than acquiring a new one.</a:t>
            </a:r>
          </a:p>
          <a:p/>
          <a:p>
            <a:r>
              <a:t>Gracenote's 2025 State of Play survey found that 74% of subscribers now rate recommendations as 'very' or 'extremely' important to their satisfaction, up from 58% in 2021. [VERIFY at source]</a:t>
            </a:r>
          </a:p>
          <a:p/>
          <a:p>
            <a:r>
              <a:t>[VERIFY] 'Broadband TV News (2025) puts Apple TV+'s monthly churn at 5.5%, up from roughly 2% in 2019.' The 5.5% vs 2% comparison I found was US INDUSTRY churn (eMarketer/Fabric), not Apple TV+. Fix or remove.</a:t>
            </a:r>
          </a:p>
          <a:p/>
          <a:p>
            <a:r>
              <a:t>[ADD] 2-3 sentences on Apple TV+ and its ecosystem strategy; 1 sentence naming the challenge; 1 sentence on why it matters.</a:t>
            </a:r>
          </a:p>
          <a:p>
            <a:r>
              <a:t>[REMOVED] blank fourth tile, unverified Netflix 80% claim and its 'needs checking' note, 'trust problem wearing a technology costume'.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FROM YOUR DRAFT (edit into your own words, update slide cross-references):</a:t>
            </a:r>
          </a:p>
          <a:p>
            <a:r>
              <a:t>I mean what Resnick and Varian (1997) originally described as a recommender system: technology that uses data about what people have liked or done before to predict what they may want next.</a:t>
            </a:r>
          </a:p>
          <a:p/>
          <a:p>
            <a:r>
              <a:t>Viewing history, search queries, and behavioural signals such as pauses and rewinds enter the system as one stream of data.</a:t>
            </a:r>
          </a:p>
          <a:p/>
          <a:p>
            <a:r>
              <a:t>[ADD] plain-language explanation; example (e.g. Gomez-Uribe and Hunt, 2015).</a:t>
            </a:r>
          </a:p>
          <a:p>
            <a:r>
              <a:t>[REMOVED] Privacy Calculus, Culnan and Armstrong, Smith et al., Acquisti et al., quadrant plot.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FROM YOUR DRAFT (edit into your own words, update slide cross-references):</a:t>
            </a:r>
          </a:p>
          <a:p>
            <a:r>
              <a:t>One branch is customer-facing: the recommendation engine decides what appears on a subscriber's home screen. Apple's privacy documentation states that viewing and activity data is collected 'to tailor features and offer personalised recommendations' (Apple Inc., 2025).</a:t>
            </a:r>
          </a:p>
          <a:p/>
          <a:p>
            <a:r>
              <a:t>[ADD] Five Forces applied to Netflix, Prime Video, Disney+. Apply, don't describe.</a:t>
            </a:r>
          </a:p>
          <a:p>
            <a:r>
              <a:t>[REMOVED] marketing branch, Martin and Murphy (2017), information-asymmetry argument.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FROM YOUR DRAFT (edit into your own words, update slide cross-references):</a:t>
            </a:r>
          </a:p>
          <a:p>
            <a:r>
              <a:t>BENEFIT: Gracenote (2025) reports that recommendation quality is 'very important' to 74% of subscribers, suggesting that better content discovery can improve how users experience a platform with a catalogue the size of Apple TV+'s. Poor discovery can contribute to churn, and personalisation can reduce that problem.</a:t>
            </a:r>
          </a:p>
          <a:p/>
          <a:p>
            <a:r>
              <a:t>LIMITATION: A 2025 peer-reviewed study of subscription video-on-demand by Mokoena and Obagbuwa (2025) challenges the idea that personalisation alone drives retention. Their findings show that overall value and satisfaction are stronger predictors of continuance intent, with personalisation acting as one contributing factor rather than the decisive one. Its national market context differs from Apple TV+'s core markets, so applying its findings directly is an inference.</a:t>
            </a:r>
          </a:p>
          <a:p/>
          <a:p>
            <a:r>
              <a:t>Taken together, the evidence suggests that personalisation is necessary but not sufficient for renewal. [remove the link to the privacy calculus]</a:t>
            </a:r>
          </a:p>
          <a:p/>
          <a:p>
            <a:r>
              <a:t>[ADD] creativity-specific limitation (narrowing content, loss of originality) with source; optional Hype Cycle placement if sourced.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FROM YOUR DRAFT (edit into your own words, update slide cross-references):</a:t>
            </a:r>
          </a:p>
          <a:p>
            <a:r>
              <a:t>Personalisation at this scale does not only change what customers see; it also changes the purpose of internal functions. [reword for creative teams only]</a:t>
            </a:r>
          </a:p>
          <a:p/>
          <a:p>
            <a:r>
              <a:t>[ADD] everything about creative teams: concerns, structure/culture/process changes, TAM view, 1-2 sources.</a:t>
            </a:r>
          </a:p>
          <a:p>
            <a:r>
              <a:t>[REMOVED] data analysts paragraph, marketing paragraph, shared-governance paragraph.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TO KEEP from old Slide 7 except possibly the idea that visibility is a barrier (reword for creatives).</a:t>
            </a:r>
          </a:p>
          <a:p/>
          <a:p>
            <a:r>
              <a:t>[ADD] 2-3 barriers and how each is addressed; a taught change model (Kotter/ADKAR/Lewin) with 4-6 steps; 2-3 digital confidence actions; sources.</a:t>
            </a:r>
          </a:p>
          <a:p>
            <a:r>
              <a:t>[REMOVED] Blau/Social Exchange ledger.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FROM YOUR DRAFT (edit into your own words, update slide cross-references):</a:t>
            </a:r>
          </a:p>
          <a:p>
            <a:r>
              <a:t>The claim I want to make, and then challenge, is that as machine-learning capabilities converge across streaming platforms, recommendation accuracy becomes less of a lasting differentiator. Apple TV+, Netflix, and well-resourced new entrants can eventually build or buy similarly capable models. [reframe as VRIO rarity/imitability]</a:t>
            </a:r>
          </a:p>
          <a:p/>
          <a:p>
            <a:r>
              <a:t>[ADD] VRIO verdicts with evidence; 2-3 improvement actions.</a:t>
            </a:r>
          </a:p>
          <a:p>
            <a:r>
              <a:t>[REMOVED] funnel, trust gauge, Zeithaml et al. (1996).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KEPT FROM YOUR DRAFT (edit into your own words, update slide cross-references):</a:t>
            </a:r>
          </a:p>
          <a:p>
            <a:r>
              <a:t>BIAS: A recommendation model trained on existing viewing behaviour can gradually narrow what subscribers are shown, reinforcing what they have already watched instead of introducing genuinely new content. This is a documented limitation of collaborative filtering that Ricci, Rokach and Shapira (2015) discuss in detail. [mitigation: diversity-of-recommendation auditing - remove the 'analyst' and 'Slide 6' references]</a:t>
            </a:r>
          </a:p>
          <a:p/>
          <a:p>
            <a:r>
              <a:t>REGULATION: Data-protection regulation increasingly requires demonstrable purpose limitation, meaning organisations must show that data collected for one stated purpose is not quietly reused for another. The GDPR establishes this principle directly (European Parliament and Council, 2016): Article 5 requires personal data to be collected for specified, explicit purposes and not further processed in ways incompatible with those purposes.</a:t>
            </a:r>
          </a:p>
          <a:p/>
          <a:p>
            <a:r>
              <a:t>[ADD] an explicit ethical principle per row (fairness, autonomy, transparency) and a social point (cultural diversity).</a:t>
            </a:r>
          </a:p>
          <a:p>
            <a:r>
              <a:t>[REMOVED] Zuboff, ATT claim (unsourced), trust-as-resource paragraph.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TO KEEP verbatim - the old recommendations were tied to Privacy Calculus, Social Exchange Theory and Zuboff.</a:t>
            </a:r>
          </a:p>
          <a:p/>
          <a:p>
            <a:r>
              <a:t>[ADD] exactly three recommendations that follow from your Task 1-3 findings (e.g. creative-team pilot using your change model; a transparency feature; a governance review for purpose limitation and diversity auditing). Each: action, owner, evidence, which slide it comes from. Say what to do first.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 1 sentence per task and the recommendations. No new evidence.</a:t>
            </a:r>
          </a:p>
          <a:p>
            <a:r>
              <a:t>[REMOVED] 'tension I opened with', 74% recap, trust-ledger recap.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 Barney (1991); Kotter (1995); Gomez-Uribe and Hunt (2015); your Task 1/2/3 framework sources; peer-reviewed sources on creative work, ethics, diversity. REMOVE: Culnan and Armstrong, Smith et al., Acquisti et al., Martin and Murphy, Blau, Zeithaml et al., Zuboff, and any source you cannot verify.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pPr>
            <a:r>
              <a:t>Title and purpose</a:t>
            </a:r>
          </a:p>
        </p:txBody>
      </p:sp>
      <p:sp>
        <p:nvSpPr>
          <p:cNvPr id="3" name="TextBox 2"/>
          <p:cNvSpPr txBox="1"/>
          <p:nvPr/>
        </p:nvSpPr>
        <p:spPr>
          <a:xfrm>
            <a:off x="640080" y="1554480"/>
            <a:ext cx="10881360" cy="4389120"/>
          </a:xfrm>
          <a:prstGeom prst="rect">
            <a:avLst/>
          </a:prstGeom>
          <a:noFill/>
        </p:spPr>
        <p:txBody>
          <a:bodyPr wrap="square">
            <a:spAutoFit/>
          </a:bodyPr>
          <a:lstStyle/>
          <a:p>
            <a:pPr>
              <a:spcAft>
                <a:spcPts val="1200"/>
              </a:spcAft>
              <a:defRPr sz="2200">
                <a:solidFill>
                  <a:srgbClr val="555555"/>
                </a:solidFill>
              </a:defRPr>
            </a:pPr>
            <a:r>
              <a:t>• [ADD: title naming the technology and the challenge]</a:t>
            </a:r>
          </a:p>
          <a:p>
            <a:pPr>
              <a:spcAft>
                <a:spcPts val="1200"/>
              </a:spcAft>
              <a:defRPr sz="2200">
                <a:solidFill>
                  <a:srgbClr val="555555"/>
                </a:solidFill>
              </a:defRPr>
            </a:pPr>
            <a:r>
              <a:t>• [SRN only, no name]</a:t>
            </a:r>
          </a:p>
          <a:p>
            <a:pPr>
              <a:spcAft>
                <a:spcPts val="1200"/>
              </a:spcAft>
              <a:defRPr sz="2200">
                <a:solidFill>
                  <a:srgbClr val="555555"/>
                </a:solidFill>
              </a:defRPr>
            </a:pPr>
            <a:r>
              <a:t>• [ADD: agenda - Task 1 technology, Task 2 creative teams, Task 3 strategy and recommendations]</a:t>
            </a:r>
          </a:p>
        </p:txBody>
      </p:sp>
      <p:sp>
        <p:nvSpPr>
          <p:cNvPr id="4" name="TextBox 3"/>
          <p:cNvSpPr txBox="1"/>
          <p:nvPr/>
        </p:nvSpPr>
        <p:spPr>
          <a:xfrm>
            <a:off x="9875520" y="182880"/>
            <a:ext cx="2103120" cy="457200"/>
          </a:xfrm>
          <a:prstGeom prst="rect">
            <a:avLst/>
          </a:prstGeom>
          <a:noFill/>
        </p:spPr>
        <p:txBody>
          <a:bodyPr wrap="none">
            <a:spAutoFit/>
          </a:bodyPr>
          <a:lstStyle/>
          <a:p>
            <a:pPr>
              <a:defRPr sz="1400" b="1"/>
            </a:pPr>
            <a:r>
              <a:t>Intro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pPr>
            <a:r>
              <a:t>Apple TV+ background and business challenge</a:t>
            </a:r>
          </a:p>
        </p:txBody>
      </p:sp>
      <p:sp>
        <p:nvSpPr>
          <p:cNvPr id="3" name="TextBox 2"/>
          <p:cNvSpPr txBox="1"/>
          <p:nvPr/>
        </p:nvSpPr>
        <p:spPr>
          <a:xfrm>
            <a:off x="640080" y="1554480"/>
            <a:ext cx="10881360" cy="4389120"/>
          </a:xfrm>
          <a:prstGeom prst="rect">
            <a:avLst/>
          </a:prstGeom>
          <a:noFill/>
        </p:spPr>
        <p:txBody>
          <a:bodyPr wrap="square">
            <a:spAutoFit/>
          </a:bodyPr>
          <a:lstStyle/>
          <a:p>
            <a:pPr>
              <a:spcAft>
                <a:spcPts val="1200"/>
              </a:spcAft>
              <a:defRPr sz="2200">
                <a:solidFill>
                  <a:srgbClr val="555555"/>
                </a:solidFill>
              </a:defRPr>
            </a:pPr>
            <a:r>
              <a:t>• [ADD: what Apple TV+ is (from brief), ecosystem strategy]</a:t>
            </a:r>
          </a:p>
          <a:p>
            <a:pPr>
              <a:spcAft>
                <a:spcPts val="1200"/>
              </a:spcAft>
              <a:defRPr sz="2200">
                <a:solidFill>
                  <a:srgbClr val="555555"/>
                </a:solidFill>
              </a:defRPr>
            </a:pPr>
            <a:r>
              <a:t>• [ADD: ONE challenge - using data to improve recommendations without limiting creativity]</a:t>
            </a:r>
          </a:p>
          <a:p>
            <a:pPr>
              <a:spcAft>
                <a:spcPts val="1200"/>
              </a:spcAft>
              <a:defRPr sz="2200">
                <a:solidFill>
                  <a:srgbClr val="555555"/>
                </a:solidFill>
              </a:defRPr>
            </a:pPr>
            <a:r>
              <a:t>• [Verified stat with source]</a:t>
            </a:r>
          </a:p>
        </p:txBody>
      </p:sp>
      <p:sp>
        <p:nvSpPr>
          <p:cNvPr id="4" name="TextBox 3"/>
          <p:cNvSpPr txBox="1"/>
          <p:nvPr/>
        </p:nvSpPr>
        <p:spPr>
          <a:xfrm>
            <a:off x="9875520" y="182880"/>
            <a:ext cx="2103120" cy="457200"/>
          </a:xfrm>
          <a:prstGeom prst="rect">
            <a:avLst/>
          </a:prstGeom>
          <a:noFill/>
        </p:spPr>
        <p:txBody>
          <a:bodyPr wrap="none">
            <a:spAutoFit/>
          </a:bodyPr>
          <a:lstStyle/>
          <a:p>
            <a:pPr>
              <a:defRPr sz="1400" b="1"/>
            </a:pPr>
            <a:r>
              <a:t>Intro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pPr>
            <a:r>
              <a:t>The chosen technology</a:t>
            </a:r>
          </a:p>
        </p:txBody>
      </p:sp>
      <p:sp>
        <p:nvSpPr>
          <p:cNvPr id="3" name="TextBox 2"/>
          <p:cNvSpPr txBox="1"/>
          <p:nvPr/>
        </p:nvSpPr>
        <p:spPr>
          <a:xfrm>
            <a:off x="640080" y="1554480"/>
            <a:ext cx="10881360" cy="4389120"/>
          </a:xfrm>
          <a:prstGeom prst="rect">
            <a:avLst/>
          </a:prstGeom>
          <a:noFill/>
        </p:spPr>
        <p:txBody>
          <a:bodyPr wrap="square">
            <a:spAutoFit/>
          </a:bodyPr>
          <a:lstStyle/>
          <a:p>
            <a:pPr>
              <a:spcAft>
                <a:spcPts val="1200"/>
              </a:spcAft>
              <a:defRPr sz="2200">
                <a:solidFill>
                  <a:srgbClr val="555555"/>
                </a:solidFill>
              </a:defRPr>
            </a:pPr>
            <a:r>
              <a:t>• [ADD: name - machine-learning recommendation engine]</a:t>
            </a:r>
          </a:p>
          <a:p>
            <a:pPr>
              <a:spcAft>
                <a:spcPts val="1200"/>
              </a:spcAft>
              <a:defRPr sz="2200">
                <a:solidFill>
                  <a:srgbClr val="555555"/>
                </a:solidFill>
              </a:defRPr>
            </a:pPr>
            <a:r>
              <a:t>• [ADD: simple diagram input - process - output]</a:t>
            </a:r>
          </a:p>
          <a:p>
            <a:pPr>
              <a:spcAft>
                <a:spcPts val="1200"/>
              </a:spcAft>
              <a:defRPr sz="2200">
                <a:solidFill>
                  <a:srgbClr val="555555"/>
                </a:solidFill>
              </a:defRPr>
            </a:pPr>
            <a:r>
              <a:t>• [ADD: 1-2 streaming examples with source]</a:t>
            </a:r>
          </a:p>
        </p:txBody>
      </p:sp>
      <p:sp>
        <p:nvSpPr>
          <p:cNvPr id="4" name="TextBox 3"/>
          <p:cNvSpPr txBox="1"/>
          <p:nvPr/>
        </p:nvSpPr>
        <p:spPr>
          <a:xfrm>
            <a:off x="9875520" y="182880"/>
            <a:ext cx="2103120" cy="457200"/>
          </a:xfrm>
          <a:prstGeom prst="rect">
            <a:avLst/>
          </a:prstGeom>
          <a:noFill/>
        </p:spPr>
        <p:txBody>
          <a:bodyPr wrap="none">
            <a:spAutoFit/>
          </a:bodyPr>
          <a:lstStyle/>
          <a:p>
            <a:pPr>
              <a:defRPr sz="1400" b="1"/>
            </a:pPr>
            <a:r>
              <a:t>Task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pPr>
            <a:r>
              <a:t>How it addresses the challenge</a:t>
            </a:r>
          </a:p>
        </p:txBody>
      </p:sp>
      <p:sp>
        <p:nvSpPr>
          <p:cNvPr id="3" name="TextBox 2"/>
          <p:cNvSpPr txBox="1"/>
          <p:nvPr/>
        </p:nvSpPr>
        <p:spPr>
          <a:xfrm>
            <a:off x="640080" y="1554480"/>
            <a:ext cx="10881360" cy="4389120"/>
          </a:xfrm>
          <a:prstGeom prst="rect">
            <a:avLst/>
          </a:prstGeom>
          <a:noFill/>
        </p:spPr>
        <p:txBody>
          <a:bodyPr wrap="square">
            <a:spAutoFit/>
          </a:bodyPr>
          <a:lstStyle/>
          <a:p>
            <a:pPr>
              <a:spcAft>
                <a:spcPts val="1200"/>
              </a:spcAft>
              <a:defRPr sz="2200">
                <a:solidFill>
                  <a:srgbClr val="555555"/>
                </a:solidFill>
              </a:defRPr>
            </a:pPr>
            <a:r>
              <a:t>• [ADD: Porter's Five Forces - effect on rivalry, buyer switching]</a:t>
            </a:r>
          </a:p>
          <a:p>
            <a:pPr>
              <a:spcAft>
                <a:spcPts val="1200"/>
              </a:spcAft>
              <a:defRPr sz="2200">
                <a:solidFill>
                  <a:srgbClr val="555555"/>
                </a:solidFill>
              </a:defRPr>
            </a:pPr>
            <a:r>
              <a:t>• [ADD: how the engine helps the challenge]</a:t>
            </a:r>
          </a:p>
          <a:p>
            <a:pPr>
              <a:spcAft>
                <a:spcPts val="1200"/>
              </a:spcAft>
              <a:defRPr sz="2200">
                <a:solidFill>
                  <a:srgbClr val="555555"/>
                </a:solidFill>
              </a:defRPr>
            </a:pPr>
            <a:r>
              <a:t>• [ADD: where it can steer content - creative teams' concern]</a:t>
            </a:r>
          </a:p>
        </p:txBody>
      </p:sp>
      <p:sp>
        <p:nvSpPr>
          <p:cNvPr id="4" name="TextBox 3"/>
          <p:cNvSpPr txBox="1"/>
          <p:nvPr/>
        </p:nvSpPr>
        <p:spPr>
          <a:xfrm>
            <a:off x="9875520" y="182880"/>
            <a:ext cx="2103120" cy="457200"/>
          </a:xfrm>
          <a:prstGeom prst="rect">
            <a:avLst/>
          </a:prstGeom>
          <a:noFill/>
        </p:spPr>
        <p:txBody>
          <a:bodyPr wrap="none">
            <a:spAutoFit/>
          </a:bodyPr>
          <a:lstStyle/>
          <a:p>
            <a:pPr>
              <a:defRPr sz="1400" b="1"/>
            </a:pPr>
            <a:r>
              <a:t>Task 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pPr>
            <a:r>
              <a:t>Benefits and limitations</a:t>
            </a:r>
          </a:p>
        </p:txBody>
      </p:sp>
      <p:sp>
        <p:nvSpPr>
          <p:cNvPr id="3" name="TextBox 2"/>
          <p:cNvSpPr txBox="1"/>
          <p:nvPr/>
        </p:nvSpPr>
        <p:spPr>
          <a:xfrm>
            <a:off x="640080" y="1554480"/>
            <a:ext cx="10881360" cy="4389120"/>
          </a:xfrm>
          <a:prstGeom prst="rect">
            <a:avLst/>
          </a:prstGeom>
          <a:noFill/>
        </p:spPr>
        <p:txBody>
          <a:bodyPr wrap="square">
            <a:spAutoFit/>
          </a:bodyPr>
          <a:lstStyle/>
          <a:p>
            <a:pPr>
              <a:spcAft>
                <a:spcPts val="1200"/>
              </a:spcAft>
              <a:defRPr sz="2200">
                <a:solidFill>
                  <a:srgbClr val="555555"/>
                </a:solidFill>
              </a:defRPr>
            </a:pPr>
            <a:r>
              <a:t>• [Benefits: 3+, each sourced]</a:t>
            </a:r>
          </a:p>
          <a:p>
            <a:pPr>
              <a:spcAft>
                <a:spcPts val="1200"/>
              </a:spcAft>
              <a:defRPr sz="2200">
                <a:solidFill>
                  <a:srgbClr val="555555"/>
                </a:solidFill>
              </a:defRPr>
            </a:pPr>
            <a:r>
              <a:t>• [Limitations: 3+, each sourced]</a:t>
            </a:r>
          </a:p>
          <a:p>
            <a:pPr>
              <a:spcAft>
                <a:spcPts val="1200"/>
              </a:spcAft>
              <a:defRPr sz="2200">
                <a:solidFill>
                  <a:srgbClr val="555555"/>
                </a:solidFill>
              </a:defRPr>
            </a:pPr>
            <a:r>
              <a:t>• [ADD: which matter most for Apple TV+]</a:t>
            </a:r>
          </a:p>
        </p:txBody>
      </p:sp>
      <p:sp>
        <p:nvSpPr>
          <p:cNvPr id="4" name="TextBox 3"/>
          <p:cNvSpPr txBox="1"/>
          <p:nvPr/>
        </p:nvSpPr>
        <p:spPr>
          <a:xfrm>
            <a:off x="9875520" y="182880"/>
            <a:ext cx="2103120" cy="457200"/>
          </a:xfrm>
          <a:prstGeom prst="rect">
            <a:avLst/>
          </a:prstGeom>
          <a:noFill/>
        </p:spPr>
        <p:txBody>
          <a:bodyPr wrap="none">
            <a:spAutoFit/>
          </a:bodyPr>
          <a:lstStyle/>
          <a:p>
            <a:pPr>
              <a:defRPr sz="1400" b="1"/>
            </a:pPr>
            <a:r>
              <a:t>Task 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pPr>
            <a:r>
              <a:t>Organisational impact: creative teams</a:t>
            </a:r>
          </a:p>
        </p:txBody>
      </p:sp>
      <p:sp>
        <p:nvSpPr>
          <p:cNvPr id="3" name="TextBox 2"/>
          <p:cNvSpPr txBox="1"/>
          <p:nvPr/>
        </p:nvSpPr>
        <p:spPr>
          <a:xfrm>
            <a:off x="640080" y="1554480"/>
            <a:ext cx="10881360" cy="4389120"/>
          </a:xfrm>
          <a:prstGeom prst="rect">
            <a:avLst/>
          </a:prstGeom>
          <a:noFill/>
        </p:spPr>
        <p:txBody>
          <a:bodyPr wrap="square">
            <a:spAutoFit/>
          </a:bodyPr>
          <a:lstStyle/>
          <a:p>
            <a:pPr>
              <a:spcAft>
                <a:spcPts val="1200"/>
              </a:spcAft>
              <a:defRPr sz="2200">
                <a:solidFill>
                  <a:srgbClr val="555555"/>
                </a:solidFill>
              </a:defRPr>
            </a:pPr>
            <a:r>
              <a:t>• [ADD: ONE group - creative teams, their concerns (brief: data may affect originality)]</a:t>
            </a:r>
          </a:p>
          <a:p>
            <a:pPr>
              <a:spcAft>
                <a:spcPts val="1200"/>
              </a:spcAft>
              <a:defRPr sz="2200">
                <a:solidFill>
                  <a:srgbClr val="555555"/>
                </a:solidFill>
              </a:defRPr>
            </a:pPr>
            <a:r>
              <a:t>• [ADD: impact on structure / culture / processes]</a:t>
            </a:r>
          </a:p>
          <a:p>
            <a:pPr>
              <a:spcAft>
                <a:spcPts val="1200"/>
              </a:spcAft>
              <a:defRPr sz="2200">
                <a:solidFill>
                  <a:srgbClr val="555555"/>
                </a:solidFill>
              </a:defRPr>
            </a:pPr>
            <a:r>
              <a:t>• [ADD: TAM - perceived usefulness and ease of use]</a:t>
            </a:r>
          </a:p>
        </p:txBody>
      </p:sp>
      <p:sp>
        <p:nvSpPr>
          <p:cNvPr id="4" name="TextBox 3"/>
          <p:cNvSpPr txBox="1"/>
          <p:nvPr/>
        </p:nvSpPr>
        <p:spPr>
          <a:xfrm>
            <a:off x="9875520" y="182880"/>
            <a:ext cx="2103120" cy="457200"/>
          </a:xfrm>
          <a:prstGeom prst="rect">
            <a:avLst/>
          </a:prstGeom>
          <a:noFill/>
        </p:spPr>
        <p:txBody>
          <a:bodyPr wrap="none">
            <a:spAutoFit/>
          </a:bodyPr>
          <a:lstStyle/>
          <a:p>
            <a:pPr>
              <a:defRPr sz="1400" b="1"/>
            </a:pPr>
            <a:r>
              <a:t>Task 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pPr>
            <a:r>
              <a:t>Barriers, change management and digital confidence</a:t>
            </a:r>
          </a:p>
        </p:txBody>
      </p:sp>
      <p:sp>
        <p:nvSpPr>
          <p:cNvPr id="3" name="TextBox 2"/>
          <p:cNvSpPr txBox="1"/>
          <p:nvPr/>
        </p:nvSpPr>
        <p:spPr>
          <a:xfrm>
            <a:off x="640080" y="1554480"/>
            <a:ext cx="10881360" cy="4389120"/>
          </a:xfrm>
          <a:prstGeom prst="rect">
            <a:avLst/>
          </a:prstGeom>
          <a:noFill/>
        </p:spPr>
        <p:txBody>
          <a:bodyPr wrap="square">
            <a:spAutoFit/>
          </a:bodyPr>
          <a:lstStyle/>
          <a:p>
            <a:pPr>
              <a:spcAft>
                <a:spcPts val="1200"/>
              </a:spcAft>
              <a:defRPr sz="2200">
                <a:solidFill>
                  <a:srgbClr val="555555"/>
                </a:solidFill>
              </a:defRPr>
            </a:pPr>
            <a:r>
              <a:t>• [ADD: barriers - e.g. loss of creative control, distrust, skills]</a:t>
            </a:r>
          </a:p>
          <a:p>
            <a:pPr>
              <a:spcAft>
                <a:spcPts val="1200"/>
              </a:spcAft>
              <a:defRPr sz="2200">
                <a:solidFill>
                  <a:srgbClr val="555555"/>
                </a:solidFill>
              </a:defRPr>
            </a:pPr>
            <a:r>
              <a:t>• [ADD: change model steps tailored to Apple TV+]</a:t>
            </a:r>
          </a:p>
          <a:p>
            <a:pPr>
              <a:spcAft>
                <a:spcPts val="1200"/>
              </a:spcAft>
              <a:defRPr sz="2200">
                <a:solidFill>
                  <a:srgbClr val="555555"/>
                </a:solidFill>
              </a:defRPr>
            </a:pPr>
            <a:r>
              <a:t>• [ADD: digital confidence actions]</a:t>
            </a:r>
          </a:p>
        </p:txBody>
      </p:sp>
      <p:sp>
        <p:nvSpPr>
          <p:cNvPr id="4" name="TextBox 3"/>
          <p:cNvSpPr txBox="1"/>
          <p:nvPr/>
        </p:nvSpPr>
        <p:spPr>
          <a:xfrm>
            <a:off x="9875520" y="182880"/>
            <a:ext cx="2103120" cy="457200"/>
          </a:xfrm>
          <a:prstGeom prst="rect">
            <a:avLst/>
          </a:prstGeom>
          <a:noFill/>
        </p:spPr>
        <p:txBody>
          <a:bodyPr wrap="none">
            <a:spAutoFit/>
          </a:bodyPr>
          <a:lstStyle/>
          <a:p>
            <a:pPr>
              <a:defRPr sz="1400" b="1"/>
            </a:pPr>
            <a:r>
              <a:t>Task 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pPr>
            <a:r>
              <a:t>Sustained competitive advantage</a:t>
            </a:r>
          </a:p>
        </p:txBody>
      </p:sp>
      <p:sp>
        <p:nvSpPr>
          <p:cNvPr id="3" name="TextBox 2"/>
          <p:cNvSpPr txBox="1"/>
          <p:nvPr/>
        </p:nvSpPr>
        <p:spPr>
          <a:xfrm>
            <a:off x="640080" y="1554480"/>
            <a:ext cx="10881360" cy="4389120"/>
          </a:xfrm>
          <a:prstGeom prst="rect">
            <a:avLst/>
          </a:prstGeom>
          <a:noFill/>
        </p:spPr>
        <p:txBody>
          <a:bodyPr wrap="square">
            <a:spAutoFit/>
          </a:bodyPr>
          <a:lstStyle/>
          <a:p>
            <a:pPr>
              <a:spcAft>
                <a:spcPts val="1200"/>
              </a:spcAft>
              <a:defRPr sz="2200">
                <a:solidFill>
                  <a:srgbClr val="555555"/>
                </a:solidFill>
              </a:defRPr>
            </a:pPr>
            <a:r>
              <a:t>• [ADD: VRIO table with verdicts]</a:t>
            </a:r>
          </a:p>
          <a:p>
            <a:pPr>
              <a:spcAft>
                <a:spcPts val="1200"/>
              </a:spcAft>
              <a:defRPr sz="2200">
                <a:solidFill>
                  <a:srgbClr val="555555"/>
                </a:solidFill>
              </a:defRPr>
            </a:pPr>
            <a:r>
              <a:t>• [ADD: continuous improvement actions]</a:t>
            </a:r>
          </a:p>
          <a:p>
            <a:pPr>
              <a:spcAft>
                <a:spcPts val="1200"/>
              </a:spcAft>
              <a:defRPr sz="2200">
                <a:solidFill>
                  <a:srgbClr val="555555"/>
                </a:solidFill>
              </a:defRPr>
            </a:pPr>
            <a:r>
              <a:t>• [Optional: Ansoff placement]</a:t>
            </a:r>
          </a:p>
        </p:txBody>
      </p:sp>
      <p:sp>
        <p:nvSpPr>
          <p:cNvPr id="4" name="TextBox 3"/>
          <p:cNvSpPr txBox="1"/>
          <p:nvPr/>
        </p:nvSpPr>
        <p:spPr>
          <a:xfrm>
            <a:off x="9875520" y="182880"/>
            <a:ext cx="2103120" cy="457200"/>
          </a:xfrm>
          <a:prstGeom prst="rect">
            <a:avLst/>
          </a:prstGeom>
          <a:noFill/>
        </p:spPr>
        <p:txBody>
          <a:bodyPr wrap="none">
            <a:spAutoFit/>
          </a:bodyPr>
          <a:lstStyle/>
          <a:p>
            <a:pPr>
              <a:defRPr sz="1400" b="1"/>
            </a:pPr>
            <a:r>
              <a:t>Task 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pPr>
            <a:r>
              <a:t>Ethical, social and risk implications</a:t>
            </a:r>
          </a:p>
        </p:txBody>
      </p:sp>
      <p:sp>
        <p:nvSpPr>
          <p:cNvPr id="3" name="TextBox 2"/>
          <p:cNvSpPr txBox="1"/>
          <p:nvPr/>
        </p:nvSpPr>
        <p:spPr>
          <a:xfrm>
            <a:off x="640080" y="1554480"/>
            <a:ext cx="10881360" cy="4389120"/>
          </a:xfrm>
          <a:prstGeom prst="rect">
            <a:avLst/>
          </a:prstGeom>
          <a:noFill/>
        </p:spPr>
        <p:txBody>
          <a:bodyPr wrap="square">
            <a:spAutoFit/>
          </a:bodyPr>
          <a:lstStyle/>
          <a:p>
            <a:pPr>
              <a:spcAft>
                <a:spcPts val="1200"/>
              </a:spcAft>
              <a:defRPr sz="2200">
                <a:solidFill>
                  <a:srgbClr val="555555"/>
                </a:solidFill>
              </a:defRPr>
            </a:pPr>
            <a:r>
              <a:t>• [Table: issue | why it matters | mitigation]</a:t>
            </a:r>
          </a:p>
          <a:p>
            <a:pPr>
              <a:spcAft>
                <a:spcPts val="1200"/>
              </a:spcAft>
              <a:defRPr sz="2200">
                <a:solidFill>
                  <a:srgbClr val="555555"/>
                </a:solidFill>
              </a:defRPr>
            </a:pPr>
            <a:r>
              <a:t>• [ADD: privacy, bias, transparency, creators' autonomy, 1 social issue]</a:t>
            </a:r>
          </a:p>
          <a:p>
            <a:pPr>
              <a:spcAft>
                <a:spcPts val="1200"/>
              </a:spcAft>
              <a:defRPr sz="2200">
                <a:solidFill>
                  <a:srgbClr val="555555"/>
                </a:solidFill>
              </a:defRPr>
            </a:pPr>
            <a:r>
              <a:t>• [Sources per row]</a:t>
            </a:r>
          </a:p>
        </p:txBody>
      </p:sp>
      <p:sp>
        <p:nvSpPr>
          <p:cNvPr id="4" name="TextBox 3"/>
          <p:cNvSpPr txBox="1"/>
          <p:nvPr/>
        </p:nvSpPr>
        <p:spPr>
          <a:xfrm>
            <a:off x="9875520" y="182880"/>
            <a:ext cx="2103120" cy="457200"/>
          </a:xfrm>
          <a:prstGeom prst="rect">
            <a:avLst/>
          </a:prstGeom>
          <a:noFill/>
        </p:spPr>
        <p:txBody>
          <a:bodyPr wrap="none">
            <a:spAutoFit/>
          </a:bodyPr>
          <a:lstStyle/>
          <a:p>
            <a:pPr>
              <a:defRPr sz="1400" b="1"/>
            </a:pPr>
            <a:r>
              <a:t>Task 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pPr>
            <a:r>
              <a:t>Three recommendations</a:t>
            </a:r>
          </a:p>
        </p:txBody>
      </p:sp>
      <p:sp>
        <p:nvSpPr>
          <p:cNvPr id="3" name="TextBox 2"/>
          <p:cNvSpPr txBox="1"/>
          <p:nvPr/>
        </p:nvSpPr>
        <p:spPr>
          <a:xfrm>
            <a:off x="640080" y="1554480"/>
            <a:ext cx="10881360" cy="4389120"/>
          </a:xfrm>
          <a:prstGeom prst="rect">
            <a:avLst/>
          </a:prstGeom>
          <a:noFill/>
        </p:spPr>
        <p:txBody>
          <a:bodyPr wrap="square">
            <a:spAutoFit/>
          </a:bodyPr>
          <a:lstStyle/>
          <a:p>
            <a:pPr>
              <a:spcAft>
                <a:spcPts val="1200"/>
              </a:spcAft>
              <a:defRPr sz="2200">
                <a:solidFill>
                  <a:srgbClr val="555555"/>
                </a:solidFill>
              </a:defRPr>
            </a:pPr>
            <a:r>
              <a:t>• [Recommendation 1: action, owner, evidence]</a:t>
            </a:r>
          </a:p>
          <a:p>
            <a:pPr>
              <a:spcAft>
                <a:spcPts val="1200"/>
              </a:spcAft>
              <a:defRPr sz="2200">
                <a:solidFill>
                  <a:srgbClr val="555555"/>
                </a:solidFill>
              </a:defRPr>
            </a:pPr>
            <a:r>
              <a:t>• [Recommendation 2: action, owner, evidence]</a:t>
            </a:r>
          </a:p>
          <a:p>
            <a:pPr>
              <a:spcAft>
                <a:spcPts val="1200"/>
              </a:spcAft>
              <a:defRPr sz="2200">
                <a:solidFill>
                  <a:srgbClr val="555555"/>
                </a:solidFill>
              </a:defRPr>
            </a:pPr>
            <a:r>
              <a:t>• [Recommendation 3: action, owner, evidence]</a:t>
            </a:r>
          </a:p>
        </p:txBody>
      </p:sp>
      <p:sp>
        <p:nvSpPr>
          <p:cNvPr id="4" name="TextBox 3"/>
          <p:cNvSpPr txBox="1"/>
          <p:nvPr/>
        </p:nvSpPr>
        <p:spPr>
          <a:xfrm>
            <a:off x="9875520" y="182880"/>
            <a:ext cx="2103120" cy="457200"/>
          </a:xfrm>
          <a:prstGeom prst="rect">
            <a:avLst/>
          </a:prstGeom>
          <a:noFill/>
        </p:spPr>
        <p:txBody>
          <a:bodyPr wrap="none">
            <a:spAutoFit/>
          </a:bodyPr>
          <a:lstStyle/>
          <a:p>
            <a:pPr>
              <a:defRPr sz="1400" b="1"/>
            </a:pPr>
            <a:r>
              <a:t>Task 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pPr>
            <a:r>
              <a:t>Conclusion</a:t>
            </a:r>
          </a:p>
        </p:txBody>
      </p:sp>
      <p:sp>
        <p:nvSpPr>
          <p:cNvPr id="3" name="TextBox 2"/>
          <p:cNvSpPr txBox="1"/>
          <p:nvPr/>
        </p:nvSpPr>
        <p:spPr>
          <a:xfrm>
            <a:off x="640080" y="1554480"/>
            <a:ext cx="10881360" cy="4389120"/>
          </a:xfrm>
          <a:prstGeom prst="rect">
            <a:avLst/>
          </a:prstGeom>
          <a:noFill/>
        </p:spPr>
        <p:txBody>
          <a:bodyPr wrap="square">
            <a:spAutoFit/>
          </a:bodyPr>
          <a:lstStyle/>
          <a:p>
            <a:pPr>
              <a:spcAft>
                <a:spcPts val="1200"/>
              </a:spcAft>
              <a:defRPr sz="2200">
                <a:solidFill>
                  <a:srgbClr val="555555"/>
                </a:solidFill>
              </a:defRPr>
            </a:pPr>
            <a:r>
              <a:t>• [ADD: Task 1 finding]</a:t>
            </a:r>
          </a:p>
          <a:p>
            <a:pPr>
              <a:spcAft>
                <a:spcPts val="1200"/>
              </a:spcAft>
              <a:defRPr sz="2200">
                <a:solidFill>
                  <a:srgbClr val="555555"/>
                </a:solidFill>
              </a:defRPr>
            </a:pPr>
            <a:r>
              <a:t>• [ADD: Task 2 finding]</a:t>
            </a:r>
          </a:p>
          <a:p>
            <a:pPr>
              <a:spcAft>
                <a:spcPts val="1200"/>
              </a:spcAft>
              <a:defRPr sz="2200">
                <a:solidFill>
                  <a:srgbClr val="555555"/>
                </a:solidFill>
              </a:defRPr>
            </a:pPr>
            <a:r>
              <a:t>• [ADD: Task 3 finding + three recommendations restated]</a:t>
            </a:r>
          </a:p>
        </p:txBody>
      </p:sp>
      <p:sp>
        <p:nvSpPr>
          <p:cNvPr id="4" name="TextBox 3"/>
          <p:cNvSpPr txBox="1"/>
          <p:nvPr/>
        </p:nvSpPr>
        <p:spPr>
          <a:xfrm>
            <a:off x="9875520" y="182880"/>
            <a:ext cx="2103120" cy="457200"/>
          </a:xfrm>
          <a:prstGeom prst="rect">
            <a:avLst/>
          </a:prstGeom>
          <a:noFill/>
        </p:spPr>
        <p:txBody>
          <a:bodyPr wrap="none">
            <a:spAutoFit/>
          </a:bodyPr>
          <a:lstStyle/>
          <a:p>
            <a:pPr>
              <a:defRPr sz="1400" b="1"/>
            </a:pPr>
            <a:r>
              <a:t>Conclusion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a:pPr>
            <a:r>
              <a:t>References</a:t>
            </a:r>
          </a:p>
        </p:txBody>
      </p:sp>
      <p:sp>
        <p:nvSpPr>
          <p:cNvPr id="3" name="TextBox 2"/>
          <p:cNvSpPr txBox="1"/>
          <p:nvPr/>
        </p:nvSpPr>
        <p:spPr>
          <a:xfrm>
            <a:off x="640080" y="1554480"/>
            <a:ext cx="10881360" cy="4389120"/>
          </a:xfrm>
          <a:prstGeom prst="rect">
            <a:avLst/>
          </a:prstGeom>
          <a:noFill/>
        </p:spPr>
        <p:txBody>
          <a:bodyPr wrap="square">
            <a:spAutoFit/>
          </a:bodyPr>
          <a:lstStyle/>
          <a:p>
            <a:pPr>
              <a:spcAft>
                <a:spcPts val="1200"/>
              </a:spcAft>
              <a:defRPr sz="2200">
                <a:solidFill>
                  <a:srgbClr val="555555"/>
                </a:solidFill>
              </a:defRPr>
            </a:pPr>
            <a:r>
              <a:t>• [Alphabetical Harvard list, 12-15 sources]</a:t>
            </a:r>
          </a:p>
          <a:p>
            <a:pPr>
              <a:spcAft>
                <a:spcPts val="1200"/>
              </a:spcAft>
              <a:defRPr sz="2200">
                <a:solidFill>
                  <a:srgbClr val="555555"/>
                </a:solidFill>
              </a:defRPr>
            </a:pPr>
            <a:r>
              <a:t>• [Every in-text citation included]</a:t>
            </a:r>
          </a:p>
          <a:p>
            <a:pPr>
              <a:spcAft>
                <a:spcPts val="1200"/>
              </a:spcAft>
              <a:defRPr sz="2200">
                <a:solidFill>
                  <a:srgbClr val="555555"/>
                </a:solidFill>
              </a:defRPr>
            </a:pPr>
            <a:r>
              <a:t>• [Delete sources you no longer cite]</a:t>
            </a:r>
          </a:p>
        </p:txBody>
      </p:sp>
      <p:sp>
        <p:nvSpPr>
          <p:cNvPr id="4" name="TextBox 3"/>
          <p:cNvSpPr txBox="1"/>
          <p:nvPr/>
        </p:nvSpPr>
        <p:spPr>
          <a:xfrm>
            <a:off x="9875520" y="182880"/>
            <a:ext cx="2103120" cy="457200"/>
          </a:xfrm>
          <a:prstGeom prst="rect">
            <a:avLst/>
          </a:prstGeom>
          <a:noFill/>
        </p:spPr>
        <p:txBody>
          <a:bodyPr wrap="none">
            <a:spAutoFit/>
          </a:bodyPr>
          <a:lstStyle/>
          <a:p>
            <a:pPr>
              <a:defRPr sz="1400" b="1"/>
            </a:pPr>
            <a:r>
              <a:t>References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