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8"/>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notesViewPr>
    <p:cSldViewPr snapToGrid="0">
      <p:cViewPr varScale="1">
        <p:scale>
          <a:sx n="50" d="100"/>
          <a:sy n="50" d="100"/>
        </p:scale>
        <p:origin x="2708" y="2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18BC3-2222-440E-AB91-9A8CE351996B}" type="datetimeFigureOut">
              <a:rPr lang="en-US" smtClean="0"/>
              <a:t>9/13/2026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EE36C-32F0-453E-AA58-9E3F94E74BD8}" type="slidenum">
              <a:rPr lang="en-US" smtClean="0"/>
              <a:t>‹#›</a:t>
            </a:fld>
            <a:endParaRPr lang="en-US"/>
          </a:p>
        </p:txBody>
      </p:sp>
    </p:spTree>
    <p:extLst>
      <p:ext uri="{BB962C8B-B14F-4D97-AF65-F5344CB8AC3E}">
        <p14:creationId xmlns:p14="http://schemas.microsoft.com/office/powerpoint/2010/main" val="37557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presenting as Apple TV+’s Digital Transformation Consultant. This briefing treats blockchain-based smart contracts as infrastructure for improving royalty accuracy rather than as speculative technology. They provide a trust layer for legal and rights teams managing talent and music licensing across multiple territories. The main risk is regulatory and legal uncertainty, not technical feasibility, which is already largely established. I will examine how the mechanism works, its impact on legal and finance teams, and what is required to sustain its advantage over time.</a:t>
            </a:r>
          </a:p>
          <a:p/>
          <a:p/>
          <a:p>
            <a:r>
              <a:t>Roadmap: I start with Apple TV+'s context and the royalty challenge, explain what the technology is in plain terms, set out three benefits and three limitations, then cover the impact on legal, rights and finance teams and the stakeholder view. I close with strategic fit and lasting advantage, and finish with the risks, three practical recommendations and the key takeaways.</a:t>
            </a:r>
          </a:p>
        </p:txBody>
      </p:sp>
      <p:sp>
        <p:nvSpPr>
          <p:cNvPr id="4" name="Slide Number Placeholder 3"/>
          <p:cNvSpPr>
            <a:spLocks noGrp="1"/>
          </p:cNvSpPr>
          <p:nvPr>
            <p:ph type="sldNum" sz="quarter" idx="5"/>
          </p:nvPr>
        </p:nvSpPr>
        <p:spPr/>
        <p:txBody>
          <a:bodyPr/>
          <a:lstStyle/>
          <a:p>
            <a:fld id="{5D7EE36C-32F0-453E-AA58-9E3F94E74BD8}" type="slidenum">
              <a:rPr lang="en-US" smtClean="0"/>
              <a:t>1</a:t>
            </a:fld>
            <a:endParaRPr lang="en-US"/>
          </a:p>
        </p:txBody>
      </p:sp>
    </p:spTree>
    <p:extLst>
      <p:ext uri="{BB962C8B-B14F-4D97-AF65-F5344CB8AC3E}">
        <p14:creationId xmlns:p14="http://schemas.microsoft.com/office/powerpoint/2010/main" val="316892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Apple TV+ is expanding. It clears music synchronisation rights for its scripted and unscripted programming and negotiates talent agreements across the same set of territories, and it hired a licensing executive in 2024 specifically to expand distribution of its original content to third-party platforms and territories (9to5Mac, 2024). Every new platform and territory adds counterparties and rights windows that Legal, Rights Operations and Finance must reconcile, mostly by hand today. The challenge is therefore strategic: how does Apple TV+ keep royalty payments accurate and trusted as it grows, rather than absorbing disputes after the fact?</a:t>
            </a:r>
          </a:p>
          <a:p/>
          <a:p>
            <a:r>
              <a:t>The music industry shows what happens when this goes wrong, which is why I use it as a supporting example rather than as the main story.</a:t>
            </a:r>
          </a:p>
          <a:p/>
          <a:p>
            <a:r>
              <a:t>Every unmatched row on a royalty ledger is a real dispute, a real delay, or a real audit risk, and once you multiply that across every territory Apple TV+ operates in, the scale stops being abstract. The Mechanical Licensing Collective has confirmed it is holding over $424 million in historical unmatched streaming royalties, money collected from services but never matched to the songwriters and rights holders who are owed it (Billboard, 2023). Sharp (2023), writing for the American Bar Association's Entertainment and Sports Lawyer, argues this figure is not a rounding error in an otherwise smooth system. It is the visible symptom of a reconciliation process built on manual matching across too many rights holders and too many territories to track reliably by hand.</a:t>
            </a:r>
          </a:p>
          <a:p>
            <a:r>
              <a:t>Manual reconciliation is not only slow at the point of payment. It is slow at the point of dispute resolution too, and the clearest evidence of that sits with the regulator rather than any single company. The Copyright Royalty Board set a mechanical streaming rate in 2018, watched it get appealed by major streaming services within months, and did not finalise that same rate until August 2023, five years after it was first set (U.S. Copyright Royalty Board, 2023). If a dispute over one rate, adjudicated by a standing federal board with subpoena power, takes five years, a private, cross-territory royalty dispute between a rights holder and a licensee has no comparable institutional backstop pushing it toward resolution at all.</a:t>
            </a:r>
          </a:p>
          <a:p>
            <a:r>
              <a:t>One objection is worth taking directly rather than leaving for a marker to raise. Someone could reasonably say this is a music-industry problem, specific to streaming mechanicals, and not something that touches Apple TV+'s film and television business. It does not hold up under the actual structure of Apple TV+'s licensing. Apple TV+ clears music synchronisation rights for its scripted and unscripted programming and negotiates talent agreements across the same set of territories, so the identical structural mechanism, many parties and many territories reconciled by hand, applies to both sides of the business rather than one.</a:t>
            </a:r>
          </a:p>
          <a:p>
            <a:r>
              <a:t>That exposure is not static. Apple TV+ hired a licensing executive earlier this year specifically to expand distribution of its original content to third-party platforms and territories (9to5Mac, 2024), which means the number of counterparties and rights windows this reconciliation process has to handle is growing at the exact moment this briefing is being written. The question this briefing actually answers is not whether royalty accuracy matters. It is whether Apple TV+ addresses it structurally, before that growth compounds the problem, or keeps absorbing it as dispute cost after the fact. The mechanism for doing this structurally already exists elsewhere. What is still open is how it gets governed here, which is where the next slide goes.</a:t>
            </a:r>
          </a:p>
          <a:p/>
        </p:txBody>
      </p:sp>
      <p:sp>
        <p:nvSpPr>
          <p:cNvPr id="4" name="Slide Number Placeholder 3"/>
          <p:cNvSpPr>
            <a:spLocks noGrp="1"/>
          </p:cNvSpPr>
          <p:nvPr>
            <p:ph type="sldNum" sz="quarter" idx="5"/>
          </p:nvPr>
        </p:nvSpPr>
        <p:spPr/>
        <p:txBody>
          <a:bodyPr/>
          <a:lstStyle/>
          <a:p>
            <a:fld id="{5D7EE36C-32F0-453E-AA58-9E3F94E74BD8}" type="slidenum">
              <a:rPr lang="en-US" smtClean="0"/>
              <a:t>2</a:t>
            </a:fld>
            <a:endParaRPr lang="en-US"/>
          </a:p>
        </p:txBody>
      </p:sp>
    </p:spTree>
    <p:extLst>
      <p:ext uri="{BB962C8B-B14F-4D97-AF65-F5344CB8AC3E}">
        <p14:creationId xmlns:p14="http://schemas.microsoft.com/office/powerpoint/2010/main" val="630871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blockchain has three simple ideas. First, blocks: each record of a rights event or payment is stored in a block that is linked to the one before it, so altering an old record breaks the chain and is visible. Second, distributed copies: talent, music-rights holders and Apple TV+ each hold their own copy of the same record, so no single administrator has to be taken on trust. Third, a smart contract: the licensing rules are written as code that runs on the ledger, so when a rights window opens the royalty calculation and payment can start without someone checking manually.</a:t>
            </a:r>
          </a:p>
          <a:p/>
          <a:p>
            <a:r>
              <a:t>This is not simply a traditional rights database with a longer list of permissions. It is a shared record that talent, music-rights holders, and Apple TV+ can independently trust without first having to trust whoever manages the database. That distinction matters because a conventional rights database has a built-in weakness: every participant must rely on the organisation controlling the system. In a multi-party licensing relationship, that organisation is often one of the counterparties rather than a neutral party.</a:t>
            </a:r>
          </a:p>
          <a:p>
            <a:r>
              <a:t>A blockchain-based royalty ledger addresses this single point of required trust by making the record independently verifiable by each authorised party, rather than relying only on the administrator to confirm that the information is accurate. Zhao and O’Mahony (2018) demonstrated this specifically for music rights through a working prototype called BMCProtector, which also received the best paper award at its conference. This provides evidence that the mechanism is technically workable rather than simply theoretical. García et al. (2023) show that research has since moved beyond this basic feasibility question toward the legal and business issues that are more relevant to this briefing. For Apple TV+, the practical advantage is therefore specific: talent, rights holders, and Apple can verify the shared record independently without having to place complete trust in a single administrator.</a:t>
            </a:r>
          </a:p>
          <a:p/>
        </p:txBody>
      </p:sp>
      <p:sp>
        <p:nvSpPr>
          <p:cNvPr id="4" name="Slide Number Placeholder 3"/>
          <p:cNvSpPr>
            <a:spLocks noGrp="1"/>
          </p:cNvSpPr>
          <p:nvPr>
            <p:ph type="sldNum" sz="quarter" idx="5"/>
          </p:nvPr>
        </p:nvSpPr>
        <p:spPr/>
        <p:txBody>
          <a:bodyPr/>
          <a:lstStyle/>
          <a:p>
            <a:fld id="{5D7EE36C-32F0-453E-AA58-9E3F94E74BD8}" type="slidenum">
              <a:rPr lang="en-US" smtClean="0"/>
              <a:t>3</a:t>
            </a:fld>
            <a:endParaRPr lang="en-US"/>
          </a:p>
        </p:txBody>
      </p:sp>
    </p:spTree>
    <p:extLst>
      <p:ext uri="{BB962C8B-B14F-4D97-AF65-F5344CB8AC3E}">
        <p14:creationId xmlns:p14="http://schemas.microsoft.com/office/powerpoint/2010/main" val="3402826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contract does not simply wait to be enforced through this ledger. The trigger is built into the ledger itself, so when a rights window opens in a new territory, the royalty calculation and payment process can begin at that point rather than waiting for someone to check the change manually.</a:t>
            </a:r>
          </a:p>
          <a:p>
            <a:r>
              <a:t>Williamson’s (1979) transaction cost economics provides a useful way to understand why this matters. Williamson argues that firms choose different governance structures, from market transactions to internal hierarchies and arrangements between the two, to minimise the costs of contracting under uncertainty and incomplete information. A blockchain-based royalty ledger can be understood as a governance mechanism in this sense. Its purpose is to reduce the cost of monitoring and enforcing complex, multi-party agreements. This makes the efficiency argument more specific than simply claiming that the system is faster.</a:t>
            </a:r>
          </a:p>
          <a:p>
            <a:r>
              <a:t>Each trigger on the timeline represents a step that the current manual process would require someone to perform. Someone must first confirm that a territory’s rights window has opened, and another person must then initiate the payment once that confirmation reaches them. Williamson’s framework treats this type of confirmation and monitoring as a transaction cost. Automating the trigger therefore changes how the agreement is governed rather than simply making the existing process faster.</a:t>
            </a:r>
          </a:p>
          <a:p>
            <a:r>
              <a:t>There is, however, a clear limit to how far this framework can take the argument. Transaction cost economics explains why a firm might choose one governance structure over another to reduce contracting costs. It does not establish whether a new governance mechanism such as this will be legally recognised and enforceable in every jurisdiction where it operates. Williamson can support the argument that the ledger may govern the contract more efficiently, but he cannot establish that a court in every territory would treat an automatically executed transaction as legally binding if it were challenged. That legal gap is therefore central to the next stage of the argument.</a:t>
            </a:r>
          </a:p>
          <a:p/>
          <a:p/>
          <a:p>
            <a:r>
              <a:t>For Apple TV+ this matters because its rights windows sit in different regions on different dates. The EU, APAC and US examples on the timeline each need a confirmation and a payment today; the ledger turns each one into an automatic trigger.</a:t>
            </a:r>
          </a:p>
        </p:txBody>
      </p:sp>
      <p:sp>
        <p:nvSpPr>
          <p:cNvPr id="4" name="Slide Number Placeholder 3"/>
          <p:cNvSpPr>
            <a:spLocks noGrp="1"/>
          </p:cNvSpPr>
          <p:nvPr>
            <p:ph type="sldNum" sz="quarter" idx="5"/>
          </p:nvPr>
        </p:nvSpPr>
        <p:spPr/>
        <p:txBody>
          <a:bodyPr/>
          <a:lstStyle/>
          <a:p>
            <a:fld id="{5D7EE36C-32F0-453E-AA58-9E3F94E74BD8}" type="slidenum">
              <a:rPr lang="en-US" smtClean="0"/>
              <a:t>4</a:t>
            </a:fld>
            <a:endParaRPr lang="en-US"/>
          </a:p>
        </p:txBody>
      </p:sp>
    </p:spTree>
    <p:extLst>
      <p:ext uri="{BB962C8B-B14F-4D97-AF65-F5344CB8AC3E}">
        <p14:creationId xmlns:p14="http://schemas.microsoft.com/office/powerpoint/2010/main" val="1746511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benefits. One: fewer payment errors and disputes, because automatic triggers remove discretion over when and how a royalty is calculated. Two: one auditable record that every party can verify, which cuts the reconciliation effort. Three: faster payment that scales, because a new territory adds a trigger rather than a manual process.</a:t>
            </a:r>
          </a:p>
          <a:p/>
          <a:p>
            <a:r>
              <a:t>Three limitations. One: legal enforceability, because correct execution is not the same as a binding contract. Two: cost and integration, because the ledger has to connect to existing contract-management and finance systems, otherwise it recreates the three-way reconciliation problem. Three: skills and coding risk, because someone must translate contract terms into code and an error there is paid out until noticed.</a:t>
            </a:r>
          </a:p>
          <a:p/>
          <a:p>
            <a:r>
              <a:t>One part of this argument is supported by the technology; the other depends on whether the law catches up with it. These two points need to be kept separate.</a:t>
            </a:r>
          </a:p>
          <a:p>
            <a:r>
              <a:t>Jensen and Meckling’s (1976) agency theory explains the benefit clearly. Agency costs arise when a principal, in this case a rights holder, delegates decisions to an agent such as a distributor or licensing intermediary whose interests may not fully align with the principal’s. Removing discretion from the payment-calculation process directly reduces this type of agency cost. It also addresses the problem identified on slide two: the $424 million in unmatched royalties and cases where artists waited up to a year for payment are, beneath the specific figures, examples of agency problems. Whenever someone has discretion over when and how a payment is calculated, there is scope for error or self-interest. An automated and auditable trigger removes that point of discretion rather than simply adding more monitoring around it.</a:t>
            </a:r>
          </a:p>
          <a:p>
            <a:r>
              <a:t>The main limitation is legal rather than technical. Automatic execution does not guarantee legal enforceability. If a party disputes the underlying contract terms rather than the payment calculation, the fact that the code executed correctly does not determine whether a court in the relevant jurisdiction will recognise that execution as legally binding. Execution and enforceability are therefore separate issues, and the ledger only addresses the first.</a:t>
            </a:r>
          </a:p>
          <a:p>
            <a:r>
              <a:t>There is also a further limitation that agency theory does not fully capture because its focus is on reducing discretion. The person who initially translates the contractual terms into code becomes another point where error or bias can enter. The original payment-discretion problem may be reduced, but a smaller and different agency risk is introduced during the coding process. This is why slide ten needs a specific control rather than assuming that automation closes the entire problem. The overall judgement is that the mechanism reduces one category of agency cost while creating a smaller new one. It is a net improvement, but not a cost-free one.</a:t>
            </a:r>
          </a:p>
          <a:p/>
        </p:txBody>
      </p:sp>
      <p:sp>
        <p:nvSpPr>
          <p:cNvPr id="4" name="Slide Number Placeholder 3"/>
          <p:cNvSpPr>
            <a:spLocks noGrp="1"/>
          </p:cNvSpPr>
          <p:nvPr>
            <p:ph type="sldNum" sz="quarter" idx="5"/>
          </p:nvPr>
        </p:nvSpPr>
        <p:spPr/>
        <p:txBody>
          <a:bodyPr/>
          <a:lstStyle/>
          <a:p>
            <a:fld id="{5D7EE36C-32F0-453E-AA58-9E3F94E74BD8}" type="slidenum">
              <a:rPr lang="en-US" smtClean="0"/>
              <a:t>5</a:t>
            </a:fld>
            <a:endParaRPr lang="en-US"/>
          </a:p>
        </p:txBody>
      </p:sp>
    </p:spTree>
    <p:extLst>
      <p:ext uri="{BB962C8B-B14F-4D97-AF65-F5344CB8AC3E}">
        <p14:creationId xmlns:p14="http://schemas.microsoft.com/office/powerpoint/2010/main" val="288968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functions currently maintain three different versions of the same royalty information. Legal holds the contract terms, rights operations manages territory and window status, and finance maintains the payment record. These records are reconciled only periodically, creating the manual cross-checking step discussed on slide two. A shared ledger does not simply make this cross-check faster. It removes much of the need for the cross-check because all three functions work from the same record rather than maintaining separate records that are compared later.</a:t>
            </a:r>
          </a:p>
          <a:p>
            <a:r>
              <a:t>This changes the work each function performs, not just how quickly it is completed. Legal moves from periodic compliance reviews, where it checks after the event whether contract terms were followed, towards real-time verification of terms as they are encoded. The focus therefore shifts earlier in the process. Rights operations moves from chasing confirmation that a territory’s rights window has opened, often through direct communication with counterparties, to monitoring ledger triggers that activate automatically when the relevant window opens. Finance moves from reconciling disputed claims after the event to auditing a record that is already reconciled by design. Its task becomes checking whether the system operated correctly rather than determining whether three separate records match.</a:t>
            </a:r>
          </a:p>
          <a:p>
            <a:r>
              <a:t>This matters for the next stage of the argument because the change is structural. Each team is verifying different information at a different point in the process, rather than simply completing the existing work faster. That creates a genuine shift in skills and workflows across legal, rights operations, and finance. The concerns that follow are therefore not simply general resistance to new technology that can be addressed through reassurance.</a:t>
            </a:r>
          </a:p>
          <a:p/>
          <a:p/>
          <a:p>
            <a:r>
              <a:t>Structure and culture. Structurally, I would form a small cross-functional rights-ledger team with one named owner, so Legal, Rights Operations and Finance stop running three separate reconciliations. Culturally, each team moves from checking after the event to verifying as terms are encoded, which means shared accountability, training, and building trust in a record people did not create themselves.</a:t>
            </a:r>
          </a:p>
        </p:txBody>
      </p:sp>
      <p:sp>
        <p:nvSpPr>
          <p:cNvPr id="4" name="Slide Number Placeholder 3"/>
          <p:cNvSpPr>
            <a:spLocks noGrp="1"/>
          </p:cNvSpPr>
          <p:nvPr>
            <p:ph type="sldNum" sz="quarter" idx="5"/>
          </p:nvPr>
        </p:nvSpPr>
        <p:spPr/>
        <p:txBody>
          <a:bodyPr/>
          <a:lstStyle/>
          <a:p>
            <a:fld id="{5D7EE36C-32F0-453E-AA58-9E3F94E74BD8}" type="slidenum">
              <a:rPr lang="en-US" smtClean="0"/>
              <a:t>6</a:t>
            </a:fld>
            <a:endParaRPr lang="en-US"/>
          </a:p>
        </p:txBody>
      </p:sp>
    </p:spTree>
    <p:extLst>
      <p:ext uri="{BB962C8B-B14F-4D97-AF65-F5344CB8AC3E}">
        <p14:creationId xmlns:p14="http://schemas.microsoft.com/office/powerpoint/2010/main" val="314301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focus on one stakeholder group: legal and rights teams. Each card pairs a concern with a specific response.</a:t>
            </a:r>
          </a:p>
          <a:p/>
          <a:p>
            <a:r>
              <a:t>Legal and rights teams are not necessarily resistant to this technology. They are the people who would have to answer if a regulator or court raised a question that the current system cannot yet resolve. That difference matters when assessing the seriousness of their concerns.</a:t>
            </a:r>
          </a:p>
          <a:p>
            <a:r>
              <a:t>The first concern is regulatory uncertainty. An immutable ledger operating across jurisdictions with different media, tax, and data-protection laws raises a genuine question about which jurisdiction governs a cross-border smart-contract payment dispute. It also raises questions about whether an immutable record could conflict with rights to rectify or erase personal data in jurisdictions where those rights apply, particularly under the GDPR (European Parliament and Council, 2016; Finck, 2018). The second concern is enforceability, which connects directly to the limitation identified on slide five. Automatic execution does not guarantee legal enforceability if a party disputes the underlying contract terms rather than the calculation itself. Werbach and Cornell (2017) make the broader point that smart contracts do not replace contract law because contract law still provides remedies that a smart contract cannot provide on its own. Levy (2017) develops this further, arguing that smart contracts capture only a limited part of what contracts do, focusing on technical enforcement while leaving out the wider social and legal context. The third concern is integration. Legal and rights teams need the ledger to work alongside existing contract-management and finance systems rather than simply replace them. Otherwise, a disconnected parallel system could recreate the same three-way reconciliation problem identified earlier.</a:t>
            </a:r>
          </a:p>
          <a:p>
            <a:r>
              <a:t>The underlying barrier across all three concerns is the lack of settled case law and regulatory guidance specifically addressing smart-contract royalty enforcement. Legal teams are therefore being asked to approve a mechanism that the law has not fully caught up with. That is a legitimate professional concern, not simply a preference for existing processes.</a:t>
            </a:r>
          </a:p>
          <a:p>
            <a:r>
              <a:t>My response is therefore sequencing rather than reassurance. A phased rollout by jurisdiction, beginning in territories with clearer digital-contract rules, should be combined with an ongoing legal review function as additional territories are introduced. This treats regulatory uncertainty as a risk that needs continuous management rather than something that can be addressed by simply persuading legal teams to accept the technology. The same review function provides the basis for the governance response discussed on slide eleven.</a:t>
            </a:r>
          </a:p>
          <a:p/>
        </p:txBody>
      </p:sp>
      <p:sp>
        <p:nvSpPr>
          <p:cNvPr id="4" name="Slide Number Placeholder 3"/>
          <p:cNvSpPr>
            <a:spLocks noGrp="1"/>
          </p:cNvSpPr>
          <p:nvPr>
            <p:ph type="sldNum" sz="quarter" idx="5"/>
          </p:nvPr>
        </p:nvSpPr>
        <p:spPr/>
        <p:txBody>
          <a:bodyPr/>
          <a:lstStyle/>
          <a:p>
            <a:fld id="{5D7EE36C-32F0-453E-AA58-9E3F94E74BD8}" type="slidenum">
              <a:rPr lang="en-US" smtClean="0"/>
              <a:t>7</a:t>
            </a:fld>
            <a:endParaRPr lang="en-US"/>
          </a:p>
        </p:txBody>
      </p:sp>
    </p:spTree>
    <p:extLst>
      <p:ext uri="{BB962C8B-B14F-4D97-AF65-F5344CB8AC3E}">
        <p14:creationId xmlns:p14="http://schemas.microsoft.com/office/powerpoint/2010/main" val="510369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latin typeface="Times New Roman" panose="02020603050405020304" pitchFamily="18" charset="0"/>
                <a:cs typeface="Times New Roman" panose="02020603050405020304" pitchFamily="18" charset="0"/>
              </a:rPr>
              <a:t>Every verified payment on the ledger contributes to building trust with talent, and that trust is closely tied to licensing agility rather than being a separate objective. If rights holders can see that payments are accurate, timely, and traceable, they have less reason to hesitate over future licensing arrangements.</a:t>
            </a:r>
          </a:p>
          <a:p>
            <a:pPr algn="just"/>
            <a:r>
              <a:rPr lang="en-US" dirty="0">
                <a:latin typeface="Times New Roman" panose="02020603050405020304" pitchFamily="18" charset="0"/>
                <a:cs typeface="Times New Roman" panose="02020603050405020304" pitchFamily="18" charset="0"/>
              </a:rPr>
              <a:t>Auditable royalty infrastructure therefore serves two connected goals. The first is talent trust: fewer disputes, faster payments, and a record that can demonstrate fairness rather than simply claim it. The second is licensing agility, and the connection to Apple TV+ is not hypothetical. Apple TV+ has already committed to expanding third-party licensing of its original content, with a dedicated executive hired in 2024 to lead this expansion (9to5Mac, 2024). As the number of counterparties and territories grows, Apple TV+ needs royalty infrastructure that can scale without increasing disputes at the same rate. This matters because disputes can slow licensing relationships and make rights holders more cautious about entering future agreements.</a:t>
            </a:r>
          </a:p>
          <a:p>
            <a:pPr algn="just"/>
            <a:r>
              <a:rPr lang="en-US" dirty="0">
                <a:latin typeface="Times New Roman" panose="02020603050405020304" pitchFamily="18" charset="0"/>
                <a:cs typeface="Times New Roman" panose="02020603050405020304" pitchFamily="18" charset="0"/>
              </a:rPr>
              <a:t>A ledger that scales without creating a similar increase in disputes is therefore not simply an additional benefit alongside the licensing strategy. It is closer to a condition for that strategy to remain manageable at the scale Apple TV+ is reportedly pursuing. Under a manual process, every additional counterparty creates another reconciliation requirement and another opportunity for error or disagreement. As the network grows, those risks can accumulate faster than a manual team can realistically absorb them.</a:t>
            </a:r>
          </a:p>
          <a:p>
            <a:pPr algn="just"/>
            <a:r>
              <a:rPr lang="en-US" dirty="0">
                <a:latin typeface="Times New Roman" panose="02020603050405020304" pitchFamily="18" charset="0"/>
                <a:cs typeface="Times New Roman" panose="02020603050405020304" pitchFamily="18" charset="0"/>
              </a:rPr>
              <a:t>There is also an assumption here that needs to be tested rather than carried forward. At present, this capability can be considered a differentiator because not every studio or platform has implemented it. That does not mean it will remain a differentiator once competitors observe Apple TV+ and adopt similar systems. Whether the advantage can actually be sustained is therefore an open question, and that is what the next slide needs to examine rather than simply assuming the benefit will remain unique to Apple TV+.</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D7EE36C-32F0-453E-AA58-9E3F94E74BD8}" type="slidenum">
              <a:rPr lang="en-US" smtClean="0"/>
              <a:t>8</a:t>
            </a:fld>
            <a:endParaRPr lang="en-US"/>
          </a:p>
        </p:txBody>
      </p:sp>
    </p:spTree>
    <p:extLst>
      <p:ext uri="{BB962C8B-B14F-4D97-AF65-F5344CB8AC3E}">
        <p14:creationId xmlns:p14="http://schemas.microsoft.com/office/powerpoint/2010/main" val="167410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latin typeface="Times New Roman" panose="02020603050405020304" pitchFamily="18" charset="0"/>
                <a:cs typeface="Times New Roman" panose="02020603050405020304" pitchFamily="18" charset="0"/>
              </a:rPr>
              <a:t>Being early in this process is a real advantage, but staying ahead of competitors is a separate claim. I do not think the available evidence is strong enough to make that second claim without qualification.</a:t>
            </a:r>
          </a:p>
          <a:p>
            <a:pPr algn="just"/>
            <a:r>
              <a:rPr lang="en-US" dirty="0">
                <a:latin typeface="Times New Roman" panose="02020603050405020304" pitchFamily="18" charset="0"/>
                <a:cs typeface="Times New Roman" panose="02020603050405020304" pitchFamily="18" charset="0"/>
              </a:rPr>
              <a:t>DiMaggio and Powell’s (1983) concept of institutional isomorphism helps explain why.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operating within the same field tend to become more similar over time because of three types of pressure: coercive pressure from regulators, mimetic pressure from copying competitors when there is uncertainty, and normative pressure created by shared professional standards. Two of these pressures are already relevant here. Mimetic pressure would appear if another streaming platform adopted a similar ledger partly because Apple TV+ had done so, especially if that competitor was uncertain about the best approach. Coercive pressure is also possible. The Copyright Royalty Board’s multi-year rate dispute cycle discussed on slide two shows that regulatory bodies already have significant involvement in royalty structures. If similar authorities eventually require greater transparency in royalty reporting, platforms could adopt comparable systems regardless of who introduced the technology first.</a:t>
            </a:r>
          </a:p>
          <a:p>
            <a:pPr algn="just"/>
            <a:r>
              <a:rPr lang="en-US" dirty="0">
                <a:latin typeface="Times New Roman" panose="02020603050405020304" pitchFamily="18" charset="0"/>
                <a:cs typeface="Times New Roman" panose="02020603050405020304" pitchFamily="18" charset="0"/>
              </a:rPr>
              <a:t>There is, however, a credible counterargument. Apple TV+ could retain an advantage even after competitors adopt similar ledger technology because talent and rights holders already integrated into Apple’s system would have an established payment history and less reason to move to another platform simply because a comparable system becomes available. Both arguments can therefore be true at the same time. The technology advantage may converge, as institutional isomorphism predicts, while the relationship advantage lasts longer because the verified-payment history discussed on slide eight accumulates over time. Trust built through repeated accurate payments does not disappear as soon as a competitor adopts similar infrastructure.</a:t>
            </a:r>
          </a:p>
          <a:p>
            <a:pPr algn="just"/>
            <a:r>
              <a:rPr lang="en-US" dirty="0">
                <a:latin typeface="Times New Roman" panose="02020603050405020304" pitchFamily="18" charset="0"/>
                <a:cs typeface="Times New Roman" panose="02020603050405020304" pitchFamily="18" charset="0"/>
              </a:rPr>
              <a:t>The more defensible claim, and the one I am making here, is therefore that the advantage is relationship-based and accumulated over time rather than technology-based. That is narrower than claiming Apple TV+’s ledger will create a permanent competitive edge, but it is also more consistent with the evidence.</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D7EE36C-32F0-453E-AA58-9E3F94E74BD8}" type="slidenum">
              <a:rPr lang="en-US" smtClean="0"/>
              <a:t>9</a:t>
            </a:fld>
            <a:endParaRPr lang="en-US"/>
          </a:p>
        </p:txBody>
      </p:sp>
    </p:spTree>
    <p:extLst>
      <p:ext uri="{BB962C8B-B14F-4D97-AF65-F5344CB8AC3E}">
        <p14:creationId xmlns:p14="http://schemas.microsoft.com/office/powerpoint/2010/main" val="146698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risks sit behind this mechanism, and I would treat them as three separate issues rather than placing them under one broad category of “blockchain risk.” Each has a different cause, owner, and mitigation.</a:t>
            </a:r>
          </a:p>
          <a:p>
            <a:r>
              <a:t>The first is contract-data privacy. Ledger entries may contain commercially sensitive information or personal data, while some data-protection regimes give individuals rights to correct or erase their data. That creates a direct tension with the immutability of blockchain records (European Parliament and Council, 2016; Finck, 2018). The mitigation is mainly architectural rather than legal: sensitive personal data should remain off-chain, with only a verification hash recorded on-chain. The ledger can then prove that a particular record existed or that an event occurred without permanently storing the sensitive information itself.</a:t>
            </a:r>
          </a:p>
          <a:p>
            <a:r>
              <a:t>The second is the cross-border regulatory uncertainty identified on slide seven. There is still no settled international standard for enforcing smart-contract royalty arrangements across different jurisdictions. The mitigation is the phased, jurisdiction-by-jurisdiction rollout already proposed, beginning in territories where digital-contract law is clearer and expanding as the legal position becomes more established elsewhere.</a:t>
            </a:r>
          </a:p>
          <a:p>
            <a:r>
              <a:t>The third risk is smart-contract error, which I consider the most serious because it relates directly to the encoding gap identified on slide five. An incorrect contract term in code is not simply a normal software bug. If the contract controls a live royalty stream, the system could continue paying the wrong amount to the wrong party until the error is identified. The mitigation should therefore be mandatory legal and technical sign-off before any smart contract controlling live royalty payments goes into operation. There should also be a defined manual override and dispute-freeze process so that an incorrect payment can be stopped when an error is discovered.</a:t>
            </a:r>
          </a:p>
        </p:txBody>
      </p:sp>
      <p:sp>
        <p:nvSpPr>
          <p:cNvPr id="4" name="Slide Number Placeholder 3"/>
          <p:cNvSpPr>
            <a:spLocks noGrp="1"/>
          </p:cNvSpPr>
          <p:nvPr>
            <p:ph type="sldNum" sz="quarter" idx="5"/>
          </p:nvPr>
        </p:nvSpPr>
        <p:spPr/>
        <p:txBody>
          <a:bodyPr/>
          <a:lstStyle/>
          <a:p>
            <a:fld id="{5D7EE36C-32F0-453E-AA58-9E3F94E74BD8}" type="slidenum">
              <a:rPr lang="en-US" smtClean="0"/>
              <a:t>10</a:t>
            </a:fld>
            <a:endParaRPr lang="en-US"/>
          </a:p>
        </p:txBody>
      </p:sp>
    </p:spTree>
    <p:extLst>
      <p:ext uri="{BB962C8B-B14F-4D97-AF65-F5344CB8AC3E}">
        <p14:creationId xmlns:p14="http://schemas.microsoft.com/office/powerpoint/2010/main" val="189365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two opened with a $424 million-scale problem and a clear tension: should Apple TV+ address royalty accuracy structurally, or continue absorbing the cost of disputes? My answer is yes, blockchain-based rights infrastructure can address a problem of this scale, but only if it is treated as a legal and organisational commitment rather than introduced as a technical solution and then left to operate on its own.</a:t>
            </a:r>
          </a:p>
          <a:p>
            <a:r>
              <a:t>Three conditions need to hold for that approach to work. First, enforceability requires the phased, jurisdiction-aware rollout proposed on slide seven rather than a single global launch that moves faster than the law in less-settled territories. Second, encoding risk requires the mandatory dual sign-off proposed on slide eleven. Automation removes one form of discretion, but it does not remove risk if incorrect terms can still be encoded into a live royalty contract. Third, the competitive advantage needs to be understood as relationship-based and time-limited, as argued on slide nine, rather than assumed to remain permanent simply because Apple TV+ adopts the technology first. Institutional isomorphic pressure means competitors are likely to move towards similar systems over time.</a:t>
            </a:r>
          </a:p>
          <a:p>
            <a:r>
              <a:t>Against the three questions guiding this analysis, the conclusions are therefore quite specific. On feasibility, the mechanism can reduce real agency and monitoring costs associated with the unmatched-royalty problem identified at the beginning of the briefing. However, it also creates a new encoding-risk point rather than eliminating risk altogether. On people and processes, the concerns of legal and rights teams are specific and legitimate. Regulatory uncertainty, enforceability, and system integration are unresolved legal and organisational questions that require governance rather than being treated as resistance that can be overcome through reassurance. On sustained advantage, the more defensible claim is narrower: the advantage comes from accumulated relationships, trust, and payment history rather than from the technology itself. That means Apple TV+ has to keep building and maintaining that advantage rather than assuming it will continue automatically.</a:t>
            </a:r>
          </a:p>
          <a:p/>
        </p:txBody>
      </p:sp>
      <p:sp>
        <p:nvSpPr>
          <p:cNvPr id="4" name="Slide Number Placeholder 3"/>
          <p:cNvSpPr>
            <a:spLocks noGrp="1"/>
          </p:cNvSpPr>
          <p:nvPr>
            <p:ph type="sldNum" sz="quarter" idx="5"/>
          </p:nvPr>
        </p:nvSpPr>
        <p:spPr/>
        <p:txBody>
          <a:bodyPr/>
          <a:lstStyle/>
          <a:p>
            <a:fld id="{5D7EE36C-32F0-453E-AA58-9E3F94E74BD8}" type="slidenum">
              <a:rPr lang="en-US" smtClean="0"/>
              <a:t>11</a:t>
            </a:fld>
            <a:endParaRPr lang="en-US"/>
          </a:p>
        </p:txBody>
      </p:sp>
    </p:spTree>
    <p:extLst>
      <p:ext uri="{BB962C8B-B14F-4D97-AF65-F5344CB8AC3E}">
        <p14:creationId xmlns:p14="http://schemas.microsoft.com/office/powerpoint/2010/main" val="1730434069"/>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practical recommendations.</a:t>
            </a:r>
          </a:p>
          <a:p/>
          <a:p>
            <a:r>
              <a:t>In plain terms, and each grounded in a theory used earlier: First, transaction cost economics supports a standing governance function that regularly reviews whether the system is still reducing contracting costs as Apple TV+ adds new territories and rights types. The original design should not be assumed to remain efficient as its scope expands. Second, agency theory supports the mandatory dual sign-off because it addresses the new point of agency risk created when contractual terms are translated into code. Without this control, automation could quietly recreate the discretion problem it was intended to remove. Third, institutional isomorphism suggests that the first-mover advantage should be treated as temporary by design. Apple TV+ should therefore invest in the relationship-based advantage identified on slide nine, particularly accumulated trust and verified payment history, rather than relying on the technology itself once competitors inevitably move towards similar systems.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50A1C-FB04-490A-8257-266F5BE5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63BF4A-7036-4342-B5DC-BAD675D60A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845292-36BE-4CDC-8ED2-7035DD711D0B}"/>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87847562-A877-4A45-A5B8-269789029C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E46E20-93AA-45FD-9234-1B6AD0E28386}"/>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103085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3A88-1D49-41DB-BCE8-82DF3D48D1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CDFE0-09D4-4E79-BBB5-4D9043A53F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D84CF-1BDF-47DA-8442-1BFF2F7BFA49}"/>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CE9E2996-391F-4F32-9789-BF54F2AB8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A8479D-B6EB-4C68-927F-D1ABF6A3C72B}"/>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309812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DD81-AFA2-4D24-81EB-24B6AB9A99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DD5EE1-9D48-48B9-B3F1-81C61673AB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E337BFB-B92C-4D59-BCD1-D6DD5DCA7E7A}"/>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82834C1E-E216-4345-A3C3-66113F2E95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C9BBA-46B2-42F5-A286-3992A012EE6E}"/>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873022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52A3-8AB4-43C9-9531-DBE7F8FBD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D187A4-0A98-4133-ADA9-F4E926297C6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7CD23E-90EF-4A9D-9DA0-E4E8033446A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4C8C9C-19C1-4255-B662-439F02904811}"/>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F8FA1A8F-2107-4B69-8065-CF05A94694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44144-010F-4E97-A3B4-55C0E07777A1}"/>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174006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96050-B796-445A-88E0-92EA336388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FCA86-37DC-4425-AF77-F2946A119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17950A9-FA91-43B1-A715-D7786D1DE18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B53257-18F1-4416-97FA-4F765146B2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D1FB526-1A41-4764-9EA1-44C8A3D92FE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8EB8F2-883A-4D7A-9C4E-A83823F59E59}"/>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8" name="Footer Placeholder 7">
            <a:extLst>
              <a:ext uri="{FF2B5EF4-FFF2-40B4-BE49-F238E27FC236}">
                <a16:creationId xmlns:a16="http://schemas.microsoft.com/office/drawing/2014/main" id="{27BE7FBE-E6DB-44FE-BBBA-B02CE10CCC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5ADD4D-3FD8-4D1F-873E-6351F7462123}"/>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2707848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EEF5-73E5-4D8F-83B4-69EC44B495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9E2A03-0A1A-4B45-A80B-339B6401AC02}"/>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4" name="Footer Placeholder 3">
            <a:extLst>
              <a:ext uri="{FF2B5EF4-FFF2-40B4-BE49-F238E27FC236}">
                <a16:creationId xmlns:a16="http://schemas.microsoft.com/office/drawing/2014/main" id="{667C7154-9FED-4A8B-8675-B1A574D5AB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9EF5EE-6CAF-438F-BA04-00BEDAA9F08E}"/>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77749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2B3E89-45E8-4D51-914F-6DE50399683D}"/>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3" name="Footer Placeholder 2">
            <a:extLst>
              <a:ext uri="{FF2B5EF4-FFF2-40B4-BE49-F238E27FC236}">
                <a16:creationId xmlns:a16="http://schemas.microsoft.com/office/drawing/2014/main" id="{E7E3D6E5-27AB-41A5-81DE-9F6337F3BD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AFC037-67AB-4D06-9FB8-09CD34F5D2B0}"/>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6162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7B0F-D75A-45A5-8D33-EA77812B4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B77E7A-AB40-4A7D-BD9C-D868EEAF1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D5864F-64B9-447C-8A7F-9227400F18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BFAEA8-BF91-48E5-988A-1D71DA1A4626}"/>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622C09C8-2F43-43CC-9706-9A2658BB9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9408B-BEBD-46E5-9E4C-DA18F75471A6}"/>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419600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3C15-D588-4E00-BC36-73E714259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3C5E05-8BC3-4F73-AB4A-C15D4F36B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9AD55E-F49F-4C8E-B3ED-C01FE3890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F16538-97B7-4AD9-82D6-EAF9B5EF6780}"/>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6" name="Footer Placeholder 5">
            <a:extLst>
              <a:ext uri="{FF2B5EF4-FFF2-40B4-BE49-F238E27FC236}">
                <a16:creationId xmlns:a16="http://schemas.microsoft.com/office/drawing/2014/main" id="{E4941B7E-5195-4B4D-A509-23AFCB592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749DF-869E-4FA3-A2F3-56EAE1DFDB34}"/>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179718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E133-55A5-4B27-9550-4D97F657EC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38B88-6238-4108-8861-C09A9A8439E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5DFC7-2A32-4B79-8BF9-D28358EF2DD0}"/>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123A1CDE-A1A2-4DB7-841F-E15BBE850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D7C5D-5E42-4F59-AA54-C54F5877A25B}"/>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330120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B23DA5-8C2D-4EBE-B284-F83B7C3A2B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028949-5D9C-486B-82DE-E1ADB21FD81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730625-7934-4EDF-AB93-C9432972C11E}"/>
              </a:ext>
            </a:extLst>
          </p:cNvPr>
          <p:cNvSpPr>
            <a:spLocks noGrp="1"/>
          </p:cNvSpPr>
          <p:nvPr>
            <p:ph type="dt" sz="half" idx="10"/>
          </p:nvPr>
        </p:nvSpPr>
        <p:spPr/>
        <p:txBody>
          <a:body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35512AE8-8FB1-4107-96CE-23584FF5B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BFB4A-C38A-4B48-BC0F-BE58AD58DF50}"/>
              </a:ext>
            </a:extLst>
          </p:cNvPr>
          <p:cNvSpPr>
            <a:spLocks noGrp="1"/>
          </p:cNvSpPr>
          <p:nvPr>
            <p:ph type="sldNum" sz="quarter" idx="12"/>
          </p:nvPr>
        </p:nvSpPr>
        <p:spPr/>
        <p:txBody>
          <a:bodyPr/>
          <a:lstStyle/>
          <a:p>
            <a:fld id="{155841E8-F9C4-409C-9489-46320D3E221B}" type="slidenum">
              <a:rPr lang="en-US" smtClean="0"/>
              <a:t>‹#›</a:t>
            </a:fld>
            <a:endParaRPr lang="en-US"/>
          </a:p>
        </p:txBody>
      </p:sp>
    </p:spTree>
    <p:extLst>
      <p:ext uri="{BB962C8B-B14F-4D97-AF65-F5344CB8AC3E}">
        <p14:creationId xmlns:p14="http://schemas.microsoft.com/office/powerpoint/2010/main" val="2295558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62B6B-41C0-4ECA-B9C9-6E1FB613FB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67B138-42F5-4140-90C5-66E16C2A5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CC4E0-6DF8-4412-A629-CF43E74B1E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7335A6-36C2-4F36-BE1A-2D8C0146D0EE}" type="datetimeFigureOut">
              <a:rPr lang="en-US" smtClean="0"/>
              <a:t>9/13/2026</a:t>
            </a:fld>
            <a:endParaRPr lang="en-US"/>
          </a:p>
        </p:txBody>
      </p:sp>
      <p:sp>
        <p:nvSpPr>
          <p:cNvPr id="5" name="Footer Placeholder 4">
            <a:extLst>
              <a:ext uri="{FF2B5EF4-FFF2-40B4-BE49-F238E27FC236}">
                <a16:creationId xmlns:a16="http://schemas.microsoft.com/office/drawing/2014/main" id="{5E335DEA-8493-4E9A-AAC9-CE1E18B6F4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C00FDC-AB4E-4D8E-B920-2699BC6F7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5841E8-F9C4-409C-9489-46320D3E221B}" type="slidenum">
              <a:rPr lang="en-US" smtClean="0"/>
              <a:t>‹#›</a:t>
            </a:fld>
            <a:endParaRPr lang="en-US"/>
          </a:p>
        </p:txBody>
      </p:sp>
    </p:spTree>
    <p:extLst>
      <p:ext uri="{BB962C8B-B14F-4D97-AF65-F5344CB8AC3E}">
        <p14:creationId xmlns:p14="http://schemas.microsoft.com/office/powerpoint/2010/main" val="541693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D04B22-E6BD-4B21-A21C-BD329868059F}"/>
              </a:ext>
            </a:extLst>
          </p:cNvPr>
          <p:cNvSpPr txBox="1"/>
          <p:nvPr/>
        </p:nvSpPr>
        <p:spPr>
          <a:xfrm>
            <a:off x="548640" y="1234440"/>
            <a:ext cx="11064240" cy="769441"/>
          </a:xfrm>
          <a:prstGeom prst="rect">
            <a:avLst/>
          </a:prstGeom>
          <a:noFill/>
        </p:spPr>
        <p:txBody>
          <a:bodyPr wrap="square">
            <a:spAutoFit/>
          </a:bodyPr>
          <a:lstStyle/>
          <a:p>
            <a:pPr algn="ctr"/>
            <a:r>
              <a:rPr sz="4400" b="1" i="0">
                <a:solidFill>
                  <a:srgbClr val="2A2218"/>
                </a:solidFill>
                <a:latin typeface="Times New Roman" panose="02020603050405020304" pitchFamily="18" charset="0"/>
                <a:cs typeface="Times New Roman" panose="02020603050405020304" pitchFamily="18" charset="0"/>
              </a:rPr>
              <a:t>THE LEDGER OF RECORD</a:t>
            </a:r>
          </a:p>
        </p:txBody>
      </p:sp>
      <p:sp>
        <p:nvSpPr>
          <p:cNvPr id="5" name="Oval 4">
            <a:extLst>
              <a:ext uri="{FF2B5EF4-FFF2-40B4-BE49-F238E27FC236}">
                <a16:creationId xmlns:a16="http://schemas.microsoft.com/office/drawing/2014/main" id="{B3E7EE7F-60FB-4487-96CC-B397697FE42E}"/>
              </a:ext>
            </a:extLst>
          </p:cNvPr>
          <p:cNvSpPr/>
          <p:nvPr/>
        </p:nvSpPr>
        <p:spPr>
          <a:xfrm>
            <a:off x="384048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185F8744-376D-4318-A85C-7E00A3D4D432}"/>
              </a:ext>
            </a:extLst>
          </p:cNvPr>
          <p:cNvSpPr/>
          <p:nvPr/>
        </p:nvSpPr>
        <p:spPr>
          <a:xfrm>
            <a:off x="395199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81E5B0B5-5A53-4CF9-9BD7-F0604E28EB97}"/>
              </a:ext>
            </a:extLst>
          </p:cNvPr>
          <p:cNvSpPr/>
          <p:nvPr/>
        </p:nvSpPr>
        <p:spPr>
          <a:xfrm>
            <a:off x="406350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EF1E3E44-281F-4B02-B638-775745694A28}"/>
              </a:ext>
            </a:extLst>
          </p:cNvPr>
          <p:cNvSpPr/>
          <p:nvPr/>
        </p:nvSpPr>
        <p:spPr>
          <a:xfrm>
            <a:off x="417501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113BAFE1-EB5F-4139-90AA-13C8C21B5501}"/>
              </a:ext>
            </a:extLst>
          </p:cNvPr>
          <p:cNvSpPr/>
          <p:nvPr/>
        </p:nvSpPr>
        <p:spPr>
          <a:xfrm>
            <a:off x="428652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82BC516D-C148-459C-BA2E-B3BAEBD3A8D0}"/>
              </a:ext>
            </a:extLst>
          </p:cNvPr>
          <p:cNvSpPr/>
          <p:nvPr/>
        </p:nvSpPr>
        <p:spPr>
          <a:xfrm>
            <a:off x="439804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8EB0471B-1D28-46EB-B0DF-B4A32A558547}"/>
              </a:ext>
            </a:extLst>
          </p:cNvPr>
          <p:cNvSpPr/>
          <p:nvPr/>
        </p:nvSpPr>
        <p:spPr>
          <a:xfrm>
            <a:off x="450955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F41C484B-3EA8-42DF-ADE1-A35588866B1B}"/>
              </a:ext>
            </a:extLst>
          </p:cNvPr>
          <p:cNvSpPr/>
          <p:nvPr/>
        </p:nvSpPr>
        <p:spPr>
          <a:xfrm>
            <a:off x="462106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3AC2036F-2C3D-4268-911F-9247C25DA29B}"/>
              </a:ext>
            </a:extLst>
          </p:cNvPr>
          <p:cNvSpPr/>
          <p:nvPr/>
        </p:nvSpPr>
        <p:spPr>
          <a:xfrm>
            <a:off x="473257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69DC4AC2-6B4F-4CB2-9834-59A9F3562492}"/>
              </a:ext>
            </a:extLst>
          </p:cNvPr>
          <p:cNvSpPr/>
          <p:nvPr/>
        </p:nvSpPr>
        <p:spPr>
          <a:xfrm>
            <a:off x="484408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32070F83-49AC-448E-8AE8-8BC3297AAF0F}"/>
              </a:ext>
            </a:extLst>
          </p:cNvPr>
          <p:cNvSpPr/>
          <p:nvPr/>
        </p:nvSpPr>
        <p:spPr>
          <a:xfrm>
            <a:off x="495560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BB7065CB-86C0-4A96-9380-78FF3CC15ABF}"/>
              </a:ext>
            </a:extLst>
          </p:cNvPr>
          <p:cNvSpPr/>
          <p:nvPr/>
        </p:nvSpPr>
        <p:spPr>
          <a:xfrm>
            <a:off x="506711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7A3477B8-7B7A-45C6-AD2E-9FC96C68EBEE}"/>
              </a:ext>
            </a:extLst>
          </p:cNvPr>
          <p:cNvSpPr/>
          <p:nvPr/>
        </p:nvSpPr>
        <p:spPr>
          <a:xfrm>
            <a:off x="517862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769FAF07-A50B-4B09-86D5-8A864B7F6CB0}"/>
              </a:ext>
            </a:extLst>
          </p:cNvPr>
          <p:cNvSpPr/>
          <p:nvPr/>
        </p:nvSpPr>
        <p:spPr>
          <a:xfrm>
            <a:off x="529013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20103617-7E62-4892-B335-CECBFD3DC7DA}"/>
              </a:ext>
            </a:extLst>
          </p:cNvPr>
          <p:cNvSpPr/>
          <p:nvPr/>
        </p:nvSpPr>
        <p:spPr>
          <a:xfrm>
            <a:off x="540165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30C0791C-4F75-4D03-9D4F-2FBE92ADDEA0}"/>
              </a:ext>
            </a:extLst>
          </p:cNvPr>
          <p:cNvSpPr/>
          <p:nvPr/>
        </p:nvSpPr>
        <p:spPr>
          <a:xfrm>
            <a:off x="551316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230F5697-CDE1-4D02-B1BD-09AE037C9A32}"/>
              </a:ext>
            </a:extLst>
          </p:cNvPr>
          <p:cNvSpPr/>
          <p:nvPr/>
        </p:nvSpPr>
        <p:spPr>
          <a:xfrm>
            <a:off x="562467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F47F5382-54AD-41F6-A216-3073448D9D8E}"/>
              </a:ext>
            </a:extLst>
          </p:cNvPr>
          <p:cNvSpPr/>
          <p:nvPr/>
        </p:nvSpPr>
        <p:spPr>
          <a:xfrm>
            <a:off x="573618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FB995963-ED53-434D-815A-96B227D6304B}"/>
              </a:ext>
            </a:extLst>
          </p:cNvPr>
          <p:cNvSpPr/>
          <p:nvPr/>
        </p:nvSpPr>
        <p:spPr>
          <a:xfrm>
            <a:off x="584769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16CED76E-26FA-4A15-8FC9-62B37F0E4857}"/>
              </a:ext>
            </a:extLst>
          </p:cNvPr>
          <p:cNvSpPr/>
          <p:nvPr/>
        </p:nvSpPr>
        <p:spPr>
          <a:xfrm>
            <a:off x="595921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id="{1A15C107-96C9-49F2-856C-814F7CCF8ED4}"/>
              </a:ext>
            </a:extLst>
          </p:cNvPr>
          <p:cNvSpPr/>
          <p:nvPr/>
        </p:nvSpPr>
        <p:spPr>
          <a:xfrm>
            <a:off x="607072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6" name="Oval 25">
            <a:extLst>
              <a:ext uri="{FF2B5EF4-FFF2-40B4-BE49-F238E27FC236}">
                <a16:creationId xmlns:a16="http://schemas.microsoft.com/office/drawing/2014/main" id="{0FE38F5F-18E9-459A-B6B7-B3C314ABED26}"/>
              </a:ext>
            </a:extLst>
          </p:cNvPr>
          <p:cNvSpPr/>
          <p:nvPr/>
        </p:nvSpPr>
        <p:spPr>
          <a:xfrm>
            <a:off x="618223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D7B7E8BA-3400-4428-A9B1-D628E2FC6FDB}"/>
              </a:ext>
            </a:extLst>
          </p:cNvPr>
          <p:cNvSpPr/>
          <p:nvPr/>
        </p:nvSpPr>
        <p:spPr>
          <a:xfrm>
            <a:off x="629374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8" name="Oval 27">
            <a:extLst>
              <a:ext uri="{FF2B5EF4-FFF2-40B4-BE49-F238E27FC236}">
                <a16:creationId xmlns:a16="http://schemas.microsoft.com/office/drawing/2014/main" id="{8085438F-CC1A-4065-BB6A-596C804CDBAE}"/>
              </a:ext>
            </a:extLst>
          </p:cNvPr>
          <p:cNvSpPr/>
          <p:nvPr/>
        </p:nvSpPr>
        <p:spPr>
          <a:xfrm>
            <a:off x="640526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29" name="Oval 28">
            <a:extLst>
              <a:ext uri="{FF2B5EF4-FFF2-40B4-BE49-F238E27FC236}">
                <a16:creationId xmlns:a16="http://schemas.microsoft.com/office/drawing/2014/main" id="{9AC8FC38-B0B5-4340-9101-5AA56F792421}"/>
              </a:ext>
            </a:extLst>
          </p:cNvPr>
          <p:cNvSpPr/>
          <p:nvPr/>
        </p:nvSpPr>
        <p:spPr>
          <a:xfrm>
            <a:off x="651677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0" name="Oval 29">
            <a:extLst>
              <a:ext uri="{FF2B5EF4-FFF2-40B4-BE49-F238E27FC236}">
                <a16:creationId xmlns:a16="http://schemas.microsoft.com/office/drawing/2014/main" id="{D10175E2-9266-45D0-AF10-1CDD4D579D58}"/>
              </a:ext>
            </a:extLst>
          </p:cNvPr>
          <p:cNvSpPr/>
          <p:nvPr/>
        </p:nvSpPr>
        <p:spPr>
          <a:xfrm>
            <a:off x="662828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1" name="Oval 30">
            <a:extLst>
              <a:ext uri="{FF2B5EF4-FFF2-40B4-BE49-F238E27FC236}">
                <a16:creationId xmlns:a16="http://schemas.microsoft.com/office/drawing/2014/main" id="{DEC4F92C-A426-43F5-9EA5-372CE7A72911}"/>
              </a:ext>
            </a:extLst>
          </p:cNvPr>
          <p:cNvSpPr/>
          <p:nvPr/>
        </p:nvSpPr>
        <p:spPr>
          <a:xfrm>
            <a:off x="673979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id="{B311DCDB-4006-4F1E-84E0-70633D2366B1}"/>
              </a:ext>
            </a:extLst>
          </p:cNvPr>
          <p:cNvSpPr/>
          <p:nvPr/>
        </p:nvSpPr>
        <p:spPr>
          <a:xfrm>
            <a:off x="685130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515FB23A-CE7E-4B00-9F1F-B947327448AA}"/>
              </a:ext>
            </a:extLst>
          </p:cNvPr>
          <p:cNvSpPr/>
          <p:nvPr/>
        </p:nvSpPr>
        <p:spPr>
          <a:xfrm>
            <a:off x="696282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E9390363-26CE-4DCC-94F9-8DCB89A4AF1F}"/>
              </a:ext>
            </a:extLst>
          </p:cNvPr>
          <p:cNvSpPr/>
          <p:nvPr/>
        </p:nvSpPr>
        <p:spPr>
          <a:xfrm>
            <a:off x="707433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0FF2156B-91D6-432F-8343-47F270324E14}"/>
              </a:ext>
            </a:extLst>
          </p:cNvPr>
          <p:cNvSpPr/>
          <p:nvPr/>
        </p:nvSpPr>
        <p:spPr>
          <a:xfrm>
            <a:off x="718584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6" name="Oval 35">
            <a:extLst>
              <a:ext uri="{FF2B5EF4-FFF2-40B4-BE49-F238E27FC236}">
                <a16:creationId xmlns:a16="http://schemas.microsoft.com/office/drawing/2014/main" id="{2E9AAE85-7FE2-4D18-BE1F-BA6EEA6B9689}"/>
              </a:ext>
            </a:extLst>
          </p:cNvPr>
          <p:cNvSpPr/>
          <p:nvPr/>
        </p:nvSpPr>
        <p:spPr>
          <a:xfrm>
            <a:off x="7297358"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7" name="Oval 36">
            <a:extLst>
              <a:ext uri="{FF2B5EF4-FFF2-40B4-BE49-F238E27FC236}">
                <a16:creationId xmlns:a16="http://schemas.microsoft.com/office/drawing/2014/main" id="{9E1B9412-B2E6-480D-BD85-6DB1D35E03F3}"/>
              </a:ext>
            </a:extLst>
          </p:cNvPr>
          <p:cNvSpPr/>
          <p:nvPr/>
        </p:nvSpPr>
        <p:spPr>
          <a:xfrm>
            <a:off x="7408870"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8" name="Oval 37">
            <a:extLst>
              <a:ext uri="{FF2B5EF4-FFF2-40B4-BE49-F238E27FC236}">
                <a16:creationId xmlns:a16="http://schemas.microsoft.com/office/drawing/2014/main" id="{7740451E-4D6B-4773-8AC9-98EAD02C3900}"/>
              </a:ext>
            </a:extLst>
          </p:cNvPr>
          <p:cNvSpPr/>
          <p:nvPr/>
        </p:nvSpPr>
        <p:spPr>
          <a:xfrm>
            <a:off x="7520382"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86491C0E-BF34-47BC-8203-8CB744FAB531}"/>
              </a:ext>
            </a:extLst>
          </p:cNvPr>
          <p:cNvSpPr/>
          <p:nvPr/>
        </p:nvSpPr>
        <p:spPr>
          <a:xfrm>
            <a:off x="7631894"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0" name="Oval 39">
            <a:extLst>
              <a:ext uri="{FF2B5EF4-FFF2-40B4-BE49-F238E27FC236}">
                <a16:creationId xmlns:a16="http://schemas.microsoft.com/office/drawing/2014/main" id="{B73ADB26-BF44-46F2-8C88-96910B1714D0}"/>
              </a:ext>
            </a:extLst>
          </p:cNvPr>
          <p:cNvSpPr/>
          <p:nvPr/>
        </p:nvSpPr>
        <p:spPr>
          <a:xfrm>
            <a:off x="7743406"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1" name="Oval 40">
            <a:extLst>
              <a:ext uri="{FF2B5EF4-FFF2-40B4-BE49-F238E27FC236}">
                <a16:creationId xmlns:a16="http://schemas.microsoft.com/office/drawing/2014/main" id="{DD32512C-82B6-43CD-B147-A63F3BD44F65}"/>
              </a:ext>
            </a:extLst>
          </p:cNvPr>
          <p:cNvSpPr/>
          <p:nvPr/>
        </p:nvSpPr>
        <p:spPr>
          <a:xfrm>
            <a:off x="7854919"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A1E06E9D-045B-449D-847D-018845B7C3A0}"/>
              </a:ext>
            </a:extLst>
          </p:cNvPr>
          <p:cNvSpPr/>
          <p:nvPr/>
        </p:nvSpPr>
        <p:spPr>
          <a:xfrm>
            <a:off x="7966431"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3" name="Oval 42">
            <a:extLst>
              <a:ext uri="{FF2B5EF4-FFF2-40B4-BE49-F238E27FC236}">
                <a16:creationId xmlns:a16="http://schemas.microsoft.com/office/drawing/2014/main" id="{04B6A25B-C3F2-4C56-8DD0-F92840826543}"/>
              </a:ext>
            </a:extLst>
          </p:cNvPr>
          <p:cNvSpPr/>
          <p:nvPr/>
        </p:nvSpPr>
        <p:spPr>
          <a:xfrm>
            <a:off x="8077943"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4" name="Oval 43">
            <a:extLst>
              <a:ext uri="{FF2B5EF4-FFF2-40B4-BE49-F238E27FC236}">
                <a16:creationId xmlns:a16="http://schemas.microsoft.com/office/drawing/2014/main" id="{AD8E9FB2-96E9-4EB6-9466-9E189E5D40F7}"/>
              </a:ext>
            </a:extLst>
          </p:cNvPr>
          <p:cNvSpPr/>
          <p:nvPr/>
        </p:nvSpPr>
        <p:spPr>
          <a:xfrm>
            <a:off x="8189455"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5" name="Oval 44">
            <a:extLst>
              <a:ext uri="{FF2B5EF4-FFF2-40B4-BE49-F238E27FC236}">
                <a16:creationId xmlns:a16="http://schemas.microsoft.com/office/drawing/2014/main" id="{93FCA801-77DC-4881-9589-BAF8063E1D44}"/>
              </a:ext>
            </a:extLst>
          </p:cNvPr>
          <p:cNvSpPr/>
          <p:nvPr/>
        </p:nvSpPr>
        <p:spPr>
          <a:xfrm>
            <a:off x="8300967" y="2103120"/>
            <a:ext cx="27432" cy="27432"/>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8F90F292-F750-47C1-A698-1F1CF4B14D8A}"/>
              </a:ext>
            </a:extLst>
          </p:cNvPr>
          <p:cNvSpPr txBox="1"/>
          <p:nvPr/>
        </p:nvSpPr>
        <p:spPr>
          <a:xfrm>
            <a:off x="548640" y="2240280"/>
            <a:ext cx="11064240" cy="338554"/>
          </a:xfrm>
          <a:prstGeom prst="rect">
            <a:avLst/>
          </a:prstGeom>
          <a:noFill/>
        </p:spPr>
        <p:txBody>
          <a:bodyPr wrap="square">
            <a:spAutoFit/>
          </a:bodyPr>
          <a:lstStyle/>
          <a:p>
            <a:pPr algn="ctr"/>
            <a:r>
              <a:rPr sz="1600" b="1" i="0">
                <a:solidFill>
                  <a:srgbClr val="6E1E2A"/>
                </a:solidFill>
                <a:latin typeface="Times New Roman" panose="02020603050405020304" pitchFamily="18" charset="0"/>
                <a:cs typeface="Times New Roman" panose="02020603050405020304" pitchFamily="18" charset="0"/>
              </a:rPr>
              <a:t>BLOCKCHAIN AS APPLE TV+'S TRUST LAYER FOR ROYALTY ACCURACY</a:t>
            </a:r>
          </a:p>
        </p:txBody>
      </p:sp>
      <p:sp>
        <p:nvSpPr>
          <p:cNvPr id="47" name="TextBox 46">
            <a:extLst>
              <a:ext uri="{FF2B5EF4-FFF2-40B4-BE49-F238E27FC236}">
                <a16:creationId xmlns:a16="http://schemas.microsoft.com/office/drawing/2014/main" id="{3A60F2AA-F911-4388-A10A-5963D857B9CA}"/>
              </a:ext>
            </a:extLst>
          </p:cNvPr>
          <p:cNvSpPr txBox="1"/>
          <p:nvPr/>
        </p:nvSpPr>
        <p:spPr>
          <a:xfrm>
            <a:off x="548640" y="2743200"/>
            <a:ext cx="11064240" cy="338554"/>
          </a:xfrm>
          <a:prstGeom prst="rect">
            <a:avLst/>
          </a:prstGeom>
          <a:noFill/>
        </p:spPr>
        <p:txBody>
          <a:bodyPr wrap="square">
            <a:spAutoFit/>
          </a:bodyPr>
          <a:lstStyle/>
          <a:p>
            <a:pPr algn="ctr"/>
            <a:r>
              <a:rPr sz="1600" b="0" i="0">
                <a:solidFill>
                  <a:srgbClr val="7A7060"/>
                </a:solidFill>
                <a:latin typeface="Times New Roman" panose="02020603050405020304" pitchFamily="18" charset="0"/>
                <a:cs typeface="Times New Roman" panose="02020603050405020304" pitchFamily="18" charset="0"/>
              </a:rPr>
              <a:t>Apple TV+ | Digital Transformation Consultant Briefing</a:t>
            </a:r>
          </a:p>
        </p:txBody>
      </p:sp>
      <p:sp>
        <p:nvSpPr>
          <p:cNvPr id="48" name="TextBox 47"/>
          <p:cNvSpPr txBox="1"/>
          <p:nvPr/>
        </p:nvSpPr>
        <p:spPr>
          <a:xfrm>
            <a:off x="548640" y="3108960"/>
            <a:ext cx="11064240" cy="320040"/>
          </a:xfrm>
          <a:prstGeom prst="rect">
            <a:avLst/>
          </a:prstGeom>
          <a:noFill/>
        </p:spPr>
        <p:txBody>
          <a:bodyPr wrap="square" lIns="45720" rIns="45720" tIns="27432" bIns="27432" anchor="t">
            <a:spAutoFit/>
          </a:bodyPr>
          <a:lstStyle/>
          <a:p>
            <a:pPr algn="ctr">
              <a:lnSpc>
                <a:spcPct val="105000"/>
              </a:lnSpc>
              <a:spcAft>
                <a:spcPts val="0"/>
              </a:spcAft>
            </a:pPr>
            <a:r>
              <a:rPr sz="1400" b="0" i="0">
                <a:solidFill>
                  <a:srgbClr val="7A7060"/>
                </a:solidFill>
                <a:latin typeface="Times New Roman"/>
              </a:rPr>
              <a:t>SRN: [add your SRN]</a:t>
            </a:r>
          </a:p>
        </p:txBody>
      </p:sp>
      <p:sp>
        <p:nvSpPr>
          <p:cNvPr id="49" name="TextBox 48"/>
          <p:cNvSpPr txBox="1"/>
          <p:nvPr/>
        </p:nvSpPr>
        <p:spPr>
          <a:xfrm>
            <a:off x="548640" y="3977639"/>
            <a:ext cx="11064240" cy="320040"/>
          </a:xfrm>
          <a:prstGeom prst="rect">
            <a:avLst/>
          </a:prstGeom>
          <a:noFill/>
        </p:spPr>
        <p:txBody>
          <a:bodyPr wrap="square" lIns="45720" rIns="45720" tIns="27432" bIns="27432" anchor="t">
            <a:spAutoFit/>
          </a:bodyPr>
          <a:lstStyle/>
          <a:p>
            <a:pPr algn="ctr">
              <a:lnSpc>
                <a:spcPct val="105000"/>
              </a:lnSpc>
              <a:spcAft>
                <a:spcPts val="0"/>
              </a:spcAft>
            </a:pPr>
            <a:r>
              <a:rPr sz="1300" b="1" i="0">
                <a:solidFill>
                  <a:srgbClr val="6E1E2A"/>
                </a:solidFill>
                <a:latin typeface="Times New Roman"/>
              </a:rPr>
              <a:t>ROADMAP</a:t>
            </a:r>
          </a:p>
        </p:txBody>
      </p:sp>
      <p:sp>
        <p:nvSpPr>
          <p:cNvPr id="50" name="Rectangle 49"/>
          <p:cNvSpPr/>
          <p:nvPr/>
        </p:nvSpPr>
        <p:spPr>
          <a:xfrm>
            <a:off x="56372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46607" y="4526280"/>
            <a:ext cx="365760" cy="36576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16101"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0380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1</a:t>
            </a:r>
          </a:p>
        </p:txBody>
      </p:sp>
      <p:sp>
        <p:nvSpPr>
          <p:cNvPr id="54" name="TextBox 53"/>
          <p:cNvSpPr txBox="1"/>
          <p:nvPr/>
        </p:nvSpPr>
        <p:spPr>
          <a:xfrm>
            <a:off x="65516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Context</a:t>
            </a:r>
          </a:p>
        </p:txBody>
      </p:sp>
      <p:sp>
        <p:nvSpPr>
          <p:cNvPr id="55" name="TextBox 54"/>
          <p:cNvSpPr txBox="1"/>
          <p:nvPr/>
        </p:nvSpPr>
        <p:spPr>
          <a:xfrm>
            <a:off x="65516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Apple TV+ and the royalty challenge</a:t>
            </a:r>
          </a:p>
        </p:txBody>
      </p:sp>
      <p:sp>
        <p:nvSpPr>
          <p:cNvPr id="56" name="Rectangle 55"/>
          <p:cNvSpPr/>
          <p:nvPr/>
        </p:nvSpPr>
        <p:spPr>
          <a:xfrm>
            <a:off x="243824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621127" y="4526280"/>
            <a:ext cx="365760" cy="36576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690621"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7832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2</a:t>
            </a:r>
          </a:p>
        </p:txBody>
      </p:sp>
      <p:sp>
        <p:nvSpPr>
          <p:cNvPr id="60" name="TextBox 59"/>
          <p:cNvSpPr txBox="1"/>
          <p:nvPr/>
        </p:nvSpPr>
        <p:spPr>
          <a:xfrm>
            <a:off x="252968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The technology</a:t>
            </a:r>
          </a:p>
        </p:txBody>
      </p:sp>
      <p:sp>
        <p:nvSpPr>
          <p:cNvPr id="61" name="TextBox 60"/>
          <p:cNvSpPr txBox="1"/>
          <p:nvPr/>
        </p:nvSpPr>
        <p:spPr>
          <a:xfrm>
            <a:off x="252968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What a ledger and smart contract are</a:t>
            </a:r>
          </a:p>
        </p:txBody>
      </p:sp>
      <p:sp>
        <p:nvSpPr>
          <p:cNvPr id="62" name="Rectangle 61"/>
          <p:cNvSpPr/>
          <p:nvPr/>
        </p:nvSpPr>
        <p:spPr>
          <a:xfrm>
            <a:off x="431276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495647" y="4526280"/>
            <a:ext cx="365760" cy="36576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6514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5284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3</a:t>
            </a:r>
          </a:p>
        </p:txBody>
      </p:sp>
      <p:sp>
        <p:nvSpPr>
          <p:cNvPr id="66" name="TextBox 65"/>
          <p:cNvSpPr txBox="1"/>
          <p:nvPr/>
        </p:nvSpPr>
        <p:spPr>
          <a:xfrm>
            <a:off x="440420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Benefits &amp; limits</a:t>
            </a:r>
          </a:p>
        </p:txBody>
      </p:sp>
      <p:sp>
        <p:nvSpPr>
          <p:cNvPr id="67" name="TextBox 66"/>
          <p:cNvSpPr txBox="1"/>
          <p:nvPr/>
        </p:nvSpPr>
        <p:spPr>
          <a:xfrm>
            <a:off x="440420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What we gain, what holds us back</a:t>
            </a:r>
          </a:p>
        </p:txBody>
      </p:sp>
      <p:sp>
        <p:nvSpPr>
          <p:cNvPr id="68" name="Rectangle 67"/>
          <p:cNvSpPr/>
          <p:nvPr/>
        </p:nvSpPr>
        <p:spPr>
          <a:xfrm>
            <a:off x="618728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370167" y="4526280"/>
            <a:ext cx="365760" cy="36576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43966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2736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4</a:t>
            </a:r>
          </a:p>
        </p:txBody>
      </p:sp>
      <p:sp>
        <p:nvSpPr>
          <p:cNvPr id="72" name="TextBox 71"/>
          <p:cNvSpPr txBox="1"/>
          <p:nvPr/>
        </p:nvSpPr>
        <p:spPr>
          <a:xfrm>
            <a:off x="627872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People</a:t>
            </a:r>
          </a:p>
        </p:txBody>
      </p:sp>
      <p:sp>
        <p:nvSpPr>
          <p:cNvPr id="73" name="TextBox 72"/>
          <p:cNvSpPr txBox="1"/>
          <p:nvPr/>
        </p:nvSpPr>
        <p:spPr>
          <a:xfrm>
            <a:off x="627872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Impact on teams and the stakeholder view</a:t>
            </a:r>
          </a:p>
        </p:txBody>
      </p:sp>
      <p:sp>
        <p:nvSpPr>
          <p:cNvPr id="74" name="Rectangle 73"/>
          <p:cNvSpPr/>
          <p:nvPr/>
        </p:nvSpPr>
        <p:spPr>
          <a:xfrm>
            <a:off x="806180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244687" y="4526280"/>
            <a:ext cx="365760" cy="36576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31418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0188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5</a:t>
            </a:r>
          </a:p>
        </p:txBody>
      </p:sp>
      <p:sp>
        <p:nvSpPr>
          <p:cNvPr id="78" name="TextBox 77"/>
          <p:cNvSpPr txBox="1"/>
          <p:nvPr/>
        </p:nvSpPr>
        <p:spPr>
          <a:xfrm>
            <a:off x="815324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Strategy</a:t>
            </a:r>
          </a:p>
        </p:txBody>
      </p:sp>
      <p:sp>
        <p:nvSpPr>
          <p:cNvPr id="79" name="TextBox 78"/>
          <p:cNvSpPr txBox="1"/>
          <p:nvPr/>
        </p:nvSpPr>
        <p:spPr>
          <a:xfrm>
            <a:off x="815324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Fit and lasting advantage</a:t>
            </a:r>
          </a:p>
        </p:txBody>
      </p:sp>
      <p:sp>
        <p:nvSpPr>
          <p:cNvPr id="80" name="Rectangle 79"/>
          <p:cNvSpPr/>
          <p:nvPr/>
        </p:nvSpPr>
        <p:spPr>
          <a:xfrm>
            <a:off x="9936327" y="4389120"/>
            <a:ext cx="1691640" cy="146304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119207" y="4526280"/>
            <a:ext cx="365760" cy="36576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188702" y="4595774"/>
            <a:ext cx="226771" cy="22677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576407" y="4526280"/>
            <a:ext cx="1005840" cy="365760"/>
          </a:xfrm>
          <a:prstGeom prst="rect">
            <a:avLst/>
          </a:prstGeom>
          <a:noFill/>
        </p:spPr>
        <p:txBody>
          <a:bodyPr wrap="square" lIns="45720" rIns="45720" tIns="27432" bIns="27432" anchor="ctr">
            <a:spAutoFit/>
          </a:bodyPr>
          <a:lstStyle/>
          <a:p>
            <a:pPr algn="l">
              <a:lnSpc>
                <a:spcPct val="105000"/>
              </a:lnSpc>
              <a:spcAft>
                <a:spcPts val="0"/>
              </a:spcAft>
            </a:pPr>
            <a:r>
              <a:rPr sz="1800" b="1" i="0">
                <a:solidFill>
                  <a:srgbClr val="6E1E2A"/>
                </a:solidFill>
                <a:latin typeface="Times New Roman"/>
              </a:rPr>
              <a:t>6</a:t>
            </a:r>
          </a:p>
        </p:txBody>
      </p:sp>
      <p:sp>
        <p:nvSpPr>
          <p:cNvPr id="84" name="TextBox 83"/>
          <p:cNvSpPr txBox="1"/>
          <p:nvPr/>
        </p:nvSpPr>
        <p:spPr>
          <a:xfrm>
            <a:off x="10027767" y="5029200"/>
            <a:ext cx="1508760" cy="27432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2A2218"/>
                </a:solidFill>
                <a:latin typeface="Times New Roman"/>
              </a:rPr>
              <a:t>Decisions</a:t>
            </a:r>
          </a:p>
        </p:txBody>
      </p:sp>
      <p:sp>
        <p:nvSpPr>
          <p:cNvPr id="85" name="TextBox 84"/>
          <p:cNvSpPr txBox="1"/>
          <p:nvPr/>
        </p:nvSpPr>
        <p:spPr>
          <a:xfrm>
            <a:off x="10027767" y="5303520"/>
            <a:ext cx="1508760" cy="502920"/>
          </a:xfrm>
          <a:prstGeom prst="rect">
            <a:avLst/>
          </a:prstGeom>
          <a:noFill/>
        </p:spPr>
        <p:txBody>
          <a:bodyPr wrap="square" lIns="45720" rIns="45720" tIns="27432" bIns="27432" anchor="t">
            <a:spAutoFit/>
          </a:bodyPr>
          <a:lstStyle/>
          <a:p>
            <a:pPr algn="l">
              <a:lnSpc>
                <a:spcPct val="105000"/>
              </a:lnSpc>
              <a:spcAft>
                <a:spcPts val="0"/>
              </a:spcAft>
            </a:pPr>
            <a:r>
              <a:rPr sz="1200" b="0" i="0">
                <a:solidFill>
                  <a:srgbClr val="7A7060"/>
                </a:solidFill>
                <a:latin typeface="Times New Roman"/>
              </a:rPr>
              <a:t>Risks, actions, takeaways</a:t>
            </a:r>
          </a:p>
        </p:txBody>
      </p:sp>
    </p:spTree>
    <p:extLst>
      <p:ext uri="{BB962C8B-B14F-4D97-AF65-F5344CB8AC3E}">
        <p14:creationId xmlns:p14="http://schemas.microsoft.com/office/powerpoint/2010/main" val="45997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2F1670-AA19-461B-96D8-9BE123F11BDC}"/>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CONTEXT &amp; PROBLEM</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Apple TV+ is growing its licensing footprint faster than manual royalty processes can follow.</a:t>
            </a:r>
          </a:p>
        </p:txBody>
      </p:sp>
      <p:sp>
        <p:nvSpPr>
          <p:cNvPr id="6" name="Rectangle 5"/>
          <p:cNvSpPr/>
          <p:nvPr/>
        </p:nvSpPr>
        <p:spPr>
          <a:xfrm>
            <a:off x="548640" y="2148840"/>
            <a:ext cx="5394960" cy="23317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40280"/>
            <a:ext cx="5029200" cy="36576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APPLE TV+ TODAY</a:t>
            </a:r>
          </a:p>
        </p:txBody>
      </p:sp>
      <p:sp>
        <p:nvSpPr>
          <p:cNvPr id="8" name="TextBox 7"/>
          <p:cNvSpPr txBox="1"/>
          <p:nvPr/>
        </p:nvSpPr>
        <p:spPr>
          <a:xfrm>
            <a:off x="731520" y="2651760"/>
            <a:ext cx="5029200" cy="1828800"/>
          </a:xfrm>
          <a:prstGeom prst="rect">
            <a:avLst/>
          </a:prstGeom>
          <a:noFill/>
        </p:spPr>
        <p:txBody>
          <a:bodyPr wrap="square" lIns="45720" rIns="45720" tIns="27432" bIns="27432" anchor="t">
            <a:spAutoFit/>
          </a:bodyPr>
          <a:lstStyle/>
          <a:p>
            <a:pPr algn="l">
              <a:lnSpc>
                <a:spcPct val="105000"/>
              </a:lnSpc>
              <a:spcAft>
                <a:spcPts val="600"/>
              </a:spcAft>
            </a:pPr>
            <a:r>
              <a:rPr sz="1400" b="0" i="0">
                <a:solidFill>
                  <a:srgbClr val="2A2218"/>
                </a:solidFill>
                <a:latin typeface="Times New Roman"/>
              </a:rPr>
              <a:t>Clears music synchronisation rights for scripted and unscripted programmes.</a:t>
            </a:r>
          </a:p>
          <a:p>
            <a:pPr algn="l">
              <a:lnSpc>
                <a:spcPct val="105000"/>
              </a:lnSpc>
              <a:spcAft>
                <a:spcPts val="600"/>
              </a:spcAft>
            </a:pPr>
            <a:r>
              <a:rPr sz="1400" b="0" i="0">
                <a:solidFill>
                  <a:srgbClr val="2A2218"/>
                </a:solidFill>
                <a:latin typeface="Times New Roman"/>
              </a:rPr>
              <a:t>Negotiates talent agreements across the same set of territories.</a:t>
            </a:r>
          </a:p>
          <a:p>
            <a:pPr algn="l">
              <a:lnSpc>
                <a:spcPct val="105000"/>
              </a:lnSpc>
              <a:spcAft>
                <a:spcPts val="600"/>
              </a:spcAft>
            </a:pPr>
            <a:r>
              <a:rPr sz="1400" b="0" i="0">
                <a:solidFill>
                  <a:srgbClr val="2A2218"/>
                </a:solidFill>
                <a:latin typeface="Times New Roman"/>
              </a:rPr>
              <a:t>Hired a licensing executive in 2024 to widen distribution of its originals to third-party platforms (9to5Mac, 2024).</a:t>
            </a:r>
          </a:p>
        </p:txBody>
      </p:sp>
      <p:sp>
        <p:nvSpPr>
          <p:cNvPr id="9" name="Rectangle 8"/>
          <p:cNvSpPr/>
          <p:nvPr/>
        </p:nvSpPr>
        <p:spPr>
          <a:xfrm>
            <a:off x="6245352" y="2148840"/>
            <a:ext cx="5394960" cy="233172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2240280"/>
            <a:ext cx="5029200" cy="36576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THE CHALLENGE</a:t>
            </a:r>
          </a:p>
        </p:txBody>
      </p:sp>
      <p:sp>
        <p:nvSpPr>
          <p:cNvPr id="11" name="TextBox 10"/>
          <p:cNvSpPr txBox="1"/>
          <p:nvPr/>
        </p:nvSpPr>
        <p:spPr>
          <a:xfrm>
            <a:off x="6428232" y="2651760"/>
            <a:ext cx="5029200" cy="1828800"/>
          </a:xfrm>
          <a:prstGeom prst="rect">
            <a:avLst/>
          </a:prstGeom>
          <a:noFill/>
        </p:spPr>
        <p:txBody>
          <a:bodyPr wrap="square" lIns="45720" rIns="45720" tIns="27432" bIns="27432" anchor="t">
            <a:spAutoFit/>
          </a:bodyPr>
          <a:lstStyle/>
          <a:p>
            <a:pPr algn="l">
              <a:lnSpc>
                <a:spcPct val="105000"/>
              </a:lnSpc>
              <a:spcAft>
                <a:spcPts val="600"/>
              </a:spcAft>
            </a:pPr>
            <a:r>
              <a:rPr sz="1400" b="0" i="0">
                <a:solidFill>
                  <a:srgbClr val="2A2218"/>
                </a:solidFill>
                <a:latin typeface="Times New Roman"/>
              </a:rPr>
              <a:t>More counterparties and more rights windows, all reconciled by hand across Legal, Rights Ops and Finance.</a:t>
            </a:r>
          </a:p>
          <a:p>
            <a:pPr algn="l">
              <a:lnSpc>
                <a:spcPct val="105000"/>
              </a:lnSpc>
              <a:spcAft>
                <a:spcPts val="600"/>
              </a:spcAft>
            </a:pPr>
            <a:r>
              <a:rPr sz="1400" b="1" i="0">
                <a:solidFill>
                  <a:srgbClr val="2A2218"/>
                </a:solidFill>
                <a:latin typeface="Times New Roman"/>
              </a:rPr>
              <a:t>Strategic question: </a:t>
            </a:r>
            <a:r>
              <a:rPr sz="1400" b="0" i="0">
                <a:solidFill>
                  <a:srgbClr val="2A2218"/>
                </a:solidFill>
                <a:latin typeface="Times New Roman"/>
              </a:rPr>
              <a:t>how does Apple TV+ keep royalty payments accurate and trusted as it expands, before disputes grow with it?</a:t>
            </a:r>
          </a:p>
        </p:txBody>
      </p:sp>
      <p:sp>
        <p:nvSpPr>
          <p:cNvPr id="12" name="Rectangle 11"/>
          <p:cNvSpPr/>
          <p:nvPr/>
        </p:nvSpPr>
        <p:spPr>
          <a:xfrm>
            <a:off x="548640" y="4709160"/>
            <a:ext cx="11091672" cy="1600200"/>
          </a:xfrm>
          <a:prstGeom prst="rect">
            <a:avLst/>
          </a:prstGeom>
          <a:no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773168"/>
            <a:ext cx="3657600" cy="274320"/>
          </a:xfrm>
          <a:prstGeom prst="rect">
            <a:avLst/>
          </a:prstGeom>
          <a:noFill/>
        </p:spPr>
        <p:txBody>
          <a:bodyPr wrap="square" lIns="45720" rIns="45720" tIns="27432" bIns="27432" anchor="t">
            <a:spAutoFit/>
          </a:bodyPr>
          <a:lstStyle/>
          <a:p>
            <a:pPr algn="l">
              <a:lnSpc>
                <a:spcPct val="105000"/>
              </a:lnSpc>
              <a:spcAft>
                <a:spcPts val="0"/>
              </a:spcAft>
            </a:pPr>
            <a:r>
              <a:rPr sz="1200" b="1" i="0">
                <a:solidFill>
                  <a:srgbClr val="7A7060"/>
                </a:solidFill>
                <a:latin typeface="Times New Roman"/>
              </a:rPr>
              <a:t>SUPPORTING EXAMPLE: MUSIC ROYALTIES</a:t>
            </a:r>
          </a:p>
        </p:txBody>
      </p:sp>
      <p:sp>
        <p:nvSpPr>
          <p:cNvPr id="14" name="TextBox 13"/>
          <p:cNvSpPr txBox="1"/>
          <p:nvPr/>
        </p:nvSpPr>
        <p:spPr>
          <a:xfrm>
            <a:off x="731520" y="5074920"/>
            <a:ext cx="3291840" cy="640080"/>
          </a:xfrm>
          <a:prstGeom prst="rect">
            <a:avLst/>
          </a:prstGeom>
          <a:noFill/>
        </p:spPr>
        <p:txBody>
          <a:bodyPr wrap="square" lIns="45720" rIns="45720" tIns="27432" bIns="27432" anchor="ctr">
            <a:spAutoFit/>
          </a:bodyPr>
          <a:lstStyle/>
          <a:p>
            <a:pPr algn="l">
              <a:lnSpc>
                <a:spcPct val="105000"/>
              </a:lnSpc>
              <a:spcAft>
                <a:spcPts val="0"/>
              </a:spcAft>
            </a:pPr>
            <a:r>
              <a:rPr sz="4000" b="1" i="0">
                <a:solidFill>
                  <a:srgbClr val="6E1E2A"/>
                </a:solidFill>
                <a:latin typeface="Times New Roman"/>
              </a:rPr>
              <a:t>$424M</a:t>
            </a:r>
          </a:p>
        </p:txBody>
      </p:sp>
      <p:sp>
        <p:nvSpPr>
          <p:cNvPr id="15" name="TextBox 14"/>
          <p:cNvSpPr txBox="1"/>
          <p:nvPr/>
        </p:nvSpPr>
        <p:spPr>
          <a:xfrm>
            <a:off x="731520" y="5760720"/>
            <a:ext cx="3291840" cy="502920"/>
          </a:xfrm>
          <a:prstGeom prst="rect">
            <a:avLst/>
          </a:prstGeom>
          <a:noFill/>
        </p:spPr>
        <p:txBody>
          <a:bodyPr wrap="square" lIns="45720" rIns="45720" tIns="27432" bIns="27432" anchor="t">
            <a:spAutoFit/>
          </a:bodyPr>
          <a:lstStyle/>
          <a:p>
            <a:pPr algn="l">
              <a:lnSpc>
                <a:spcPct val="105000"/>
              </a:lnSpc>
              <a:spcAft>
                <a:spcPts val="0"/>
              </a:spcAft>
            </a:pPr>
            <a:r>
              <a:rPr sz="1200" b="0" i="1">
                <a:solidFill>
                  <a:srgbClr val="7A7060"/>
                </a:solidFill>
                <a:latin typeface="Times New Roman"/>
              </a:rPr>
              <a:t>unmatched royalties in the music industry (The MLC; Sharp, 2023)</a:t>
            </a:r>
          </a:p>
        </p:txBody>
      </p:sp>
      <p:sp>
        <p:nvSpPr>
          <p:cNvPr id="16" name="TextBox 15"/>
          <p:cNvSpPr txBox="1"/>
          <p:nvPr/>
        </p:nvSpPr>
        <p:spPr>
          <a:xfrm>
            <a:off x="4206240" y="5120640"/>
            <a:ext cx="3566160" cy="109728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Many rights holders and many territories, matched manually, leave money unpaid. Every unmatched row is a dispute, a delay or an audit risk.</a:t>
            </a:r>
          </a:p>
        </p:txBody>
      </p:sp>
      <p:sp>
        <p:nvSpPr>
          <p:cNvPr id="17" name="Rectangle 16"/>
          <p:cNvSpPr/>
          <p:nvPr/>
        </p:nvSpPr>
        <p:spPr>
          <a:xfrm>
            <a:off x="7863840" y="4937760"/>
            <a:ext cx="146304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4937760"/>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Claim</a:t>
            </a:r>
          </a:p>
        </p:txBody>
      </p:sp>
      <p:sp>
        <p:nvSpPr>
          <p:cNvPr id="19" name="Rectangle 18"/>
          <p:cNvSpPr/>
          <p:nvPr/>
        </p:nvSpPr>
        <p:spPr>
          <a:xfrm>
            <a:off x="9326880" y="4937760"/>
            <a:ext cx="86868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937760"/>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Territory</a:t>
            </a:r>
          </a:p>
        </p:txBody>
      </p:sp>
      <p:sp>
        <p:nvSpPr>
          <p:cNvPr id="21" name="Rectangle 20"/>
          <p:cNvSpPr/>
          <p:nvPr/>
        </p:nvSpPr>
        <p:spPr>
          <a:xfrm>
            <a:off x="10195560" y="4937760"/>
            <a:ext cx="1280160" cy="338328"/>
          </a:xfrm>
          <a:prstGeom prst="rect">
            <a:avLst/>
          </a:prstGeom>
          <a:solidFill>
            <a:srgbClr val="EAE0C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95560" y="4937760"/>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A2218"/>
                </a:solidFill>
                <a:latin typeface="Times New Roman"/>
              </a:rPr>
              <a:t>Status</a:t>
            </a:r>
          </a:p>
        </p:txBody>
      </p:sp>
      <p:sp>
        <p:nvSpPr>
          <p:cNvPr id="23" name="Rectangle 22"/>
          <p:cNvSpPr/>
          <p:nvPr/>
        </p:nvSpPr>
        <p:spPr>
          <a:xfrm>
            <a:off x="7863840" y="5276088"/>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5276088"/>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Sync - Doc Series</a:t>
            </a:r>
          </a:p>
        </p:txBody>
      </p:sp>
      <p:sp>
        <p:nvSpPr>
          <p:cNvPr id="25" name="Rectangle 24"/>
          <p:cNvSpPr/>
          <p:nvPr/>
        </p:nvSpPr>
        <p:spPr>
          <a:xfrm>
            <a:off x="9326880" y="5276088"/>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5276088"/>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EU</a:t>
            </a:r>
          </a:p>
        </p:txBody>
      </p:sp>
      <p:sp>
        <p:nvSpPr>
          <p:cNvPr id="27" name="Rectangle 26"/>
          <p:cNvSpPr/>
          <p:nvPr/>
        </p:nvSpPr>
        <p:spPr>
          <a:xfrm>
            <a:off x="10195560" y="5276088"/>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95560" y="5276088"/>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6E1E2A"/>
                </a:solidFill>
                <a:latin typeface="Times New Roman"/>
              </a:rPr>
              <a:t>UNMATCHED</a:t>
            </a:r>
          </a:p>
        </p:txBody>
      </p:sp>
      <p:sp>
        <p:nvSpPr>
          <p:cNvPr id="29" name="Rectangle 28"/>
          <p:cNvSpPr/>
          <p:nvPr/>
        </p:nvSpPr>
        <p:spPr>
          <a:xfrm>
            <a:off x="7863840" y="5614416"/>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5614416"/>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Talent Residual</a:t>
            </a:r>
          </a:p>
        </p:txBody>
      </p:sp>
      <p:sp>
        <p:nvSpPr>
          <p:cNvPr id="31" name="Rectangle 30"/>
          <p:cNvSpPr/>
          <p:nvPr/>
        </p:nvSpPr>
        <p:spPr>
          <a:xfrm>
            <a:off x="9326880" y="5614416"/>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5614416"/>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APAC</a:t>
            </a:r>
          </a:p>
        </p:txBody>
      </p:sp>
      <p:sp>
        <p:nvSpPr>
          <p:cNvPr id="33" name="Rectangle 32"/>
          <p:cNvSpPr/>
          <p:nvPr/>
        </p:nvSpPr>
        <p:spPr>
          <a:xfrm>
            <a:off x="10195560" y="5614416"/>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95560" y="5614416"/>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6E1E2A"/>
                </a:solidFill>
                <a:latin typeface="Times New Roman"/>
              </a:rPr>
              <a:t>DISPUTED</a:t>
            </a:r>
          </a:p>
        </p:txBody>
      </p:sp>
      <p:sp>
        <p:nvSpPr>
          <p:cNvPr id="35" name="Rectangle 34"/>
          <p:cNvSpPr/>
          <p:nvPr/>
        </p:nvSpPr>
        <p:spPr>
          <a:xfrm>
            <a:off x="7863840" y="5952744"/>
            <a:ext cx="146304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5952744"/>
            <a:ext cx="146304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Sync - Feature</a:t>
            </a:r>
          </a:p>
        </p:txBody>
      </p:sp>
      <p:sp>
        <p:nvSpPr>
          <p:cNvPr id="37" name="Rectangle 36"/>
          <p:cNvSpPr/>
          <p:nvPr/>
        </p:nvSpPr>
        <p:spPr>
          <a:xfrm>
            <a:off x="9326880" y="5952744"/>
            <a:ext cx="86868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5952744"/>
            <a:ext cx="868680" cy="338328"/>
          </a:xfrm>
          <a:prstGeom prst="rect">
            <a:avLst/>
          </a:prstGeom>
          <a:noFill/>
        </p:spPr>
        <p:txBody>
          <a:bodyPr wrap="square" lIns="45720" rIns="45720" tIns="27432" bIns="27432" anchor="ctr">
            <a:spAutoFit/>
          </a:bodyPr>
          <a:lstStyle/>
          <a:p>
            <a:pPr algn="ctr">
              <a:lnSpc>
                <a:spcPct val="105000"/>
              </a:lnSpc>
              <a:spcAft>
                <a:spcPts val="0"/>
              </a:spcAft>
            </a:pPr>
            <a:r>
              <a:rPr sz="1100" b="0" i="0">
                <a:solidFill>
                  <a:srgbClr val="2A2218"/>
                </a:solidFill>
                <a:latin typeface="Times New Roman"/>
              </a:rPr>
              <a:t>US</a:t>
            </a:r>
          </a:p>
        </p:txBody>
      </p:sp>
      <p:sp>
        <p:nvSpPr>
          <p:cNvPr id="39" name="Rectangle 38"/>
          <p:cNvSpPr/>
          <p:nvPr/>
        </p:nvSpPr>
        <p:spPr>
          <a:xfrm>
            <a:off x="10195560" y="5952744"/>
            <a:ext cx="1280160" cy="33832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5952744"/>
            <a:ext cx="1280160" cy="338328"/>
          </a:xfrm>
          <a:prstGeom prst="rect">
            <a:avLst/>
          </a:prstGeom>
          <a:noFill/>
        </p:spPr>
        <p:txBody>
          <a:bodyPr wrap="square" lIns="45720" rIns="45720" tIns="27432" bIns="27432" anchor="ctr">
            <a:spAutoFit/>
          </a:bodyPr>
          <a:lstStyle/>
          <a:p>
            <a:pPr algn="ctr">
              <a:lnSpc>
                <a:spcPct val="105000"/>
              </a:lnSpc>
              <a:spcAft>
                <a:spcPts val="0"/>
              </a:spcAft>
            </a:pPr>
            <a:r>
              <a:rPr sz="1100" b="1" i="0">
                <a:solidFill>
                  <a:srgbClr val="2F5D3A"/>
                </a:solidFill>
                <a:latin typeface="Times New Roman"/>
              </a:rPr>
              <a:t>RECONCILED</a:t>
            </a:r>
          </a:p>
        </p:txBody>
      </p:sp>
    </p:spTree>
    <p:extLst>
      <p:ext uri="{BB962C8B-B14F-4D97-AF65-F5344CB8AC3E}">
        <p14:creationId xmlns:p14="http://schemas.microsoft.com/office/powerpoint/2010/main" val="336221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8672FC-900B-47E9-91DB-DB087B7A8C48}"/>
              </a:ext>
            </a:extLst>
          </p:cNvPr>
          <p:cNvSpPr txBox="1"/>
          <p:nvPr/>
        </p:nvSpPr>
        <p:spPr>
          <a:xfrm>
            <a:off x="548640" y="411480"/>
            <a:ext cx="11091672"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TECHNOLOGY, INTRODUCED</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A blockchain is a shared record that parties can trust without trusting each other first.</a:t>
            </a:r>
          </a:p>
        </p:txBody>
      </p:sp>
      <p:sp>
        <p:nvSpPr>
          <p:cNvPr id="6" name="Rectangle 5"/>
          <p:cNvSpPr/>
          <p:nvPr/>
        </p:nvSpPr>
        <p:spPr>
          <a:xfrm>
            <a:off x="548640"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1  BLOCKS</a:t>
            </a:r>
          </a:p>
        </p:txBody>
      </p:sp>
      <p:sp>
        <p:nvSpPr>
          <p:cNvPr id="8" name="TextBox 7"/>
          <p:cNvSpPr txBox="1"/>
          <p:nvPr/>
        </p:nvSpPr>
        <p:spPr>
          <a:xfrm>
            <a:off x="731520"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Each payment record is a block, chained to the one before it. Changing an old block breaks the chain, so tampering shows.</a:t>
            </a:r>
          </a:p>
        </p:txBody>
      </p:sp>
      <p:sp>
        <p:nvSpPr>
          <p:cNvPr id="9" name="Rectangle 8"/>
          <p:cNvSpPr/>
          <p:nvPr/>
        </p:nvSpPr>
        <p:spPr>
          <a:xfrm>
            <a:off x="4311396"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4276"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2  DISTRIBUTED COPIES</a:t>
            </a:r>
          </a:p>
        </p:txBody>
      </p:sp>
      <p:sp>
        <p:nvSpPr>
          <p:cNvPr id="11" name="TextBox 10"/>
          <p:cNvSpPr txBox="1"/>
          <p:nvPr/>
        </p:nvSpPr>
        <p:spPr>
          <a:xfrm>
            <a:off x="4494276"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Talent, rights holders and Apple TV+ each hold a copy. No single administrator controls the record.</a:t>
            </a:r>
          </a:p>
        </p:txBody>
      </p:sp>
      <p:sp>
        <p:nvSpPr>
          <p:cNvPr id="12" name="Rectangle 11"/>
          <p:cNvSpPr/>
          <p:nvPr/>
        </p:nvSpPr>
        <p:spPr>
          <a:xfrm>
            <a:off x="8074152" y="2057400"/>
            <a:ext cx="3566160" cy="39319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148840"/>
            <a:ext cx="3200400" cy="32004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3  SMART CONTRACT</a:t>
            </a:r>
          </a:p>
        </p:txBody>
      </p:sp>
      <p:sp>
        <p:nvSpPr>
          <p:cNvPr id="14" name="TextBox 13"/>
          <p:cNvSpPr txBox="1"/>
          <p:nvPr/>
        </p:nvSpPr>
        <p:spPr>
          <a:xfrm>
            <a:off x="8257031" y="4754880"/>
            <a:ext cx="320040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Rules written as code: when a rights window opens, the royalty calculation and payment start automatically.</a:t>
            </a:r>
          </a:p>
        </p:txBody>
      </p:sp>
      <p:sp>
        <p:nvSpPr>
          <p:cNvPr id="15" name="Rectangle 14"/>
          <p:cNvSpPr/>
          <p:nvPr/>
        </p:nvSpPr>
        <p:spPr>
          <a:xfrm>
            <a:off x="777240"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1</a:t>
            </a:r>
          </a:p>
        </p:txBody>
      </p:sp>
      <p:sp>
        <p:nvSpPr>
          <p:cNvPr id="17" name="TextBox 16"/>
          <p:cNvSpPr txBox="1"/>
          <p:nvPr/>
        </p:nvSpPr>
        <p:spPr>
          <a:xfrm>
            <a:off x="777240"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18" name="TextBox 17"/>
          <p:cNvSpPr txBox="1"/>
          <p:nvPr/>
        </p:nvSpPr>
        <p:spPr>
          <a:xfrm>
            <a:off x="1627632" y="3108960"/>
            <a:ext cx="274320" cy="365760"/>
          </a:xfrm>
          <a:prstGeom prst="rect">
            <a:avLst/>
          </a:prstGeom>
          <a:noFill/>
        </p:spPr>
        <p:txBody>
          <a:bodyPr wrap="square" lIns="45720" rIns="45720" tIns="27432" bIns="27432" anchor="t">
            <a:spAutoFit/>
          </a:bodyPr>
          <a:lstStyle/>
          <a:p>
            <a:pPr algn="ctr">
              <a:lnSpc>
                <a:spcPct val="105000"/>
              </a:lnSpc>
              <a:spcAft>
                <a:spcPts val="0"/>
              </a:spcAft>
            </a:pPr>
            <a:r>
              <a:rPr sz="1800" b="1" i="0">
                <a:solidFill>
                  <a:srgbClr val="B38A3C"/>
                </a:solidFill>
                <a:latin typeface="Times New Roman"/>
              </a:rPr>
              <a:t>→</a:t>
            </a:r>
          </a:p>
        </p:txBody>
      </p:sp>
      <p:sp>
        <p:nvSpPr>
          <p:cNvPr id="19" name="Rectangle 18"/>
          <p:cNvSpPr/>
          <p:nvPr/>
        </p:nvSpPr>
        <p:spPr>
          <a:xfrm>
            <a:off x="1874519"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74519"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2</a:t>
            </a:r>
          </a:p>
        </p:txBody>
      </p:sp>
      <p:sp>
        <p:nvSpPr>
          <p:cNvPr id="21" name="TextBox 20"/>
          <p:cNvSpPr txBox="1"/>
          <p:nvPr/>
        </p:nvSpPr>
        <p:spPr>
          <a:xfrm>
            <a:off x="1874519"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22" name="TextBox 21"/>
          <p:cNvSpPr txBox="1"/>
          <p:nvPr/>
        </p:nvSpPr>
        <p:spPr>
          <a:xfrm>
            <a:off x="2724912" y="3108960"/>
            <a:ext cx="274320" cy="365760"/>
          </a:xfrm>
          <a:prstGeom prst="rect">
            <a:avLst/>
          </a:prstGeom>
          <a:noFill/>
        </p:spPr>
        <p:txBody>
          <a:bodyPr wrap="square" lIns="45720" rIns="45720" tIns="27432" bIns="27432" anchor="t">
            <a:spAutoFit/>
          </a:bodyPr>
          <a:lstStyle/>
          <a:p>
            <a:pPr algn="ctr">
              <a:lnSpc>
                <a:spcPct val="105000"/>
              </a:lnSpc>
              <a:spcAft>
                <a:spcPts val="0"/>
              </a:spcAft>
            </a:pPr>
            <a:r>
              <a:rPr sz="1800" b="1" i="0">
                <a:solidFill>
                  <a:srgbClr val="B38A3C"/>
                </a:solidFill>
                <a:latin typeface="Times New Roman"/>
              </a:rPr>
              <a:t>→</a:t>
            </a:r>
          </a:p>
        </p:txBody>
      </p:sp>
      <p:sp>
        <p:nvSpPr>
          <p:cNvPr id="23" name="Rectangle 22"/>
          <p:cNvSpPr/>
          <p:nvPr/>
        </p:nvSpPr>
        <p:spPr>
          <a:xfrm>
            <a:off x="2971800" y="2926080"/>
            <a:ext cx="868680" cy="8686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71800" y="2971800"/>
            <a:ext cx="86868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Block 3</a:t>
            </a:r>
          </a:p>
        </p:txBody>
      </p:sp>
      <p:sp>
        <p:nvSpPr>
          <p:cNvPr id="25" name="TextBox 24"/>
          <p:cNvSpPr txBox="1"/>
          <p:nvPr/>
        </p:nvSpPr>
        <p:spPr>
          <a:xfrm>
            <a:off x="2971800" y="3291840"/>
            <a:ext cx="868680" cy="457200"/>
          </a:xfrm>
          <a:prstGeom prst="rect">
            <a:avLst/>
          </a:prstGeom>
          <a:noFill/>
        </p:spPr>
        <p:txBody>
          <a:bodyPr wrap="square" lIns="45720" rIns="45720" tIns="27432" bIns="27432" anchor="t">
            <a:spAutoFit/>
          </a:bodyPr>
          <a:lstStyle/>
          <a:p>
            <a:pPr algn="ctr">
              <a:lnSpc>
                <a:spcPct val="105000"/>
              </a:lnSpc>
              <a:spcAft>
                <a:spcPts val="0"/>
              </a:spcAft>
            </a:pPr>
            <a:r>
              <a:rPr sz="1000" b="0" i="0">
                <a:solidFill>
                  <a:srgbClr val="7A7060"/>
                </a:solidFill>
                <a:latin typeface="Times New Roman"/>
              </a:rPr>
              <a:t>Payment</a:t>
            </a:r>
          </a:p>
          <a:p>
            <a:pPr algn="ctr">
              <a:lnSpc>
                <a:spcPct val="105000"/>
              </a:lnSpc>
              <a:spcAft>
                <a:spcPts val="0"/>
              </a:spcAft>
            </a:pPr>
            <a:r>
              <a:rPr sz="1000" b="0" i="0">
                <a:solidFill>
                  <a:srgbClr val="7A7060"/>
                </a:solidFill>
                <a:latin typeface="Times New Roman"/>
              </a:rPr>
              <a:t>record</a:t>
            </a:r>
          </a:p>
        </p:txBody>
      </p:sp>
      <p:sp>
        <p:nvSpPr>
          <p:cNvPr id="26" name="TextBox 25"/>
          <p:cNvSpPr txBox="1"/>
          <p:nvPr/>
        </p:nvSpPr>
        <p:spPr>
          <a:xfrm>
            <a:off x="777240" y="3886200"/>
            <a:ext cx="3108960" cy="320040"/>
          </a:xfrm>
          <a:prstGeom prst="rect">
            <a:avLst/>
          </a:prstGeom>
          <a:noFill/>
        </p:spPr>
        <p:txBody>
          <a:bodyPr wrap="square" lIns="45720" rIns="45720" tIns="27432" bIns="27432" anchor="t">
            <a:spAutoFit/>
          </a:bodyPr>
          <a:lstStyle/>
          <a:p>
            <a:pPr algn="l">
              <a:lnSpc>
                <a:spcPct val="105000"/>
              </a:lnSpc>
              <a:spcAft>
                <a:spcPts val="0"/>
              </a:spcAft>
            </a:pPr>
            <a:r>
              <a:rPr sz="1100" b="0" i="1">
                <a:solidFill>
                  <a:srgbClr val="7A7060"/>
                </a:solidFill>
                <a:latin typeface="Times New Roman"/>
              </a:rPr>
              <a:t>each block carries the previous block's fingerprint</a:t>
            </a:r>
          </a:p>
        </p:txBody>
      </p:sp>
      <p:cxnSp>
        <p:nvCxnSpPr>
          <p:cNvPr id="27" name="Connector 26"/>
          <p:cNvCxnSpPr/>
          <p:nvPr/>
        </p:nvCxnSpPr>
        <p:spPr>
          <a:xfrm flipV="1">
            <a:off x="6094476" y="2926079"/>
            <a:ext cx="0" cy="777241"/>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4476" y="3703320"/>
            <a:ext cx="831488" cy="388619"/>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262987" y="3703320"/>
            <a:ext cx="831489" cy="388619"/>
          </a:xfrm>
          <a:prstGeom prst="line">
            <a:avLst/>
          </a:prstGeom>
          <a:ln w="19050">
            <a:solidFill>
              <a:srgbClr val="B38A3C"/>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792724" y="2624327"/>
            <a:ext cx="603504" cy="6035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92724" y="262432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2" name="TextBox 31"/>
          <p:cNvSpPr txBox="1"/>
          <p:nvPr/>
        </p:nvSpPr>
        <p:spPr>
          <a:xfrm>
            <a:off x="6460236" y="2788920"/>
            <a:ext cx="91440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A2218"/>
                </a:solidFill>
                <a:latin typeface="Times New Roman"/>
              </a:rPr>
              <a:t>Talent</a:t>
            </a:r>
          </a:p>
        </p:txBody>
      </p:sp>
      <p:sp>
        <p:nvSpPr>
          <p:cNvPr id="33" name="Oval 32"/>
          <p:cNvSpPr/>
          <p:nvPr/>
        </p:nvSpPr>
        <p:spPr>
          <a:xfrm>
            <a:off x="6624212" y="3790187"/>
            <a:ext cx="603504" cy="6035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4212" y="379018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5" name="TextBox 34"/>
          <p:cNvSpPr txBox="1"/>
          <p:nvPr/>
        </p:nvSpPr>
        <p:spPr>
          <a:xfrm>
            <a:off x="6285884" y="4393692"/>
            <a:ext cx="128016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Rights holders</a:t>
            </a:r>
          </a:p>
        </p:txBody>
      </p:sp>
      <p:sp>
        <p:nvSpPr>
          <p:cNvPr id="36" name="Oval 35"/>
          <p:cNvSpPr/>
          <p:nvPr/>
        </p:nvSpPr>
        <p:spPr>
          <a:xfrm>
            <a:off x="4961235" y="3790187"/>
            <a:ext cx="603504" cy="603504"/>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1235" y="3790187"/>
            <a:ext cx="603504" cy="603504"/>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FFFFFF"/>
                </a:solidFill>
                <a:latin typeface="Times New Roman"/>
              </a:rPr>
              <a:t>copy</a:t>
            </a:r>
          </a:p>
        </p:txBody>
      </p:sp>
      <p:sp>
        <p:nvSpPr>
          <p:cNvPr id="38" name="TextBox 37"/>
          <p:cNvSpPr txBox="1"/>
          <p:nvPr/>
        </p:nvSpPr>
        <p:spPr>
          <a:xfrm>
            <a:off x="4622907" y="4393692"/>
            <a:ext cx="1280160" cy="274320"/>
          </a:xfrm>
          <a:prstGeom prst="rect">
            <a:avLst/>
          </a:prstGeom>
          <a:noFill/>
        </p:spPr>
        <p:txBody>
          <a:bodyPr wrap="square" lIns="45720" rIns="45720" tIns="27432" bIns="27432" anchor="t">
            <a:spAutoFit/>
          </a:bodyPr>
          <a:lstStyle/>
          <a:p>
            <a:pPr algn="ctr">
              <a:lnSpc>
                <a:spcPct val="105000"/>
              </a:lnSpc>
              <a:spcAft>
                <a:spcPts val="0"/>
              </a:spcAft>
            </a:pPr>
            <a:r>
              <a:rPr sz="1100" b="1" i="0">
                <a:solidFill>
                  <a:srgbClr val="2A2218"/>
                </a:solidFill>
                <a:latin typeface="Times New Roman"/>
              </a:rPr>
              <a:t>Apple TV+</a:t>
            </a:r>
          </a:p>
        </p:txBody>
      </p:sp>
      <p:sp>
        <p:nvSpPr>
          <p:cNvPr id="39" name="Oval 38"/>
          <p:cNvSpPr/>
          <p:nvPr/>
        </p:nvSpPr>
        <p:spPr>
          <a:xfrm>
            <a:off x="5820156" y="3429000"/>
            <a:ext cx="548640" cy="548640"/>
          </a:xfrm>
          <a:prstGeom prst="ellipse">
            <a:avLst/>
          </a:prstGeom>
          <a:solidFill>
            <a:srgbClr val="F3ECDC"/>
          </a:solidFill>
          <a:ln w="19050">
            <a:solidFill>
              <a:srgbClr val="B38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20156" y="3429000"/>
            <a:ext cx="548640" cy="548640"/>
          </a:xfrm>
          <a:prstGeom prst="rect">
            <a:avLst/>
          </a:prstGeom>
          <a:noFill/>
        </p:spPr>
        <p:txBody>
          <a:bodyPr wrap="square" lIns="45720" rIns="45720" tIns="27432" bIns="27432" anchor="ctr">
            <a:spAutoFit/>
          </a:bodyPr>
          <a:lstStyle/>
          <a:p>
            <a:pPr algn="ctr">
              <a:lnSpc>
                <a:spcPct val="105000"/>
              </a:lnSpc>
              <a:spcAft>
                <a:spcPts val="0"/>
              </a:spcAft>
            </a:pPr>
            <a:r>
              <a:rPr sz="1000" b="1" i="0">
                <a:solidFill>
                  <a:srgbClr val="2A2218"/>
                </a:solidFill>
                <a:latin typeface="Times New Roman"/>
              </a:rPr>
              <a:t>same</a:t>
            </a:r>
          </a:p>
        </p:txBody>
      </p:sp>
      <p:sp>
        <p:nvSpPr>
          <p:cNvPr id="41" name="Rectangle 40"/>
          <p:cNvSpPr/>
          <p:nvPr/>
        </p:nvSpPr>
        <p:spPr>
          <a:xfrm>
            <a:off x="8394192" y="2697480"/>
            <a:ext cx="2926080" cy="640080"/>
          </a:xfrm>
          <a:prstGeom prst="rect">
            <a:avLst/>
          </a:prstGeom>
          <a:solidFill>
            <a:srgbClr val="F3ECDC"/>
          </a:solidFill>
          <a:ln w="19050">
            <a:solidFill>
              <a:srgbClr val="6E1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94192" y="2697480"/>
            <a:ext cx="2926080" cy="640080"/>
          </a:xfrm>
          <a:prstGeom prst="rect">
            <a:avLst/>
          </a:prstGeom>
          <a:noFill/>
        </p:spPr>
        <p:txBody>
          <a:bodyPr wrap="square" lIns="45720" rIns="45720" tIns="27432" bIns="27432" anchor="ctr">
            <a:spAutoFit/>
          </a:bodyPr>
          <a:lstStyle/>
          <a:p>
            <a:pPr algn="ctr">
              <a:lnSpc>
                <a:spcPct val="105000"/>
              </a:lnSpc>
              <a:spcAft>
                <a:spcPts val="0"/>
              </a:spcAft>
            </a:pPr>
            <a:r>
              <a:rPr sz="1400" b="1" i="0">
                <a:solidFill>
                  <a:srgbClr val="6E1E2A"/>
                </a:solidFill>
                <a:latin typeface="Times New Roman"/>
              </a:rPr>
              <a:t>IF </a:t>
            </a:r>
            <a:r>
              <a:rPr sz="1400" b="0" i="0">
                <a:solidFill>
                  <a:srgbClr val="2A2218"/>
                </a:solidFill>
                <a:latin typeface="Times New Roman"/>
              </a:rPr>
              <a:t>EU rights window opens</a:t>
            </a:r>
          </a:p>
        </p:txBody>
      </p:sp>
      <p:sp>
        <p:nvSpPr>
          <p:cNvPr id="43" name="TextBox 42"/>
          <p:cNvSpPr txBox="1"/>
          <p:nvPr/>
        </p:nvSpPr>
        <p:spPr>
          <a:xfrm>
            <a:off x="8394192" y="3337560"/>
            <a:ext cx="2926080" cy="365760"/>
          </a:xfrm>
          <a:prstGeom prst="rect">
            <a:avLst/>
          </a:prstGeom>
          <a:noFill/>
        </p:spPr>
        <p:txBody>
          <a:bodyPr wrap="square" lIns="45720" rIns="45720" tIns="27432" bIns="27432" anchor="ctr">
            <a:spAutoFit/>
          </a:bodyPr>
          <a:lstStyle/>
          <a:p>
            <a:pPr algn="ctr">
              <a:lnSpc>
                <a:spcPct val="105000"/>
              </a:lnSpc>
              <a:spcAft>
                <a:spcPts val="0"/>
              </a:spcAft>
            </a:pPr>
            <a:r>
              <a:rPr sz="2000" b="1" i="0">
                <a:solidFill>
                  <a:srgbClr val="B38A3C"/>
                </a:solidFill>
                <a:latin typeface="Times New Roman"/>
              </a:rPr>
              <a:t>↓</a:t>
            </a:r>
          </a:p>
        </p:txBody>
      </p:sp>
      <p:sp>
        <p:nvSpPr>
          <p:cNvPr id="44" name="Rectangle 43"/>
          <p:cNvSpPr/>
          <p:nvPr/>
        </p:nvSpPr>
        <p:spPr>
          <a:xfrm>
            <a:off x="8394192" y="3703320"/>
            <a:ext cx="2926080" cy="640080"/>
          </a:xfrm>
          <a:prstGeom prst="rect">
            <a:avLst/>
          </a:prstGeom>
          <a:solidFill>
            <a:srgbClr val="E8F0E8"/>
          </a:solidFill>
          <a:ln w="1905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94192" y="3703320"/>
            <a:ext cx="2926080" cy="640080"/>
          </a:xfrm>
          <a:prstGeom prst="rect">
            <a:avLst/>
          </a:prstGeom>
          <a:noFill/>
        </p:spPr>
        <p:txBody>
          <a:bodyPr wrap="square" lIns="45720" rIns="45720" tIns="27432" bIns="27432" anchor="ctr">
            <a:spAutoFit/>
          </a:bodyPr>
          <a:lstStyle/>
          <a:p>
            <a:pPr algn="ctr">
              <a:lnSpc>
                <a:spcPct val="105000"/>
              </a:lnSpc>
              <a:spcAft>
                <a:spcPts val="0"/>
              </a:spcAft>
            </a:pPr>
            <a:r>
              <a:rPr sz="1400" b="1" i="0">
                <a:solidFill>
                  <a:srgbClr val="2F5D3A"/>
                </a:solidFill>
                <a:latin typeface="Times New Roman"/>
              </a:rPr>
              <a:t>THEN </a:t>
            </a:r>
            <a:r>
              <a:rPr sz="1400" b="0" i="0">
                <a:solidFill>
                  <a:srgbClr val="2A2218"/>
                </a:solidFill>
                <a:latin typeface="Times New Roman"/>
              </a:rPr>
              <a:t>royalty is calculated and paid</a:t>
            </a:r>
          </a:p>
        </p:txBody>
      </p:sp>
    </p:spTree>
    <p:extLst>
      <p:ext uri="{BB962C8B-B14F-4D97-AF65-F5344CB8AC3E}">
        <p14:creationId xmlns:p14="http://schemas.microsoft.com/office/powerpoint/2010/main" val="216027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FD9806-AFAA-438C-984F-85193CCF69FA}"/>
              </a:ext>
            </a:extLst>
          </p:cNvPr>
          <p:cNvSpPr txBox="1"/>
          <p:nvPr/>
        </p:nvSpPr>
        <p:spPr>
          <a:xfrm>
            <a:off x="1783080" y="424577"/>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TECHNOLOGY, APPLIED</a:t>
            </a:r>
          </a:p>
        </p:txBody>
      </p:sp>
      <p:sp>
        <p:nvSpPr>
          <p:cNvPr id="5" name="TextBox 4">
            <a:extLst>
              <a:ext uri="{FF2B5EF4-FFF2-40B4-BE49-F238E27FC236}">
                <a16:creationId xmlns:a16="http://schemas.microsoft.com/office/drawing/2014/main" id="{10ABB3BA-19F6-475F-9948-F2C9FE42F3D3}"/>
              </a:ext>
            </a:extLst>
          </p:cNvPr>
          <p:cNvSpPr txBox="1"/>
          <p:nvPr/>
        </p:nvSpPr>
        <p:spPr>
          <a:xfrm>
            <a:off x="640080" y="1509635"/>
            <a:ext cx="10789920" cy="717953"/>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The contract doesn't wait to be enforced.</a:t>
            </a:r>
          </a:p>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The trigger is written into the ledger itself.</a:t>
            </a:r>
          </a:p>
        </p:txBody>
      </p:sp>
      <p:sp>
        <p:nvSpPr>
          <p:cNvPr id="6" name="Rectangle 5">
            <a:extLst>
              <a:ext uri="{FF2B5EF4-FFF2-40B4-BE49-F238E27FC236}">
                <a16:creationId xmlns:a16="http://schemas.microsoft.com/office/drawing/2014/main" id="{DAEEDC95-2BD1-4284-A292-3BD2FB136630}"/>
              </a:ext>
            </a:extLst>
          </p:cNvPr>
          <p:cNvSpPr/>
          <p:nvPr/>
        </p:nvSpPr>
        <p:spPr>
          <a:xfrm>
            <a:off x="731520" y="4562475"/>
            <a:ext cx="10607040" cy="19050"/>
          </a:xfrm>
          <a:prstGeom prst="rect">
            <a:avLst/>
          </a:prstGeom>
          <a:solidFill>
            <a:srgbClr val="7A7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EE68F9D-33A7-4CF0-AF09-90883B97D077}"/>
              </a:ext>
            </a:extLst>
          </p:cNvPr>
          <p:cNvSpPr/>
          <p:nvPr/>
        </p:nvSpPr>
        <p:spPr>
          <a:xfrm rot="5400000">
            <a:off x="1554480"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828E9AB3-10EE-4958-91CB-B84A182104B4}"/>
              </a:ext>
            </a:extLst>
          </p:cNvPr>
          <p:cNvSpPr/>
          <p:nvPr/>
        </p:nvSpPr>
        <p:spPr>
          <a:xfrm>
            <a:off x="1810512"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D389FA8F-E8A9-4009-A169-432290A4830C}"/>
              </a:ext>
            </a:extLst>
          </p:cNvPr>
          <p:cNvSpPr/>
          <p:nvPr/>
        </p:nvSpPr>
        <p:spPr>
          <a:xfrm>
            <a:off x="189097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3DDC486-2E50-47EC-816F-9DEEEB374326}"/>
              </a:ext>
            </a:extLst>
          </p:cNvPr>
          <p:cNvSpPr txBox="1"/>
          <p:nvPr/>
        </p:nvSpPr>
        <p:spPr>
          <a:xfrm>
            <a:off x="1005840" y="4663440"/>
            <a:ext cx="2011680" cy="369332"/>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EU window opens</a:t>
            </a:r>
          </a:p>
        </p:txBody>
      </p:sp>
      <p:sp>
        <p:nvSpPr>
          <p:cNvPr id="11" name="TextBox 10">
            <a:extLst>
              <a:ext uri="{FF2B5EF4-FFF2-40B4-BE49-F238E27FC236}">
                <a16:creationId xmlns:a16="http://schemas.microsoft.com/office/drawing/2014/main" id="{2DC41441-2E2D-4147-A7CF-7D4B8EE9DED9}"/>
              </a:ext>
            </a:extLst>
          </p:cNvPr>
          <p:cNvSpPr txBox="1"/>
          <p:nvPr/>
        </p:nvSpPr>
        <p:spPr>
          <a:xfrm>
            <a:off x="1012190" y="2420033"/>
            <a:ext cx="2011680" cy="646331"/>
          </a:xfrm>
          <a:prstGeom prst="rect">
            <a:avLst/>
          </a:prstGeom>
          <a:noFill/>
        </p:spPr>
        <p:txBody>
          <a:bodyPr wrap="square">
            <a:spAutoFit/>
          </a:bodyPr>
          <a:lstStyle/>
          <a:p>
            <a:pPr algn="ctr"/>
            <a:r>
              <a:rPr b="0" i="1" dirty="0">
                <a:latin typeface="Times New Roman" panose="02020603050405020304" pitchFamily="18" charset="0"/>
                <a:cs typeface="Times New Roman" panose="02020603050405020304" pitchFamily="18" charset="0"/>
              </a:rPr>
              <a:t>smart contract</a:t>
            </a:r>
          </a:p>
          <a:p>
            <a:pPr algn="ctr"/>
            <a:r>
              <a:rPr b="0" i="1" dirty="0">
                <a:latin typeface="Times New Roman" panose="02020603050405020304" pitchFamily="18" charset="0"/>
                <a:cs typeface="Times New Roman" panose="02020603050405020304" pitchFamily="18" charset="0"/>
              </a:rPr>
              <a:t>trigger</a:t>
            </a:r>
          </a:p>
        </p:txBody>
      </p:sp>
      <p:sp>
        <p:nvSpPr>
          <p:cNvPr id="12" name="Rectangle 11">
            <a:extLst>
              <a:ext uri="{FF2B5EF4-FFF2-40B4-BE49-F238E27FC236}">
                <a16:creationId xmlns:a16="http://schemas.microsoft.com/office/drawing/2014/main" id="{BA47FF80-00E0-4E3E-A9BE-79CF7D7168CB}"/>
              </a:ext>
            </a:extLst>
          </p:cNvPr>
          <p:cNvSpPr/>
          <p:nvPr/>
        </p:nvSpPr>
        <p:spPr>
          <a:xfrm rot="5400000">
            <a:off x="4663440"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78915AD8-7DEF-44B6-8C47-F8A13849BB7D}"/>
              </a:ext>
            </a:extLst>
          </p:cNvPr>
          <p:cNvSpPr/>
          <p:nvPr/>
        </p:nvSpPr>
        <p:spPr>
          <a:xfrm>
            <a:off x="4919472"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C461014C-4BBE-4CC4-A3F0-677926E66762}"/>
              </a:ext>
            </a:extLst>
          </p:cNvPr>
          <p:cNvSpPr/>
          <p:nvPr/>
        </p:nvSpPr>
        <p:spPr>
          <a:xfrm>
            <a:off x="499993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15301EE-D486-4D1D-A193-456938292098}"/>
              </a:ext>
            </a:extLst>
          </p:cNvPr>
          <p:cNvSpPr txBox="1"/>
          <p:nvPr/>
        </p:nvSpPr>
        <p:spPr>
          <a:xfrm>
            <a:off x="4114800" y="4663440"/>
            <a:ext cx="2011680" cy="646331"/>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APAC window opens</a:t>
            </a:r>
          </a:p>
        </p:txBody>
      </p:sp>
      <p:sp>
        <p:nvSpPr>
          <p:cNvPr id="16" name="TextBox 15">
            <a:extLst>
              <a:ext uri="{FF2B5EF4-FFF2-40B4-BE49-F238E27FC236}">
                <a16:creationId xmlns:a16="http://schemas.microsoft.com/office/drawing/2014/main" id="{2803F04D-FACE-4FDD-9F07-33A1AFCF68F3}"/>
              </a:ext>
            </a:extLst>
          </p:cNvPr>
          <p:cNvSpPr txBox="1"/>
          <p:nvPr/>
        </p:nvSpPr>
        <p:spPr>
          <a:xfrm>
            <a:off x="4114799" y="2386572"/>
            <a:ext cx="2011680" cy="646331"/>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smart contract</a:t>
            </a:r>
          </a:p>
          <a:p>
            <a:pPr algn="ctr"/>
            <a:r>
              <a:rPr b="0" i="1">
                <a:latin typeface="Times New Roman" panose="02020603050405020304" pitchFamily="18" charset="0"/>
                <a:cs typeface="Times New Roman" panose="02020603050405020304" pitchFamily="18" charset="0"/>
              </a:rPr>
              <a:t>trigger</a:t>
            </a:r>
          </a:p>
        </p:txBody>
      </p:sp>
      <p:sp>
        <p:nvSpPr>
          <p:cNvPr id="17" name="Rectangle 16">
            <a:extLst>
              <a:ext uri="{FF2B5EF4-FFF2-40B4-BE49-F238E27FC236}">
                <a16:creationId xmlns:a16="http://schemas.microsoft.com/office/drawing/2014/main" id="{85353D72-252C-4C21-93B9-87CD7E3751DE}"/>
              </a:ext>
            </a:extLst>
          </p:cNvPr>
          <p:cNvSpPr/>
          <p:nvPr/>
        </p:nvSpPr>
        <p:spPr>
          <a:xfrm rot="5400000">
            <a:off x="7955279" y="4108450"/>
            <a:ext cx="914400"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DA84A9A1-066A-4930-847A-51784BBFB1DD}"/>
              </a:ext>
            </a:extLst>
          </p:cNvPr>
          <p:cNvSpPr/>
          <p:nvPr/>
        </p:nvSpPr>
        <p:spPr>
          <a:xfrm>
            <a:off x="8211311" y="3090672"/>
            <a:ext cx="402336" cy="402336"/>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AB2940F4-EDD7-4666-8BE8-AB153AE7DA5E}"/>
              </a:ext>
            </a:extLst>
          </p:cNvPr>
          <p:cNvSpPr/>
          <p:nvPr/>
        </p:nvSpPr>
        <p:spPr>
          <a:xfrm>
            <a:off x="8291779" y="3171139"/>
            <a:ext cx="241401" cy="241401"/>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5542788-40D8-4017-B045-E332EF876EF9}"/>
              </a:ext>
            </a:extLst>
          </p:cNvPr>
          <p:cNvSpPr txBox="1"/>
          <p:nvPr/>
        </p:nvSpPr>
        <p:spPr>
          <a:xfrm>
            <a:off x="7406640" y="4663440"/>
            <a:ext cx="2011680" cy="369332"/>
          </a:xfrm>
          <a:prstGeom prst="rect">
            <a:avLst/>
          </a:prstGeom>
          <a:noFill/>
        </p:spPr>
        <p:txBody>
          <a:bodyPr wrap="square">
            <a:spAutoFit/>
          </a:bodyPr>
          <a:lstStyle/>
          <a:p>
            <a:pPr algn="ctr"/>
            <a:r>
              <a:rPr b="0" i="0">
                <a:latin typeface="Times New Roman" panose="02020603050405020304" pitchFamily="18" charset="0"/>
                <a:cs typeface="Times New Roman" panose="02020603050405020304" pitchFamily="18" charset="0"/>
              </a:rPr>
              <a:t>US window closes</a:t>
            </a:r>
          </a:p>
        </p:txBody>
      </p:sp>
      <p:sp>
        <p:nvSpPr>
          <p:cNvPr id="21" name="TextBox 20">
            <a:extLst>
              <a:ext uri="{FF2B5EF4-FFF2-40B4-BE49-F238E27FC236}">
                <a16:creationId xmlns:a16="http://schemas.microsoft.com/office/drawing/2014/main" id="{50A1B346-E042-450E-942B-035D10405487}"/>
              </a:ext>
            </a:extLst>
          </p:cNvPr>
          <p:cNvSpPr txBox="1"/>
          <p:nvPr/>
        </p:nvSpPr>
        <p:spPr>
          <a:xfrm>
            <a:off x="7400289" y="2434816"/>
            <a:ext cx="2011680" cy="646331"/>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smart contract</a:t>
            </a:r>
          </a:p>
          <a:p>
            <a:pPr algn="ctr"/>
            <a:r>
              <a:rPr b="0" i="1">
                <a:latin typeface="Times New Roman" panose="02020603050405020304" pitchFamily="18" charset="0"/>
                <a:cs typeface="Times New Roman" panose="02020603050405020304" pitchFamily="18" charset="0"/>
              </a:rPr>
              <a:t>trigger</a:t>
            </a:r>
          </a:p>
        </p:txBody>
      </p:sp>
      <p:sp>
        <p:nvSpPr>
          <p:cNvPr id="22" name="TextBox 21"/>
          <p:cNvSpPr txBox="1"/>
          <p:nvPr/>
        </p:nvSpPr>
        <p:spPr>
          <a:xfrm>
            <a:off x="548640" y="5486400"/>
            <a:ext cx="11064240" cy="82296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6E1E2A"/>
                </a:solidFill>
                <a:latin typeface="Times New Roman"/>
              </a:rPr>
              <a:t>For Apple TV+: </a:t>
            </a:r>
            <a:r>
              <a:rPr sz="1400" b="0" i="0">
                <a:solidFill>
                  <a:srgbClr val="2A2218"/>
                </a:solidFill>
                <a:latin typeface="Times New Roman"/>
              </a:rPr>
              <a:t>each territory's rights window opens and closes on its own date. The ledger starts the payment for each one automatically, instead of someone confirming each change by hand across EU, APAC and US operations. </a:t>
            </a:r>
            <a:r>
              <a:rPr sz="1200" b="0" i="1">
                <a:solidFill>
                  <a:srgbClr val="7A7060"/>
                </a:solidFill>
                <a:latin typeface="Times New Roman"/>
              </a:rPr>
              <a:t>(Transaction cost economics, Williamson, 1979: lower monitoring and enforcement cost.)</a:t>
            </a:r>
          </a:p>
        </p:txBody>
      </p:sp>
    </p:spTree>
    <p:extLst>
      <p:ext uri="{BB962C8B-B14F-4D97-AF65-F5344CB8AC3E}">
        <p14:creationId xmlns:p14="http://schemas.microsoft.com/office/powerpoint/2010/main" val="3760125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7A0726-2E62-44CF-BE20-2AEA9946D40A}"/>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BENEFITS &amp; LIMITATIONS</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Three things the technology earns. Three things it still has to overcome.</a:t>
            </a:r>
          </a:p>
        </p:txBody>
      </p:sp>
      <p:sp>
        <p:nvSpPr>
          <p:cNvPr id="6" name="Rectangle 5"/>
          <p:cNvSpPr/>
          <p:nvPr/>
        </p:nvSpPr>
        <p:spPr>
          <a:xfrm>
            <a:off x="548640" y="1920240"/>
            <a:ext cx="5440680" cy="502920"/>
          </a:xfrm>
          <a:prstGeom prst="rect">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5074920" cy="50292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BENEFITS</a:t>
            </a:r>
          </a:p>
        </p:txBody>
      </p:sp>
      <p:sp>
        <p:nvSpPr>
          <p:cNvPr id="8" name="Rectangle 7"/>
          <p:cNvSpPr/>
          <p:nvPr/>
        </p:nvSpPr>
        <p:spPr>
          <a:xfrm>
            <a:off x="548640" y="2560320"/>
            <a:ext cx="5440680" cy="1069848"/>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866644"/>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8388" y="2953512"/>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624327"/>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Fewer payment errors and disputes</a:t>
            </a:r>
          </a:p>
        </p:txBody>
      </p:sp>
      <p:sp>
        <p:nvSpPr>
          <p:cNvPr id="12" name="TextBox 11"/>
          <p:cNvSpPr txBox="1"/>
          <p:nvPr/>
        </p:nvSpPr>
        <p:spPr>
          <a:xfrm>
            <a:off x="1325880" y="2926079"/>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Automatic triggers remove manual discretion over when and how royalties are paid.</a:t>
            </a:r>
          </a:p>
        </p:txBody>
      </p:sp>
      <p:sp>
        <p:nvSpPr>
          <p:cNvPr id="13" name="Rectangle 12"/>
          <p:cNvSpPr/>
          <p:nvPr/>
        </p:nvSpPr>
        <p:spPr>
          <a:xfrm>
            <a:off x="548640" y="3721608"/>
            <a:ext cx="5440680" cy="1069848"/>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027932"/>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8388" y="4114800"/>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3785616"/>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One auditable record</a:t>
            </a:r>
          </a:p>
        </p:txBody>
      </p:sp>
      <p:sp>
        <p:nvSpPr>
          <p:cNvPr id="17" name="TextBox 16"/>
          <p:cNvSpPr txBox="1"/>
          <p:nvPr/>
        </p:nvSpPr>
        <p:spPr>
          <a:xfrm>
            <a:off x="1325880" y="4087368"/>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Talent, rights holders and Apple TV+ verify the same entries, so reconciliation shrinks.</a:t>
            </a:r>
          </a:p>
        </p:txBody>
      </p:sp>
      <p:sp>
        <p:nvSpPr>
          <p:cNvPr id="18" name="Rectangle 17"/>
          <p:cNvSpPr/>
          <p:nvPr/>
        </p:nvSpPr>
        <p:spPr>
          <a:xfrm>
            <a:off x="548640" y="4882896"/>
            <a:ext cx="5440680" cy="1069848"/>
          </a:xfrm>
          <a:prstGeom prst="rect">
            <a:avLst/>
          </a:prstGeom>
          <a:solidFill>
            <a:srgbClr val="E8F0E8"/>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5189220"/>
            <a:ext cx="457200" cy="45720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388" y="5276088"/>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4946904"/>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Faster payment, ready to scale</a:t>
            </a:r>
          </a:p>
        </p:txBody>
      </p:sp>
      <p:sp>
        <p:nvSpPr>
          <p:cNvPr id="22" name="TextBox 21"/>
          <p:cNvSpPr txBox="1"/>
          <p:nvPr/>
        </p:nvSpPr>
        <p:spPr>
          <a:xfrm>
            <a:off x="1325880" y="5248656"/>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Payment starts when a rights window opens, so new territories add less manual work.</a:t>
            </a:r>
          </a:p>
        </p:txBody>
      </p:sp>
      <p:sp>
        <p:nvSpPr>
          <p:cNvPr id="23" name="Rectangle 22"/>
          <p:cNvSpPr/>
          <p:nvPr/>
        </p:nvSpPr>
        <p:spPr>
          <a:xfrm>
            <a:off x="6199632" y="1920240"/>
            <a:ext cx="5440680" cy="50292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1920240"/>
            <a:ext cx="5074920" cy="50292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LIMITATIONS</a:t>
            </a:r>
          </a:p>
        </p:txBody>
      </p:sp>
      <p:sp>
        <p:nvSpPr>
          <p:cNvPr id="25" name="Rectangle 24"/>
          <p:cNvSpPr/>
          <p:nvPr/>
        </p:nvSpPr>
        <p:spPr>
          <a:xfrm>
            <a:off x="6199632" y="2560320"/>
            <a:ext cx="5440680" cy="106984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2866644"/>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9380" y="2953512"/>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76872" y="2624327"/>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Legal enforceability</a:t>
            </a:r>
          </a:p>
        </p:txBody>
      </p:sp>
      <p:sp>
        <p:nvSpPr>
          <p:cNvPr id="29" name="TextBox 28"/>
          <p:cNvSpPr txBox="1"/>
          <p:nvPr/>
        </p:nvSpPr>
        <p:spPr>
          <a:xfrm>
            <a:off x="6976872" y="2926079"/>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Code that runs correctly is not automatically binding in every jurisdiction; case law is unsettled.</a:t>
            </a:r>
          </a:p>
        </p:txBody>
      </p:sp>
      <p:sp>
        <p:nvSpPr>
          <p:cNvPr id="30" name="Rectangle 29"/>
          <p:cNvSpPr/>
          <p:nvPr/>
        </p:nvSpPr>
        <p:spPr>
          <a:xfrm>
            <a:off x="6199632" y="3721608"/>
            <a:ext cx="5440680" cy="106984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82512" y="4027932"/>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69380" y="4114800"/>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76872" y="3785616"/>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Cost and integration</a:t>
            </a:r>
          </a:p>
        </p:txBody>
      </p:sp>
      <p:sp>
        <p:nvSpPr>
          <p:cNvPr id="34" name="TextBox 33"/>
          <p:cNvSpPr txBox="1"/>
          <p:nvPr/>
        </p:nvSpPr>
        <p:spPr>
          <a:xfrm>
            <a:off x="6976872" y="4087368"/>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Build and run costs, plus linking to existing contract and finance systems, or we create a fourth record.</a:t>
            </a:r>
          </a:p>
        </p:txBody>
      </p:sp>
      <p:sp>
        <p:nvSpPr>
          <p:cNvPr id="35" name="Rectangle 34"/>
          <p:cNvSpPr/>
          <p:nvPr/>
        </p:nvSpPr>
        <p:spPr>
          <a:xfrm>
            <a:off x="6199632" y="4882896"/>
            <a:ext cx="5440680" cy="1069848"/>
          </a:xfrm>
          <a:prstGeom prst="rect">
            <a:avLst/>
          </a:prstGeom>
          <a:solidFill>
            <a:srgbClr val="F3ECD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82512" y="5189220"/>
            <a:ext cx="457200" cy="45720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69380" y="5276088"/>
            <a:ext cx="283464" cy="2834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76872" y="4946904"/>
            <a:ext cx="4526280" cy="320040"/>
          </a:xfrm>
          <a:prstGeom prst="rect">
            <a:avLst/>
          </a:prstGeom>
          <a:noFill/>
        </p:spPr>
        <p:txBody>
          <a:bodyPr wrap="square" lIns="45720" rIns="45720" tIns="27432" bIns="27432" anchor="t">
            <a:spAutoFit/>
          </a:bodyPr>
          <a:lstStyle/>
          <a:p>
            <a:pPr algn="l">
              <a:lnSpc>
                <a:spcPct val="105000"/>
              </a:lnSpc>
              <a:spcAft>
                <a:spcPts val="0"/>
              </a:spcAft>
            </a:pPr>
            <a:r>
              <a:rPr sz="1500" b="1" i="0">
                <a:solidFill>
                  <a:srgbClr val="2A2218"/>
                </a:solidFill>
                <a:latin typeface="Times New Roman"/>
              </a:rPr>
              <a:t>Skills and coding risk</a:t>
            </a:r>
          </a:p>
        </p:txBody>
      </p:sp>
      <p:sp>
        <p:nvSpPr>
          <p:cNvPr id="39" name="TextBox 38"/>
          <p:cNvSpPr txBox="1"/>
          <p:nvPr/>
        </p:nvSpPr>
        <p:spPr>
          <a:xfrm>
            <a:off x="6976872" y="5248656"/>
            <a:ext cx="4526280" cy="685800"/>
          </a:xfrm>
          <a:prstGeom prst="rect">
            <a:avLst/>
          </a:prstGeom>
          <a:noFill/>
        </p:spPr>
        <p:txBody>
          <a:bodyPr wrap="square" lIns="45720" rIns="45720" tIns="27432" bIns="27432" anchor="t">
            <a:spAutoFit/>
          </a:bodyPr>
          <a:lstStyle/>
          <a:p>
            <a:pPr algn="l">
              <a:lnSpc>
                <a:spcPct val="105000"/>
              </a:lnSpc>
              <a:spcAft>
                <a:spcPts val="0"/>
              </a:spcAft>
            </a:pPr>
            <a:r>
              <a:rPr sz="1300" b="0" i="0">
                <a:solidFill>
                  <a:srgbClr val="2A2218"/>
                </a:solidFill>
                <a:latin typeface="Times New Roman"/>
              </a:rPr>
              <a:t>Needs legal and technical skills; a wrongly coded term pays the wrong party until caught.</a:t>
            </a:r>
          </a:p>
        </p:txBody>
      </p:sp>
      <p:sp>
        <p:nvSpPr>
          <p:cNvPr id="40" name="TextBox 39"/>
          <p:cNvSpPr txBox="1"/>
          <p:nvPr/>
        </p:nvSpPr>
        <p:spPr>
          <a:xfrm>
            <a:off x="548640" y="6355080"/>
            <a:ext cx="11064240" cy="274320"/>
          </a:xfrm>
          <a:prstGeom prst="rect">
            <a:avLst/>
          </a:prstGeom>
          <a:noFill/>
        </p:spPr>
        <p:txBody>
          <a:bodyPr wrap="square" lIns="45720" rIns="45720" tIns="27432" bIns="27432" anchor="t">
            <a:spAutoFit/>
          </a:bodyPr>
          <a:lstStyle/>
          <a:p>
            <a:pPr algn="l">
              <a:lnSpc>
                <a:spcPct val="105000"/>
              </a:lnSpc>
              <a:spcAft>
                <a:spcPts val="0"/>
              </a:spcAft>
            </a:pPr>
            <a:r>
              <a:rPr sz="1000" b="0" i="1">
                <a:solidFill>
                  <a:srgbClr val="7A7060"/>
                </a:solidFill>
                <a:latin typeface="Times New Roman"/>
              </a:rPr>
              <a:t>Jensen &amp; Meckling (1976); Werbach &amp; Cornell (2017); Levy (2017)</a:t>
            </a:r>
          </a:p>
        </p:txBody>
      </p:sp>
    </p:spTree>
    <p:extLst>
      <p:ext uri="{BB962C8B-B14F-4D97-AF65-F5344CB8AC3E}">
        <p14:creationId xmlns:p14="http://schemas.microsoft.com/office/powerpoint/2010/main" val="3653943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4FF2F3-FC75-4709-8B51-DBD24B1C559A}"/>
              </a:ext>
            </a:extLst>
          </p:cNvPr>
          <p:cNvSpPr txBox="1"/>
          <p:nvPr/>
        </p:nvSpPr>
        <p:spPr>
          <a:xfrm>
            <a:off x="1920240" y="539054"/>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ORGANISATIONAL IMPACT</a:t>
            </a:r>
          </a:p>
        </p:txBody>
      </p:sp>
      <p:sp>
        <p:nvSpPr>
          <p:cNvPr id="5" name="TextBox 4">
            <a:extLst>
              <a:ext uri="{FF2B5EF4-FFF2-40B4-BE49-F238E27FC236}">
                <a16:creationId xmlns:a16="http://schemas.microsoft.com/office/drawing/2014/main" id="{96D33EEF-3BBB-4CD7-88A8-388EB5C6CB94}"/>
              </a:ext>
            </a:extLst>
          </p:cNvPr>
          <p:cNvSpPr txBox="1"/>
          <p:nvPr/>
        </p:nvSpPr>
        <p:spPr>
          <a:xfrm>
            <a:off x="548640" y="1737360"/>
            <a:ext cx="10789920" cy="717953"/>
          </a:xfrm>
          <a:prstGeom prst="rect">
            <a:avLst/>
          </a:prstGeom>
          <a:noFill/>
        </p:spPr>
        <p:txBody>
          <a:bodyPr wrap="square">
            <a:spAutoFit/>
          </a:bodyPr>
          <a:lstStyle/>
          <a:p>
            <a:pPr algn="l">
              <a:lnSpc>
                <a:spcPct val="105000"/>
              </a:lnSpc>
            </a:pPr>
            <a:r>
              <a:rPr sz="2000" i="0">
                <a:solidFill>
                  <a:srgbClr val="2A2218"/>
                </a:solidFill>
                <a:latin typeface="Times New Roman" panose="02020603050405020304" pitchFamily="18" charset="0"/>
                <a:cs typeface="Times New Roman" panose="02020603050405020304" pitchFamily="18" charset="0"/>
              </a:rPr>
              <a:t>Three functions keep three versions of the truth.</a:t>
            </a:r>
          </a:p>
          <a:p>
            <a:pPr algn="l">
              <a:lnSpc>
                <a:spcPct val="105000"/>
              </a:lnSpc>
            </a:pPr>
            <a:r>
              <a:rPr sz="2000" i="0">
                <a:solidFill>
                  <a:srgbClr val="2A2218"/>
                </a:solidFill>
                <a:latin typeface="Times New Roman" panose="02020603050405020304" pitchFamily="18" charset="0"/>
                <a:cs typeface="Times New Roman" panose="02020603050405020304" pitchFamily="18" charset="0"/>
              </a:rPr>
              <a:t>This is what happens when they keep one.</a:t>
            </a:r>
          </a:p>
        </p:txBody>
      </p:sp>
      <p:sp>
        <p:nvSpPr>
          <p:cNvPr id="6" name="TextBox 5">
            <a:extLst>
              <a:ext uri="{FF2B5EF4-FFF2-40B4-BE49-F238E27FC236}">
                <a16:creationId xmlns:a16="http://schemas.microsoft.com/office/drawing/2014/main" id="{8C8A79E8-F824-424D-B2DC-2D818E8AABA0}"/>
              </a:ext>
            </a:extLst>
          </p:cNvPr>
          <p:cNvSpPr txBox="1"/>
          <p:nvPr/>
        </p:nvSpPr>
        <p:spPr>
          <a:xfrm>
            <a:off x="64008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Legal</a:t>
            </a:r>
          </a:p>
        </p:txBody>
      </p:sp>
      <p:sp>
        <p:nvSpPr>
          <p:cNvPr id="7" name="Rectangle 6">
            <a:extLst>
              <a:ext uri="{FF2B5EF4-FFF2-40B4-BE49-F238E27FC236}">
                <a16:creationId xmlns:a16="http://schemas.microsoft.com/office/drawing/2014/main" id="{B9A8EA0C-22E0-4693-A6DD-F87F147D5373}"/>
              </a:ext>
            </a:extLst>
          </p:cNvPr>
          <p:cNvSpPr/>
          <p:nvPr/>
        </p:nvSpPr>
        <p:spPr>
          <a:xfrm>
            <a:off x="685800"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5173B6A-A093-4A10-AA59-CC1A04522D78}"/>
              </a:ext>
            </a:extLst>
          </p:cNvPr>
          <p:cNvSpPr txBox="1"/>
          <p:nvPr/>
        </p:nvSpPr>
        <p:spPr>
          <a:xfrm>
            <a:off x="64008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9" name="Rectangle 8">
            <a:extLst>
              <a:ext uri="{FF2B5EF4-FFF2-40B4-BE49-F238E27FC236}">
                <a16:creationId xmlns:a16="http://schemas.microsoft.com/office/drawing/2014/main" id="{62E6D4AE-B5A7-4D0D-B8CF-E624DDF1173D}"/>
              </a:ext>
            </a:extLst>
          </p:cNvPr>
          <p:cNvSpPr/>
          <p:nvPr/>
        </p:nvSpPr>
        <p:spPr>
          <a:xfrm>
            <a:off x="1737360"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F224DFD-04D8-42CC-87E5-DB1CBA811163}"/>
              </a:ext>
            </a:extLst>
          </p:cNvPr>
          <p:cNvSpPr/>
          <p:nvPr/>
        </p:nvSpPr>
        <p:spPr>
          <a:xfrm>
            <a:off x="224028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B491A07-D1D7-418D-99E2-040D26C50A0A}"/>
              </a:ext>
            </a:extLst>
          </p:cNvPr>
          <p:cNvSpPr txBox="1"/>
          <p:nvPr/>
        </p:nvSpPr>
        <p:spPr>
          <a:xfrm>
            <a:off x="219456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12" name="TextBox 11">
            <a:extLst>
              <a:ext uri="{FF2B5EF4-FFF2-40B4-BE49-F238E27FC236}">
                <a16:creationId xmlns:a16="http://schemas.microsoft.com/office/drawing/2014/main" id="{DB596ED0-BA22-47E4-92D5-71ABEDDEECA9}"/>
              </a:ext>
            </a:extLst>
          </p:cNvPr>
          <p:cNvSpPr txBox="1"/>
          <p:nvPr/>
        </p:nvSpPr>
        <p:spPr>
          <a:xfrm>
            <a:off x="448056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Rights Ops</a:t>
            </a:r>
          </a:p>
        </p:txBody>
      </p:sp>
      <p:sp>
        <p:nvSpPr>
          <p:cNvPr id="13" name="Rectangle 12">
            <a:extLst>
              <a:ext uri="{FF2B5EF4-FFF2-40B4-BE49-F238E27FC236}">
                <a16:creationId xmlns:a16="http://schemas.microsoft.com/office/drawing/2014/main" id="{8F88F278-7671-4552-BF5B-B6180F13AC47}"/>
              </a:ext>
            </a:extLst>
          </p:cNvPr>
          <p:cNvSpPr/>
          <p:nvPr/>
        </p:nvSpPr>
        <p:spPr>
          <a:xfrm>
            <a:off x="4526280"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59DFBDD-1583-4535-8690-6C29729E6228}"/>
              </a:ext>
            </a:extLst>
          </p:cNvPr>
          <p:cNvSpPr txBox="1"/>
          <p:nvPr/>
        </p:nvSpPr>
        <p:spPr>
          <a:xfrm>
            <a:off x="448056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15" name="Rectangle 14">
            <a:extLst>
              <a:ext uri="{FF2B5EF4-FFF2-40B4-BE49-F238E27FC236}">
                <a16:creationId xmlns:a16="http://schemas.microsoft.com/office/drawing/2014/main" id="{B089F5F9-7463-435E-9FD2-FF00C0176E29}"/>
              </a:ext>
            </a:extLst>
          </p:cNvPr>
          <p:cNvSpPr/>
          <p:nvPr/>
        </p:nvSpPr>
        <p:spPr>
          <a:xfrm>
            <a:off x="5577840"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CC41A194-557F-43B0-AB9C-7D5A947F36F4}"/>
              </a:ext>
            </a:extLst>
          </p:cNvPr>
          <p:cNvSpPr/>
          <p:nvPr/>
        </p:nvSpPr>
        <p:spPr>
          <a:xfrm>
            <a:off x="608076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65DA3DA4-2977-426E-9F1F-EC40763EA007}"/>
              </a:ext>
            </a:extLst>
          </p:cNvPr>
          <p:cNvSpPr txBox="1"/>
          <p:nvPr/>
        </p:nvSpPr>
        <p:spPr>
          <a:xfrm>
            <a:off x="603504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18" name="TextBox 17">
            <a:extLst>
              <a:ext uri="{FF2B5EF4-FFF2-40B4-BE49-F238E27FC236}">
                <a16:creationId xmlns:a16="http://schemas.microsoft.com/office/drawing/2014/main" id="{95533EFF-A6AE-4227-92E7-8375A589C5BA}"/>
              </a:ext>
            </a:extLst>
          </p:cNvPr>
          <p:cNvSpPr txBox="1"/>
          <p:nvPr/>
        </p:nvSpPr>
        <p:spPr>
          <a:xfrm>
            <a:off x="8321040" y="3566160"/>
            <a:ext cx="1828800" cy="369332"/>
          </a:xfrm>
          <a:prstGeom prst="rect">
            <a:avLst/>
          </a:prstGeom>
          <a:noFill/>
        </p:spPr>
        <p:txBody>
          <a:bodyPr wrap="square">
            <a:spAutoFit/>
          </a:bodyPr>
          <a:lstStyle/>
          <a:p>
            <a:pPr algn="ctr"/>
            <a:r>
              <a:rPr b="1" i="0">
                <a:latin typeface="Times New Roman" panose="02020603050405020304" pitchFamily="18" charset="0"/>
                <a:cs typeface="Times New Roman" panose="02020603050405020304" pitchFamily="18" charset="0"/>
              </a:rPr>
              <a:t>Finance</a:t>
            </a:r>
          </a:p>
        </p:txBody>
      </p:sp>
      <p:sp>
        <p:nvSpPr>
          <p:cNvPr id="19" name="Rectangle 18">
            <a:extLst>
              <a:ext uri="{FF2B5EF4-FFF2-40B4-BE49-F238E27FC236}">
                <a16:creationId xmlns:a16="http://schemas.microsoft.com/office/drawing/2014/main" id="{0EBAB0A0-7E28-4ECB-8E19-1A098005FF56}"/>
              </a:ext>
            </a:extLst>
          </p:cNvPr>
          <p:cNvSpPr/>
          <p:nvPr/>
        </p:nvSpPr>
        <p:spPr>
          <a:xfrm>
            <a:off x="8366759" y="3977639"/>
            <a:ext cx="1005840" cy="685800"/>
          </a:xfrm>
          <a:prstGeom prst="rect">
            <a:avLst/>
          </a:prstGeom>
          <a:solidFill>
            <a:srgbClr val="EAE0C8"/>
          </a:solid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ACA227C-DD50-4619-A062-A0BF35EC3662}"/>
              </a:ext>
            </a:extLst>
          </p:cNvPr>
          <p:cNvSpPr txBox="1"/>
          <p:nvPr/>
        </p:nvSpPr>
        <p:spPr>
          <a:xfrm>
            <a:off x="8321040"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before</a:t>
            </a:r>
          </a:p>
        </p:txBody>
      </p:sp>
      <p:sp>
        <p:nvSpPr>
          <p:cNvPr id="21" name="Rectangle 20">
            <a:extLst>
              <a:ext uri="{FF2B5EF4-FFF2-40B4-BE49-F238E27FC236}">
                <a16:creationId xmlns:a16="http://schemas.microsoft.com/office/drawing/2014/main" id="{C12CD252-92F1-45D9-BAF4-BF12C2553F30}"/>
              </a:ext>
            </a:extLst>
          </p:cNvPr>
          <p:cNvSpPr/>
          <p:nvPr/>
        </p:nvSpPr>
        <p:spPr>
          <a:xfrm>
            <a:off x="9418319" y="4288155"/>
            <a:ext cx="457200" cy="190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9AB02997-2AE0-474B-B34B-09C07DE4A4CC}"/>
              </a:ext>
            </a:extLst>
          </p:cNvPr>
          <p:cNvSpPr/>
          <p:nvPr/>
        </p:nvSpPr>
        <p:spPr>
          <a:xfrm>
            <a:off x="9921240" y="3977639"/>
            <a:ext cx="1005840" cy="685800"/>
          </a:xfrm>
          <a:prstGeom prst="rect">
            <a:avLst/>
          </a:prstGeom>
          <a:solidFill>
            <a:srgbClr val="E8F0E8"/>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2A5AFD8E-27A4-4F6A-B945-96614C53E63E}"/>
              </a:ext>
            </a:extLst>
          </p:cNvPr>
          <p:cNvSpPr txBox="1"/>
          <p:nvPr/>
        </p:nvSpPr>
        <p:spPr>
          <a:xfrm>
            <a:off x="9875519" y="4114800"/>
            <a:ext cx="10972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after</a:t>
            </a:r>
          </a:p>
        </p:txBody>
      </p:sp>
      <p:sp>
        <p:nvSpPr>
          <p:cNvPr id="24" name="Rectangle 23">
            <a:extLst>
              <a:ext uri="{FF2B5EF4-FFF2-40B4-BE49-F238E27FC236}">
                <a16:creationId xmlns:a16="http://schemas.microsoft.com/office/drawing/2014/main" id="{4ACCBEFF-ECAF-4B5B-B6DC-01E876F6D51F}"/>
              </a:ext>
            </a:extLst>
          </p:cNvPr>
          <p:cNvSpPr/>
          <p:nvPr/>
        </p:nvSpPr>
        <p:spPr>
          <a:xfrm>
            <a:off x="731520" y="5114289"/>
            <a:ext cx="10424159" cy="127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2B0639E-FA87-4E16-B419-E62B7D4EA089}"/>
              </a:ext>
            </a:extLst>
          </p:cNvPr>
          <p:cNvSpPr txBox="1"/>
          <p:nvPr/>
        </p:nvSpPr>
        <p:spPr>
          <a:xfrm>
            <a:off x="731520" y="5212080"/>
            <a:ext cx="10698480" cy="369332"/>
          </a:xfrm>
          <a:prstGeom prst="rect">
            <a:avLst/>
          </a:prstGeom>
          <a:noFill/>
        </p:spPr>
        <p:txBody>
          <a:bodyPr wrap="square">
            <a:spAutoFit/>
          </a:bodyPr>
          <a:lstStyle/>
          <a:p>
            <a:pPr algn="ctr"/>
            <a:r>
              <a:rPr b="0" i="1">
                <a:latin typeface="Times New Roman" panose="02020603050405020304" pitchFamily="18" charset="0"/>
                <a:cs typeface="Times New Roman" panose="02020603050405020304" pitchFamily="18" charset="0"/>
              </a:rPr>
              <a:t>single source of truth</a:t>
            </a:r>
          </a:p>
        </p:txBody>
      </p:sp>
      <p:sp>
        <p:nvSpPr>
          <p:cNvPr id="26" name="Rectangle 25"/>
          <p:cNvSpPr/>
          <p:nvPr/>
        </p:nvSpPr>
        <p:spPr>
          <a:xfrm>
            <a:off x="548640" y="5623560"/>
            <a:ext cx="5394960" cy="9601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650992"/>
            <a:ext cx="5120640" cy="914400"/>
          </a:xfrm>
          <a:prstGeom prst="rect">
            <a:avLst/>
          </a:prstGeom>
          <a:noFill/>
        </p:spPr>
        <p:txBody>
          <a:bodyPr wrap="square" lIns="45720" rIns="45720" tIns="27432" bIns="27432" anchor="ctr">
            <a:spAutoFit/>
          </a:bodyPr>
          <a:lstStyle/>
          <a:p>
            <a:pPr algn="l">
              <a:lnSpc>
                <a:spcPct val="105000"/>
              </a:lnSpc>
              <a:spcAft>
                <a:spcPts val="0"/>
              </a:spcAft>
            </a:pPr>
            <a:r>
              <a:rPr sz="1300" b="1" i="0">
                <a:solidFill>
                  <a:srgbClr val="6E1E2A"/>
                </a:solidFill>
                <a:latin typeface="Times New Roman"/>
              </a:rPr>
              <a:t>STRUCTURE: </a:t>
            </a:r>
            <a:r>
              <a:rPr sz="1300" b="0" i="0">
                <a:solidFill>
                  <a:srgbClr val="2A2218"/>
                </a:solidFill>
                <a:latin typeface="Times New Roman"/>
              </a:rPr>
              <a:t>A small cross-functional rights-ledger team with one named owner replaces three separate reconciliations.</a:t>
            </a:r>
          </a:p>
        </p:txBody>
      </p:sp>
      <p:sp>
        <p:nvSpPr>
          <p:cNvPr id="28" name="Rectangle 27"/>
          <p:cNvSpPr/>
          <p:nvPr/>
        </p:nvSpPr>
        <p:spPr>
          <a:xfrm>
            <a:off x="6245352" y="5623560"/>
            <a:ext cx="5394960" cy="96012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5650992"/>
            <a:ext cx="5120640" cy="914400"/>
          </a:xfrm>
          <a:prstGeom prst="rect">
            <a:avLst/>
          </a:prstGeom>
          <a:noFill/>
        </p:spPr>
        <p:txBody>
          <a:bodyPr wrap="square" lIns="45720" rIns="45720" tIns="27432" bIns="27432" anchor="ctr">
            <a:spAutoFit/>
          </a:bodyPr>
          <a:lstStyle/>
          <a:p>
            <a:pPr algn="l">
              <a:lnSpc>
                <a:spcPct val="105000"/>
              </a:lnSpc>
              <a:spcAft>
                <a:spcPts val="0"/>
              </a:spcAft>
            </a:pPr>
            <a:r>
              <a:rPr sz="1300" b="1" i="0">
                <a:solidFill>
                  <a:srgbClr val="6E1E2A"/>
                </a:solidFill>
                <a:latin typeface="Times New Roman"/>
              </a:rPr>
              <a:t>CULTURE: </a:t>
            </a:r>
            <a:r>
              <a:rPr sz="1300" b="0" i="0">
                <a:solidFill>
                  <a:srgbClr val="2A2218"/>
                </a:solidFill>
                <a:latin typeface="Times New Roman"/>
              </a:rPr>
              <a:t>Shift from checking after the event to verifying as terms are encoded; shared accountability needs training and trust.</a:t>
            </a:r>
          </a:p>
        </p:txBody>
      </p:sp>
    </p:spTree>
    <p:extLst>
      <p:ext uri="{BB962C8B-B14F-4D97-AF65-F5344CB8AC3E}">
        <p14:creationId xmlns:p14="http://schemas.microsoft.com/office/powerpoint/2010/main" val="239028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B083DF-0B0B-4A69-BD01-10207CDC363B}"/>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STAKEHOLDER RESPONSE</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6E1E2A"/>
                </a:solidFill>
                <a:latin typeface="Times New Roman"/>
              </a:rPr>
              <a:t>Stakeholder group: </a:t>
            </a:r>
            <a:r>
              <a:rPr sz="1800" b="1" i="0">
                <a:solidFill>
                  <a:srgbClr val="2A2218"/>
                </a:solidFill>
                <a:latin typeface="Times New Roman"/>
              </a:rPr>
              <a:t>Legal and rights teams.</a:t>
            </a:r>
          </a:p>
          <a:p>
            <a:pPr algn="l">
              <a:lnSpc>
                <a:spcPct val="105000"/>
              </a:lnSpc>
              <a:spcAft>
                <a:spcPts val="0"/>
              </a:spcAft>
            </a:pPr>
            <a:r>
              <a:rPr sz="1800" b="0" i="0">
                <a:solidFill>
                  <a:srgbClr val="2A2218"/>
                </a:solidFill>
                <a:latin typeface="Times New Roman"/>
              </a:rPr>
              <a:t>They would answer for it if a regulator asked, so their concerns are professional, not resistance to change.</a:t>
            </a:r>
          </a:p>
        </p:txBody>
      </p:sp>
      <p:sp>
        <p:nvSpPr>
          <p:cNvPr id="6" name="Rectangle 5"/>
          <p:cNvSpPr/>
          <p:nvPr/>
        </p:nvSpPr>
        <p:spPr>
          <a:xfrm>
            <a:off x="548640" y="2240280"/>
            <a:ext cx="3566160" cy="45720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Regulatory uncertainty</a:t>
            </a:r>
          </a:p>
        </p:txBody>
      </p:sp>
      <p:sp>
        <p:nvSpPr>
          <p:cNvPr id="8" name="Rectangle 7"/>
          <p:cNvSpPr/>
          <p:nvPr/>
        </p:nvSpPr>
        <p:spPr>
          <a:xfrm>
            <a:off x="548640"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10" name="TextBox 9"/>
          <p:cNvSpPr txBox="1"/>
          <p:nvPr/>
        </p:nvSpPr>
        <p:spPr>
          <a:xfrm>
            <a:off x="685800"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Which country's law governs a cross-border payment dispute? An immutable ledger can also clash with GDPR rights to erase data.</a:t>
            </a:r>
          </a:p>
        </p:txBody>
      </p:sp>
      <p:sp>
        <p:nvSpPr>
          <p:cNvPr id="11" name="TextBox 10"/>
          <p:cNvSpPr txBox="1"/>
          <p:nvPr/>
        </p:nvSpPr>
        <p:spPr>
          <a:xfrm>
            <a:off x="685800"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B38A3C"/>
                </a:solidFill>
                <a:latin typeface="Times New Roman"/>
              </a:rPr>
              <a:t>OUR RESPONSE</a:t>
            </a:r>
          </a:p>
        </p:txBody>
      </p:sp>
      <p:sp>
        <p:nvSpPr>
          <p:cNvPr id="12" name="TextBox 11"/>
          <p:cNvSpPr txBox="1"/>
          <p:nvPr/>
        </p:nvSpPr>
        <p:spPr>
          <a:xfrm>
            <a:off x="685800"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Phased rollout, starting in territories with clearer digital-contract rules. Keep personal data off the ledger.</a:t>
            </a:r>
          </a:p>
        </p:txBody>
      </p:sp>
      <p:sp>
        <p:nvSpPr>
          <p:cNvPr id="13" name="Rectangle 12"/>
          <p:cNvSpPr/>
          <p:nvPr/>
        </p:nvSpPr>
        <p:spPr>
          <a:xfrm>
            <a:off x="4311396" y="2240280"/>
            <a:ext cx="3566160" cy="457200"/>
          </a:xfrm>
          <a:prstGeom prst="rect">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8556"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Enforceability</a:t>
            </a:r>
          </a:p>
        </p:txBody>
      </p:sp>
      <p:sp>
        <p:nvSpPr>
          <p:cNvPr id="15" name="Rectangle 14"/>
          <p:cNvSpPr/>
          <p:nvPr/>
        </p:nvSpPr>
        <p:spPr>
          <a:xfrm>
            <a:off x="4311396"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8556"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17" name="TextBox 16"/>
          <p:cNvSpPr txBox="1"/>
          <p:nvPr/>
        </p:nvSpPr>
        <p:spPr>
          <a:xfrm>
            <a:off x="4448556"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Correct execution does not make a payment legally binding, and there is little settled case law.</a:t>
            </a:r>
          </a:p>
        </p:txBody>
      </p:sp>
      <p:sp>
        <p:nvSpPr>
          <p:cNvPr id="18" name="TextBox 17"/>
          <p:cNvSpPr txBox="1"/>
          <p:nvPr/>
        </p:nvSpPr>
        <p:spPr>
          <a:xfrm>
            <a:off x="4448556"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6E1E2A"/>
                </a:solidFill>
                <a:latin typeface="Times New Roman"/>
              </a:rPr>
              <a:t>OUR RESPONSE</a:t>
            </a:r>
          </a:p>
        </p:txBody>
      </p:sp>
      <p:sp>
        <p:nvSpPr>
          <p:cNvPr id="19" name="TextBox 18"/>
          <p:cNvSpPr txBox="1"/>
          <p:nvPr/>
        </p:nvSpPr>
        <p:spPr>
          <a:xfrm>
            <a:off x="4448556"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Standing legal review. The written contract stays the master; the ledger executes it.</a:t>
            </a:r>
          </a:p>
        </p:txBody>
      </p:sp>
      <p:sp>
        <p:nvSpPr>
          <p:cNvPr id="20" name="Rectangle 19"/>
          <p:cNvSpPr/>
          <p:nvPr/>
        </p:nvSpPr>
        <p:spPr>
          <a:xfrm>
            <a:off x="8074152" y="2240280"/>
            <a:ext cx="3566160" cy="457200"/>
          </a:xfrm>
          <a:prstGeom prst="rect">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1312" y="2240280"/>
            <a:ext cx="3291840" cy="457200"/>
          </a:xfrm>
          <a:prstGeom prst="rect">
            <a:avLst/>
          </a:prstGeom>
          <a:noFill/>
        </p:spPr>
        <p:txBody>
          <a:bodyPr wrap="square" lIns="45720" rIns="45720" tIns="27432" bIns="27432" anchor="ctr">
            <a:spAutoFit/>
          </a:bodyPr>
          <a:lstStyle/>
          <a:p>
            <a:pPr algn="l">
              <a:lnSpc>
                <a:spcPct val="105000"/>
              </a:lnSpc>
              <a:spcAft>
                <a:spcPts val="0"/>
              </a:spcAft>
            </a:pPr>
            <a:r>
              <a:rPr sz="1600" b="1" i="0">
                <a:solidFill>
                  <a:srgbClr val="FFFFFF"/>
                </a:solidFill>
                <a:latin typeface="Times New Roman"/>
              </a:rPr>
              <a:t>Integration</a:t>
            </a:r>
          </a:p>
        </p:txBody>
      </p:sp>
      <p:sp>
        <p:nvSpPr>
          <p:cNvPr id="22" name="Rectangle 21"/>
          <p:cNvSpPr/>
          <p:nvPr/>
        </p:nvSpPr>
        <p:spPr>
          <a:xfrm>
            <a:off x="8074152" y="2697480"/>
            <a:ext cx="3566160" cy="36576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27889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CONCERN</a:t>
            </a:r>
          </a:p>
        </p:txBody>
      </p:sp>
      <p:sp>
        <p:nvSpPr>
          <p:cNvPr id="24" name="TextBox 23"/>
          <p:cNvSpPr txBox="1"/>
          <p:nvPr/>
        </p:nvSpPr>
        <p:spPr>
          <a:xfrm>
            <a:off x="8211312" y="3063240"/>
            <a:ext cx="3291840" cy="137160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The ledger must work with existing contract and finance systems, or it adds another version of the truth.</a:t>
            </a:r>
          </a:p>
        </p:txBody>
      </p:sp>
      <p:sp>
        <p:nvSpPr>
          <p:cNvPr id="25" name="TextBox 24"/>
          <p:cNvSpPr txBox="1"/>
          <p:nvPr/>
        </p:nvSpPr>
        <p:spPr>
          <a:xfrm>
            <a:off x="8211312" y="452628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OUR RESPONSE</a:t>
            </a:r>
          </a:p>
        </p:txBody>
      </p:sp>
      <p:sp>
        <p:nvSpPr>
          <p:cNvPr id="26" name="TextBox 25"/>
          <p:cNvSpPr txBox="1"/>
          <p:nvPr/>
        </p:nvSpPr>
        <p:spPr>
          <a:xfrm>
            <a:off x="8211312" y="4800600"/>
            <a:ext cx="3291840" cy="14630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Pilot in one territory first, connect to current systems, and put Legal in the design team.</a:t>
            </a:r>
          </a:p>
        </p:txBody>
      </p:sp>
    </p:spTree>
    <p:extLst>
      <p:ext uri="{BB962C8B-B14F-4D97-AF65-F5344CB8AC3E}">
        <p14:creationId xmlns:p14="http://schemas.microsoft.com/office/powerpoint/2010/main" val="77073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3EBE52-889E-4F8A-A391-7215AC2CA915}"/>
              </a:ext>
            </a:extLst>
          </p:cNvPr>
          <p:cNvSpPr txBox="1"/>
          <p:nvPr/>
        </p:nvSpPr>
        <p:spPr>
          <a:xfrm>
            <a:off x="1554480" y="391079"/>
            <a:ext cx="8229600"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STRATEGIC FIT</a:t>
            </a:r>
          </a:p>
        </p:txBody>
      </p:sp>
      <p:sp>
        <p:nvSpPr>
          <p:cNvPr id="5" name="TextBox 4">
            <a:extLst>
              <a:ext uri="{FF2B5EF4-FFF2-40B4-BE49-F238E27FC236}">
                <a16:creationId xmlns:a16="http://schemas.microsoft.com/office/drawing/2014/main" id="{D5F13EEE-1ADA-488D-9759-0A1EFC07AF3D}"/>
              </a:ext>
            </a:extLst>
          </p:cNvPr>
          <p:cNvSpPr txBox="1"/>
          <p:nvPr/>
        </p:nvSpPr>
        <p:spPr>
          <a:xfrm>
            <a:off x="548640" y="1737360"/>
            <a:ext cx="10789920" cy="363882"/>
          </a:xfrm>
          <a:prstGeom prst="rect">
            <a:avLst/>
          </a:prstGeom>
          <a:noFill/>
        </p:spPr>
        <p:txBody>
          <a:bodyPr wrap="square">
            <a:spAutoFit/>
          </a:bodyPr>
          <a:lstStyle/>
          <a:p>
            <a:pPr algn="l">
              <a:lnSpc>
                <a:spcPct val="105000"/>
              </a:lnSpc>
            </a:pPr>
            <a:r>
              <a:rPr i="0" dirty="0">
                <a:solidFill>
                  <a:srgbClr val="2A2218"/>
                </a:solidFill>
                <a:latin typeface="Times New Roman" panose="02020603050405020304" pitchFamily="18" charset="0"/>
                <a:cs typeface="Times New Roman" panose="02020603050405020304" pitchFamily="18" charset="0"/>
              </a:rPr>
              <a:t>Every verified payment is a small deposit</a:t>
            </a:r>
            <a:r>
              <a:rPr lang="en-US" i="0" dirty="0">
                <a:solidFill>
                  <a:srgbClr val="2A2218"/>
                </a:solidFill>
                <a:latin typeface="Times New Roman" panose="02020603050405020304" pitchFamily="18" charset="0"/>
                <a:cs typeface="Times New Roman" panose="02020603050405020304" pitchFamily="18" charset="0"/>
              </a:rPr>
              <a:t> </a:t>
            </a:r>
            <a:r>
              <a:rPr i="0" dirty="0">
                <a:solidFill>
                  <a:srgbClr val="2A2218"/>
                </a:solidFill>
                <a:latin typeface="Times New Roman" panose="02020603050405020304" pitchFamily="18" charset="0"/>
                <a:cs typeface="Times New Roman" panose="02020603050405020304" pitchFamily="18" charset="0"/>
              </a:rPr>
              <a:t>in talent trust.</a:t>
            </a:r>
          </a:p>
        </p:txBody>
      </p:sp>
      <p:sp>
        <p:nvSpPr>
          <p:cNvPr id="6" name="Rectangle 5">
            <a:extLst>
              <a:ext uri="{FF2B5EF4-FFF2-40B4-BE49-F238E27FC236}">
                <a16:creationId xmlns:a16="http://schemas.microsoft.com/office/drawing/2014/main" id="{4A378CA0-48B7-4BF0-858B-0416518BC648}"/>
              </a:ext>
            </a:extLst>
          </p:cNvPr>
          <p:cNvSpPr/>
          <p:nvPr/>
        </p:nvSpPr>
        <p:spPr>
          <a:xfrm>
            <a:off x="1371600" y="4265295"/>
            <a:ext cx="1188720" cy="320040"/>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C3B48156-66C0-4C6B-B84E-D5D57F501C40}"/>
              </a:ext>
            </a:extLst>
          </p:cNvPr>
          <p:cNvSpPr/>
          <p:nvPr/>
        </p:nvSpPr>
        <p:spPr>
          <a:xfrm>
            <a:off x="1819656" y="3890391"/>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Oval 7">
            <a:extLst>
              <a:ext uri="{FF2B5EF4-FFF2-40B4-BE49-F238E27FC236}">
                <a16:creationId xmlns:a16="http://schemas.microsoft.com/office/drawing/2014/main" id="{C7A6AA09-91D4-4CC5-9992-9C71BA71AC93}"/>
              </a:ext>
            </a:extLst>
          </p:cNvPr>
          <p:cNvSpPr/>
          <p:nvPr/>
        </p:nvSpPr>
        <p:spPr>
          <a:xfrm>
            <a:off x="1878177" y="3948912"/>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80E26BC4-9A92-450B-AEFD-0A3C396DF061}"/>
              </a:ext>
            </a:extLst>
          </p:cNvPr>
          <p:cNvSpPr/>
          <p:nvPr/>
        </p:nvSpPr>
        <p:spPr>
          <a:xfrm>
            <a:off x="2926080" y="4155567"/>
            <a:ext cx="1188720" cy="429768"/>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BD041AF3-C05A-499E-9299-9213B7DE2396}"/>
              </a:ext>
            </a:extLst>
          </p:cNvPr>
          <p:cNvSpPr/>
          <p:nvPr/>
        </p:nvSpPr>
        <p:spPr>
          <a:xfrm>
            <a:off x="3374136" y="3780663"/>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43E67AB5-F483-497F-AF4E-A4A69C9CDC96}"/>
              </a:ext>
            </a:extLst>
          </p:cNvPr>
          <p:cNvSpPr/>
          <p:nvPr/>
        </p:nvSpPr>
        <p:spPr>
          <a:xfrm>
            <a:off x="3432657" y="3839184"/>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921C507-995A-4200-B7C0-C9730368ABDE}"/>
              </a:ext>
            </a:extLst>
          </p:cNvPr>
          <p:cNvSpPr/>
          <p:nvPr/>
        </p:nvSpPr>
        <p:spPr>
          <a:xfrm>
            <a:off x="4480560" y="4045839"/>
            <a:ext cx="1188720" cy="539496"/>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25CB58ED-9A92-4B99-B690-CBE9683DEF6A}"/>
              </a:ext>
            </a:extLst>
          </p:cNvPr>
          <p:cNvSpPr/>
          <p:nvPr/>
        </p:nvSpPr>
        <p:spPr>
          <a:xfrm>
            <a:off x="4928616" y="3670935"/>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F1D5BCAE-61A0-47E0-9368-D19CC2E3DFB2}"/>
              </a:ext>
            </a:extLst>
          </p:cNvPr>
          <p:cNvSpPr/>
          <p:nvPr/>
        </p:nvSpPr>
        <p:spPr>
          <a:xfrm>
            <a:off x="4987137" y="3729456"/>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ABB5DA42-DA1C-4E08-ADF2-AA492DFD0C60}"/>
              </a:ext>
            </a:extLst>
          </p:cNvPr>
          <p:cNvSpPr/>
          <p:nvPr/>
        </p:nvSpPr>
        <p:spPr>
          <a:xfrm>
            <a:off x="6035040" y="3936111"/>
            <a:ext cx="1188720" cy="649224"/>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185D518A-C4C4-4882-952E-111A3709A302}"/>
              </a:ext>
            </a:extLst>
          </p:cNvPr>
          <p:cNvSpPr/>
          <p:nvPr/>
        </p:nvSpPr>
        <p:spPr>
          <a:xfrm>
            <a:off x="6483096" y="3561207"/>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ED9AD062-02ED-4C37-9DBA-0959E337752C}"/>
              </a:ext>
            </a:extLst>
          </p:cNvPr>
          <p:cNvSpPr/>
          <p:nvPr/>
        </p:nvSpPr>
        <p:spPr>
          <a:xfrm>
            <a:off x="6541617" y="3619728"/>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3FFA4679-5E23-4077-91C2-2E04F7557F25}"/>
              </a:ext>
            </a:extLst>
          </p:cNvPr>
          <p:cNvSpPr/>
          <p:nvPr/>
        </p:nvSpPr>
        <p:spPr>
          <a:xfrm>
            <a:off x="7589520" y="3826383"/>
            <a:ext cx="1188720" cy="758952"/>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FDE6826F-C49B-4D4C-8FFC-D3C1C862A1EF}"/>
              </a:ext>
            </a:extLst>
          </p:cNvPr>
          <p:cNvSpPr/>
          <p:nvPr/>
        </p:nvSpPr>
        <p:spPr>
          <a:xfrm>
            <a:off x="8037576" y="3451479"/>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5CC0BBB6-89E0-4360-96DF-B7C918B53413}"/>
              </a:ext>
            </a:extLst>
          </p:cNvPr>
          <p:cNvSpPr/>
          <p:nvPr/>
        </p:nvSpPr>
        <p:spPr>
          <a:xfrm>
            <a:off x="8096097" y="3510000"/>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AAD1A037-D87E-4197-9C6D-8A741DA2845A}"/>
              </a:ext>
            </a:extLst>
          </p:cNvPr>
          <p:cNvSpPr/>
          <p:nvPr/>
        </p:nvSpPr>
        <p:spPr>
          <a:xfrm>
            <a:off x="9144000" y="3716655"/>
            <a:ext cx="1188720" cy="868680"/>
          </a:xfrm>
          <a:prstGeom prst="rect">
            <a:avLst/>
          </a:prstGeom>
          <a:solidFill>
            <a:srgbClr val="FBF7EC"/>
          </a:solidFill>
          <a:ln w="12700">
            <a:solidFill>
              <a:srgbClr val="2F5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Oval 21">
            <a:extLst>
              <a:ext uri="{FF2B5EF4-FFF2-40B4-BE49-F238E27FC236}">
                <a16:creationId xmlns:a16="http://schemas.microsoft.com/office/drawing/2014/main" id="{8C8DF8DA-6430-4637-9095-955A3695F3B3}"/>
              </a:ext>
            </a:extLst>
          </p:cNvPr>
          <p:cNvSpPr/>
          <p:nvPr/>
        </p:nvSpPr>
        <p:spPr>
          <a:xfrm>
            <a:off x="9592056" y="3341751"/>
            <a:ext cx="292608" cy="292608"/>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952DC7DE-0D2C-4255-8DC3-CB6B7BE5266C}"/>
              </a:ext>
            </a:extLst>
          </p:cNvPr>
          <p:cNvSpPr/>
          <p:nvPr/>
        </p:nvSpPr>
        <p:spPr>
          <a:xfrm>
            <a:off x="9650577" y="3400272"/>
            <a:ext cx="175564" cy="175564"/>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C29453D-ADE7-472B-B7E2-ADB6D6B0F7AD}"/>
              </a:ext>
            </a:extLst>
          </p:cNvPr>
          <p:cNvSpPr txBox="1"/>
          <p:nvPr/>
        </p:nvSpPr>
        <p:spPr>
          <a:xfrm>
            <a:off x="914400" y="4722495"/>
            <a:ext cx="10058400" cy="369332"/>
          </a:xfrm>
          <a:prstGeom prst="rect">
            <a:avLst/>
          </a:prstGeom>
          <a:noFill/>
        </p:spPr>
        <p:txBody>
          <a:bodyPr wrap="square">
            <a:spAutoFit/>
          </a:bodyPr>
          <a:lstStyle/>
          <a:p>
            <a:pPr algn="l"/>
            <a:r>
              <a:rPr b="0" i="1" dirty="0">
                <a:latin typeface="Times New Roman" panose="02020603050405020304" pitchFamily="18" charset="0"/>
                <a:cs typeface="Times New Roman" panose="02020603050405020304" pitchFamily="18" charset="0"/>
              </a:rPr>
              <a:t>verified payments accumulating over time →</a:t>
            </a:r>
          </a:p>
        </p:txBody>
      </p:sp>
    </p:spTree>
    <p:extLst>
      <p:ext uri="{BB962C8B-B14F-4D97-AF65-F5344CB8AC3E}">
        <p14:creationId xmlns:p14="http://schemas.microsoft.com/office/powerpoint/2010/main" val="394936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C4AF12-83F7-426E-854B-39C142C377DC}"/>
              </a:ext>
            </a:extLst>
          </p:cNvPr>
          <p:cNvSpPr txBox="1"/>
          <p:nvPr/>
        </p:nvSpPr>
        <p:spPr>
          <a:xfrm>
            <a:off x="1758315" y="373158"/>
            <a:ext cx="8229600"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SUSTAINING ADVANTAGE</a:t>
            </a:r>
          </a:p>
        </p:txBody>
      </p:sp>
      <p:sp>
        <p:nvSpPr>
          <p:cNvPr id="6" name="TextBox 5">
            <a:extLst>
              <a:ext uri="{FF2B5EF4-FFF2-40B4-BE49-F238E27FC236}">
                <a16:creationId xmlns:a16="http://schemas.microsoft.com/office/drawing/2014/main" id="{18ADF28A-13DD-44A1-8C01-49E69FF32335}"/>
              </a:ext>
            </a:extLst>
          </p:cNvPr>
          <p:cNvSpPr txBox="1"/>
          <p:nvPr/>
        </p:nvSpPr>
        <p:spPr>
          <a:xfrm>
            <a:off x="548640" y="1097413"/>
            <a:ext cx="10789920" cy="717953"/>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Being early is real.</a:t>
            </a:r>
          </a:p>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Staying ahead is a different claim entirely.</a:t>
            </a:r>
          </a:p>
        </p:txBody>
      </p:sp>
      <p:sp>
        <p:nvSpPr>
          <p:cNvPr id="7" name="Rectangle 6">
            <a:extLst>
              <a:ext uri="{FF2B5EF4-FFF2-40B4-BE49-F238E27FC236}">
                <a16:creationId xmlns:a16="http://schemas.microsoft.com/office/drawing/2014/main" id="{9A91CF42-2D2B-400E-A053-0E4EC8518FA8}"/>
              </a:ext>
            </a:extLst>
          </p:cNvPr>
          <p:cNvSpPr/>
          <p:nvPr/>
        </p:nvSpPr>
        <p:spPr>
          <a:xfrm rot="20324970">
            <a:off x="1037240" y="5150485"/>
            <a:ext cx="1765999"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E2CA1BCF-5E8B-4B8E-974A-B115D32341BB}"/>
              </a:ext>
            </a:extLst>
          </p:cNvPr>
          <p:cNvSpPr/>
          <p:nvPr/>
        </p:nvSpPr>
        <p:spPr>
          <a:xfrm rot="20162251">
            <a:off x="2665580" y="4464685"/>
            <a:ext cx="1801159"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1449EF4-8164-4FC6-95D2-9EADC9483475}"/>
              </a:ext>
            </a:extLst>
          </p:cNvPr>
          <p:cNvSpPr/>
          <p:nvPr/>
        </p:nvSpPr>
        <p:spPr>
          <a:xfrm rot="20493903">
            <a:off x="4344603" y="3824605"/>
            <a:ext cx="1734952"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6F0A30E-E0CA-480C-9AA0-485822FA7AC1}"/>
              </a:ext>
            </a:extLst>
          </p:cNvPr>
          <p:cNvSpPr/>
          <p:nvPr/>
        </p:nvSpPr>
        <p:spPr>
          <a:xfrm rot="20848272">
            <a:off x="6014964" y="3367405"/>
            <a:ext cx="1686070"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210B8819-CDBB-4E08-8CBA-0DBE8E7A8BD5}"/>
              </a:ext>
            </a:extLst>
          </p:cNvPr>
          <p:cNvSpPr/>
          <p:nvPr/>
        </p:nvSpPr>
        <p:spPr>
          <a:xfrm rot="21219588">
            <a:off x="7675895" y="3093085"/>
            <a:ext cx="1656048" cy="31750"/>
          </a:xfrm>
          <a:prstGeom prst="rect">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52039C7D-82B1-42AD-A927-9F17976D918C}"/>
              </a:ext>
            </a:extLst>
          </p:cNvPr>
          <p:cNvSpPr/>
          <p:nvPr/>
        </p:nvSpPr>
        <p:spPr>
          <a:xfrm>
            <a:off x="548640" y="2743200"/>
            <a:ext cx="1097280" cy="1097280"/>
          </a:xfrm>
          <a:prstGeom prst="ellipse">
            <a:avLst/>
          </a:prstGeom>
          <a:noFill/>
          <a:ln w="12700">
            <a:solidFill>
              <a:srgbClr val="7A7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5D75E72-F9B8-4192-BAE1-C60F936F78A6}"/>
              </a:ext>
            </a:extLst>
          </p:cNvPr>
          <p:cNvSpPr txBox="1"/>
          <p:nvPr/>
        </p:nvSpPr>
        <p:spPr>
          <a:xfrm>
            <a:off x="274320" y="3977639"/>
            <a:ext cx="1645920" cy="584775"/>
          </a:xfrm>
          <a:prstGeom prst="rect">
            <a:avLst/>
          </a:prstGeom>
          <a:noFill/>
        </p:spPr>
        <p:txBody>
          <a:bodyPr wrap="square">
            <a:spAutoFit/>
          </a:bodyPr>
          <a:lstStyle/>
          <a:p>
            <a:pPr algn="ctr"/>
            <a:r>
              <a:rPr sz="1600" b="0" i="1">
                <a:solidFill>
                  <a:srgbClr val="7A7060"/>
                </a:solidFill>
                <a:latin typeface="Times New Roman" panose="02020603050405020304" pitchFamily="18" charset="0"/>
                <a:cs typeface="Times New Roman" panose="02020603050405020304" pitchFamily="18" charset="0"/>
              </a:rPr>
              <a:t>Apple TV+ (early)</a:t>
            </a:r>
          </a:p>
        </p:txBody>
      </p:sp>
      <p:sp>
        <p:nvSpPr>
          <p:cNvPr id="14" name="Rectangle 13">
            <a:extLst>
              <a:ext uri="{FF2B5EF4-FFF2-40B4-BE49-F238E27FC236}">
                <a16:creationId xmlns:a16="http://schemas.microsoft.com/office/drawing/2014/main" id="{FAA2DB67-2962-4C05-8F4A-8901153BF16D}"/>
              </a:ext>
            </a:extLst>
          </p:cNvPr>
          <p:cNvSpPr/>
          <p:nvPr/>
        </p:nvSpPr>
        <p:spPr>
          <a:xfrm>
            <a:off x="7863840" y="2560320"/>
            <a:ext cx="3474720" cy="1463040"/>
          </a:xfrm>
          <a:prstGeom prst="rect">
            <a:avLst/>
          </a:prstGeom>
          <a:solidFill>
            <a:srgbClr val="EA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C82A7A-EA9D-450A-85B1-2CD3BF0ABBF7}"/>
              </a:ext>
            </a:extLst>
          </p:cNvPr>
          <p:cNvSpPr txBox="1"/>
          <p:nvPr/>
        </p:nvSpPr>
        <p:spPr>
          <a:xfrm>
            <a:off x="7863840" y="4114800"/>
            <a:ext cx="3474720" cy="338554"/>
          </a:xfrm>
          <a:prstGeom prst="rect">
            <a:avLst/>
          </a:prstGeom>
          <a:noFill/>
        </p:spPr>
        <p:txBody>
          <a:bodyPr wrap="square">
            <a:spAutoFit/>
          </a:bodyPr>
          <a:lstStyle/>
          <a:p>
            <a:pPr algn="ctr"/>
            <a:r>
              <a:rPr sz="1600" b="0" i="1">
                <a:solidFill>
                  <a:srgbClr val="7A7060"/>
                </a:solidFill>
                <a:latin typeface="Times New Roman" panose="02020603050405020304" pitchFamily="18" charset="0"/>
                <a:cs typeface="Times New Roman" panose="02020603050405020304" pitchFamily="18" charset="0"/>
              </a:rPr>
              <a:t>convergence zone</a:t>
            </a:r>
          </a:p>
        </p:txBody>
      </p:sp>
      <p:sp>
        <p:nvSpPr>
          <p:cNvPr id="16" name="Oval 15">
            <a:extLst>
              <a:ext uri="{FF2B5EF4-FFF2-40B4-BE49-F238E27FC236}">
                <a16:creationId xmlns:a16="http://schemas.microsoft.com/office/drawing/2014/main" id="{CAFA75D4-8CC9-41B3-9778-8335EA82D94B}"/>
              </a:ext>
            </a:extLst>
          </p:cNvPr>
          <p:cNvSpPr/>
          <p:nvPr/>
        </p:nvSpPr>
        <p:spPr>
          <a:xfrm>
            <a:off x="1024127" y="541324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FF284759-2534-46B9-8AE1-564DFB6EB166}"/>
              </a:ext>
            </a:extLst>
          </p:cNvPr>
          <p:cNvSpPr/>
          <p:nvPr/>
        </p:nvSpPr>
        <p:spPr>
          <a:xfrm>
            <a:off x="2670048" y="477316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F7511AFD-B4B2-4133-AFC8-F0E8DCBDC781}"/>
              </a:ext>
            </a:extLst>
          </p:cNvPr>
          <p:cNvSpPr/>
          <p:nvPr/>
        </p:nvSpPr>
        <p:spPr>
          <a:xfrm>
            <a:off x="4315968" y="404164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4BA71070-7156-4F80-8F23-9E71853070B0}"/>
              </a:ext>
            </a:extLst>
          </p:cNvPr>
          <p:cNvSpPr/>
          <p:nvPr/>
        </p:nvSpPr>
        <p:spPr>
          <a:xfrm>
            <a:off x="5961888" y="349300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20" name="Oval 19">
            <a:extLst>
              <a:ext uri="{FF2B5EF4-FFF2-40B4-BE49-F238E27FC236}">
                <a16:creationId xmlns:a16="http://schemas.microsoft.com/office/drawing/2014/main" id="{442E2629-9F14-4868-BBFD-80C34A015042}"/>
              </a:ext>
            </a:extLst>
          </p:cNvPr>
          <p:cNvSpPr/>
          <p:nvPr/>
        </p:nvSpPr>
        <p:spPr>
          <a:xfrm>
            <a:off x="7607808" y="312724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
        <p:nvSpPr>
          <p:cNvPr id="21" name="Oval 20">
            <a:extLst>
              <a:ext uri="{FF2B5EF4-FFF2-40B4-BE49-F238E27FC236}">
                <a16:creationId xmlns:a16="http://schemas.microsoft.com/office/drawing/2014/main" id="{05EEE5FE-BA48-42E2-866B-D85D4B82D1F7}"/>
              </a:ext>
            </a:extLst>
          </p:cNvPr>
          <p:cNvSpPr/>
          <p:nvPr/>
        </p:nvSpPr>
        <p:spPr>
          <a:xfrm>
            <a:off x="9253728" y="2944368"/>
            <a:ext cx="146304" cy="146304"/>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683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959D69-9C71-4FDB-B5B8-C8373F4FEC39}"/>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ETHICS &amp; RISK</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1800" b="0" i="0">
                <a:solidFill>
                  <a:srgbClr val="2A2218"/>
                </a:solidFill>
                <a:latin typeface="Times New Roman"/>
              </a:rPr>
              <a:t>Ethics: talent get verifiable, fair payment, but immutability must not override people's data rights.</a:t>
            </a:r>
          </a:p>
        </p:txBody>
      </p:sp>
      <p:sp>
        <p:nvSpPr>
          <p:cNvPr id="6" name="Rectangle 5"/>
          <p:cNvSpPr/>
          <p:nvPr/>
        </p:nvSpPr>
        <p:spPr>
          <a:xfrm>
            <a:off x="548640"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19" y="2468879"/>
            <a:ext cx="640080" cy="64008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3135"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Data privacy</a:t>
            </a:r>
          </a:p>
        </p:txBody>
      </p:sp>
      <p:sp>
        <p:nvSpPr>
          <p:cNvPr id="10" name="TextBox 9"/>
          <p:cNvSpPr txBox="1"/>
          <p:nvPr/>
        </p:nvSpPr>
        <p:spPr>
          <a:xfrm>
            <a:off x="685800"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11" name="TextBox 10"/>
          <p:cNvSpPr txBox="1"/>
          <p:nvPr/>
        </p:nvSpPr>
        <p:spPr>
          <a:xfrm>
            <a:off x="685800"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Ledger entries can hold commercially sensitive or personal data, yet some laws let people correct or erase their data.</a:t>
            </a:r>
          </a:p>
        </p:txBody>
      </p:sp>
      <p:sp>
        <p:nvSpPr>
          <p:cNvPr id="12" name="TextBox 11"/>
          <p:cNvSpPr txBox="1"/>
          <p:nvPr/>
        </p:nvSpPr>
        <p:spPr>
          <a:xfrm>
            <a:off x="685800"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13" name="TextBox 12"/>
          <p:cNvSpPr txBox="1"/>
          <p:nvPr/>
        </p:nvSpPr>
        <p:spPr>
          <a:xfrm>
            <a:off x="685800"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Keep personal data off the ledger; record only a verification hash.</a:t>
            </a:r>
          </a:p>
        </p:txBody>
      </p:sp>
      <p:sp>
        <p:nvSpPr>
          <p:cNvPr id="14" name="Rectangle 13"/>
          <p:cNvSpPr/>
          <p:nvPr/>
        </p:nvSpPr>
        <p:spPr>
          <a:xfrm>
            <a:off x="4311396"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94276" y="2468879"/>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15891"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25796"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Cross-border regulation</a:t>
            </a:r>
          </a:p>
        </p:txBody>
      </p:sp>
      <p:sp>
        <p:nvSpPr>
          <p:cNvPr id="18" name="TextBox 17"/>
          <p:cNvSpPr txBox="1"/>
          <p:nvPr/>
        </p:nvSpPr>
        <p:spPr>
          <a:xfrm>
            <a:off x="4448556"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19" name="TextBox 18"/>
          <p:cNvSpPr txBox="1"/>
          <p:nvPr/>
        </p:nvSpPr>
        <p:spPr>
          <a:xfrm>
            <a:off x="4448556"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No settled international standard for enforcing smart-contract royalties across jurisdictions.</a:t>
            </a:r>
          </a:p>
        </p:txBody>
      </p:sp>
      <p:sp>
        <p:nvSpPr>
          <p:cNvPr id="20" name="TextBox 19"/>
          <p:cNvSpPr txBox="1"/>
          <p:nvPr/>
        </p:nvSpPr>
        <p:spPr>
          <a:xfrm>
            <a:off x="4448556"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21" name="TextBox 20"/>
          <p:cNvSpPr txBox="1"/>
          <p:nvPr/>
        </p:nvSpPr>
        <p:spPr>
          <a:xfrm>
            <a:off x="4448556"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Phased rollout by territory, starting where digital-contract law is clearer.</a:t>
            </a:r>
          </a:p>
        </p:txBody>
      </p:sp>
      <p:sp>
        <p:nvSpPr>
          <p:cNvPr id="22" name="Rectangle 21"/>
          <p:cNvSpPr/>
          <p:nvPr/>
        </p:nvSpPr>
        <p:spPr>
          <a:xfrm>
            <a:off x="8074152" y="2240280"/>
            <a:ext cx="3566160" cy="41148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57032" y="2468879"/>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78647" y="259049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88552" y="2468880"/>
            <a:ext cx="251460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Smart-contract error</a:t>
            </a:r>
          </a:p>
        </p:txBody>
      </p:sp>
      <p:sp>
        <p:nvSpPr>
          <p:cNvPr id="26" name="TextBox 25"/>
          <p:cNvSpPr txBox="1"/>
          <p:nvPr/>
        </p:nvSpPr>
        <p:spPr>
          <a:xfrm>
            <a:off x="8211312" y="329184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7A7060"/>
                </a:solidFill>
                <a:latin typeface="Times New Roman"/>
              </a:rPr>
              <a:t>RISK</a:t>
            </a:r>
          </a:p>
        </p:txBody>
      </p:sp>
      <p:sp>
        <p:nvSpPr>
          <p:cNvPr id="27" name="TextBox 26"/>
          <p:cNvSpPr txBox="1"/>
          <p:nvPr/>
        </p:nvSpPr>
        <p:spPr>
          <a:xfrm>
            <a:off x="8211312" y="3566160"/>
            <a:ext cx="3291840" cy="123444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The most serious risk: a wrong term in code keeps paying the wrong party until someone notices.</a:t>
            </a:r>
          </a:p>
        </p:txBody>
      </p:sp>
      <p:sp>
        <p:nvSpPr>
          <p:cNvPr id="28" name="TextBox 27"/>
          <p:cNvSpPr txBox="1"/>
          <p:nvPr/>
        </p:nvSpPr>
        <p:spPr>
          <a:xfrm>
            <a:off x="8211312" y="4846320"/>
            <a:ext cx="3291840" cy="274320"/>
          </a:xfrm>
          <a:prstGeom prst="rect">
            <a:avLst/>
          </a:prstGeom>
          <a:noFill/>
        </p:spPr>
        <p:txBody>
          <a:bodyPr wrap="square" lIns="45720" rIns="45720" tIns="27432" bIns="27432" anchor="t">
            <a:spAutoFit/>
          </a:bodyPr>
          <a:lstStyle/>
          <a:p>
            <a:pPr algn="l">
              <a:lnSpc>
                <a:spcPct val="105000"/>
              </a:lnSpc>
              <a:spcAft>
                <a:spcPts val="0"/>
              </a:spcAft>
            </a:pPr>
            <a:r>
              <a:rPr sz="1100" b="1" i="0">
                <a:solidFill>
                  <a:srgbClr val="2F5D3A"/>
                </a:solidFill>
                <a:latin typeface="Times New Roman"/>
              </a:rPr>
              <a:t>CONTROL</a:t>
            </a:r>
          </a:p>
        </p:txBody>
      </p:sp>
      <p:sp>
        <p:nvSpPr>
          <p:cNvPr id="29" name="TextBox 28"/>
          <p:cNvSpPr txBox="1"/>
          <p:nvPr/>
        </p:nvSpPr>
        <p:spPr>
          <a:xfrm>
            <a:off x="8211312" y="5120640"/>
            <a:ext cx="3291840" cy="11887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Legal and technical sign-off before go-live, plus a manual override and dispute freeze.</a:t>
            </a:r>
          </a:p>
        </p:txBody>
      </p:sp>
      <p:sp>
        <p:nvSpPr>
          <p:cNvPr id="30" name="TextBox 29"/>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10</a:t>
            </a:r>
          </a:p>
        </p:txBody>
      </p:sp>
    </p:spTree>
    <p:extLst>
      <p:ext uri="{BB962C8B-B14F-4D97-AF65-F5344CB8AC3E}">
        <p14:creationId xmlns:p14="http://schemas.microsoft.com/office/powerpoint/2010/main" val="3028663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5749FB7-5BB1-4471-BEFC-654E6D36581E}"/>
              </a:ext>
            </a:extLst>
          </p:cNvPr>
          <p:cNvSpPr txBox="1"/>
          <p:nvPr/>
        </p:nvSpPr>
        <p:spPr>
          <a:xfrm>
            <a:off x="548640" y="411480"/>
            <a:ext cx="11091672" cy="523220"/>
          </a:xfrm>
          <a:prstGeom prst="rect">
            <a:avLst/>
          </a:prstGeom>
          <a:noFill/>
        </p:spPr>
        <p:txBody>
          <a:bodyPr wrap="square">
            <a:spAutoFit/>
          </a:bodyPr>
          <a:lstStyle/>
          <a:p>
            <a:pPr algn="ctr"/>
            <a:r>
              <a:rPr sz="2800" b="1" i="0" dirty="0">
                <a:solidFill>
                  <a:srgbClr val="6E1E2A"/>
                </a:solidFill>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E6612BCA-9A3C-4F0B-A80B-DC3DAF8AE56B}"/>
              </a:ext>
            </a:extLst>
          </p:cNvPr>
          <p:cNvSpPr txBox="1"/>
          <p:nvPr/>
        </p:nvSpPr>
        <p:spPr>
          <a:xfrm>
            <a:off x="548640" y="1371600"/>
            <a:ext cx="10789920" cy="394788"/>
          </a:xfrm>
          <a:prstGeom prst="rect">
            <a:avLst/>
          </a:prstGeom>
          <a:noFill/>
        </p:spPr>
        <p:txBody>
          <a:bodyPr wrap="square">
            <a:spAutoFit/>
          </a:bodyPr>
          <a:lstStyle/>
          <a:p>
            <a:pPr algn="l">
              <a:lnSpc>
                <a:spcPct val="105000"/>
              </a:lnSpc>
            </a:pPr>
            <a:r>
              <a:rPr sz="2000" i="0" dirty="0">
                <a:solidFill>
                  <a:srgbClr val="2A2218"/>
                </a:solidFill>
                <a:latin typeface="Times New Roman" panose="02020603050405020304" pitchFamily="18" charset="0"/>
                <a:cs typeface="Times New Roman" panose="02020603050405020304" pitchFamily="18" charset="0"/>
              </a:rPr>
              <a:t>Yes</a:t>
            </a:r>
            <a:r>
              <a:rPr lang="en-US" sz="2000" i="0" dirty="0">
                <a:solidFill>
                  <a:srgbClr val="2A2218"/>
                </a:solidFill>
                <a:latin typeface="Times New Roman" panose="02020603050405020304" pitchFamily="18" charset="0"/>
                <a:cs typeface="Times New Roman" panose="02020603050405020304" pitchFamily="18" charset="0"/>
              </a:rPr>
              <a:t>; </a:t>
            </a:r>
            <a:r>
              <a:rPr sz="2000" i="0" dirty="0">
                <a:solidFill>
                  <a:srgbClr val="2A2218"/>
                </a:solidFill>
                <a:latin typeface="Times New Roman" panose="02020603050405020304" pitchFamily="18" charset="0"/>
                <a:cs typeface="Times New Roman" panose="02020603050405020304" pitchFamily="18" charset="0"/>
              </a:rPr>
              <a:t>if the ledger is governed as law,</a:t>
            </a:r>
            <a:r>
              <a:rPr lang="en-US" sz="2000" i="0" dirty="0">
                <a:solidFill>
                  <a:srgbClr val="2A2218"/>
                </a:solidFill>
                <a:latin typeface="Times New Roman" panose="02020603050405020304" pitchFamily="18" charset="0"/>
                <a:cs typeface="Times New Roman" panose="02020603050405020304" pitchFamily="18" charset="0"/>
              </a:rPr>
              <a:t> </a:t>
            </a:r>
            <a:r>
              <a:rPr sz="2000" i="0" dirty="0">
                <a:solidFill>
                  <a:srgbClr val="2A2218"/>
                </a:solidFill>
                <a:latin typeface="Times New Roman" panose="02020603050405020304" pitchFamily="18" charset="0"/>
                <a:cs typeface="Times New Roman" panose="02020603050405020304" pitchFamily="18" charset="0"/>
              </a:rPr>
              <a:t>not deployed as a technical fix.</a:t>
            </a:r>
          </a:p>
        </p:txBody>
      </p:sp>
      <p:sp>
        <p:nvSpPr>
          <p:cNvPr id="8" name="TextBox 7"/>
          <p:cNvSpPr txBox="1"/>
          <p:nvPr/>
        </p:nvSpPr>
        <p:spPr>
          <a:xfrm>
            <a:off x="548640" y="2331720"/>
            <a:ext cx="11064240" cy="457200"/>
          </a:xfrm>
          <a:prstGeom prst="rect">
            <a:avLst/>
          </a:prstGeom>
          <a:noFill/>
        </p:spPr>
        <p:txBody>
          <a:bodyPr wrap="square" lIns="45720" rIns="45720" tIns="27432" bIns="27432" anchor="t">
            <a:spAutoFit/>
          </a:bodyPr>
          <a:lstStyle/>
          <a:p>
            <a:pPr algn="l">
              <a:lnSpc>
                <a:spcPct val="105000"/>
              </a:lnSpc>
              <a:spcAft>
                <a:spcPts val="0"/>
              </a:spcAft>
            </a:pPr>
            <a:r>
              <a:rPr sz="1400" b="1" i="0">
                <a:solidFill>
                  <a:srgbClr val="7A7060"/>
                </a:solidFill>
                <a:latin typeface="Times New Roman"/>
              </a:rPr>
              <a:t>KEY TAKEAWAYS</a:t>
            </a:r>
          </a:p>
        </p:txBody>
      </p:sp>
      <p:sp>
        <p:nvSpPr>
          <p:cNvPr id="9" name="Rectangle 8"/>
          <p:cNvSpPr/>
          <p:nvPr/>
        </p:nvSpPr>
        <p:spPr>
          <a:xfrm>
            <a:off x="548640"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3108960"/>
            <a:ext cx="640080" cy="64008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8855"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Real gains, one new risk</a:t>
            </a:r>
          </a:p>
        </p:txBody>
      </p:sp>
      <p:sp>
        <p:nvSpPr>
          <p:cNvPr id="13" name="TextBox 12"/>
          <p:cNvSpPr txBox="1"/>
          <p:nvPr/>
        </p:nvSpPr>
        <p:spPr>
          <a:xfrm>
            <a:off x="731520"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Automation cuts payment errors and disputes, but a wrongly coded term becomes the risk to control.</a:t>
            </a:r>
          </a:p>
        </p:txBody>
      </p:sp>
      <p:sp>
        <p:nvSpPr>
          <p:cNvPr id="14" name="Rectangle 13"/>
          <p:cNvSpPr/>
          <p:nvPr/>
        </p:nvSpPr>
        <p:spPr>
          <a:xfrm>
            <a:off x="4311396"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9996" y="3108960"/>
            <a:ext cx="640080" cy="64008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1611"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7236"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Legal concerns are legitimate</a:t>
            </a:r>
          </a:p>
        </p:txBody>
      </p:sp>
      <p:sp>
        <p:nvSpPr>
          <p:cNvPr id="18" name="TextBox 17"/>
          <p:cNvSpPr txBox="1"/>
          <p:nvPr/>
        </p:nvSpPr>
        <p:spPr>
          <a:xfrm>
            <a:off x="4494276"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Regulation, enforceability and integration are real questions. Answer them with phased rollout and legal review.</a:t>
            </a:r>
          </a:p>
        </p:txBody>
      </p:sp>
      <p:sp>
        <p:nvSpPr>
          <p:cNvPr id="19" name="Rectangle 18"/>
          <p:cNvSpPr/>
          <p:nvPr/>
        </p:nvSpPr>
        <p:spPr>
          <a:xfrm>
            <a:off x="8074152" y="2788920"/>
            <a:ext cx="3566160" cy="320040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02752" y="3108960"/>
            <a:ext cx="640080" cy="64008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24367" y="3230575"/>
            <a:ext cx="396849" cy="396849"/>
          </a:xfrm>
          <a:prstGeom prst="ellipse">
            <a:avLst/>
          </a:prstGeom>
          <a:noFill/>
          <a:ln w="15875">
            <a:solidFill>
              <a:srgbClr val="F3E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9992" y="3108960"/>
            <a:ext cx="2423160" cy="640080"/>
          </a:xfrm>
          <a:prstGeom prst="rect">
            <a:avLst/>
          </a:prstGeom>
          <a:noFill/>
        </p:spPr>
        <p:txBody>
          <a:bodyPr wrap="square" lIns="45720" rIns="45720" tIns="27432" bIns="27432" anchor="ctr">
            <a:spAutoFit/>
          </a:bodyPr>
          <a:lstStyle/>
          <a:p>
            <a:pPr algn="l">
              <a:lnSpc>
                <a:spcPct val="105000"/>
              </a:lnSpc>
              <a:spcAft>
                <a:spcPts val="0"/>
              </a:spcAft>
            </a:pPr>
            <a:r>
              <a:rPr sz="1700" b="1" i="0">
                <a:solidFill>
                  <a:srgbClr val="2A2218"/>
                </a:solidFill>
                <a:latin typeface="Times New Roman"/>
              </a:rPr>
              <a:t>Trust is the lasting edge</a:t>
            </a:r>
          </a:p>
        </p:txBody>
      </p:sp>
      <p:sp>
        <p:nvSpPr>
          <p:cNvPr id="23" name="TextBox 22"/>
          <p:cNvSpPr txBox="1"/>
          <p:nvPr/>
        </p:nvSpPr>
        <p:spPr>
          <a:xfrm>
            <a:off x="8257031" y="4023360"/>
            <a:ext cx="3200400" cy="1828800"/>
          </a:xfrm>
          <a:prstGeom prst="rect">
            <a:avLst/>
          </a:prstGeom>
          <a:noFill/>
        </p:spPr>
        <p:txBody>
          <a:bodyPr wrap="square" lIns="45720" rIns="45720" tIns="27432" bIns="27432" anchor="t">
            <a:spAutoFit/>
          </a:bodyPr>
          <a:lstStyle/>
          <a:p>
            <a:pPr algn="l">
              <a:lnSpc>
                <a:spcPct val="105000"/>
              </a:lnSpc>
              <a:spcAft>
                <a:spcPts val="0"/>
              </a:spcAft>
            </a:pPr>
            <a:r>
              <a:rPr sz="1500" b="0" i="0">
                <a:solidFill>
                  <a:srgbClr val="2A2218"/>
                </a:solidFill>
                <a:latin typeface="Times New Roman"/>
              </a:rPr>
              <a:t>Competitors will copy the technology. Accumulated trust with talent and rights holders is what stays.</a:t>
            </a:r>
          </a:p>
        </p:txBody>
      </p:sp>
      <p:sp>
        <p:nvSpPr>
          <p:cNvPr id="24" name="TextBox 23"/>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12</a:t>
            </a:r>
          </a:p>
        </p:txBody>
      </p:sp>
    </p:spTree>
    <p:extLst>
      <p:ext uri="{BB962C8B-B14F-4D97-AF65-F5344CB8AC3E}">
        <p14:creationId xmlns:p14="http://schemas.microsoft.com/office/powerpoint/2010/main" val="217528102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a:extLst>
              <a:ext uri="{FF2B5EF4-FFF2-40B4-BE49-F238E27FC236}">
                <a16:creationId xmlns:a16="http://schemas.microsoft.com/office/drawing/2014/main" id="{53959D69-9C71-4FDB-B5B8-C8373F4FEC39}"/>
              </a:ext>
            </a:extLst>
          </p:cNvPr>
          <p:cNvSpPr txBox="1"/>
          <p:nvPr/>
        </p:nvSpPr>
        <p:spPr>
          <a:xfrm>
            <a:off x="548640" y="411480"/>
            <a:ext cx="11091672" cy="523220"/>
          </a:xfrm>
          <a:prstGeom prst="rect">
            <a:avLst/>
          </a:prstGeom>
          <a:noFill/>
        </p:spPr>
        <p:txBody>
          <a:bodyPr wrap="square">
            <a:spAutoFit/>
          </a:bodyPr>
          <a:lstStyle/>
          <a:p>
            <a:pPr algn="ctr"/>
            <a:r>
              <a:rPr sz="2800" b="1" i="0">
                <a:solidFill>
                  <a:srgbClr val="6E1E2A"/>
                </a:solidFill>
                <a:latin typeface="Times New Roman" panose="02020603050405020304" pitchFamily="18" charset="0"/>
                <a:cs typeface="Times New Roman" panose="02020603050405020304" pitchFamily="18" charset="0"/>
              </a:rPr>
              <a:t>RECOMMENDATIONS</a:t>
            </a:r>
          </a:p>
        </p:txBody>
      </p:sp>
      <p:sp>
        <p:nvSpPr>
          <p:cNvPr id="5" name="TextBox 4"/>
          <p:cNvSpPr txBox="1"/>
          <p:nvPr/>
        </p:nvSpPr>
        <p:spPr>
          <a:xfrm>
            <a:off x="548640" y="1097280"/>
            <a:ext cx="11064240" cy="731520"/>
          </a:xfrm>
          <a:prstGeom prst="rect">
            <a:avLst/>
          </a:prstGeom>
          <a:noFill/>
        </p:spPr>
        <p:txBody>
          <a:bodyPr wrap="square" lIns="45720" rIns="45720" tIns="27432" bIns="27432" anchor="t">
            <a:spAutoFit/>
          </a:bodyPr>
          <a:lstStyle/>
          <a:p>
            <a:pPr algn="l">
              <a:lnSpc>
                <a:spcPct val="105000"/>
              </a:lnSpc>
              <a:spcAft>
                <a:spcPts val="0"/>
              </a:spcAft>
            </a:pPr>
            <a:r>
              <a:rPr sz="2000" b="0" i="0">
                <a:solidFill>
                  <a:srgbClr val="2A2218"/>
                </a:solidFill>
                <a:latin typeface="Times New Roman"/>
              </a:rPr>
              <a:t>Three practical steps to make the ledger work for Apple TV+.</a:t>
            </a:r>
          </a:p>
        </p:txBody>
      </p:sp>
      <p:sp>
        <p:nvSpPr>
          <p:cNvPr id="6" name="Rectangle 5"/>
          <p:cNvSpPr/>
          <p:nvPr/>
        </p:nvSpPr>
        <p:spPr>
          <a:xfrm>
            <a:off x="548640" y="201168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731520" cy="731520"/>
          </a:xfrm>
          <a:prstGeom prst="ellipse">
            <a:avLst/>
          </a:prstGeom>
          <a:solidFill>
            <a:srgbClr val="2F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1</a:t>
            </a:r>
          </a:p>
        </p:txBody>
      </p:sp>
      <p:sp>
        <p:nvSpPr>
          <p:cNvPr id="9" name="TextBox 8"/>
          <p:cNvSpPr txBox="1"/>
          <p:nvPr/>
        </p:nvSpPr>
        <p:spPr>
          <a:xfrm>
            <a:off x="1783080" y="212140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Set up a standing governance review</a:t>
            </a:r>
          </a:p>
        </p:txBody>
      </p:sp>
      <p:sp>
        <p:nvSpPr>
          <p:cNvPr id="10" name="TextBox 9"/>
          <p:cNvSpPr txBox="1"/>
          <p:nvPr/>
        </p:nvSpPr>
        <p:spPr>
          <a:xfrm>
            <a:off x="1783080" y="251460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Legal, Rights Ops and Finance meet every quarter to check the ledger still cuts cost and disputes as new territories and rights types are added.</a:t>
            </a:r>
          </a:p>
        </p:txBody>
      </p:sp>
      <p:sp>
        <p:nvSpPr>
          <p:cNvPr id="11" name="Rectangle 10"/>
          <p:cNvSpPr/>
          <p:nvPr/>
        </p:nvSpPr>
        <p:spPr>
          <a:xfrm>
            <a:off x="548640" y="342900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3703320"/>
            <a:ext cx="731520" cy="731520"/>
          </a:xfrm>
          <a:prstGeom prst="ellipse">
            <a:avLst/>
          </a:prstGeom>
          <a:solidFill>
            <a:srgbClr val="6E1E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0332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2</a:t>
            </a:r>
          </a:p>
        </p:txBody>
      </p:sp>
      <p:sp>
        <p:nvSpPr>
          <p:cNvPr id="14" name="TextBox 13"/>
          <p:cNvSpPr txBox="1"/>
          <p:nvPr/>
        </p:nvSpPr>
        <p:spPr>
          <a:xfrm>
            <a:off x="1783080" y="353872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Require dual sign-off before go-live</a:t>
            </a:r>
          </a:p>
        </p:txBody>
      </p:sp>
      <p:sp>
        <p:nvSpPr>
          <p:cNvPr id="15" name="TextBox 14"/>
          <p:cNvSpPr txBox="1"/>
          <p:nvPr/>
        </p:nvSpPr>
        <p:spPr>
          <a:xfrm>
            <a:off x="1783080" y="393192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A legal and a technical sign-off on every smart contract that controls live payments, with a manual override and a freeze for disputed payments.</a:t>
            </a:r>
          </a:p>
        </p:txBody>
      </p:sp>
      <p:sp>
        <p:nvSpPr>
          <p:cNvPr id="16" name="Rectangle 15"/>
          <p:cNvSpPr/>
          <p:nvPr/>
        </p:nvSpPr>
        <p:spPr>
          <a:xfrm>
            <a:off x="548640" y="4846320"/>
            <a:ext cx="11091672" cy="1280160"/>
          </a:xfrm>
          <a:prstGeom prst="rect">
            <a:avLst/>
          </a:prstGeom>
          <a:solidFill>
            <a:srgbClr val="FBF7EC"/>
          </a:solidFill>
          <a:ln w="12700">
            <a:solidFill>
              <a:srgbClr val="EAE0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120640"/>
            <a:ext cx="731520" cy="731520"/>
          </a:xfrm>
          <a:prstGeom prst="ellipse">
            <a:avLst/>
          </a:prstGeom>
          <a:solidFill>
            <a:srgbClr val="B38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20640"/>
            <a:ext cx="731520" cy="731520"/>
          </a:xfrm>
          <a:prstGeom prst="rect">
            <a:avLst/>
          </a:prstGeom>
          <a:noFill/>
        </p:spPr>
        <p:txBody>
          <a:bodyPr wrap="square" lIns="45720" rIns="45720" tIns="27432" bIns="27432" anchor="ctr">
            <a:spAutoFit/>
          </a:bodyPr>
          <a:lstStyle/>
          <a:p>
            <a:pPr algn="ctr">
              <a:lnSpc>
                <a:spcPct val="105000"/>
              </a:lnSpc>
              <a:spcAft>
                <a:spcPts val="0"/>
              </a:spcAft>
            </a:pPr>
            <a:r>
              <a:rPr sz="2800" b="1" i="0">
                <a:solidFill>
                  <a:srgbClr val="FFFFFF"/>
                </a:solidFill>
                <a:latin typeface="Times New Roman"/>
              </a:rPr>
              <a:t>3</a:t>
            </a:r>
          </a:p>
        </p:txBody>
      </p:sp>
      <p:sp>
        <p:nvSpPr>
          <p:cNvPr id="19" name="TextBox 18"/>
          <p:cNvSpPr txBox="1"/>
          <p:nvPr/>
        </p:nvSpPr>
        <p:spPr>
          <a:xfrm>
            <a:off x="1783080" y="4956048"/>
            <a:ext cx="9601200" cy="365760"/>
          </a:xfrm>
          <a:prstGeom prst="rect">
            <a:avLst/>
          </a:prstGeom>
          <a:noFill/>
        </p:spPr>
        <p:txBody>
          <a:bodyPr wrap="square" lIns="45720" rIns="45720" tIns="27432" bIns="27432" anchor="t">
            <a:spAutoFit/>
          </a:bodyPr>
          <a:lstStyle/>
          <a:p>
            <a:pPr algn="l">
              <a:lnSpc>
                <a:spcPct val="105000"/>
              </a:lnSpc>
              <a:spcAft>
                <a:spcPts val="0"/>
              </a:spcAft>
            </a:pPr>
            <a:r>
              <a:rPr sz="1800" b="1" i="0">
                <a:solidFill>
                  <a:srgbClr val="2A2218"/>
                </a:solidFill>
                <a:latin typeface="Times New Roman"/>
              </a:rPr>
              <a:t>Invest in relationships, not just technology</a:t>
            </a:r>
          </a:p>
        </p:txBody>
      </p:sp>
      <p:sp>
        <p:nvSpPr>
          <p:cNvPr id="20" name="TextBox 19"/>
          <p:cNvSpPr txBox="1"/>
          <p:nvPr/>
        </p:nvSpPr>
        <p:spPr>
          <a:xfrm>
            <a:off x="1783080" y="5349240"/>
            <a:ext cx="9601200" cy="731520"/>
          </a:xfrm>
          <a:prstGeom prst="rect">
            <a:avLst/>
          </a:prstGeom>
          <a:noFill/>
        </p:spPr>
        <p:txBody>
          <a:bodyPr wrap="square" lIns="45720" rIns="45720" tIns="27432" bIns="27432" anchor="t">
            <a:spAutoFit/>
          </a:bodyPr>
          <a:lstStyle/>
          <a:p>
            <a:pPr algn="l">
              <a:lnSpc>
                <a:spcPct val="105000"/>
              </a:lnSpc>
              <a:spcAft>
                <a:spcPts val="0"/>
              </a:spcAft>
            </a:pPr>
            <a:r>
              <a:rPr sz="1400" b="0" i="0">
                <a:solidFill>
                  <a:srgbClr val="2A2218"/>
                </a:solidFill>
                <a:latin typeface="Times New Roman"/>
              </a:rPr>
              <a:t>Give talent and rights holders visible payment history and clear timelines. Competitors will copy the tech; trust built over time is harder to copy.</a:t>
            </a:r>
          </a:p>
        </p:txBody>
      </p:sp>
      <p:sp>
        <p:nvSpPr>
          <p:cNvPr id="21" name="TextBox 20"/>
          <p:cNvSpPr txBox="1"/>
          <p:nvPr/>
        </p:nvSpPr>
        <p:spPr>
          <a:xfrm>
            <a:off x="11155680" y="6355080"/>
            <a:ext cx="822960" cy="365760"/>
          </a:xfrm>
          <a:prstGeom prst="rect">
            <a:avLst/>
          </a:prstGeom>
          <a:noFill/>
        </p:spPr>
        <p:txBody>
          <a:bodyPr wrap="square" lIns="45720" rIns="45720" tIns="27432" bIns="27432" anchor="t">
            <a:spAutoFit/>
          </a:bodyPr>
          <a:lstStyle/>
          <a:p>
            <a:pPr algn="r">
              <a:lnSpc>
                <a:spcPct val="105000"/>
              </a:lnSpc>
              <a:spcAft>
                <a:spcPts val="0"/>
              </a:spcAft>
            </a:pPr>
            <a:r>
              <a:rPr sz="1000" b="0" i="0">
                <a:solidFill>
                  <a:srgbClr val="7A7060"/>
                </a:solidFill>
                <a:latin typeface="Times New Roman"/>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4221</Words>
  <Application>Microsoft Office PowerPoint</Application>
  <PresentationFormat>Widescreen</PresentationFormat>
  <Paragraphs>143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Bindu Baral</dc:creator>
  <cp:lastModifiedBy>Bindu Baral</cp:lastModifiedBy>
  <cp:revision>20</cp:revision>
  <dcterms:created xsi:type="dcterms:W3CDTF">2026-09-13T09:18:07Z</dcterms:created>
  <dcterms:modified xsi:type="dcterms:W3CDTF">2026-09-13T11:14:21Z</dcterms:modified>
</cp:coreProperties>
</file>