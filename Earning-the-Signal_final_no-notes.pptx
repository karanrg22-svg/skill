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5FB"/>
        </a:solidFill>
      </p:bgPr>
    </p:bg>
    <p:spTree>
      <p:nvGrpSpPr>
        <p:cNvPr id="1" name=""/>
        <p:cNvGrpSpPr/>
        <p:nvPr/>
      </p:nvGrpSpPr>
      <p:grpSpPr>
        <a:xfrm>
          <a:off x="0" y="0"/>
          <a:ext cx="0" cy="0"/>
          <a:chOff x="0" y="0"/>
          <a:chExt cx="0" cy="0"/>
        </a:xfrm>
      </p:grpSpPr>
      <p:sp>
        <p:nvSpPr>
          <p:cNvPr id="2" name="Text 0"/>
          <p:cNvSpPr txBox="1"/>
          <p:nvPr/>
        </p:nvSpPr>
        <p:spPr>
          <a:xfrm>
            <a:off x="10332720" y="137160"/>
            <a:ext cx="1463040" cy="274320"/>
          </a:xfrm>
          <a:prstGeom prst="rect">
            <a:avLst/>
          </a:prstGeom>
          <a:noFill/>
          <a:ln/>
        </p:spPr>
        <p:txBody>
          <a:bodyPr wrap="square" lIns="0" tIns="0" rIns="0" bIns="0" rtlCol="0" anchor="t"/>
          <a:lstStyle/>
          <a:p>
            <a:pPr algn="r" indent="0" marL="0">
              <a:buNone/>
            </a:pPr>
            <a:r>
              <a:rPr lang="en-US" sz="1100" dirty="0">
                <a:solidFill>
                  <a:srgbClr val="6B7590"/>
                </a:solidFill>
                <a:latin typeface="Calibri" pitchFamily="34" charset="0"/>
                <a:ea typeface="Calibri" pitchFamily="34" charset="-122"/>
                <a:cs typeface="Calibri" pitchFamily="34" charset="-120"/>
              </a:rPr>
              <a:t>Intro</a:t>
            </a:r>
            <a:endParaRPr lang="en-US" sz="1100" dirty="0"/>
          </a:p>
        </p:txBody>
      </p:sp>
      <p:sp>
        <p:nvSpPr>
          <p:cNvPr id="3" name="Text 1"/>
          <p:cNvSpPr txBox="1"/>
          <p:nvPr/>
        </p:nvSpPr>
        <p:spPr>
          <a:xfrm>
            <a:off x="914400" y="1371600"/>
            <a:ext cx="10332720" cy="1005840"/>
          </a:xfrm>
          <a:prstGeom prst="rect">
            <a:avLst/>
          </a:prstGeom>
          <a:noFill/>
          <a:ln/>
        </p:spPr>
        <p:txBody>
          <a:bodyPr wrap="square" lIns="0" tIns="0" rIns="0" bIns="0"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Using a Recommendation Engine at Apple TV+</a:t>
            </a:r>
            <a:endParaRPr lang="en-US" sz="4000" dirty="0"/>
          </a:p>
        </p:txBody>
      </p:sp>
      <p:sp>
        <p:nvSpPr>
          <p:cNvPr id="4" name="Text 2"/>
          <p:cNvSpPr txBox="1"/>
          <p:nvPr/>
        </p:nvSpPr>
        <p:spPr>
          <a:xfrm>
            <a:off x="914400" y="2468880"/>
            <a:ext cx="10332720" cy="548640"/>
          </a:xfrm>
          <a:prstGeom prst="rect">
            <a:avLst/>
          </a:prstGeom>
          <a:noFill/>
          <a:ln/>
        </p:spPr>
        <p:txBody>
          <a:bodyPr wrap="square" lIns="0" tIns="0" rIns="0" bIns="0" rtlCol="0" anchor="t"/>
          <a:lstStyle/>
          <a:p>
            <a:pPr algn="ctr" indent="0" marL="0">
              <a:buNone/>
            </a:pPr>
            <a:r>
              <a:rPr lang="en-US" sz="2200" dirty="0">
                <a:solidFill>
                  <a:srgbClr val="1E56A0"/>
                </a:solidFill>
                <a:latin typeface="Calibri" pitchFamily="34" charset="0"/>
                <a:ea typeface="Calibri" pitchFamily="34" charset="-122"/>
                <a:cs typeface="Calibri" pitchFamily="34" charset="-120"/>
              </a:rPr>
              <a:t>Personalisation without limiting creativity</a:t>
            </a:r>
            <a:endParaRPr lang="en-US" sz="2200" dirty="0"/>
          </a:p>
        </p:txBody>
      </p:sp>
      <p:sp>
        <p:nvSpPr>
          <p:cNvPr id="5" name="Text 3"/>
          <p:cNvSpPr txBox="1"/>
          <p:nvPr/>
        </p:nvSpPr>
        <p:spPr>
          <a:xfrm>
            <a:off x="1828800" y="3383280"/>
            <a:ext cx="8503920" cy="1920240"/>
          </a:xfrm>
          <a:prstGeom prst="rect">
            <a:avLst/>
          </a:prstGeom>
          <a:noFill/>
          <a:ln/>
        </p:spPr>
        <p:txBody>
          <a:bodyPr wrap="square" lIns="0" tIns="0" rIns="0" bIns="0" rtlCol="0" anchor="t"/>
          <a:lstStyle/>
          <a:p>
            <a:pPr algn="ctr" indent="0" marL="0">
              <a:spcAft>
                <a:spcPts val="800"/>
              </a:spcAft>
              <a:buNone/>
            </a:pPr>
            <a:r>
              <a:rPr lang="en-US" sz="1600" dirty="0">
                <a:solidFill>
                  <a:srgbClr val="27314D"/>
                </a:solidFill>
                <a:latin typeface="Calibri" pitchFamily="34" charset="0"/>
                <a:ea typeface="Calibri" pitchFamily="34" charset="-122"/>
                <a:cs typeface="Calibri" pitchFamily="34" charset="-120"/>
              </a:rPr>
              <a:t>I am presenting as Apple TV+’s Digital Transformation Consultant.</a:t>
            </a:r>
            <a:endParaRPr lang="en-US" sz="1600" dirty="0"/>
          </a:p>
          <a:p>
            <a:pPr algn="ctr" indent="0" marL="0">
              <a:spcAft>
                <a:spcPts val="800"/>
              </a:spcAft>
              <a:buNone/>
            </a:pPr>
            <a:r>
              <a:rPr lang="en-US" sz="1600" dirty="0">
                <a:solidFill>
                  <a:srgbClr val="27314D"/>
                </a:solidFill>
                <a:latin typeface="Calibri" pitchFamily="34" charset="0"/>
                <a:ea typeface="Calibri" pitchFamily="34" charset="-122"/>
                <a:cs typeface="Calibri" pitchFamily="34" charset="-120"/>
              </a:rPr>
              <a:t>Purpose: to analyse how a machine-learning recommendation engine could help Apple TV+ use data without limiting creativity.</a:t>
            </a:r>
            <a:endParaRPr lang="en-US" sz="1600" dirty="0"/>
          </a:p>
          <a:p>
            <a:pPr algn="ctr" indent="0" marL="0">
              <a:spcAft>
                <a:spcPts val="800"/>
              </a:spcAft>
              <a:buNone/>
            </a:pPr>
            <a:r>
              <a:rPr lang="en-US" sz="1600" dirty="0">
                <a:solidFill>
                  <a:srgbClr val="27314D"/>
                </a:solidFill>
                <a:latin typeface="Calibri" pitchFamily="34" charset="0"/>
                <a:ea typeface="Calibri" pitchFamily="34" charset="-122"/>
                <a:cs typeface="Calibri" pitchFamily="34" charset="-120"/>
              </a:rPr>
              <a:t>Structure: technology (Task 1), impact on creative teams (Task 2), and strategy, ethics and recommendations (Task 3).</a:t>
            </a:r>
            <a:endParaRPr lang="en-US" sz="1600" dirty="0"/>
          </a:p>
        </p:txBody>
      </p:sp>
      <p:sp>
        <p:nvSpPr>
          <p:cNvPr id="6" name="Text 4"/>
          <p:cNvSpPr txBox="1"/>
          <p:nvPr/>
        </p:nvSpPr>
        <p:spPr>
          <a:xfrm>
            <a:off x="914400" y="5669280"/>
            <a:ext cx="10332720" cy="365760"/>
          </a:xfrm>
          <a:prstGeom prst="rect">
            <a:avLst/>
          </a:prstGeom>
          <a:noFill/>
          <a:ln/>
        </p:spPr>
        <p:txBody>
          <a:bodyPr wrap="square" lIns="0" tIns="0" rIns="0" bIns="0" rtlCol="0" anchor="t"/>
          <a:lstStyle/>
          <a:p>
            <a:pPr algn="ctr" indent="0" marL="0">
              <a:buNone/>
            </a:pPr>
            <a:r>
              <a:rPr lang="en-US" sz="1600" b="1" dirty="0">
                <a:solidFill>
                  <a:srgbClr val="1E2761"/>
                </a:solidFill>
                <a:latin typeface="Calibri" pitchFamily="34" charset="0"/>
                <a:ea typeface="Calibri" pitchFamily="34" charset="-122"/>
                <a:cs typeface="Calibri" pitchFamily="34" charset="-120"/>
              </a:rPr>
              <a:t>SRN: [enter your SRN]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692640"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Apple TV+ and the Challenge</a:t>
            </a:r>
            <a:endParaRPr lang="en-US" sz="3000" dirty="0"/>
          </a:p>
        </p:txBody>
      </p:sp>
      <p:sp>
        <p:nvSpPr>
          <p:cNvPr id="3" name="Text 1"/>
          <p:cNvSpPr txBox="1"/>
          <p:nvPr/>
        </p:nvSpPr>
        <p:spPr>
          <a:xfrm>
            <a:off x="10332720" y="137160"/>
            <a:ext cx="1463040" cy="274320"/>
          </a:xfrm>
          <a:prstGeom prst="rect">
            <a:avLst/>
          </a:prstGeom>
          <a:noFill/>
          <a:ln/>
        </p:spPr>
        <p:txBody>
          <a:bodyPr wrap="square" lIns="0" tIns="0" rIns="0" bIns="0" rtlCol="0" anchor="t"/>
          <a:lstStyle/>
          <a:p>
            <a:pPr algn="r" indent="0" marL="0">
              <a:buNone/>
            </a:pPr>
            <a:r>
              <a:rPr lang="en-US" sz="1100" dirty="0">
                <a:solidFill>
                  <a:srgbClr val="6B7590"/>
                </a:solidFill>
                <a:latin typeface="Calibri" pitchFamily="34" charset="0"/>
                <a:ea typeface="Calibri" pitchFamily="34" charset="-122"/>
                <a:cs typeface="Calibri" pitchFamily="34" charset="-120"/>
              </a:rPr>
              <a:t>Intro</a:t>
            </a:r>
            <a:endParaRPr lang="en-US" sz="1100" dirty="0"/>
          </a:p>
        </p:txBody>
      </p:sp>
      <p:sp>
        <p:nvSpPr>
          <p:cNvPr id="4" name="Text 2"/>
          <p:cNvSpPr txBox="1"/>
          <p:nvPr/>
        </p:nvSpPr>
        <p:spPr>
          <a:xfrm>
            <a:off x="548640" y="1371600"/>
            <a:ext cx="1737360" cy="914400"/>
          </a:xfrm>
          <a:prstGeom prst="rect">
            <a:avLst/>
          </a:prstGeom>
          <a:noFill/>
          <a:ln/>
        </p:spPr>
        <p:txBody>
          <a:bodyPr wrap="square" lIns="0" tIns="0" rIns="0" bIns="0"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What it is</a:t>
            </a:r>
            <a:endParaRPr lang="en-US" sz="1500" dirty="0"/>
          </a:p>
        </p:txBody>
      </p:sp>
      <p:sp>
        <p:nvSpPr>
          <p:cNvPr id="5" name="Text 3"/>
          <p:cNvSpPr txBox="1"/>
          <p:nvPr/>
        </p:nvSpPr>
        <p:spPr>
          <a:xfrm>
            <a:off x="2286000" y="1371600"/>
            <a:ext cx="4937760" cy="1051560"/>
          </a:xfrm>
          <a:prstGeom prst="rect">
            <a:avLst/>
          </a:prstGeom>
          <a:noFill/>
          <a:ln/>
        </p:spPr>
        <p:txBody>
          <a:bodyPr wrap="square" lIns="0" tIns="0" rIns="0" bIns="0" rtlCol="0" anchor="t"/>
          <a:lstStyle/>
          <a:p>
            <a:pPr indent="0" marL="0">
              <a:buNone/>
            </a:pPr>
            <a:r>
              <a:rPr lang="en-US" sz="1400" dirty="0">
                <a:solidFill>
                  <a:srgbClr val="27314D"/>
                </a:solidFill>
                <a:latin typeface="Calibri" pitchFamily="34" charset="0"/>
                <a:ea typeface="Calibri" pitchFamily="34" charset="-122"/>
                <a:cs typeface="Calibri" pitchFamily="34" charset="-120"/>
              </a:rPr>
              <a:t>Apple TV+ is an original-content subscription service. It competes on the quality of its programmes rather than the size of its library, so each title carries more weight.</a:t>
            </a:r>
            <a:endParaRPr lang="en-US" sz="1400" dirty="0"/>
          </a:p>
        </p:txBody>
      </p:sp>
      <p:sp>
        <p:nvSpPr>
          <p:cNvPr id="6" name="Text 4"/>
          <p:cNvSpPr txBox="1"/>
          <p:nvPr/>
        </p:nvSpPr>
        <p:spPr>
          <a:xfrm>
            <a:off x="548640" y="2560320"/>
            <a:ext cx="1737360" cy="914400"/>
          </a:xfrm>
          <a:prstGeom prst="rect">
            <a:avLst/>
          </a:prstGeom>
          <a:noFill/>
          <a:ln/>
        </p:spPr>
        <p:txBody>
          <a:bodyPr wrap="square" lIns="0" tIns="0" rIns="0" bIns="0"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Ecosystem</a:t>
            </a:r>
            <a:endParaRPr lang="en-US" sz="1500" dirty="0"/>
          </a:p>
        </p:txBody>
      </p:sp>
      <p:sp>
        <p:nvSpPr>
          <p:cNvPr id="7" name="Text 5"/>
          <p:cNvSpPr txBox="1"/>
          <p:nvPr/>
        </p:nvSpPr>
        <p:spPr>
          <a:xfrm>
            <a:off x="2286000" y="2560320"/>
            <a:ext cx="4937760" cy="1051560"/>
          </a:xfrm>
          <a:prstGeom prst="rect">
            <a:avLst/>
          </a:prstGeom>
          <a:noFill/>
          <a:ln/>
        </p:spPr>
        <p:txBody>
          <a:bodyPr wrap="square" lIns="0" tIns="0" rIns="0" bIns="0" rtlCol="0" anchor="t"/>
          <a:lstStyle/>
          <a:p>
            <a:pPr indent="0" marL="0">
              <a:buNone/>
            </a:pPr>
            <a:r>
              <a:rPr lang="en-US" sz="1400" dirty="0">
                <a:solidFill>
                  <a:srgbClr val="27314D"/>
                </a:solidFill>
                <a:latin typeface="Calibri" pitchFamily="34" charset="0"/>
                <a:ea typeface="Calibri" pitchFamily="34" charset="-122"/>
                <a:cs typeface="Calibri" pitchFamily="34" charset="-120"/>
              </a:rPr>
              <a:t>Content is integrated across iPhone, iPad and other Apple devices, so the viewing experience follows the subscriber from screen to screen.</a:t>
            </a:r>
            <a:endParaRPr lang="en-US" sz="1400" dirty="0"/>
          </a:p>
        </p:txBody>
      </p:sp>
      <p:sp>
        <p:nvSpPr>
          <p:cNvPr id="8" name="Text 6"/>
          <p:cNvSpPr txBox="1"/>
          <p:nvPr/>
        </p:nvSpPr>
        <p:spPr>
          <a:xfrm>
            <a:off x="548640" y="3749040"/>
            <a:ext cx="1737360" cy="914400"/>
          </a:xfrm>
          <a:prstGeom prst="rect">
            <a:avLst/>
          </a:prstGeom>
          <a:noFill/>
          <a:ln/>
        </p:spPr>
        <p:txBody>
          <a:bodyPr wrap="square" lIns="0" tIns="0" rIns="0" bIns="0"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The challenge</a:t>
            </a:r>
            <a:endParaRPr lang="en-US" sz="1500" dirty="0"/>
          </a:p>
        </p:txBody>
      </p:sp>
      <p:sp>
        <p:nvSpPr>
          <p:cNvPr id="9" name="Text 7"/>
          <p:cNvSpPr txBox="1"/>
          <p:nvPr/>
        </p:nvSpPr>
        <p:spPr>
          <a:xfrm>
            <a:off x="2286000" y="3749040"/>
            <a:ext cx="4937760" cy="1051560"/>
          </a:xfrm>
          <a:prstGeom prst="rect">
            <a:avLst/>
          </a:prstGeom>
          <a:noFill/>
          <a:ln/>
        </p:spPr>
        <p:txBody>
          <a:bodyPr wrap="square" lIns="0" tIns="0" rIns="0" bIns="0" rtlCol="0" anchor="t"/>
          <a:lstStyle/>
          <a:p>
            <a:pPr indent="0" marL="0">
              <a:buNone/>
            </a:pPr>
            <a:r>
              <a:rPr lang="en-US" sz="1400" dirty="0">
                <a:solidFill>
                  <a:srgbClr val="27314D"/>
                </a:solidFill>
                <a:latin typeface="Calibri" pitchFamily="34" charset="0"/>
                <a:ea typeface="Calibri" pitchFamily="34" charset="-122"/>
                <a:cs typeface="Calibri" pitchFamily="34" charset="-120"/>
              </a:rPr>
              <a:t>Using data to improve recommendations without limiting creativity.</a:t>
            </a:r>
            <a:endParaRPr lang="en-US" sz="1400" dirty="0"/>
          </a:p>
        </p:txBody>
      </p:sp>
      <p:sp>
        <p:nvSpPr>
          <p:cNvPr id="10" name="Text 8"/>
          <p:cNvSpPr txBox="1"/>
          <p:nvPr/>
        </p:nvSpPr>
        <p:spPr>
          <a:xfrm>
            <a:off x="548640" y="4937760"/>
            <a:ext cx="1737360" cy="914400"/>
          </a:xfrm>
          <a:prstGeom prst="rect">
            <a:avLst/>
          </a:prstGeom>
          <a:noFill/>
          <a:ln/>
        </p:spPr>
        <p:txBody>
          <a:bodyPr wrap="square" lIns="0" tIns="0" rIns="0" bIns="0"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Why it matters</a:t>
            </a:r>
            <a:endParaRPr lang="en-US" sz="1500" dirty="0"/>
          </a:p>
        </p:txBody>
      </p:sp>
      <p:sp>
        <p:nvSpPr>
          <p:cNvPr id="11" name="Text 9"/>
          <p:cNvSpPr txBox="1"/>
          <p:nvPr/>
        </p:nvSpPr>
        <p:spPr>
          <a:xfrm>
            <a:off x="2286000" y="4937760"/>
            <a:ext cx="4937760" cy="1051560"/>
          </a:xfrm>
          <a:prstGeom prst="rect">
            <a:avLst/>
          </a:prstGeom>
          <a:noFill/>
          <a:ln/>
        </p:spPr>
        <p:txBody>
          <a:bodyPr wrap="square" lIns="0" tIns="0" rIns="0" bIns="0" rtlCol="0" anchor="t"/>
          <a:lstStyle/>
          <a:p>
            <a:pPr indent="0" marL="0">
              <a:buNone/>
            </a:pPr>
            <a:r>
              <a:rPr lang="en-US" sz="1400" dirty="0">
                <a:solidFill>
                  <a:srgbClr val="27314D"/>
                </a:solidFill>
                <a:latin typeface="Calibri" pitchFamily="34" charset="0"/>
                <a:ea typeface="Calibri" pitchFamily="34" charset="-122"/>
                <a:cs typeface="Calibri" pitchFamily="34" charset="-120"/>
              </a:rPr>
              <a:t>Retention, competition with Netflix, Prime Video and Disney+, and the tension between creative and data-driven decisions inside the organisation.</a:t>
            </a:r>
            <a:endParaRPr lang="en-US" sz="1400" dirty="0"/>
          </a:p>
        </p:txBody>
      </p:sp>
      <p:sp>
        <p:nvSpPr>
          <p:cNvPr id="12" name="Shape 10"/>
          <p:cNvSpPr/>
          <p:nvPr/>
        </p:nvSpPr>
        <p:spPr>
          <a:xfrm>
            <a:off x="7772400" y="1371600"/>
            <a:ext cx="3840480" cy="4480560"/>
          </a:xfrm>
          <a:prstGeom prst="roundRect">
            <a:avLst>
              <a:gd name="adj" fmla="val 1905"/>
            </a:avLst>
          </a:prstGeom>
          <a:solidFill>
            <a:srgbClr val="F2F5FB"/>
          </a:solidFill>
          <a:ln w="12700">
            <a:solidFill>
              <a:srgbClr val="CADCFC"/>
            </a:solidFill>
            <a:prstDash val="solid"/>
          </a:ln>
        </p:spPr>
      </p:sp>
      <p:sp>
        <p:nvSpPr>
          <p:cNvPr id="13" name="Text 11"/>
          <p:cNvSpPr txBox="1"/>
          <p:nvPr/>
        </p:nvSpPr>
        <p:spPr>
          <a:xfrm>
            <a:off x="7955280" y="1645920"/>
            <a:ext cx="3474720" cy="1097280"/>
          </a:xfrm>
          <a:prstGeom prst="rect">
            <a:avLst/>
          </a:prstGeom>
          <a:noFill/>
          <a:ln/>
        </p:spPr>
        <p:txBody>
          <a:bodyPr wrap="square" lIns="0" tIns="0" rIns="0" bIns="0" rtlCol="0" anchor="ctr"/>
          <a:lstStyle/>
          <a:p>
            <a:pPr algn="ctr" indent="0" marL="0">
              <a:buNone/>
            </a:pPr>
            <a:r>
              <a:rPr lang="en-US" sz="6000" b="1" dirty="0">
                <a:solidFill>
                  <a:srgbClr val="1E2761"/>
                </a:solidFill>
                <a:latin typeface="Cambria" pitchFamily="34" charset="0"/>
                <a:ea typeface="Cambria" pitchFamily="34" charset="-122"/>
                <a:cs typeface="Cambria" pitchFamily="34" charset="-120"/>
              </a:rPr>
              <a:t>37.2%</a:t>
            </a:r>
            <a:endParaRPr lang="en-US" sz="6000" dirty="0"/>
          </a:p>
        </p:txBody>
      </p:sp>
      <p:sp>
        <p:nvSpPr>
          <p:cNvPr id="14" name="Text 12"/>
          <p:cNvSpPr txBox="1"/>
          <p:nvPr/>
        </p:nvSpPr>
        <p:spPr>
          <a:xfrm>
            <a:off x="8046720" y="2743200"/>
            <a:ext cx="3291840" cy="1554480"/>
          </a:xfrm>
          <a:prstGeom prst="rect">
            <a:avLst/>
          </a:prstGeom>
          <a:noFill/>
          <a:ln/>
        </p:spPr>
        <p:txBody>
          <a:bodyPr wrap="square" lIns="0" tIns="0" rIns="0" bIns="0" rtlCol="0" anchor="t"/>
          <a:lstStyle/>
          <a:p>
            <a:pPr algn="ctr" indent="0" marL="0">
              <a:buNone/>
            </a:pPr>
            <a:r>
              <a:rPr lang="en-US" sz="1400" dirty="0">
                <a:solidFill>
                  <a:srgbClr val="27314D"/>
                </a:solidFill>
                <a:latin typeface="Calibri" pitchFamily="34" charset="0"/>
                <a:ea typeface="Calibri" pitchFamily="34" charset="-122"/>
                <a:cs typeface="Calibri" pitchFamily="34" charset="-120"/>
              </a:rPr>
              <a:t>of Apple TV+ gross subscriber additions were returning subscribers who had cancelled within the prior 12 months, the highest serial-churn rate in the industry (Antenna, 2024)</a:t>
            </a:r>
            <a:endParaRPr lang="en-US" sz="1400" dirty="0"/>
          </a:p>
        </p:txBody>
      </p:sp>
      <p:sp>
        <p:nvSpPr>
          <p:cNvPr id="15" name="Text 13"/>
          <p:cNvSpPr txBox="1"/>
          <p:nvPr/>
        </p:nvSpPr>
        <p:spPr>
          <a:xfrm>
            <a:off x="8046720" y="4343400"/>
            <a:ext cx="3291840" cy="1371600"/>
          </a:xfrm>
          <a:prstGeom prst="rect">
            <a:avLst/>
          </a:prstGeom>
          <a:noFill/>
          <a:ln/>
        </p:spPr>
        <p:txBody>
          <a:bodyPr wrap="square" lIns="0" tIns="0" rIns="0" bIns="0" rtlCol="0" anchor="t"/>
          <a:lstStyle/>
          <a:p>
            <a:pPr algn="ctr" indent="0" marL="0">
              <a:buNone/>
            </a:pPr>
            <a:r>
              <a:rPr lang="en-US" sz="1200" i="1" dirty="0">
                <a:solidFill>
                  <a:srgbClr val="6B7590"/>
                </a:solidFill>
                <a:latin typeface="Calibri" pitchFamily="34" charset="0"/>
                <a:ea typeface="Calibri" pitchFamily="34" charset="-122"/>
                <a:cs typeface="Calibri" pitchFamily="34" charset="-120"/>
              </a:rPr>
              <a:t>Industry context: monthly churn across major US streaming services rose from 5.1% to 6.3% (Nov 2022 to Nov 2023). Retaining a subscriber costs less than acquiring one (Reichheld, 2003).</a:t>
            </a:r>
            <a:endParaRPr lang="en-US" sz="1200" dirty="0"/>
          </a:p>
        </p:txBody>
      </p:sp>
      <p:sp>
        <p:nvSpPr>
          <p:cNvPr id="16" name="Text 14"/>
          <p:cNvSpPr txBox="1"/>
          <p:nvPr/>
        </p:nvSpPr>
        <p:spPr>
          <a:xfrm>
            <a:off x="548640" y="6263640"/>
            <a:ext cx="11064240" cy="365760"/>
          </a:xfrm>
          <a:prstGeom prst="rect">
            <a:avLst/>
          </a:prstGeom>
          <a:noFill/>
          <a:ln/>
        </p:spPr>
        <p:txBody>
          <a:bodyPr wrap="square" lIns="0" tIns="0" rIns="0" bIns="0" rtlCol="0" anchor="t"/>
          <a:lstStyle/>
          <a:p>
            <a:pPr indent="0" marL="0">
              <a:buNone/>
            </a:pPr>
            <a:r>
              <a:rPr lang="en-US" sz="1100" i="1" dirty="0">
                <a:solidFill>
                  <a:srgbClr val="6B7590"/>
                </a:solidFill>
                <a:latin typeface="Calibri" pitchFamily="34" charset="0"/>
                <a:ea typeface="Calibri" pitchFamily="34" charset="-122"/>
                <a:cs typeface="Calibri" pitchFamily="34" charset="-120"/>
              </a:rPr>
              <a:t>Source: Antenna (2024); industry churn as reported by ABC News.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692640"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Technology: A Recommendation Engine</a:t>
            </a:r>
            <a:endParaRPr lang="en-US" sz="3000" dirty="0"/>
          </a:p>
        </p:txBody>
      </p:sp>
      <p:sp>
        <p:nvSpPr>
          <p:cNvPr id="3" name="Text 1"/>
          <p:cNvSpPr txBox="1"/>
          <p:nvPr/>
        </p:nvSpPr>
        <p:spPr>
          <a:xfrm>
            <a:off x="10332720" y="137160"/>
            <a:ext cx="1463040" cy="274320"/>
          </a:xfrm>
          <a:prstGeom prst="rect">
            <a:avLst/>
          </a:prstGeom>
          <a:noFill/>
          <a:ln/>
        </p:spPr>
        <p:txBody>
          <a:bodyPr wrap="square" lIns="0" tIns="0" rIns="0" bIns="0" rtlCol="0" anchor="t"/>
          <a:lstStyle/>
          <a:p>
            <a:pPr algn="r" indent="0" marL="0">
              <a:buNone/>
            </a:pPr>
            <a:r>
              <a:rPr lang="en-US" sz="1100" dirty="0">
                <a:solidFill>
                  <a:srgbClr val="6B7590"/>
                </a:solidFill>
                <a:latin typeface="Calibri" pitchFamily="34" charset="0"/>
                <a:ea typeface="Calibri" pitchFamily="34" charset="-122"/>
                <a:cs typeface="Calibri" pitchFamily="34" charset="-120"/>
              </a:rPr>
              <a:t>Technology</a:t>
            </a:r>
            <a:endParaRPr lang="en-US" sz="1100" dirty="0"/>
          </a:p>
        </p:txBody>
      </p:sp>
      <p:sp>
        <p:nvSpPr>
          <p:cNvPr id="4" name="Text 2"/>
          <p:cNvSpPr txBox="1"/>
          <p:nvPr/>
        </p:nvSpPr>
        <p:spPr>
          <a:xfrm>
            <a:off x="548640" y="1280160"/>
            <a:ext cx="11064240" cy="914400"/>
          </a:xfrm>
          <a:prstGeom prst="rect">
            <a:avLst/>
          </a:prstGeom>
          <a:noFill/>
          <a:ln/>
        </p:spPr>
        <p:txBody>
          <a:bodyPr wrap="square" lIns="0" tIns="0" rIns="0" bIns="0" rtlCol="0" anchor="t"/>
          <a:lstStyle/>
          <a:p>
            <a:pPr indent="0" marL="0">
              <a:buNone/>
            </a:pPr>
            <a:r>
              <a:rPr lang="en-US" sz="1600" dirty="0">
                <a:solidFill>
                  <a:srgbClr val="27314D"/>
                </a:solidFill>
                <a:latin typeface="Calibri" pitchFamily="34" charset="0"/>
                <a:ea typeface="Calibri" pitchFamily="34" charset="-122"/>
                <a:cs typeface="Calibri" pitchFamily="34" charset="-120"/>
              </a:rPr>
              <a:t>A machine-learning recommendation engine learns from what viewers do and predicts what each viewer will want to watch next. Recommender systems help people choose among many options by drawing on patterns in collective behaviour (Resnick and Varian, 1997).</a:t>
            </a:r>
            <a:endParaRPr lang="en-US" sz="1600" dirty="0"/>
          </a:p>
        </p:txBody>
      </p:sp>
      <p:sp>
        <p:nvSpPr>
          <p:cNvPr id="5" name="Shape 3"/>
          <p:cNvSpPr/>
          <p:nvPr/>
        </p:nvSpPr>
        <p:spPr>
          <a:xfrm>
            <a:off x="548640" y="2377440"/>
            <a:ext cx="3108960" cy="2103120"/>
          </a:xfrm>
          <a:prstGeom prst="roundRect">
            <a:avLst>
              <a:gd name="adj" fmla="val 3478"/>
            </a:avLst>
          </a:prstGeom>
          <a:solidFill>
            <a:srgbClr val="F2F5FB"/>
          </a:solidFill>
          <a:ln w="12700">
            <a:solidFill>
              <a:srgbClr val="CADCFC"/>
            </a:solidFill>
            <a:prstDash val="solid"/>
          </a:ln>
        </p:spPr>
      </p:sp>
      <p:sp>
        <p:nvSpPr>
          <p:cNvPr id="6" name="Text 4"/>
          <p:cNvSpPr txBox="1"/>
          <p:nvPr/>
        </p:nvSpPr>
        <p:spPr>
          <a:xfrm>
            <a:off x="731520" y="2514600"/>
            <a:ext cx="2743200" cy="411480"/>
          </a:xfrm>
          <a:prstGeom prst="rect">
            <a:avLst/>
          </a:prstGeom>
          <a:noFill/>
          <a:ln/>
        </p:spPr>
        <p:txBody>
          <a:bodyPr wrap="square" lIns="0" tIns="0" rIns="0" bIns="0" rtlCol="0" anchor="t"/>
          <a:lstStyle/>
          <a:p>
            <a:pPr indent="0" marL="0">
              <a:buNone/>
            </a:pPr>
            <a:r>
              <a:rPr lang="en-US" sz="1800" b="1" dirty="0">
                <a:solidFill>
                  <a:srgbClr val="27314D"/>
                </a:solidFill>
                <a:latin typeface="Cambria" pitchFamily="34" charset="0"/>
                <a:ea typeface="Cambria" pitchFamily="34" charset="-122"/>
                <a:cs typeface="Cambria" pitchFamily="34" charset="-120"/>
              </a:rPr>
              <a:t>Input</a:t>
            </a:r>
            <a:endParaRPr lang="en-US" sz="1800" dirty="0"/>
          </a:p>
        </p:txBody>
      </p:sp>
      <p:sp>
        <p:nvSpPr>
          <p:cNvPr id="7" name="Text 5"/>
          <p:cNvSpPr txBox="1"/>
          <p:nvPr/>
        </p:nvSpPr>
        <p:spPr>
          <a:xfrm>
            <a:off x="731520" y="3017520"/>
            <a:ext cx="2743200" cy="1371600"/>
          </a:xfrm>
          <a:prstGeom prst="rect">
            <a:avLst/>
          </a:prstGeom>
          <a:noFill/>
          <a:ln/>
        </p:spPr>
        <p:txBody>
          <a:bodyPr wrap="square" lIns="0" tIns="0" rIns="0" bIns="0" rtlCol="0" anchor="t"/>
          <a:lstStyle/>
          <a:p>
            <a:pPr indent="0" marL="0">
              <a:buNone/>
            </a:pPr>
            <a:r>
              <a:rPr lang="en-US" sz="1500" dirty="0">
                <a:solidFill>
                  <a:srgbClr val="27314D"/>
                </a:solidFill>
                <a:latin typeface="Calibri" pitchFamily="34" charset="0"/>
                <a:ea typeface="Calibri" pitchFamily="34" charset="-122"/>
                <a:cs typeface="Calibri" pitchFamily="34" charset="-120"/>
              </a:rPr>
              <a:t>Viewing history, searches, and behaviour signals such as pauses and rewinds</a:t>
            </a:r>
            <a:endParaRPr lang="en-US" sz="1500" dirty="0"/>
          </a:p>
        </p:txBody>
      </p:sp>
      <p:sp>
        <p:nvSpPr>
          <p:cNvPr id="8" name="Shape 6"/>
          <p:cNvSpPr/>
          <p:nvPr/>
        </p:nvSpPr>
        <p:spPr>
          <a:xfrm>
            <a:off x="3794760" y="3246120"/>
            <a:ext cx="640080" cy="365760"/>
          </a:xfrm>
          <a:prstGeom prst="rightArrow">
            <a:avLst/>
          </a:prstGeom>
          <a:solidFill>
            <a:srgbClr val="1E56A0"/>
          </a:solidFill>
          <a:ln w="12700">
            <a:solidFill>
              <a:srgbClr val="1E56A0"/>
            </a:solidFill>
            <a:prstDash val="solid"/>
          </a:ln>
        </p:spPr>
      </p:sp>
      <p:sp>
        <p:nvSpPr>
          <p:cNvPr id="9" name="Shape 7"/>
          <p:cNvSpPr/>
          <p:nvPr/>
        </p:nvSpPr>
        <p:spPr>
          <a:xfrm>
            <a:off x="4526280" y="2377440"/>
            <a:ext cx="3108960" cy="2103120"/>
          </a:xfrm>
          <a:prstGeom prst="roundRect">
            <a:avLst>
              <a:gd name="adj" fmla="val 3478"/>
            </a:avLst>
          </a:prstGeom>
          <a:solidFill>
            <a:srgbClr val="1E2761"/>
          </a:solidFill>
          <a:ln w="12700">
            <a:solidFill>
              <a:srgbClr val="1E2761"/>
            </a:solidFill>
            <a:prstDash val="solid"/>
          </a:ln>
        </p:spPr>
      </p:sp>
      <p:sp>
        <p:nvSpPr>
          <p:cNvPr id="10" name="Text 8"/>
          <p:cNvSpPr txBox="1"/>
          <p:nvPr/>
        </p:nvSpPr>
        <p:spPr>
          <a:xfrm>
            <a:off x="4709160" y="2514600"/>
            <a:ext cx="2743200" cy="41148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Process</a:t>
            </a:r>
            <a:endParaRPr lang="en-US" sz="1800" dirty="0"/>
          </a:p>
        </p:txBody>
      </p:sp>
      <p:sp>
        <p:nvSpPr>
          <p:cNvPr id="11" name="Text 9"/>
          <p:cNvSpPr txBox="1"/>
          <p:nvPr/>
        </p:nvSpPr>
        <p:spPr>
          <a:xfrm>
            <a:off x="4709160" y="3017520"/>
            <a:ext cx="2743200" cy="137160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Machine learning finds patterns and predicts what each viewer wants next</a:t>
            </a:r>
            <a:endParaRPr lang="en-US" sz="1500" dirty="0"/>
          </a:p>
        </p:txBody>
      </p:sp>
      <p:sp>
        <p:nvSpPr>
          <p:cNvPr id="12" name="Shape 10"/>
          <p:cNvSpPr/>
          <p:nvPr/>
        </p:nvSpPr>
        <p:spPr>
          <a:xfrm>
            <a:off x="7772400" y="3246120"/>
            <a:ext cx="640080" cy="365760"/>
          </a:xfrm>
          <a:prstGeom prst="rightArrow">
            <a:avLst/>
          </a:prstGeom>
          <a:solidFill>
            <a:srgbClr val="1E56A0"/>
          </a:solidFill>
          <a:ln w="12700">
            <a:solidFill>
              <a:srgbClr val="1E56A0"/>
            </a:solidFill>
            <a:prstDash val="solid"/>
          </a:ln>
        </p:spPr>
      </p:sp>
      <p:sp>
        <p:nvSpPr>
          <p:cNvPr id="13" name="Shape 11"/>
          <p:cNvSpPr/>
          <p:nvPr/>
        </p:nvSpPr>
        <p:spPr>
          <a:xfrm>
            <a:off x="8503920" y="2377440"/>
            <a:ext cx="3108960" cy="2103120"/>
          </a:xfrm>
          <a:prstGeom prst="roundRect">
            <a:avLst>
              <a:gd name="adj" fmla="val 3478"/>
            </a:avLst>
          </a:prstGeom>
          <a:solidFill>
            <a:srgbClr val="F2F5FB"/>
          </a:solidFill>
          <a:ln w="12700">
            <a:solidFill>
              <a:srgbClr val="CADCFC"/>
            </a:solidFill>
            <a:prstDash val="solid"/>
          </a:ln>
        </p:spPr>
      </p:sp>
      <p:sp>
        <p:nvSpPr>
          <p:cNvPr id="14" name="Text 12"/>
          <p:cNvSpPr txBox="1"/>
          <p:nvPr/>
        </p:nvSpPr>
        <p:spPr>
          <a:xfrm>
            <a:off x="8686800" y="2514600"/>
            <a:ext cx="2743200" cy="411480"/>
          </a:xfrm>
          <a:prstGeom prst="rect">
            <a:avLst/>
          </a:prstGeom>
          <a:noFill/>
          <a:ln/>
        </p:spPr>
        <p:txBody>
          <a:bodyPr wrap="square" lIns="0" tIns="0" rIns="0" bIns="0" rtlCol="0" anchor="t"/>
          <a:lstStyle/>
          <a:p>
            <a:pPr indent="0" marL="0">
              <a:buNone/>
            </a:pPr>
            <a:r>
              <a:rPr lang="en-US" sz="1800" b="1" dirty="0">
                <a:solidFill>
                  <a:srgbClr val="27314D"/>
                </a:solidFill>
                <a:latin typeface="Cambria" pitchFamily="34" charset="0"/>
                <a:ea typeface="Cambria" pitchFamily="34" charset="-122"/>
                <a:cs typeface="Cambria" pitchFamily="34" charset="-120"/>
              </a:rPr>
              <a:t>Output</a:t>
            </a:r>
            <a:endParaRPr lang="en-US" sz="1800" dirty="0"/>
          </a:p>
        </p:txBody>
      </p:sp>
      <p:sp>
        <p:nvSpPr>
          <p:cNvPr id="15" name="Text 13"/>
          <p:cNvSpPr txBox="1"/>
          <p:nvPr/>
        </p:nvSpPr>
        <p:spPr>
          <a:xfrm>
            <a:off x="8686800" y="3017520"/>
            <a:ext cx="2743200" cy="1371600"/>
          </a:xfrm>
          <a:prstGeom prst="rect">
            <a:avLst/>
          </a:prstGeom>
          <a:noFill/>
          <a:ln/>
        </p:spPr>
        <p:txBody>
          <a:bodyPr wrap="square" lIns="0" tIns="0" rIns="0" bIns="0" rtlCol="0" anchor="t"/>
          <a:lstStyle/>
          <a:p>
            <a:pPr indent="0" marL="0">
              <a:buNone/>
            </a:pPr>
            <a:r>
              <a:rPr lang="en-US" sz="1500" dirty="0">
                <a:solidFill>
                  <a:srgbClr val="27314D"/>
                </a:solidFill>
                <a:latin typeface="Calibri" pitchFamily="34" charset="0"/>
                <a:ea typeface="Calibri" pitchFamily="34" charset="-122"/>
                <a:cs typeface="Calibri" pitchFamily="34" charset="-120"/>
              </a:rPr>
              <a:t>A personalised home screen and “what to watch next” suggestions</a:t>
            </a:r>
            <a:endParaRPr lang="en-US" sz="1500" dirty="0"/>
          </a:p>
        </p:txBody>
      </p:sp>
      <p:sp>
        <p:nvSpPr>
          <p:cNvPr id="16" name="Text 14"/>
          <p:cNvSpPr txBox="1"/>
          <p:nvPr/>
        </p:nvSpPr>
        <p:spPr>
          <a:xfrm>
            <a:off x="548640" y="6263640"/>
            <a:ext cx="11064240" cy="365760"/>
          </a:xfrm>
          <a:prstGeom prst="rect">
            <a:avLst/>
          </a:prstGeom>
          <a:noFill/>
          <a:ln/>
        </p:spPr>
        <p:txBody>
          <a:bodyPr wrap="square" lIns="0" tIns="0" rIns="0" bIns="0" rtlCol="0" anchor="t"/>
          <a:lstStyle/>
          <a:p>
            <a:pPr indent="0" marL="0">
              <a:buNone/>
            </a:pPr>
            <a:r>
              <a:rPr lang="en-US" sz="1100" i="1" dirty="0">
                <a:solidFill>
                  <a:srgbClr val="6B7590"/>
                </a:solidFill>
                <a:latin typeface="Calibri" pitchFamily="34" charset="0"/>
                <a:ea typeface="Calibri" pitchFamily="34" charset="-122"/>
                <a:cs typeface="Calibri" pitchFamily="34" charset="-120"/>
              </a:rPr>
              <a:t>Figure 1: Input, process and output of a recommendation engine. Adapted from Resnick and Varian (1997) and Gomez-Uribe and Hunt (2015).</a:t>
            </a:r>
            <a:endParaRPr lang="en-US" sz="1100" dirty="0"/>
          </a:p>
        </p:txBody>
      </p:sp>
      <p:sp>
        <p:nvSpPr>
          <p:cNvPr id="17" name="Text 15"/>
          <p:cNvSpPr txBox="1"/>
          <p:nvPr/>
        </p:nvSpPr>
        <p:spPr>
          <a:xfrm>
            <a:off x="548640" y="4846320"/>
            <a:ext cx="11064240" cy="1280160"/>
          </a:xfrm>
          <a:prstGeom prst="rect">
            <a:avLst/>
          </a:prstGeom>
          <a:noFill/>
          <a:ln/>
        </p:spPr>
        <p:txBody>
          <a:bodyPr wrap="square" lIns="0" tIns="0" rIns="0" bIns="0" rtlCol="0" anchor="t"/>
          <a:lstStyle/>
          <a:p>
            <a:pPr indent="0" marL="0">
              <a:spcAft>
                <a:spcPts val="800"/>
              </a:spcAft>
              <a:buNone/>
            </a:pPr>
            <a:r>
              <a:rPr lang="en-US" sz="1500" b="1" dirty="0">
                <a:solidFill>
                  <a:srgbClr val="1E2761"/>
                </a:solidFill>
                <a:latin typeface="Calibri" pitchFamily="34" charset="0"/>
                <a:ea typeface="Calibri" pitchFamily="34" charset="-122"/>
                <a:cs typeface="Calibri" pitchFamily="34" charset="-120"/>
              </a:rPr>
              <a:t>Example: </a:t>
            </a:r>
            <a:pPr indent="0" marL="0">
              <a:spcAft>
                <a:spcPts val="800"/>
              </a:spcAft>
              <a:buNone/>
            </a:pPr>
            <a:r>
              <a:rPr lang="en-US" sz="1500" dirty="0">
                <a:solidFill>
                  <a:srgbClr val="27314D"/>
                </a:solidFill>
                <a:latin typeface="Calibri" pitchFamily="34" charset="0"/>
                <a:ea typeface="Calibri" pitchFamily="34" charset="-122"/>
                <a:cs typeface="Calibri" pitchFamily="34" charset="-120"/>
              </a:rPr>
              <a:t>Netflix personalises rows and titles for each member, and estimates the system is worth over $1 billion a year in retained subscribers (Gomez-Uribe and Hunt, 2015).</a:t>
            </a:r>
            <a:endParaRPr lang="en-US" sz="1500" dirty="0"/>
          </a:p>
          <a:p>
            <a:pPr indent="0" marL="0">
              <a:spcAft>
                <a:spcPts val="800"/>
              </a:spcAft>
              <a:buNone/>
            </a:pPr>
            <a:r>
              <a:rPr lang="en-US" sz="1500" b="1" dirty="0">
                <a:solidFill>
                  <a:srgbClr val="1E2761"/>
                </a:solidFill>
                <a:latin typeface="Calibri" pitchFamily="34" charset="0"/>
                <a:ea typeface="Calibri" pitchFamily="34" charset="-122"/>
                <a:cs typeface="Calibri" pitchFamily="34" charset="-120"/>
              </a:rPr>
              <a:t>Apple’s disclosure: </a:t>
            </a:r>
            <a:pPr indent="0" marL="0">
              <a:spcAft>
                <a:spcPts val="800"/>
              </a:spcAft>
              <a:buNone/>
            </a:pPr>
            <a:r>
              <a:rPr lang="en-US" sz="1500" dirty="0">
                <a:solidFill>
                  <a:srgbClr val="27314D"/>
                </a:solidFill>
                <a:latin typeface="Calibri" pitchFamily="34" charset="0"/>
                <a:ea typeface="Calibri" pitchFamily="34" charset="-122"/>
                <a:cs typeface="Calibri" pitchFamily="34" charset="-120"/>
              </a:rPr>
              <a:t>viewing and activity data is collected “to tailor features and offer personalised recommendations” (Apple Inc., 2025).</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692640"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How the Engine Addresses the Challenge</a:t>
            </a:r>
            <a:endParaRPr lang="en-US" sz="3000" dirty="0"/>
          </a:p>
        </p:txBody>
      </p:sp>
      <p:sp>
        <p:nvSpPr>
          <p:cNvPr id="3" name="Text 1"/>
          <p:cNvSpPr txBox="1"/>
          <p:nvPr/>
        </p:nvSpPr>
        <p:spPr>
          <a:xfrm>
            <a:off x="10332720" y="137160"/>
            <a:ext cx="1463040" cy="274320"/>
          </a:xfrm>
          <a:prstGeom prst="rect">
            <a:avLst/>
          </a:prstGeom>
          <a:noFill/>
          <a:ln/>
        </p:spPr>
        <p:txBody>
          <a:bodyPr wrap="square" lIns="0" tIns="0" rIns="0" bIns="0" rtlCol="0" anchor="t"/>
          <a:lstStyle/>
          <a:p>
            <a:pPr algn="r" indent="0" marL="0">
              <a:buNone/>
            </a:pPr>
            <a:r>
              <a:rPr lang="en-US" sz="1100" dirty="0">
                <a:solidFill>
                  <a:srgbClr val="6B7590"/>
                </a:solidFill>
                <a:latin typeface="Calibri" pitchFamily="34" charset="0"/>
                <a:ea typeface="Calibri" pitchFamily="34" charset="-122"/>
                <a:cs typeface="Calibri" pitchFamily="34" charset="-120"/>
              </a:rPr>
              <a:t>Technology</a:t>
            </a:r>
            <a:endParaRPr lang="en-US" sz="1100" dirty="0"/>
          </a:p>
        </p:txBody>
      </p:sp>
      <p:sp>
        <p:nvSpPr>
          <p:cNvPr id="4" name="Text 2"/>
          <p:cNvSpPr txBox="1"/>
          <p:nvPr/>
        </p:nvSpPr>
        <p:spPr>
          <a:xfrm>
            <a:off x="548640" y="1371600"/>
            <a:ext cx="6035040" cy="3657600"/>
          </a:xfrm>
          <a:prstGeom prst="rect">
            <a:avLst/>
          </a:prstGeom>
          <a:noFill/>
          <a:ln/>
        </p:spPr>
        <p:txBody>
          <a:bodyPr wrap="square" lIns="0" tIns="0" rIns="0" bIns="0"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Matching at scale</a:t>
            </a:r>
            <a:endParaRPr lang="en-US" sz="1500" dirty="0"/>
          </a:p>
          <a:p>
            <a:pPr indent="0" marL="0">
              <a:buNone/>
            </a:pPr>
            <a:r>
              <a:rPr lang="en-US" sz="1500" dirty="0">
                <a:solidFill>
                  <a:srgbClr val="27314D"/>
                </a:solidFill>
                <a:latin typeface="Calibri" pitchFamily="34" charset="0"/>
                <a:ea typeface="Calibri" pitchFamily="34" charset="-122"/>
                <a:cs typeface="Calibri" pitchFamily="34" charset="-120"/>
              </a:rPr>
              <a:t>The engine matches a small, high-quality catalogue to millions of different viewers, so good original content is found rather than buried.</a:t>
            </a:r>
            <a:endParaRPr lang="en-US" sz="1500" dirty="0"/>
          </a:p>
          <a:p>
            <a:pPr indent="0" marL="0">
              <a:buNone/>
            </a:pPr>
            <a:r>
              <a:rPr lang="en-US" sz="800" dirty="0">
                <a:solidFill>
                  <a:srgbClr val="27314D"/>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1E2761"/>
                </a:solidFill>
                <a:latin typeface="Calibri" pitchFamily="34" charset="0"/>
                <a:ea typeface="Calibri" pitchFamily="34" charset="-122"/>
                <a:cs typeface="Calibri" pitchFamily="34" charset="-120"/>
              </a:rPr>
              <a:t>Rivalry with Netflix, Prime Video and Disney+</a:t>
            </a:r>
            <a:endParaRPr lang="en-US" sz="1500" dirty="0"/>
          </a:p>
          <a:p>
            <a:pPr indent="0" marL="0">
              <a:buNone/>
            </a:pPr>
            <a:r>
              <a:rPr lang="en-US" sz="1500" dirty="0">
                <a:solidFill>
                  <a:srgbClr val="27314D"/>
                </a:solidFill>
                <a:latin typeface="Calibri" pitchFamily="34" charset="0"/>
                <a:ea typeface="Calibri" pitchFamily="34" charset="-122"/>
                <a:cs typeface="Calibri" pitchFamily="34" charset="-120"/>
              </a:rPr>
              <a:t>Better discovery raises the value of each subscription, but rivals run similar engines, so it protects position rather than creating a lead.</a:t>
            </a:r>
            <a:endParaRPr lang="en-US" sz="1500" dirty="0"/>
          </a:p>
          <a:p>
            <a:pPr indent="0" marL="0">
              <a:buNone/>
            </a:pPr>
            <a:r>
              <a:rPr lang="en-US" sz="800" dirty="0">
                <a:solidFill>
                  <a:srgbClr val="27314D"/>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1E2761"/>
                </a:solidFill>
                <a:latin typeface="Calibri" pitchFamily="34" charset="0"/>
                <a:ea typeface="Calibri" pitchFamily="34" charset="-122"/>
                <a:cs typeface="Calibri" pitchFamily="34" charset="-120"/>
              </a:rPr>
              <a:t>Buyer switching power</a:t>
            </a:r>
            <a:endParaRPr lang="en-US" sz="1500" dirty="0"/>
          </a:p>
          <a:p>
            <a:pPr indent="0" marL="0">
              <a:buNone/>
            </a:pPr>
            <a:r>
              <a:rPr lang="en-US" sz="1500" dirty="0">
                <a:solidFill>
                  <a:srgbClr val="27314D"/>
                </a:solidFill>
                <a:latin typeface="Calibri" pitchFamily="34" charset="0"/>
                <a:ea typeface="Calibri" pitchFamily="34" charset="-122"/>
                <a:cs typeface="Calibri" pitchFamily="34" charset="-120"/>
              </a:rPr>
              <a:t>Switching costs are low. A profile that has learned a viewer’s taste adds a small cost to leaving.</a:t>
            </a:r>
            <a:endParaRPr lang="en-US" sz="1500" dirty="0"/>
          </a:p>
          <a:p>
            <a:pPr indent="0" marL="0">
              <a:buNone/>
            </a:pPr>
            <a:r>
              <a:rPr lang="en-US" sz="800" dirty="0">
                <a:solidFill>
                  <a:srgbClr val="27314D"/>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F96167"/>
                </a:solidFill>
                <a:latin typeface="Calibri" pitchFamily="34" charset="0"/>
                <a:ea typeface="Calibri" pitchFamily="34" charset="-122"/>
                <a:cs typeface="Calibri" pitchFamily="34" charset="-120"/>
              </a:rPr>
              <a:t>The creativity side</a:t>
            </a:r>
            <a:endParaRPr lang="en-US" sz="1500" dirty="0"/>
          </a:p>
          <a:p>
            <a:pPr indent="0" marL="0">
              <a:buNone/>
            </a:pPr>
            <a:r>
              <a:rPr lang="en-US" sz="1500" dirty="0">
                <a:solidFill>
                  <a:srgbClr val="27314D"/>
                </a:solidFill>
                <a:latin typeface="Calibri" pitchFamily="34" charset="0"/>
                <a:ea typeface="Calibri" pitchFamily="34" charset="-122"/>
                <a:cs typeface="Calibri" pitchFamily="34" charset="-120"/>
              </a:rPr>
              <a:t>The engine can steer which content is promoted. This is where creative teams’ concern comes from.</a:t>
            </a:r>
            <a:endParaRPr lang="en-US" sz="1500" dirty="0"/>
          </a:p>
        </p:txBody>
      </p:sp>
      <p:sp>
        <p:nvSpPr>
          <p:cNvPr id="5" name="Shape 3"/>
          <p:cNvSpPr/>
          <p:nvPr/>
        </p:nvSpPr>
        <p:spPr>
          <a:xfrm>
            <a:off x="548640" y="5120640"/>
            <a:ext cx="1508760" cy="731520"/>
          </a:xfrm>
          <a:prstGeom prst="homePlate">
            <a:avLst/>
          </a:prstGeom>
          <a:solidFill>
            <a:srgbClr val="1E56A0"/>
          </a:solidFill>
          <a:ln w="12700">
            <a:solidFill>
              <a:srgbClr val="FFFFFF"/>
            </a:solidFill>
            <a:prstDash val="solid"/>
          </a:ln>
        </p:spPr>
      </p:sp>
      <p:sp>
        <p:nvSpPr>
          <p:cNvPr id="6" name="Text 4"/>
          <p:cNvSpPr txBox="1"/>
          <p:nvPr/>
        </p:nvSpPr>
        <p:spPr>
          <a:xfrm>
            <a:off x="621792" y="5120640"/>
            <a:ext cx="1188720" cy="7315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Viewing data</a:t>
            </a:r>
            <a:endParaRPr lang="en-US" sz="1200" dirty="0"/>
          </a:p>
        </p:txBody>
      </p:sp>
      <p:sp>
        <p:nvSpPr>
          <p:cNvPr id="7" name="Shape 5"/>
          <p:cNvSpPr/>
          <p:nvPr/>
        </p:nvSpPr>
        <p:spPr>
          <a:xfrm>
            <a:off x="2084832" y="5120640"/>
            <a:ext cx="1508760" cy="731520"/>
          </a:xfrm>
          <a:prstGeom prst="homePlate">
            <a:avLst/>
          </a:prstGeom>
          <a:solidFill>
            <a:srgbClr val="1E2761"/>
          </a:solidFill>
          <a:ln w="12700">
            <a:solidFill>
              <a:srgbClr val="FFFFFF"/>
            </a:solidFill>
            <a:prstDash val="solid"/>
          </a:ln>
        </p:spPr>
      </p:sp>
      <p:sp>
        <p:nvSpPr>
          <p:cNvPr id="8" name="Text 6"/>
          <p:cNvSpPr txBox="1"/>
          <p:nvPr/>
        </p:nvSpPr>
        <p:spPr>
          <a:xfrm>
            <a:off x="2157984" y="5120640"/>
            <a:ext cx="1188720" cy="7315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Recommendation engine</a:t>
            </a:r>
            <a:endParaRPr lang="en-US" sz="1200" dirty="0"/>
          </a:p>
        </p:txBody>
      </p:sp>
      <p:sp>
        <p:nvSpPr>
          <p:cNvPr id="9" name="Shape 7"/>
          <p:cNvSpPr/>
          <p:nvPr/>
        </p:nvSpPr>
        <p:spPr>
          <a:xfrm>
            <a:off x="3621024" y="5120640"/>
            <a:ext cx="1508760" cy="731520"/>
          </a:xfrm>
          <a:prstGeom prst="homePlate">
            <a:avLst/>
          </a:prstGeom>
          <a:solidFill>
            <a:srgbClr val="1E56A0"/>
          </a:solidFill>
          <a:ln w="12700">
            <a:solidFill>
              <a:srgbClr val="FFFFFF"/>
            </a:solidFill>
            <a:prstDash val="solid"/>
          </a:ln>
        </p:spPr>
      </p:sp>
      <p:sp>
        <p:nvSpPr>
          <p:cNvPr id="10" name="Text 8"/>
          <p:cNvSpPr txBox="1"/>
          <p:nvPr/>
        </p:nvSpPr>
        <p:spPr>
          <a:xfrm>
            <a:off x="3694176" y="5120640"/>
            <a:ext cx="1188720" cy="7315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Tailored home screen</a:t>
            </a:r>
            <a:endParaRPr lang="en-US" sz="1200" dirty="0"/>
          </a:p>
        </p:txBody>
      </p:sp>
      <p:sp>
        <p:nvSpPr>
          <p:cNvPr id="11" name="Shape 9"/>
          <p:cNvSpPr/>
          <p:nvPr/>
        </p:nvSpPr>
        <p:spPr>
          <a:xfrm>
            <a:off x="5157216" y="5120640"/>
            <a:ext cx="1508760" cy="731520"/>
          </a:xfrm>
          <a:prstGeom prst="homePlate">
            <a:avLst/>
          </a:prstGeom>
          <a:solidFill>
            <a:srgbClr val="1E56A0"/>
          </a:solidFill>
          <a:ln w="12700">
            <a:solidFill>
              <a:srgbClr val="FFFFFF"/>
            </a:solidFill>
            <a:prstDash val="solid"/>
          </a:ln>
        </p:spPr>
      </p:sp>
      <p:sp>
        <p:nvSpPr>
          <p:cNvPr id="12" name="Text 10"/>
          <p:cNvSpPr txBox="1"/>
          <p:nvPr/>
        </p:nvSpPr>
        <p:spPr>
          <a:xfrm>
            <a:off x="5230368" y="5120640"/>
            <a:ext cx="1188720" cy="7315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Retention vs rivals</a:t>
            </a:r>
            <a:endParaRPr lang="en-US" sz="1200" dirty="0"/>
          </a:p>
        </p:txBody>
      </p:sp>
      <p:sp>
        <p:nvSpPr>
          <p:cNvPr id="13" name="Shape 11"/>
          <p:cNvSpPr/>
          <p:nvPr/>
        </p:nvSpPr>
        <p:spPr>
          <a:xfrm>
            <a:off x="6949440" y="1371600"/>
            <a:ext cx="4663440" cy="4572000"/>
          </a:xfrm>
          <a:prstGeom prst="roundRect">
            <a:avLst>
              <a:gd name="adj" fmla="val 1600"/>
            </a:avLst>
          </a:prstGeom>
          <a:solidFill>
            <a:srgbClr val="F2F5FB"/>
          </a:solidFill>
          <a:ln w="12700">
            <a:solidFill>
              <a:srgbClr val="CADCFC"/>
            </a:solidFill>
            <a:prstDash val="solid"/>
          </a:ln>
        </p:spPr>
      </p:sp>
      <p:sp>
        <p:nvSpPr>
          <p:cNvPr id="14" name="Text 12"/>
          <p:cNvSpPr txBox="1"/>
          <p:nvPr/>
        </p:nvSpPr>
        <p:spPr>
          <a:xfrm>
            <a:off x="7132320" y="1463040"/>
            <a:ext cx="4297680" cy="365760"/>
          </a:xfrm>
          <a:prstGeom prst="rect">
            <a:avLst/>
          </a:prstGeom>
          <a:noFill/>
          <a:ln/>
        </p:spPr>
        <p:txBody>
          <a:bodyPr wrap="square" lIns="0" tIns="0" rIns="0" bIns="0" rtlCol="0" anchor="t"/>
          <a:lstStyle/>
          <a:p>
            <a:pPr algn="ctr" indent="0" marL="0">
              <a:buNone/>
            </a:pPr>
            <a:r>
              <a:rPr lang="en-US" sz="1500" b="1" dirty="0">
                <a:solidFill>
                  <a:srgbClr val="1E2761"/>
                </a:solidFill>
                <a:latin typeface="Calibri" pitchFamily="34" charset="0"/>
                <a:ea typeface="Calibri" pitchFamily="34" charset="-122"/>
                <a:cs typeface="Calibri" pitchFamily="34" charset="-120"/>
              </a:rPr>
              <a:t>Porter’s Five Forces</a:t>
            </a:r>
            <a:endParaRPr lang="en-US" sz="1500" dirty="0"/>
          </a:p>
        </p:txBody>
      </p:sp>
      <p:sp>
        <p:nvSpPr>
          <p:cNvPr id="15" name="Shape 13"/>
          <p:cNvSpPr/>
          <p:nvPr/>
        </p:nvSpPr>
        <p:spPr>
          <a:xfrm>
            <a:off x="8595360" y="2011680"/>
            <a:ext cx="1371600" cy="914400"/>
          </a:xfrm>
          <a:prstGeom prst="roundRect">
            <a:avLst>
              <a:gd name="adj" fmla="val 8000"/>
            </a:avLst>
          </a:prstGeom>
          <a:solidFill>
            <a:srgbClr val="FFFFFF"/>
          </a:solidFill>
          <a:ln w="12700">
            <a:solidFill>
              <a:srgbClr val="CADCFC"/>
            </a:solidFill>
            <a:prstDash val="solid"/>
          </a:ln>
        </p:spPr>
      </p:sp>
      <p:sp>
        <p:nvSpPr>
          <p:cNvPr id="16" name="Text 14"/>
          <p:cNvSpPr txBox="1"/>
          <p:nvPr/>
        </p:nvSpPr>
        <p:spPr>
          <a:xfrm>
            <a:off x="8641080" y="2011680"/>
            <a:ext cx="1280160" cy="914400"/>
          </a:xfrm>
          <a:prstGeom prst="rect">
            <a:avLst/>
          </a:prstGeom>
          <a:noFill/>
          <a:ln/>
        </p:spPr>
        <p:txBody>
          <a:bodyPr wrap="square" lIns="0" tIns="0" rIns="0" bIns="0" rtlCol="0" anchor="ctr"/>
          <a:lstStyle/>
          <a:p>
            <a:pPr algn="ctr" indent="0" marL="0">
              <a:buNone/>
            </a:pPr>
            <a:r>
              <a:rPr lang="en-US" sz="1200" dirty="0">
                <a:solidFill>
                  <a:srgbClr val="6B7590"/>
                </a:solidFill>
                <a:latin typeface="Calibri" pitchFamily="34" charset="0"/>
                <a:ea typeface="Calibri" pitchFamily="34" charset="-122"/>
                <a:cs typeface="Calibri" pitchFamily="34" charset="-120"/>
              </a:rPr>
              <a:t>New entrants</a:t>
            </a:r>
            <a:endParaRPr lang="en-US" sz="1200" dirty="0"/>
          </a:p>
        </p:txBody>
      </p:sp>
      <p:sp>
        <p:nvSpPr>
          <p:cNvPr id="17" name="Shape 15"/>
          <p:cNvSpPr/>
          <p:nvPr/>
        </p:nvSpPr>
        <p:spPr>
          <a:xfrm>
            <a:off x="7086600" y="3246120"/>
            <a:ext cx="1371600" cy="914400"/>
          </a:xfrm>
          <a:prstGeom prst="roundRect">
            <a:avLst>
              <a:gd name="adj" fmla="val 8000"/>
            </a:avLst>
          </a:prstGeom>
          <a:solidFill>
            <a:srgbClr val="FFFFFF"/>
          </a:solidFill>
          <a:ln w="12700">
            <a:solidFill>
              <a:srgbClr val="CADCFC"/>
            </a:solidFill>
            <a:prstDash val="solid"/>
          </a:ln>
        </p:spPr>
      </p:sp>
      <p:sp>
        <p:nvSpPr>
          <p:cNvPr id="18" name="Text 16"/>
          <p:cNvSpPr txBox="1"/>
          <p:nvPr/>
        </p:nvSpPr>
        <p:spPr>
          <a:xfrm>
            <a:off x="7132320" y="3246120"/>
            <a:ext cx="1280160" cy="914400"/>
          </a:xfrm>
          <a:prstGeom prst="rect">
            <a:avLst/>
          </a:prstGeom>
          <a:noFill/>
          <a:ln/>
        </p:spPr>
        <p:txBody>
          <a:bodyPr wrap="square" lIns="0" tIns="0" rIns="0" bIns="0" rtlCol="0" anchor="ctr"/>
          <a:lstStyle/>
          <a:p>
            <a:pPr algn="ctr" indent="0" marL="0">
              <a:buNone/>
            </a:pPr>
            <a:r>
              <a:rPr lang="en-US" sz="1200" dirty="0">
                <a:solidFill>
                  <a:srgbClr val="6B7590"/>
                </a:solidFill>
                <a:latin typeface="Calibri" pitchFamily="34" charset="0"/>
                <a:ea typeface="Calibri" pitchFamily="34" charset="-122"/>
                <a:cs typeface="Calibri" pitchFamily="34" charset="-120"/>
              </a:rPr>
              <a:t>Supplier power</a:t>
            </a:r>
            <a:endParaRPr lang="en-US" sz="1200" dirty="0"/>
          </a:p>
        </p:txBody>
      </p:sp>
      <p:sp>
        <p:nvSpPr>
          <p:cNvPr id="19" name="Shape 17"/>
          <p:cNvSpPr/>
          <p:nvPr/>
        </p:nvSpPr>
        <p:spPr>
          <a:xfrm>
            <a:off x="8595360" y="3246120"/>
            <a:ext cx="1371600" cy="914400"/>
          </a:xfrm>
          <a:prstGeom prst="roundRect">
            <a:avLst>
              <a:gd name="adj" fmla="val 8000"/>
            </a:avLst>
          </a:prstGeom>
          <a:solidFill>
            <a:srgbClr val="1E2761"/>
          </a:solidFill>
          <a:ln w="12700">
            <a:solidFill>
              <a:srgbClr val="1E2761"/>
            </a:solidFill>
            <a:prstDash val="solid"/>
          </a:ln>
        </p:spPr>
      </p:sp>
      <p:sp>
        <p:nvSpPr>
          <p:cNvPr id="20" name="Text 18"/>
          <p:cNvSpPr txBox="1"/>
          <p:nvPr/>
        </p:nvSpPr>
        <p:spPr>
          <a:xfrm>
            <a:off x="8641080" y="3246120"/>
            <a:ext cx="128016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Rivalry with Netflix, Prime, Disney+</a:t>
            </a:r>
            <a:endParaRPr lang="en-US" sz="1200" dirty="0"/>
          </a:p>
        </p:txBody>
      </p:sp>
      <p:sp>
        <p:nvSpPr>
          <p:cNvPr id="21" name="Shape 19"/>
          <p:cNvSpPr/>
          <p:nvPr/>
        </p:nvSpPr>
        <p:spPr>
          <a:xfrm>
            <a:off x="10104120" y="3246120"/>
            <a:ext cx="1371600" cy="914400"/>
          </a:xfrm>
          <a:prstGeom prst="roundRect">
            <a:avLst>
              <a:gd name="adj" fmla="val 8000"/>
            </a:avLst>
          </a:prstGeom>
          <a:solidFill>
            <a:srgbClr val="1E2761"/>
          </a:solidFill>
          <a:ln w="12700">
            <a:solidFill>
              <a:srgbClr val="1E2761"/>
            </a:solidFill>
            <a:prstDash val="solid"/>
          </a:ln>
        </p:spPr>
      </p:sp>
      <p:sp>
        <p:nvSpPr>
          <p:cNvPr id="22" name="Text 20"/>
          <p:cNvSpPr txBox="1"/>
          <p:nvPr/>
        </p:nvSpPr>
        <p:spPr>
          <a:xfrm>
            <a:off x="10149840" y="3246120"/>
            <a:ext cx="128016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Buyer power (switching)</a:t>
            </a:r>
            <a:endParaRPr lang="en-US" sz="1200" dirty="0"/>
          </a:p>
        </p:txBody>
      </p:sp>
      <p:sp>
        <p:nvSpPr>
          <p:cNvPr id="23" name="Shape 21"/>
          <p:cNvSpPr/>
          <p:nvPr/>
        </p:nvSpPr>
        <p:spPr>
          <a:xfrm>
            <a:off x="8595360" y="4480560"/>
            <a:ext cx="1371600" cy="914400"/>
          </a:xfrm>
          <a:prstGeom prst="roundRect">
            <a:avLst>
              <a:gd name="adj" fmla="val 8000"/>
            </a:avLst>
          </a:prstGeom>
          <a:solidFill>
            <a:srgbClr val="FFFFFF"/>
          </a:solidFill>
          <a:ln w="12700">
            <a:solidFill>
              <a:srgbClr val="CADCFC"/>
            </a:solidFill>
            <a:prstDash val="solid"/>
          </a:ln>
        </p:spPr>
      </p:sp>
      <p:sp>
        <p:nvSpPr>
          <p:cNvPr id="24" name="Text 22"/>
          <p:cNvSpPr txBox="1"/>
          <p:nvPr/>
        </p:nvSpPr>
        <p:spPr>
          <a:xfrm>
            <a:off x="8641080" y="4480560"/>
            <a:ext cx="1280160" cy="914400"/>
          </a:xfrm>
          <a:prstGeom prst="rect">
            <a:avLst/>
          </a:prstGeom>
          <a:noFill/>
          <a:ln/>
        </p:spPr>
        <p:txBody>
          <a:bodyPr wrap="square" lIns="0" tIns="0" rIns="0" bIns="0" rtlCol="0" anchor="ctr"/>
          <a:lstStyle/>
          <a:p>
            <a:pPr algn="ctr" indent="0" marL="0">
              <a:buNone/>
            </a:pPr>
            <a:r>
              <a:rPr lang="en-US" sz="1200" dirty="0">
                <a:solidFill>
                  <a:srgbClr val="6B7590"/>
                </a:solidFill>
                <a:latin typeface="Calibri" pitchFamily="34" charset="0"/>
                <a:ea typeface="Calibri" pitchFamily="34" charset="-122"/>
                <a:cs typeface="Calibri" pitchFamily="34" charset="-120"/>
              </a:rPr>
              <a:t>Substitutes</a:t>
            </a:r>
            <a:endParaRPr lang="en-US" sz="1200" dirty="0"/>
          </a:p>
        </p:txBody>
      </p:sp>
      <p:sp>
        <p:nvSpPr>
          <p:cNvPr id="25" name="Text 23"/>
          <p:cNvSpPr txBox="1"/>
          <p:nvPr/>
        </p:nvSpPr>
        <p:spPr>
          <a:xfrm>
            <a:off x="548640" y="6263640"/>
            <a:ext cx="11064240" cy="365760"/>
          </a:xfrm>
          <a:prstGeom prst="rect">
            <a:avLst/>
          </a:prstGeom>
          <a:noFill/>
          <a:ln/>
        </p:spPr>
        <p:txBody>
          <a:bodyPr wrap="square" lIns="0" tIns="0" rIns="0" bIns="0" rtlCol="0" anchor="t"/>
          <a:lstStyle/>
          <a:p>
            <a:pPr indent="0" marL="0">
              <a:buNone/>
            </a:pPr>
            <a:r>
              <a:rPr lang="en-US" sz="1100" i="1" dirty="0">
                <a:solidFill>
                  <a:srgbClr val="6B7590"/>
                </a:solidFill>
                <a:latin typeface="Calibri" pitchFamily="34" charset="0"/>
                <a:ea typeface="Calibri" pitchFamily="34" charset="-122"/>
                <a:cs typeface="Calibri" pitchFamily="34" charset="-120"/>
              </a:rPr>
              <a:t>Figure 2: Porter’s Five Forces (adapted from Porter, 2008). Highlighted forces are the two the recommender changes most.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692640"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Benefits and Limitations of Personalisation</a:t>
            </a:r>
            <a:endParaRPr lang="en-US" sz="3000" dirty="0"/>
          </a:p>
        </p:txBody>
      </p:sp>
      <p:sp>
        <p:nvSpPr>
          <p:cNvPr id="3" name="Text 1"/>
          <p:cNvSpPr txBox="1"/>
          <p:nvPr/>
        </p:nvSpPr>
        <p:spPr>
          <a:xfrm>
            <a:off x="10332720" y="137160"/>
            <a:ext cx="1463040" cy="274320"/>
          </a:xfrm>
          <a:prstGeom prst="rect">
            <a:avLst/>
          </a:prstGeom>
          <a:noFill/>
          <a:ln/>
        </p:spPr>
        <p:txBody>
          <a:bodyPr wrap="square" lIns="0" tIns="0" rIns="0" bIns="0" rtlCol="0" anchor="t"/>
          <a:lstStyle/>
          <a:p>
            <a:pPr algn="r" indent="0" marL="0">
              <a:buNone/>
            </a:pPr>
            <a:r>
              <a:rPr lang="en-US" sz="1100" dirty="0">
                <a:solidFill>
                  <a:srgbClr val="6B7590"/>
                </a:solidFill>
                <a:latin typeface="Calibri" pitchFamily="34" charset="0"/>
                <a:ea typeface="Calibri" pitchFamily="34" charset="-122"/>
                <a:cs typeface="Calibri" pitchFamily="34" charset="-120"/>
              </a:rPr>
              <a:t>Technology</a:t>
            </a:r>
            <a:endParaRPr lang="en-US" sz="1100" dirty="0"/>
          </a:p>
        </p:txBody>
      </p:sp>
      <p:sp>
        <p:nvSpPr>
          <p:cNvPr id="4" name="Shape 2"/>
          <p:cNvSpPr/>
          <p:nvPr/>
        </p:nvSpPr>
        <p:spPr>
          <a:xfrm>
            <a:off x="548640" y="1371600"/>
            <a:ext cx="5394960" cy="411480"/>
          </a:xfrm>
          <a:prstGeom prst="rect">
            <a:avLst/>
          </a:prstGeom>
          <a:solidFill>
            <a:srgbClr val="1E56A0"/>
          </a:solidFill>
          <a:ln w="12700">
            <a:solidFill>
              <a:srgbClr val="1E56A0"/>
            </a:solidFill>
            <a:prstDash val="solid"/>
          </a:ln>
        </p:spPr>
      </p:sp>
      <p:sp>
        <p:nvSpPr>
          <p:cNvPr id="5" name="Text 3"/>
          <p:cNvSpPr txBox="1"/>
          <p:nvPr/>
        </p:nvSpPr>
        <p:spPr>
          <a:xfrm>
            <a:off x="685800" y="1371600"/>
            <a:ext cx="512064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Benefits</a:t>
            </a:r>
            <a:endParaRPr lang="en-US" sz="1500" dirty="0"/>
          </a:p>
        </p:txBody>
      </p:sp>
      <p:sp>
        <p:nvSpPr>
          <p:cNvPr id="6" name="Shape 4"/>
          <p:cNvSpPr/>
          <p:nvPr/>
        </p:nvSpPr>
        <p:spPr>
          <a:xfrm>
            <a:off x="548640" y="1828800"/>
            <a:ext cx="5394960" cy="914400"/>
          </a:xfrm>
          <a:prstGeom prst="rect">
            <a:avLst/>
          </a:prstGeom>
          <a:solidFill>
            <a:srgbClr val="F2F5FB"/>
          </a:solidFill>
          <a:ln w="9525">
            <a:solidFill>
              <a:srgbClr val="CADCFC"/>
            </a:solidFill>
            <a:prstDash val="solid"/>
          </a:ln>
        </p:spPr>
      </p:sp>
      <p:sp>
        <p:nvSpPr>
          <p:cNvPr id="7" name="Text 5"/>
          <p:cNvSpPr txBox="1"/>
          <p:nvPr/>
        </p:nvSpPr>
        <p:spPr>
          <a:xfrm>
            <a:off x="685800" y="1874520"/>
            <a:ext cx="5120640" cy="82296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Discovery. </a:t>
            </a:r>
            <a:pPr indent="0" marL="0">
              <a:buNone/>
            </a:pPr>
            <a:r>
              <a:rPr lang="en-US" sz="1250" dirty="0">
                <a:solidFill>
                  <a:srgbClr val="27314D"/>
                </a:solidFill>
                <a:latin typeface="Calibri" pitchFamily="34" charset="0"/>
                <a:ea typeface="Calibri" pitchFamily="34" charset="-122"/>
                <a:cs typeface="Calibri" pitchFamily="34" charset="-120"/>
              </a:rPr>
              <a:t>Poor discovery costs subscribers: 49% of viewers say they are likely to cancel if they cannot find something to watch (Gracenote, 2025).</a:t>
            </a:r>
            <a:endParaRPr lang="en-US" sz="1250" dirty="0"/>
          </a:p>
        </p:txBody>
      </p:sp>
      <p:sp>
        <p:nvSpPr>
          <p:cNvPr id="8" name="Shape 6"/>
          <p:cNvSpPr/>
          <p:nvPr/>
        </p:nvSpPr>
        <p:spPr>
          <a:xfrm>
            <a:off x="548640" y="2743200"/>
            <a:ext cx="5394960" cy="914400"/>
          </a:xfrm>
          <a:prstGeom prst="rect">
            <a:avLst/>
          </a:prstGeom>
          <a:solidFill>
            <a:srgbClr val="FFFFFF"/>
          </a:solidFill>
          <a:ln w="9525">
            <a:solidFill>
              <a:srgbClr val="CADCFC"/>
            </a:solidFill>
            <a:prstDash val="solid"/>
          </a:ln>
        </p:spPr>
      </p:sp>
      <p:sp>
        <p:nvSpPr>
          <p:cNvPr id="9" name="Text 7"/>
          <p:cNvSpPr txBox="1"/>
          <p:nvPr/>
        </p:nvSpPr>
        <p:spPr>
          <a:xfrm>
            <a:off x="685800" y="2788920"/>
            <a:ext cx="5120640" cy="82296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Engagement. </a:t>
            </a:r>
            <a:pPr indent="0" marL="0">
              <a:buNone/>
            </a:pPr>
            <a:r>
              <a:rPr lang="en-US" sz="1250" dirty="0">
                <a:solidFill>
                  <a:srgbClr val="27314D"/>
                </a:solidFill>
                <a:latin typeface="Calibri" pitchFamily="34" charset="0"/>
                <a:ea typeface="Calibri" pitchFamily="34" charset="-122"/>
                <a:cs typeface="Calibri" pitchFamily="34" charset="-120"/>
              </a:rPr>
              <a:t>Personalised rows and titles increase viewing and use of the service (Gomez-Uribe and Hunt, 2015).</a:t>
            </a:r>
            <a:endParaRPr lang="en-US" sz="1250" dirty="0"/>
          </a:p>
        </p:txBody>
      </p:sp>
      <p:sp>
        <p:nvSpPr>
          <p:cNvPr id="10" name="Shape 8"/>
          <p:cNvSpPr/>
          <p:nvPr/>
        </p:nvSpPr>
        <p:spPr>
          <a:xfrm>
            <a:off x="548640" y="3657600"/>
            <a:ext cx="5394960" cy="1097280"/>
          </a:xfrm>
          <a:prstGeom prst="rect">
            <a:avLst/>
          </a:prstGeom>
          <a:solidFill>
            <a:srgbClr val="F2F5FB"/>
          </a:solidFill>
          <a:ln w="9525">
            <a:solidFill>
              <a:srgbClr val="CADCFC"/>
            </a:solidFill>
            <a:prstDash val="solid"/>
          </a:ln>
        </p:spPr>
      </p:sp>
      <p:sp>
        <p:nvSpPr>
          <p:cNvPr id="11" name="Text 9"/>
          <p:cNvSpPr txBox="1"/>
          <p:nvPr/>
        </p:nvSpPr>
        <p:spPr>
          <a:xfrm>
            <a:off x="685800" y="3703320"/>
            <a:ext cx="5120640" cy="100584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Retention. </a:t>
            </a:r>
            <a:pPr indent="0" marL="0">
              <a:buNone/>
            </a:pPr>
            <a:r>
              <a:rPr lang="en-US" sz="1250" dirty="0">
                <a:solidFill>
                  <a:srgbClr val="27314D"/>
                </a:solidFill>
                <a:latin typeface="Calibri" pitchFamily="34" charset="0"/>
                <a:ea typeface="Calibri" pitchFamily="34" charset="-122"/>
                <a:cs typeface="Calibri" pitchFamily="34" charset="-120"/>
              </a:rPr>
              <a:t>Better discovery reduces cancellations; Netflix values its recommender at over $1bn a year (Gomez-Uribe and Hunt, 2015; Reichheld, 2003).</a:t>
            </a:r>
            <a:endParaRPr lang="en-US" sz="1250" dirty="0"/>
          </a:p>
        </p:txBody>
      </p:sp>
      <p:sp>
        <p:nvSpPr>
          <p:cNvPr id="12" name="Shape 10"/>
          <p:cNvSpPr/>
          <p:nvPr/>
        </p:nvSpPr>
        <p:spPr>
          <a:xfrm>
            <a:off x="6217920" y="1371600"/>
            <a:ext cx="5394960" cy="411480"/>
          </a:xfrm>
          <a:prstGeom prst="rect">
            <a:avLst/>
          </a:prstGeom>
          <a:solidFill>
            <a:srgbClr val="F96167"/>
          </a:solidFill>
          <a:ln w="12700">
            <a:solidFill>
              <a:srgbClr val="F96167"/>
            </a:solidFill>
            <a:prstDash val="solid"/>
          </a:ln>
        </p:spPr>
      </p:sp>
      <p:sp>
        <p:nvSpPr>
          <p:cNvPr id="13" name="Text 11"/>
          <p:cNvSpPr txBox="1"/>
          <p:nvPr/>
        </p:nvSpPr>
        <p:spPr>
          <a:xfrm>
            <a:off x="6355080" y="1371600"/>
            <a:ext cx="512064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Limitations</a:t>
            </a:r>
            <a:endParaRPr lang="en-US" sz="1500" dirty="0"/>
          </a:p>
        </p:txBody>
      </p:sp>
      <p:sp>
        <p:nvSpPr>
          <p:cNvPr id="14" name="Shape 12"/>
          <p:cNvSpPr/>
          <p:nvPr/>
        </p:nvSpPr>
        <p:spPr>
          <a:xfrm>
            <a:off x="6217920" y="1828800"/>
            <a:ext cx="5394960" cy="676656"/>
          </a:xfrm>
          <a:prstGeom prst="rect">
            <a:avLst/>
          </a:prstGeom>
          <a:solidFill>
            <a:srgbClr val="F2F5FB"/>
          </a:solidFill>
          <a:ln w="9525">
            <a:solidFill>
              <a:srgbClr val="CADCFC"/>
            </a:solidFill>
            <a:prstDash val="solid"/>
          </a:ln>
        </p:spPr>
      </p:sp>
      <p:sp>
        <p:nvSpPr>
          <p:cNvPr id="15" name="Text 13"/>
          <p:cNvSpPr txBox="1"/>
          <p:nvPr/>
        </p:nvSpPr>
        <p:spPr>
          <a:xfrm>
            <a:off x="6355080" y="1874520"/>
            <a:ext cx="5120640" cy="585216"/>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Narrowing. </a:t>
            </a:r>
            <a:pPr indent="0" marL="0">
              <a:buNone/>
            </a:pPr>
            <a:r>
              <a:rPr lang="en-US" sz="1250" dirty="0">
                <a:solidFill>
                  <a:srgbClr val="27314D"/>
                </a:solidFill>
                <a:latin typeface="Calibri" pitchFamily="34" charset="0"/>
                <a:ea typeface="Calibri" pitchFamily="34" charset="-122"/>
                <a:cs typeface="Calibri" pitchFamily="34" charset="-120"/>
              </a:rPr>
              <a:t>Models reinforce past viewing and narrow what is shown (Ricci, Rokach and Shapira, 2015).</a:t>
            </a:r>
            <a:endParaRPr lang="en-US" sz="1250" dirty="0"/>
          </a:p>
        </p:txBody>
      </p:sp>
      <p:sp>
        <p:nvSpPr>
          <p:cNvPr id="16" name="Shape 14"/>
          <p:cNvSpPr/>
          <p:nvPr/>
        </p:nvSpPr>
        <p:spPr>
          <a:xfrm>
            <a:off x="6217920" y="2505456"/>
            <a:ext cx="5394960" cy="676656"/>
          </a:xfrm>
          <a:prstGeom prst="rect">
            <a:avLst/>
          </a:prstGeom>
          <a:solidFill>
            <a:srgbClr val="FFFFFF"/>
          </a:solidFill>
          <a:ln w="9525">
            <a:solidFill>
              <a:srgbClr val="CADCFC"/>
            </a:solidFill>
            <a:prstDash val="solid"/>
          </a:ln>
        </p:spPr>
      </p:sp>
      <p:sp>
        <p:nvSpPr>
          <p:cNvPr id="17" name="Text 15"/>
          <p:cNvSpPr txBox="1"/>
          <p:nvPr/>
        </p:nvSpPr>
        <p:spPr>
          <a:xfrm>
            <a:off x="6355080" y="2551176"/>
            <a:ext cx="5120640" cy="585216"/>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Less diversity. </a:t>
            </a:r>
            <a:pPr indent="0" marL="0">
              <a:buNone/>
            </a:pPr>
            <a:r>
              <a:rPr lang="en-US" sz="1250" dirty="0">
                <a:solidFill>
                  <a:srgbClr val="27314D"/>
                </a:solidFill>
                <a:latin typeface="Calibri" pitchFamily="34" charset="0"/>
                <a:ea typeface="Calibri" pitchFamily="34" charset="-122"/>
                <a:cs typeface="Calibri" pitchFamily="34" charset="-120"/>
              </a:rPr>
              <a:t>Personalised feeds can reduce exposure to varied content (Helberger, 2019).</a:t>
            </a:r>
            <a:endParaRPr lang="en-US" sz="1250" dirty="0"/>
          </a:p>
        </p:txBody>
      </p:sp>
      <p:sp>
        <p:nvSpPr>
          <p:cNvPr id="18" name="Shape 16"/>
          <p:cNvSpPr/>
          <p:nvPr/>
        </p:nvSpPr>
        <p:spPr>
          <a:xfrm>
            <a:off x="6217920" y="3182112"/>
            <a:ext cx="5394960" cy="676656"/>
          </a:xfrm>
          <a:prstGeom prst="rect">
            <a:avLst/>
          </a:prstGeom>
          <a:solidFill>
            <a:srgbClr val="F2F5FB"/>
          </a:solidFill>
          <a:ln w="9525">
            <a:solidFill>
              <a:srgbClr val="CADCFC"/>
            </a:solidFill>
            <a:prstDash val="solid"/>
          </a:ln>
        </p:spPr>
      </p:sp>
      <p:sp>
        <p:nvSpPr>
          <p:cNvPr id="19" name="Text 17"/>
          <p:cNvSpPr txBox="1"/>
          <p:nvPr/>
        </p:nvSpPr>
        <p:spPr>
          <a:xfrm>
            <a:off x="6355080" y="3227832"/>
            <a:ext cx="5120640" cy="585216"/>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Creative originality. </a:t>
            </a:r>
            <a:pPr indent="0" marL="0">
              <a:buNone/>
            </a:pPr>
            <a:r>
              <a:rPr lang="en-US" sz="1250" dirty="0">
                <a:solidFill>
                  <a:srgbClr val="27314D"/>
                </a:solidFill>
                <a:latin typeface="Calibri" pitchFamily="34" charset="0"/>
                <a:ea typeface="Calibri" pitchFamily="34" charset="-122"/>
                <a:cs typeface="Calibri" pitchFamily="34" charset="-120"/>
              </a:rPr>
              <a:t>Data-led promotion can favour familiar formats over new ideas (Napoli, 2014).</a:t>
            </a:r>
            <a:endParaRPr lang="en-US" sz="1250" dirty="0"/>
          </a:p>
        </p:txBody>
      </p:sp>
      <p:sp>
        <p:nvSpPr>
          <p:cNvPr id="20" name="Shape 18"/>
          <p:cNvSpPr/>
          <p:nvPr/>
        </p:nvSpPr>
        <p:spPr>
          <a:xfrm>
            <a:off x="6217920" y="3858768"/>
            <a:ext cx="5394960" cy="676656"/>
          </a:xfrm>
          <a:prstGeom prst="rect">
            <a:avLst/>
          </a:prstGeom>
          <a:solidFill>
            <a:srgbClr val="FFFFFF"/>
          </a:solidFill>
          <a:ln w="9525">
            <a:solidFill>
              <a:srgbClr val="CADCFC"/>
            </a:solidFill>
            <a:prstDash val="solid"/>
          </a:ln>
        </p:spPr>
      </p:sp>
      <p:sp>
        <p:nvSpPr>
          <p:cNvPr id="21" name="Text 19"/>
          <p:cNvSpPr txBox="1"/>
          <p:nvPr/>
        </p:nvSpPr>
        <p:spPr>
          <a:xfrm>
            <a:off x="6355080" y="3904488"/>
            <a:ext cx="5120640" cy="585216"/>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Data quality. </a:t>
            </a:r>
            <a:pPr indent="0" marL="0">
              <a:buNone/>
            </a:pPr>
            <a:r>
              <a:rPr lang="en-US" sz="1250" dirty="0">
                <a:solidFill>
                  <a:srgbClr val="27314D"/>
                </a:solidFill>
                <a:latin typeface="Calibri" pitchFamily="34" charset="0"/>
                <a:ea typeface="Calibri" pitchFamily="34" charset="-122"/>
                <a:cs typeface="Calibri" pitchFamily="34" charset="-120"/>
              </a:rPr>
              <a:t>Output is only as good as the data and signals behind it (Ricci et al., 2015).</a:t>
            </a:r>
            <a:endParaRPr lang="en-US" sz="1250" dirty="0"/>
          </a:p>
        </p:txBody>
      </p:sp>
      <p:sp>
        <p:nvSpPr>
          <p:cNvPr id="22" name="Shape 20"/>
          <p:cNvSpPr/>
          <p:nvPr/>
        </p:nvSpPr>
        <p:spPr>
          <a:xfrm>
            <a:off x="6217920" y="4535424"/>
            <a:ext cx="5394960" cy="676656"/>
          </a:xfrm>
          <a:prstGeom prst="rect">
            <a:avLst/>
          </a:prstGeom>
          <a:solidFill>
            <a:srgbClr val="F2F5FB"/>
          </a:solidFill>
          <a:ln w="9525">
            <a:solidFill>
              <a:srgbClr val="CADCFC"/>
            </a:solidFill>
            <a:prstDash val="solid"/>
          </a:ln>
        </p:spPr>
      </p:sp>
      <p:sp>
        <p:nvSpPr>
          <p:cNvPr id="23" name="Text 21"/>
          <p:cNvSpPr txBox="1"/>
          <p:nvPr/>
        </p:nvSpPr>
        <p:spPr>
          <a:xfrm>
            <a:off x="6355080" y="4581144"/>
            <a:ext cx="5120640" cy="585216"/>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Privacy and governance. </a:t>
            </a:r>
            <a:pPr indent="0" marL="0">
              <a:buNone/>
            </a:pPr>
            <a:r>
              <a:rPr lang="en-US" sz="1250" dirty="0">
                <a:solidFill>
                  <a:srgbClr val="27314D"/>
                </a:solidFill>
                <a:latin typeface="Calibri" pitchFamily="34" charset="0"/>
                <a:ea typeface="Calibri" pitchFamily="34" charset="-122"/>
                <a:cs typeface="Calibri" pitchFamily="34" charset="-120"/>
              </a:rPr>
              <a:t>Scaling AI adds privacy risk, governance demands and algorithmic bias that limits content diversity (Mokoena and Obagbuwa, 2025).</a:t>
            </a:r>
            <a:endParaRPr lang="en-US" sz="1250" dirty="0"/>
          </a:p>
        </p:txBody>
      </p:sp>
      <p:sp>
        <p:nvSpPr>
          <p:cNvPr id="24" name="Text 22"/>
          <p:cNvSpPr txBox="1"/>
          <p:nvPr/>
        </p:nvSpPr>
        <p:spPr>
          <a:xfrm>
            <a:off x="548640" y="5349240"/>
            <a:ext cx="11064240" cy="868680"/>
          </a:xfrm>
          <a:prstGeom prst="rect">
            <a:avLst/>
          </a:prstGeom>
          <a:noFill/>
          <a:ln/>
        </p:spPr>
        <p:txBody>
          <a:bodyPr wrap="square" lIns="0" tIns="0" rIns="0" bIns="0" rtlCol="0" anchor="t"/>
          <a:lstStyle/>
          <a:p>
            <a:pPr indent="0" marL="0">
              <a:spcAft>
                <a:spcPts val="400"/>
              </a:spcAft>
              <a:buNone/>
            </a:pPr>
            <a:r>
              <a:rPr lang="en-US" sz="1300" b="1" dirty="0">
                <a:solidFill>
                  <a:srgbClr val="1E2761"/>
                </a:solidFill>
                <a:latin typeface="Calibri" pitchFamily="34" charset="0"/>
                <a:ea typeface="Calibri" pitchFamily="34" charset="-122"/>
                <a:cs typeface="Calibri" pitchFamily="34" charset="-120"/>
              </a:rPr>
              <a:t>Matters most for Apple TV+: </a:t>
            </a:r>
            <a:pPr indent="0" marL="0">
              <a:spcAft>
                <a:spcPts val="400"/>
              </a:spcAft>
              <a:buNone/>
            </a:pPr>
            <a:r>
              <a:rPr lang="en-US" sz="1300" dirty="0">
                <a:solidFill>
                  <a:srgbClr val="27314D"/>
                </a:solidFill>
                <a:latin typeface="Calibri" pitchFamily="34" charset="0"/>
                <a:ea typeface="Calibri" pitchFamily="34" charset="-122"/>
                <a:cs typeface="Calibri" pitchFamily="34" charset="-120"/>
              </a:rPr>
              <a:t>discovery (benefit), because a small catalogue of original shows only pays off if each is found; and creative originality (limitation), because Apple competes on quality. Personalisation is necessary but not sufficient: its benefits depend on managing these limits.</a:t>
            </a:r>
            <a:endParaRPr lang="en-US" sz="1300" dirty="0"/>
          </a:p>
        </p:txBody>
      </p:sp>
      <p:sp>
        <p:nvSpPr>
          <p:cNvPr id="25" name="Text 23"/>
          <p:cNvSpPr txBox="1"/>
          <p:nvPr/>
        </p:nvSpPr>
        <p:spPr>
          <a:xfrm>
            <a:off x="548640" y="6263640"/>
            <a:ext cx="11064240" cy="365760"/>
          </a:xfrm>
          <a:prstGeom prst="rect">
            <a:avLst/>
          </a:prstGeom>
          <a:noFill/>
          <a:ln/>
        </p:spPr>
        <p:txBody>
          <a:bodyPr wrap="square" lIns="0" tIns="0" rIns="0" bIns="0" rtlCol="0" anchor="t"/>
          <a:lstStyle/>
          <a:p>
            <a:pPr indent="0" marL="0">
              <a:buNone/>
            </a:pPr>
            <a:r>
              <a:rPr lang="en-US" sz="1100" i="1" dirty="0">
                <a:solidFill>
                  <a:srgbClr val="6B7590"/>
                </a:solidFill>
                <a:latin typeface="Calibri" pitchFamily="34" charset="0"/>
                <a:ea typeface="Calibri" pitchFamily="34" charset="-122"/>
                <a:cs typeface="Calibri" pitchFamily="34" charset="-120"/>
              </a:rPr>
              <a:t>Table 1: Benefits and limitations of personalisation. Sources as cited in each row.</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692640"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Impact on Creative Teams</a:t>
            </a:r>
            <a:endParaRPr lang="en-US" sz="3000" dirty="0"/>
          </a:p>
        </p:txBody>
      </p:sp>
      <p:sp>
        <p:nvSpPr>
          <p:cNvPr id="3" name="Text 1"/>
          <p:cNvSpPr txBox="1"/>
          <p:nvPr/>
        </p:nvSpPr>
        <p:spPr>
          <a:xfrm>
            <a:off x="10332720" y="137160"/>
            <a:ext cx="1463040" cy="274320"/>
          </a:xfrm>
          <a:prstGeom prst="rect">
            <a:avLst/>
          </a:prstGeom>
          <a:noFill/>
          <a:ln/>
        </p:spPr>
        <p:txBody>
          <a:bodyPr wrap="square" lIns="0" tIns="0" rIns="0" bIns="0" rtlCol="0" anchor="t"/>
          <a:lstStyle/>
          <a:p>
            <a:pPr algn="r" indent="0" marL="0">
              <a:buNone/>
            </a:pPr>
            <a:r>
              <a:rPr lang="en-US" sz="1100" dirty="0">
                <a:solidFill>
                  <a:srgbClr val="6B7590"/>
                </a:solidFill>
                <a:latin typeface="Calibri" pitchFamily="34" charset="0"/>
                <a:ea typeface="Calibri" pitchFamily="34" charset="-122"/>
                <a:cs typeface="Calibri" pitchFamily="34" charset="-120"/>
              </a:rPr>
              <a:t>People and change</a:t>
            </a:r>
            <a:endParaRPr lang="en-US" sz="1100" dirty="0"/>
          </a:p>
        </p:txBody>
      </p:sp>
      <p:sp>
        <p:nvSpPr>
          <p:cNvPr id="4" name="Text 2"/>
          <p:cNvSpPr txBox="1"/>
          <p:nvPr/>
        </p:nvSpPr>
        <p:spPr>
          <a:xfrm>
            <a:off x="548640" y="1097280"/>
            <a:ext cx="11064240" cy="320040"/>
          </a:xfrm>
          <a:prstGeom prst="rect">
            <a:avLst/>
          </a:prstGeom>
          <a:noFill/>
          <a:ln/>
        </p:spPr>
        <p:txBody>
          <a:bodyPr wrap="square" lIns="0" tIns="0" rIns="0" bIns="0" rtlCol="0" anchor="t"/>
          <a:lstStyle/>
          <a:p>
            <a:pPr indent="0" marL="0">
              <a:buNone/>
            </a:pPr>
            <a:r>
              <a:rPr lang="en-US" sz="1400" i="1" dirty="0">
                <a:solidFill>
                  <a:srgbClr val="1E56A0"/>
                </a:solidFill>
                <a:latin typeface="Calibri" pitchFamily="34" charset="0"/>
                <a:ea typeface="Calibri" pitchFamily="34" charset="-122"/>
                <a:cs typeface="Calibri" pitchFamily="34" charset="-120"/>
              </a:rPr>
              <a:t>Personalisation at this scale does not only change what customers see; it also changes how creative teams decide what gets made.</a:t>
            </a:r>
            <a:endParaRPr lang="en-US" sz="1400" dirty="0"/>
          </a:p>
        </p:txBody>
      </p:sp>
      <p:sp>
        <p:nvSpPr>
          <p:cNvPr id="5" name="Shape 3"/>
          <p:cNvSpPr/>
          <p:nvPr/>
        </p:nvSpPr>
        <p:spPr>
          <a:xfrm>
            <a:off x="548640" y="1600200"/>
            <a:ext cx="3291840" cy="3611880"/>
          </a:xfrm>
          <a:prstGeom prst="roundRect">
            <a:avLst>
              <a:gd name="adj" fmla="val 2222"/>
            </a:avLst>
          </a:prstGeom>
          <a:solidFill>
            <a:srgbClr val="1E2761"/>
          </a:solidFill>
          <a:ln w="12700">
            <a:solidFill>
              <a:srgbClr val="1E2761"/>
            </a:solidFill>
            <a:prstDash val="solid"/>
          </a:ln>
        </p:spPr>
      </p:sp>
      <p:sp>
        <p:nvSpPr>
          <p:cNvPr id="6" name="Text 4"/>
          <p:cNvSpPr txBox="1"/>
          <p:nvPr/>
        </p:nvSpPr>
        <p:spPr>
          <a:xfrm>
            <a:off x="731520" y="1737360"/>
            <a:ext cx="2926080" cy="45720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Creative teams</a:t>
            </a:r>
            <a:endParaRPr lang="en-US" sz="2000" dirty="0"/>
          </a:p>
        </p:txBody>
      </p:sp>
      <p:sp>
        <p:nvSpPr>
          <p:cNvPr id="7" name="Text 5"/>
          <p:cNvSpPr txBox="1"/>
          <p:nvPr/>
        </p:nvSpPr>
        <p:spPr>
          <a:xfrm>
            <a:off x="731520" y="2286000"/>
            <a:ext cx="2926080" cy="274320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Writers, producers and content developers</a:t>
            </a:r>
            <a:endParaRPr lang="en-US" sz="1500" dirty="0"/>
          </a:p>
          <a:p>
            <a:pPr indent="0" marL="0">
              <a:buNone/>
            </a:pPr>
            <a:r>
              <a:rPr lang="en-US" sz="800" dirty="0">
                <a:solidFill>
                  <a:srgbClr val="FFFFFF"/>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FFFFFF"/>
                </a:solidFill>
                <a:latin typeface="Calibri" pitchFamily="34" charset="0"/>
                <a:ea typeface="Calibri" pitchFamily="34" charset="-122"/>
                <a:cs typeface="Calibri" pitchFamily="34" charset="-120"/>
              </a:rPr>
              <a:t>Concern: too much reliance on data could affect originality.</a:t>
            </a:r>
            <a:endParaRPr lang="en-US" sz="1500" dirty="0"/>
          </a:p>
        </p:txBody>
      </p:sp>
      <p:sp>
        <p:nvSpPr>
          <p:cNvPr id="8" name="Shape 6"/>
          <p:cNvSpPr/>
          <p:nvPr/>
        </p:nvSpPr>
        <p:spPr>
          <a:xfrm>
            <a:off x="4114800" y="1600200"/>
            <a:ext cx="2423160" cy="3611880"/>
          </a:xfrm>
          <a:prstGeom prst="roundRect">
            <a:avLst>
              <a:gd name="adj" fmla="val 3019"/>
            </a:avLst>
          </a:prstGeom>
          <a:solidFill>
            <a:srgbClr val="F2F5FB"/>
          </a:solidFill>
          <a:ln w="12700">
            <a:solidFill>
              <a:srgbClr val="CADCFC"/>
            </a:solidFill>
            <a:prstDash val="solid"/>
          </a:ln>
        </p:spPr>
      </p:sp>
      <p:sp>
        <p:nvSpPr>
          <p:cNvPr id="9" name="Text 7"/>
          <p:cNvSpPr txBox="1"/>
          <p:nvPr/>
        </p:nvSpPr>
        <p:spPr>
          <a:xfrm>
            <a:off x="4251960" y="1737360"/>
            <a:ext cx="2148840" cy="411480"/>
          </a:xfrm>
          <a:prstGeom prst="rect">
            <a:avLst/>
          </a:prstGeom>
          <a:noFill/>
          <a:ln/>
        </p:spPr>
        <p:txBody>
          <a:bodyPr wrap="square" lIns="0" tIns="0" rIns="0" bIns="0" rtlCol="0" anchor="t"/>
          <a:lstStyle/>
          <a:p>
            <a:pPr indent="0" marL="0">
              <a:buNone/>
            </a:pPr>
            <a:r>
              <a:rPr lang="en-US" sz="1800" b="1" dirty="0">
                <a:solidFill>
                  <a:srgbClr val="1E2761"/>
                </a:solidFill>
                <a:latin typeface="Cambria" pitchFamily="34" charset="0"/>
                <a:ea typeface="Cambria" pitchFamily="34" charset="-122"/>
                <a:cs typeface="Cambria" pitchFamily="34" charset="-120"/>
              </a:rPr>
              <a:t>Structure</a:t>
            </a:r>
            <a:endParaRPr lang="en-US" sz="1800" dirty="0"/>
          </a:p>
        </p:txBody>
      </p:sp>
      <p:sp>
        <p:nvSpPr>
          <p:cNvPr id="10" name="Text 8"/>
          <p:cNvSpPr txBox="1"/>
          <p:nvPr/>
        </p:nvSpPr>
        <p:spPr>
          <a:xfrm>
            <a:off x="4251960" y="2240280"/>
            <a:ext cx="2148840" cy="2834640"/>
          </a:xfrm>
          <a:prstGeom prst="rect">
            <a:avLst/>
          </a:prstGeom>
          <a:noFill/>
          <a:ln/>
        </p:spPr>
        <p:txBody>
          <a:bodyPr wrap="square" lIns="0" tIns="0" rIns="0" bIns="0" rtlCol="0" anchor="t"/>
          <a:lstStyle/>
          <a:p>
            <a:pPr indent="0" marL="0">
              <a:buNone/>
            </a:pPr>
            <a:r>
              <a:rPr lang="en-US" sz="1400" dirty="0">
                <a:solidFill>
                  <a:srgbClr val="27314D"/>
                </a:solidFill>
                <a:latin typeface="Calibri" pitchFamily="34" charset="0"/>
                <a:ea typeface="Calibri" pitchFamily="34" charset="-122"/>
                <a:cs typeface="Calibri" pitchFamily="34" charset="-120"/>
              </a:rPr>
              <a:t>Who decides what gets made. Data insight must inform, not replace, the commissioning executives’ and creators’ judgement.</a:t>
            </a:r>
            <a:endParaRPr lang="en-US" sz="1400" dirty="0"/>
          </a:p>
        </p:txBody>
      </p:sp>
      <p:sp>
        <p:nvSpPr>
          <p:cNvPr id="11" name="Shape 9"/>
          <p:cNvSpPr/>
          <p:nvPr/>
        </p:nvSpPr>
        <p:spPr>
          <a:xfrm>
            <a:off x="6675120" y="1600200"/>
            <a:ext cx="2423160" cy="3611880"/>
          </a:xfrm>
          <a:prstGeom prst="roundRect">
            <a:avLst>
              <a:gd name="adj" fmla="val 3019"/>
            </a:avLst>
          </a:prstGeom>
          <a:solidFill>
            <a:srgbClr val="F2F5FB"/>
          </a:solidFill>
          <a:ln w="12700">
            <a:solidFill>
              <a:srgbClr val="CADCFC"/>
            </a:solidFill>
            <a:prstDash val="solid"/>
          </a:ln>
        </p:spPr>
      </p:sp>
      <p:sp>
        <p:nvSpPr>
          <p:cNvPr id="12" name="Text 10"/>
          <p:cNvSpPr txBox="1"/>
          <p:nvPr/>
        </p:nvSpPr>
        <p:spPr>
          <a:xfrm>
            <a:off x="6812280" y="1737360"/>
            <a:ext cx="2148840" cy="411480"/>
          </a:xfrm>
          <a:prstGeom prst="rect">
            <a:avLst/>
          </a:prstGeom>
          <a:noFill/>
          <a:ln/>
        </p:spPr>
        <p:txBody>
          <a:bodyPr wrap="square" lIns="0" tIns="0" rIns="0" bIns="0" rtlCol="0" anchor="t"/>
          <a:lstStyle/>
          <a:p>
            <a:pPr indent="0" marL="0">
              <a:buNone/>
            </a:pPr>
            <a:r>
              <a:rPr lang="en-US" sz="1800" b="1" dirty="0">
                <a:solidFill>
                  <a:srgbClr val="1E2761"/>
                </a:solidFill>
                <a:latin typeface="Cambria" pitchFamily="34" charset="0"/>
                <a:ea typeface="Cambria" pitchFamily="34" charset="-122"/>
                <a:cs typeface="Cambria" pitchFamily="34" charset="-120"/>
              </a:rPr>
              <a:t>Culture</a:t>
            </a:r>
            <a:endParaRPr lang="en-US" sz="1800" dirty="0"/>
          </a:p>
        </p:txBody>
      </p:sp>
      <p:sp>
        <p:nvSpPr>
          <p:cNvPr id="13" name="Text 11"/>
          <p:cNvSpPr txBox="1"/>
          <p:nvPr/>
        </p:nvSpPr>
        <p:spPr>
          <a:xfrm>
            <a:off x="6812280" y="2240280"/>
            <a:ext cx="2148840" cy="2834640"/>
          </a:xfrm>
          <a:prstGeom prst="rect">
            <a:avLst/>
          </a:prstGeom>
          <a:noFill/>
          <a:ln/>
        </p:spPr>
        <p:txBody>
          <a:bodyPr wrap="square" lIns="0" tIns="0" rIns="0" bIns="0" rtlCol="0" anchor="t"/>
          <a:lstStyle/>
          <a:p>
            <a:pPr indent="0" marL="0">
              <a:buNone/>
            </a:pPr>
            <a:r>
              <a:rPr lang="en-US" sz="1400" dirty="0">
                <a:solidFill>
                  <a:srgbClr val="27314D"/>
                </a:solidFill>
                <a:latin typeface="Calibri" pitchFamily="34" charset="0"/>
                <a:ea typeface="Calibri" pitchFamily="34" charset="-122"/>
                <a:cs typeface="Calibri" pitchFamily="34" charset="-120"/>
              </a:rPr>
              <a:t>Creative autonomy versus data-driven decisions. Teams need to see data as a tool, not a verdict (Napoli, 2014).</a:t>
            </a:r>
            <a:endParaRPr lang="en-US" sz="1400" dirty="0"/>
          </a:p>
        </p:txBody>
      </p:sp>
      <p:sp>
        <p:nvSpPr>
          <p:cNvPr id="14" name="Shape 12"/>
          <p:cNvSpPr/>
          <p:nvPr/>
        </p:nvSpPr>
        <p:spPr>
          <a:xfrm>
            <a:off x="9235440" y="1600200"/>
            <a:ext cx="2423160" cy="3611880"/>
          </a:xfrm>
          <a:prstGeom prst="roundRect">
            <a:avLst>
              <a:gd name="adj" fmla="val 3019"/>
            </a:avLst>
          </a:prstGeom>
          <a:solidFill>
            <a:srgbClr val="F2F5FB"/>
          </a:solidFill>
          <a:ln w="12700">
            <a:solidFill>
              <a:srgbClr val="CADCFC"/>
            </a:solidFill>
            <a:prstDash val="solid"/>
          </a:ln>
        </p:spPr>
      </p:sp>
      <p:sp>
        <p:nvSpPr>
          <p:cNvPr id="15" name="Text 13"/>
          <p:cNvSpPr txBox="1"/>
          <p:nvPr/>
        </p:nvSpPr>
        <p:spPr>
          <a:xfrm>
            <a:off x="9372600" y="1737360"/>
            <a:ext cx="2148840" cy="411480"/>
          </a:xfrm>
          <a:prstGeom prst="rect">
            <a:avLst/>
          </a:prstGeom>
          <a:noFill/>
          <a:ln/>
        </p:spPr>
        <p:txBody>
          <a:bodyPr wrap="square" lIns="0" tIns="0" rIns="0" bIns="0" rtlCol="0" anchor="t"/>
          <a:lstStyle/>
          <a:p>
            <a:pPr indent="0" marL="0">
              <a:buNone/>
            </a:pPr>
            <a:r>
              <a:rPr lang="en-US" sz="1800" b="1" dirty="0">
                <a:solidFill>
                  <a:srgbClr val="1E2761"/>
                </a:solidFill>
                <a:latin typeface="Cambria" pitchFamily="34" charset="0"/>
                <a:ea typeface="Cambria" pitchFamily="34" charset="-122"/>
                <a:cs typeface="Cambria" pitchFamily="34" charset="-120"/>
              </a:rPr>
              <a:t>Process</a:t>
            </a:r>
            <a:endParaRPr lang="en-US" sz="1800" dirty="0"/>
          </a:p>
        </p:txBody>
      </p:sp>
      <p:sp>
        <p:nvSpPr>
          <p:cNvPr id="16" name="Text 14"/>
          <p:cNvSpPr txBox="1"/>
          <p:nvPr/>
        </p:nvSpPr>
        <p:spPr>
          <a:xfrm>
            <a:off x="9372600" y="2240280"/>
            <a:ext cx="2148840" cy="2834640"/>
          </a:xfrm>
          <a:prstGeom prst="rect">
            <a:avLst/>
          </a:prstGeom>
          <a:noFill/>
          <a:ln/>
        </p:spPr>
        <p:txBody>
          <a:bodyPr wrap="square" lIns="0" tIns="0" rIns="0" bIns="0" rtlCol="0" anchor="t"/>
          <a:lstStyle/>
          <a:p>
            <a:pPr indent="0" marL="0">
              <a:buNone/>
            </a:pPr>
            <a:r>
              <a:rPr lang="en-US" sz="1400" dirty="0">
                <a:solidFill>
                  <a:srgbClr val="27314D"/>
                </a:solidFill>
                <a:latin typeface="Calibri" pitchFamily="34" charset="0"/>
                <a:ea typeface="Calibri" pitchFamily="34" charset="-122"/>
                <a:cs typeface="Calibri" pitchFamily="34" charset="-120"/>
              </a:rPr>
              <a:t>Green-lighting and content pitches. Add a data check to pitches, with creative sign-off kept at the final step.</a:t>
            </a:r>
            <a:endParaRPr lang="en-US" sz="1400" dirty="0"/>
          </a:p>
        </p:txBody>
      </p:sp>
      <p:sp>
        <p:nvSpPr>
          <p:cNvPr id="17" name="Text 15"/>
          <p:cNvSpPr txBox="1"/>
          <p:nvPr/>
        </p:nvSpPr>
        <p:spPr>
          <a:xfrm>
            <a:off x="548640" y="6263640"/>
            <a:ext cx="11064240" cy="365760"/>
          </a:xfrm>
          <a:prstGeom prst="rect">
            <a:avLst/>
          </a:prstGeom>
          <a:noFill/>
          <a:ln/>
        </p:spPr>
        <p:txBody>
          <a:bodyPr wrap="square" lIns="0" tIns="0" rIns="0" bIns="0" rtlCol="0" anchor="t"/>
          <a:lstStyle/>
          <a:p>
            <a:pPr indent="0" marL="0">
              <a:buNone/>
            </a:pPr>
            <a:r>
              <a:rPr lang="en-US" sz="1100" i="1" dirty="0">
                <a:solidFill>
                  <a:srgbClr val="6B7590"/>
                </a:solidFill>
                <a:latin typeface="Calibri" pitchFamily="34" charset="0"/>
                <a:ea typeface="Calibri" pitchFamily="34" charset="-122"/>
                <a:cs typeface="Calibri" pitchFamily="34" charset="-120"/>
              </a:rPr>
              <a:t>Figure 3: Impact on creative teams (adapted from Davis, 1989; Napoli, 2014).</a:t>
            </a:r>
            <a:endParaRPr lang="en-US" sz="1100" dirty="0"/>
          </a:p>
        </p:txBody>
      </p:sp>
      <p:sp>
        <p:nvSpPr>
          <p:cNvPr id="18" name="Text 16"/>
          <p:cNvSpPr txBox="1"/>
          <p:nvPr/>
        </p:nvSpPr>
        <p:spPr>
          <a:xfrm>
            <a:off x="548640" y="5440680"/>
            <a:ext cx="11064240" cy="73152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TAM view (Davis, 1989): </a:t>
            </a:r>
            <a:pPr indent="0" marL="0">
              <a:buNone/>
            </a:pPr>
            <a:r>
              <a:rPr lang="en-US" sz="1400" dirty="0">
                <a:solidFill>
                  <a:srgbClr val="27314D"/>
                </a:solidFill>
                <a:latin typeface="Calibri" pitchFamily="34" charset="0"/>
                <a:ea typeface="Calibri" pitchFamily="34" charset="-122"/>
                <a:cs typeface="Calibri" pitchFamily="34" charset="-120"/>
              </a:rPr>
              <a:t>Useful? Yes if it shows which audiences a pitch could reach. Easy to use? Only if insights are plain-language and built into the pitch workflow.</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692640"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Barriers, Change Management and Digital Confidence</a:t>
            </a:r>
            <a:endParaRPr lang="en-US" sz="3000" dirty="0"/>
          </a:p>
        </p:txBody>
      </p:sp>
      <p:sp>
        <p:nvSpPr>
          <p:cNvPr id="3" name="Text 1"/>
          <p:cNvSpPr txBox="1"/>
          <p:nvPr/>
        </p:nvSpPr>
        <p:spPr>
          <a:xfrm>
            <a:off x="10332720" y="137160"/>
            <a:ext cx="1463040" cy="274320"/>
          </a:xfrm>
          <a:prstGeom prst="rect">
            <a:avLst/>
          </a:prstGeom>
          <a:noFill/>
          <a:ln/>
        </p:spPr>
        <p:txBody>
          <a:bodyPr wrap="square" lIns="0" tIns="0" rIns="0" bIns="0" rtlCol="0" anchor="t"/>
          <a:lstStyle/>
          <a:p>
            <a:pPr algn="r" indent="0" marL="0">
              <a:buNone/>
            </a:pPr>
            <a:r>
              <a:rPr lang="en-US" sz="1100" dirty="0">
                <a:solidFill>
                  <a:srgbClr val="6B7590"/>
                </a:solidFill>
                <a:latin typeface="Calibri" pitchFamily="34" charset="0"/>
                <a:ea typeface="Calibri" pitchFamily="34" charset="-122"/>
                <a:cs typeface="Calibri" pitchFamily="34" charset="-120"/>
              </a:rPr>
              <a:t>People and change</a:t>
            </a:r>
            <a:endParaRPr lang="en-US" sz="1100" dirty="0"/>
          </a:p>
        </p:txBody>
      </p:sp>
      <p:sp>
        <p:nvSpPr>
          <p:cNvPr id="4" name="Shape 2"/>
          <p:cNvSpPr/>
          <p:nvPr/>
        </p:nvSpPr>
        <p:spPr>
          <a:xfrm>
            <a:off x="548640" y="1325880"/>
            <a:ext cx="1828800" cy="502920"/>
          </a:xfrm>
          <a:prstGeom prst="homePlate">
            <a:avLst/>
          </a:prstGeom>
          <a:solidFill>
            <a:srgbClr val="1E2761"/>
          </a:solidFill>
          <a:ln w="12700">
            <a:solidFill>
              <a:srgbClr val="FFFFFF"/>
            </a:solidFill>
            <a:prstDash val="solid"/>
          </a:ln>
        </p:spPr>
      </p:sp>
      <p:sp>
        <p:nvSpPr>
          <p:cNvPr id="5" name="Text 3"/>
          <p:cNvSpPr txBox="1"/>
          <p:nvPr/>
        </p:nvSpPr>
        <p:spPr>
          <a:xfrm>
            <a:off x="640080" y="1325880"/>
            <a:ext cx="155448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1 Urgency</a:t>
            </a:r>
            <a:endParaRPr lang="en-US" sz="1300" dirty="0"/>
          </a:p>
        </p:txBody>
      </p:sp>
      <p:sp>
        <p:nvSpPr>
          <p:cNvPr id="6" name="Text 4"/>
          <p:cNvSpPr txBox="1"/>
          <p:nvPr/>
        </p:nvSpPr>
        <p:spPr>
          <a:xfrm>
            <a:off x="548640" y="1901952"/>
            <a:ext cx="1783080" cy="822960"/>
          </a:xfrm>
          <a:prstGeom prst="rect">
            <a:avLst/>
          </a:prstGeom>
          <a:noFill/>
          <a:ln/>
        </p:spPr>
        <p:txBody>
          <a:bodyPr wrap="square" lIns="0" tIns="0" rIns="0" bIns="0" rtlCol="0" anchor="t"/>
          <a:lstStyle/>
          <a:p>
            <a:pPr indent="0" marL="0">
              <a:buNone/>
            </a:pPr>
            <a:r>
              <a:rPr lang="en-US" sz="1200" dirty="0">
                <a:solidFill>
                  <a:srgbClr val="27314D"/>
                </a:solidFill>
                <a:latin typeface="Calibri" pitchFamily="34" charset="0"/>
                <a:ea typeface="Calibri" pitchFamily="34" charset="-122"/>
                <a:cs typeface="Calibri" pitchFamily="34" charset="-120"/>
              </a:rPr>
              <a:t>Churn and rivals make better discovery pressing</a:t>
            </a:r>
            <a:endParaRPr lang="en-US" sz="1200" dirty="0"/>
          </a:p>
        </p:txBody>
      </p:sp>
      <p:sp>
        <p:nvSpPr>
          <p:cNvPr id="7" name="Shape 5"/>
          <p:cNvSpPr/>
          <p:nvPr/>
        </p:nvSpPr>
        <p:spPr>
          <a:xfrm>
            <a:off x="2423160" y="1325880"/>
            <a:ext cx="1828800" cy="502920"/>
          </a:xfrm>
          <a:prstGeom prst="homePlate">
            <a:avLst/>
          </a:prstGeom>
          <a:solidFill>
            <a:srgbClr val="1E2761"/>
          </a:solidFill>
          <a:ln w="12700">
            <a:solidFill>
              <a:srgbClr val="FFFFFF"/>
            </a:solidFill>
            <a:prstDash val="solid"/>
          </a:ln>
        </p:spPr>
      </p:sp>
      <p:sp>
        <p:nvSpPr>
          <p:cNvPr id="8" name="Text 6"/>
          <p:cNvSpPr txBox="1"/>
          <p:nvPr/>
        </p:nvSpPr>
        <p:spPr>
          <a:xfrm>
            <a:off x="2514600" y="1325880"/>
            <a:ext cx="155448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2 Coalition</a:t>
            </a:r>
            <a:endParaRPr lang="en-US" sz="1300" dirty="0"/>
          </a:p>
        </p:txBody>
      </p:sp>
      <p:sp>
        <p:nvSpPr>
          <p:cNvPr id="9" name="Text 7"/>
          <p:cNvSpPr txBox="1"/>
          <p:nvPr/>
        </p:nvSpPr>
        <p:spPr>
          <a:xfrm>
            <a:off x="2423160" y="1901952"/>
            <a:ext cx="1783080" cy="822960"/>
          </a:xfrm>
          <a:prstGeom prst="rect">
            <a:avLst/>
          </a:prstGeom>
          <a:noFill/>
          <a:ln/>
        </p:spPr>
        <p:txBody>
          <a:bodyPr wrap="square" lIns="0" tIns="0" rIns="0" bIns="0" rtlCol="0" anchor="t"/>
          <a:lstStyle/>
          <a:p>
            <a:pPr indent="0" marL="0">
              <a:buNone/>
            </a:pPr>
            <a:r>
              <a:rPr lang="en-US" sz="1200" dirty="0">
                <a:solidFill>
                  <a:srgbClr val="27314D"/>
                </a:solidFill>
                <a:latin typeface="Calibri" pitchFamily="34" charset="0"/>
                <a:ea typeface="Calibri" pitchFamily="34" charset="-122"/>
                <a:cs typeface="Calibri" pitchFamily="34" charset="-120"/>
              </a:rPr>
              <a:t>Creative champions plus data leads</a:t>
            </a:r>
            <a:endParaRPr lang="en-US" sz="1200" dirty="0"/>
          </a:p>
        </p:txBody>
      </p:sp>
      <p:sp>
        <p:nvSpPr>
          <p:cNvPr id="10" name="Shape 8"/>
          <p:cNvSpPr/>
          <p:nvPr/>
        </p:nvSpPr>
        <p:spPr>
          <a:xfrm>
            <a:off x="4297680" y="1325880"/>
            <a:ext cx="1828800" cy="502920"/>
          </a:xfrm>
          <a:prstGeom prst="homePlate">
            <a:avLst/>
          </a:prstGeom>
          <a:solidFill>
            <a:srgbClr val="1E2761"/>
          </a:solidFill>
          <a:ln w="12700">
            <a:solidFill>
              <a:srgbClr val="FFFFFF"/>
            </a:solidFill>
            <a:prstDash val="solid"/>
          </a:ln>
        </p:spPr>
      </p:sp>
      <p:sp>
        <p:nvSpPr>
          <p:cNvPr id="11" name="Text 9"/>
          <p:cNvSpPr txBox="1"/>
          <p:nvPr/>
        </p:nvSpPr>
        <p:spPr>
          <a:xfrm>
            <a:off x="4389120" y="1325880"/>
            <a:ext cx="155448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3 Vision</a:t>
            </a:r>
            <a:endParaRPr lang="en-US" sz="1300" dirty="0"/>
          </a:p>
        </p:txBody>
      </p:sp>
      <p:sp>
        <p:nvSpPr>
          <p:cNvPr id="12" name="Text 10"/>
          <p:cNvSpPr txBox="1"/>
          <p:nvPr/>
        </p:nvSpPr>
        <p:spPr>
          <a:xfrm>
            <a:off x="4297680" y="1901952"/>
            <a:ext cx="1783080" cy="822960"/>
          </a:xfrm>
          <a:prstGeom prst="rect">
            <a:avLst/>
          </a:prstGeom>
          <a:noFill/>
          <a:ln/>
        </p:spPr>
        <p:txBody>
          <a:bodyPr wrap="square" lIns="0" tIns="0" rIns="0" bIns="0" rtlCol="0" anchor="t"/>
          <a:lstStyle/>
          <a:p>
            <a:pPr indent="0" marL="0">
              <a:buNone/>
            </a:pPr>
            <a:r>
              <a:rPr lang="en-US" sz="1200" dirty="0">
                <a:solidFill>
                  <a:srgbClr val="27314D"/>
                </a:solidFill>
                <a:latin typeface="Calibri" pitchFamily="34" charset="0"/>
                <a:ea typeface="Calibri" pitchFamily="34" charset="-122"/>
                <a:cs typeface="Calibri" pitchFamily="34" charset="-120"/>
              </a:rPr>
              <a:t>Data informs; creatives decide</a:t>
            </a:r>
            <a:endParaRPr lang="en-US" sz="1200" dirty="0"/>
          </a:p>
        </p:txBody>
      </p:sp>
      <p:sp>
        <p:nvSpPr>
          <p:cNvPr id="13" name="Shape 11"/>
          <p:cNvSpPr/>
          <p:nvPr/>
        </p:nvSpPr>
        <p:spPr>
          <a:xfrm>
            <a:off x="6172200" y="1325880"/>
            <a:ext cx="1828800" cy="502920"/>
          </a:xfrm>
          <a:prstGeom prst="homePlate">
            <a:avLst/>
          </a:prstGeom>
          <a:solidFill>
            <a:srgbClr val="1E56A0"/>
          </a:solidFill>
          <a:ln w="12700">
            <a:solidFill>
              <a:srgbClr val="FFFFFF"/>
            </a:solidFill>
            <a:prstDash val="solid"/>
          </a:ln>
        </p:spPr>
      </p:sp>
      <p:sp>
        <p:nvSpPr>
          <p:cNvPr id="14" name="Text 12"/>
          <p:cNvSpPr txBox="1"/>
          <p:nvPr/>
        </p:nvSpPr>
        <p:spPr>
          <a:xfrm>
            <a:off x="6263640" y="1325880"/>
            <a:ext cx="155448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4 Pilot</a:t>
            </a:r>
            <a:endParaRPr lang="en-US" sz="1300" dirty="0"/>
          </a:p>
        </p:txBody>
      </p:sp>
      <p:sp>
        <p:nvSpPr>
          <p:cNvPr id="15" name="Text 13"/>
          <p:cNvSpPr txBox="1"/>
          <p:nvPr/>
        </p:nvSpPr>
        <p:spPr>
          <a:xfrm>
            <a:off x="6172200" y="1901952"/>
            <a:ext cx="1783080" cy="822960"/>
          </a:xfrm>
          <a:prstGeom prst="rect">
            <a:avLst/>
          </a:prstGeom>
          <a:noFill/>
          <a:ln/>
        </p:spPr>
        <p:txBody>
          <a:bodyPr wrap="square" lIns="0" tIns="0" rIns="0" bIns="0" rtlCol="0" anchor="t"/>
          <a:lstStyle/>
          <a:p>
            <a:pPr indent="0" marL="0">
              <a:buNone/>
            </a:pPr>
            <a:r>
              <a:rPr lang="en-US" sz="1200" dirty="0">
                <a:solidFill>
                  <a:srgbClr val="27314D"/>
                </a:solidFill>
                <a:latin typeface="Calibri" pitchFamily="34" charset="0"/>
                <a:ea typeface="Calibri" pitchFamily="34" charset="-122"/>
                <a:cs typeface="Calibri" pitchFamily="34" charset="-120"/>
              </a:rPr>
              <a:t>One slate of originals; share early wins</a:t>
            </a:r>
            <a:endParaRPr lang="en-US" sz="1200" dirty="0"/>
          </a:p>
        </p:txBody>
      </p:sp>
      <p:sp>
        <p:nvSpPr>
          <p:cNvPr id="16" name="Shape 14"/>
          <p:cNvSpPr/>
          <p:nvPr/>
        </p:nvSpPr>
        <p:spPr>
          <a:xfrm>
            <a:off x="8046720" y="1325880"/>
            <a:ext cx="1828800" cy="502920"/>
          </a:xfrm>
          <a:prstGeom prst="homePlate">
            <a:avLst/>
          </a:prstGeom>
          <a:solidFill>
            <a:srgbClr val="1E56A0"/>
          </a:solidFill>
          <a:ln w="12700">
            <a:solidFill>
              <a:srgbClr val="FFFFFF"/>
            </a:solidFill>
            <a:prstDash val="solid"/>
          </a:ln>
        </p:spPr>
      </p:sp>
      <p:sp>
        <p:nvSpPr>
          <p:cNvPr id="17" name="Text 15"/>
          <p:cNvSpPr txBox="1"/>
          <p:nvPr/>
        </p:nvSpPr>
        <p:spPr>
          <a:xfrm>
            <a:off x="8138160" y="1325880"/>
            <a:ext cx="155448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5 Extend</a:t>
            </a:r>
            <a:endParaRPr lang="en-US" sz="1300" dirty="0"/>
          </a:p>
        </p:txBody>
      </p:sp>
      <p:sp>
        <p:nvSpPr>
          <p:cNvPr id="18" name="Text 16"/>
          <p:cNvSpPr txBox="1"/>
          <p:nvPr/>
        </p:nvSpPr>
        <p:spPr>
          <a:xfrm>
            <a:off x="8046720" y="1901952"/>
            <a:ext cx="1783080" cy="822960"/>
          </a:xfrm>
          <a:prstGeom prst="rect">
            <a:avLst/>
          </a:prstGeom>
          <a:noFill/>
          <a:ln/>
        </p:spPr>
        <p:txBody>
          <a:bodyPr wrap="square" lIns="0" tIns="0" rIns="0" bIns="0" rtlCol="0" anchor="t"/>
          <a:lstStyle/>
          <a:p>
            <a:pPr indent="0" marL="0">
              <a:buNone/>
            </a:pPr>
            <a:r>
              <a:rPr lang="en-US" sz="1200" dirty="0">
                <a:solidFill>
                  <a:srgbClr val="27314D"/>
                </a:solidFill>
                <a:latin typeface="Calibri" pitchFamily="34" charset="0"/>
                <a:ea typeface="Calibri" pitchFamily="34" charset="-122"/>
                <a:cs typeface="Calibri" pitchFamily="34" charset="-120"/>
              </a:rPr>
              <a:t>Roll into pitches and green-lighting</a:t>
            </a:r>
            <a:endParaRPr lang="en-US" sz="1200" dirty="0"/>
          </a:p>
        </p:txBody>
      </p:sp>
      <p:sp>
        <p:nvSpPr>
          <p:cNvPr id="19" name="Shape 17"/>
          <p:cNvSpPr/>
          <p:nvPr/>
        </p:nvSpPr>
        <p:spPr>
          <a:xfrm>
            <a:off x="9921240" y="1325880"/>
            <a:ext cx="1828800" cy="502920"/>
          </a:xfrm>
          <a:prstGeom prst="homePlate">
            <a:avLst/>
          </a:prstGeom>
          <a:solidFill>
            <a:srgbClr val="1E56A0"/>
          </a:solidFill>
          <a:ln w="12700">
            <a:solidFill>
              <a:srgbClr val="FFFFFF"/>
            </a:solidFill>
            <a:prstDash val="solid"/>
          </a:ln>
        </p:spPr>
      </p:sp>
      <p:sp>
        <p:nvSpPr>
          <p:cNvPr id="20" name="Text 18"/>
          <p:cNvSpPr txBox="1"/>
          <p:nvPr/>
        </p:nvSpPr>
        <p:spPr>
          <a:xfrm>
            <a:off x="10012680" y="1325880"/>
            <a:ext cx="155448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 Embed</a:t>
            </a:r>
            <a:endParaRPr lang="en-US" sz="1300" dirty="0"/>
          </a:p>
        </p:txBody>
      </p:sp>
      <p:sp>
        <p:nvSpPr>
          <p:cNvPr id="21" name="Text 19"/>
          <p:cNvSpPr txBox="1"/>
          <p:nvPr/>
        </p:nvSpPr>
        <p:spPr>
          <a:xfrm>
            <a:off x="9921240" y="1901952"/>
            <a:ext cx="1783080" cy="822960"/>
          </a:xfrm>
          <a:prstGeom prst="rect">
            <a:avLst/>
          </a:prstGeom>
          <a:noFill/>
          <a:ln/>
        </p:spPr>
        <p:txBody>
          <a:bodyPr wrap="square" lIns="0" tIns="0" rIns="0" bIns="0" rtlCol="0" anchor="t"/>
          <a:lstStyle/>
          <a:p>
            <a:pPr indent="0" marL="0">
              <a:buNone/>
            </a:pPr>
            <a:r>
              <a:rPr lang="en-US" sz="1200" dirty="0">
                <a:solidFill>
                  <a:srgbClr val="27314D"/>
                </a:solidFill>
                <a:latin typeface="Calibri" pitchFamily="34" charset="0"/>
                <a:ea typeface="Calibri" pitchFamily="34" charset="-122"/>
                <a:cs typeface="Calibri" pitchFamily="34" charset="-120"/>
              </a:rPr>
              <a:t>Make it part of how Apple TV+ commissions</a:t>
            </a:r>
            <a:endParaRPr lang="en-US" sz="1200" dirty="0"/>
          </a:p>
        </p:txBody>
      </p:sp>
      <p:sp>
        <p:nvSpPr>
          <p:cNvPr id="22" name="Text 20"/>
          <p:cNvSpPr txBox="1"/>
          <p:nvPr/>
        </p:nvSpPr>
        <p:spPr>
          <a:xfrm>
            <a:off x="548640" y="2743200"/>
            <a:ext cx="11064240" cy="274320"/>
          </a:xfrm>
          <a:prstGeom prst="rect">
            <a:avLst/>
          </a:prstGeom>
          <a:noFill/>
          <a:ln/>
        </p:spPr>
        <p:txBody>
          <a:bodyPr wrap="square" lIns="0" tIns="0" rIns="0" bIns="0" rtlCol="0" anchor="t"/>
          <a:lstStyle/>
          <a:p>
            <a:pPr indent="0" marL="0">
              <a:buNone/>
            </a:pPr>
            <a:r>
              <a:rPr lang="en-US" sz="1100" i="1" dirty="0">
                <a:solidFill>
                  <a:srgbClr val="6B7590"/>
                </a:solidFill>
                <a:latin typeface="Calibri" pitchFamily="34" charset="0"/>
                <a:ea typeface="Calibri" pitchFamily="34" charset="-122"/>
                <a:cs typeface="Calibri" pitchFamily="34" charset="-120"/>
              </a:rPr>
              <a:t>Figure 4: Kotter (1995) change model, tailored to Apple TV+. Digital skills and confidence: Vial (2019).</a:t>
            </a:r>
            <a:endParaRPr lang="en-US" sz="1100" dirty="0"/>
          </a:p>
        </p:txBody>
      </p:sp>
      <p:sp>
        <p:nvSpPr>
          <p:cNvPr id="23" name="Text 21"/>
          <p:cNvSpPr txBox="1"/>
          <p:nvPr/>
        </p:nvSpPr>
        <p:spPr>
          <a:xfrm>
            <a:off x="548640" y="3154680"/>
            <a:ext cx="6400800" cy="320040"/>
          </a:xfrm>
          <a:prstGeom prst="rect">
            <a:avLst/>
          </a:prstGeom>
          <a:noFill/>
          <a:ln/>
        </p:spPr>
        <p:txBody>
          <a:bodyPr wrap="square" lIns="0" tIns="0" rIns="0" bIns="0" rtlCol="0" anchor="t"/>
          <a:lstStyle/>
          <a:p>
            <a:pPr indent="0" marL="0">
              <a:buNone/>
            </a:pPr>
            <a:r>
              <a:rPr lang="en-US" sz="1600" b="1" dirty="0">
                <a:solidFill>
                  <a:srgbClr val="1E2761"/>
                </a:solidFill>
                <a:latin typeface="Cambria" pitchFamily="34" charset="0"/>
                <a:ea typeface="Cambria" pitchFamily="34" charset="-122"/>
                <a:cs typeface="Cambria" pitchFamily="34" charset="-120"/>
              </a:rPr>
              <a:t>Barriers and responses</a:t>
            </a:r>
            <a:endParaRPr lang="en-US" sz="1600" dirty="0"/>
          </a:p>
        </p:txBody>
      </p:sp>
      <p:sp>
        <p:nvSpPr>
          <p:cNvPr id="24" name="Shape 22"/>
          <p:cNvSpPr/>
          <p:nvPr/>
        </p:nvSpPr>
        <p:spPr>
          <a:xfrm>
            <a:off x="548640" y="3520440"/>
            <a:ext cx="6766560" cy="777240"/>
          </a:xfrm>
          <a:prstGeom prst="roundRect">
            <a:avLst>
              <a:gd name="adj" fmla="val 9412"/>
            </a:avLst>
          </a:prstGeom>
          <a:solidFill>
            <a:srgbClr val="F2F5FB"/>
          </a:solidFill>
          <a:ln w="12700">
            <a:solidFill>
              <a:srgbClr val="CADCFC"/>
            </a:solidFill>
            <a:prstDash val="solid"/>
          </a:ln>
        </p:spPr>
      </p:sp>
      <p:sp>
        <p:nvSpPr>
          <p:cNvPr id="25" name="Text 23"/>
          <p:cNvSpPr txBox="1"/>
          <p:nvPr/>
        </p:nvSpPr>
        <p:spPr>
          <a:xfrm>
            <a:off x="731520" y="3520440"/>
            <a:ext cx="6400800" cy="7772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Fear of losing creative control: </a:t>
            </a:r>
            <a:pPr indent="0" marL="0">
              <a:buNone/>
            </a:pPr>
            <a:r>
              <a:rPr lang="en-US" sz="1300" dirty="0">
                <a:solidFill>
                  <a:srgbClr val="27314D"/>
                </a:solidFill>
                <a:latin typeface="Calibri" pitchFamily="34" charset="0"/>
                <a:ea typeface="Calibri" pitchFamily="34" charset="-122"/>
                <a:cs typeface="Calibri" pitchFamily="34" charset="-120"/>
              </a:rPr>
              <a:t>Keep creative sign-off final; publish rules for how data is used.</a:t>
            </a:r>
            <a:endParaRPr lang="en-US" sz="1300" dirty="0"/>
          </a:p>
        </p:txBody>
      </p:sp>
      <p:sp>
        <p:nvSpPr>
          <p:cNvPr id="26" name="Shape 24"/>
          <p:cNvSpPr/>
          <p:nvPr/>
        </p:nvSpPr>
        <p:spPr>
          <a:xfrm>
            <a:off x="548640" y="4389120"/>
            <a:ext cx="6766560" cy="777240"/>
          </a:xfrm>
          <a:prstGeom prst="roundRect">
            <a:avLst>
              <a:gd name="adj" fmla="val 9412"/>
            </a:avLst>
          </a:prstGeom>
          <a:solidFill>
            <a:srgbClr val="F2F5FB"/>
          </a:solidFill>
          <a:ln w="12700">
            <a:solidFill>
              <a:srgbClr val="CADCFC"/>
            </a:solidFill>
            <a:prstDash val="solid"/>
          </a:ln>
        </p:spPr>
      </p:sp>
      <p:sp>
        <p:nvSpPr>
          <p:cNvPr id="27" name="Text 25"/>
          <p:cNvSpPr txBox="1"/>
          <p:nvPr/>
        </p:nvSpPr>
        <p:spPr>
          <a:xfrm>
            <a:off x="731520" y="4389120"/>
            <a:ext cx="6400800" cy="7772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Distrust of algorithms: </a:t>
            </a:r>
            <a:pPr indent="0" marL="0">
              <a:buNone/>
            </a:pPr>
            <a:r>
              <a:rPr lang="en-US" sz="1300" dirty="0">
                <a:solidFill>
                  <a:srgbClr val="27314D"/>
                </a:solidFill>
                <a:latin typeface="Calibri" pitchFamily="34" charset="0"/>
                <a:ea typeface="Calibri" pitchFamily="34" charset="-122"/>
                <a:cs typeface="Calibri" pitchFamily="34" charset="-120"/>
              </a:rPr>
              <a:t>Show why content is promoted, so creatives can see how data influences decisions.</a:t>
            </a:r>
            <a:endParaRPr lang="en-US" sz="1300" dirty="0"/>
          </a:p>
        </p:txBody>
      </p:sp>
      <p:sp>
        <p:nvSpPr>
          <p:cNvPr id="28" name="Shape 26"/>
          <p:cNvSpPr/>
          <p:nvPr/>
        </p:nvSpPr>
        <p:spPr>
          <a:xfrm>
            <a:off x="548640" y="5257800"/>
            <a:ext cx="6766560" cy="777240"/>
          </a:xfrm>
          <a:prstGeom prst="roundRect">
            <a:avLst>
              <a:gd name="adj" fmla="val 9412"/>
            </a:avLst>
          </a:prstGeom>
          <a:solidFill>
            <a:srgbClr val="F2F5FB"/>
          </a:solidFill>
          <a:ln w="12700">
            <a:solidFill>
              <a:srgbClr val="CADCFC"/>
            </a:solidFill>
            <a:prstDash val="solid"/>
          </a:ln>
        </p:spPr>
      </p:sp>
      <p:sp>
        <p:nvSpPr>
          <p:cNvPr id="29" name="Text 27"/>
          <p:cNvSpPr txBox="1"/>
          <p:nvPr/>
        </p:nvSpPr>
        <p:spPr>
          <a:xfrm>
            <a:off x="731520" y="5257800"/>
            <a:ext cx="6400800" cy="7772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Skills gaps: </a:t>
            </a:r>
            <a:pPr indent="0" marL="0">
              <a:buNone/>
            </a:pPr>
            <a:r>
              <a:rPr lang="en-US" sz="1300" dirty="0">
                <a:solidFill>
                  <a:srgbClr val="27314D"/>
                </a:solidFill>
                <a:latin typeface="Calibri" pitchFamily="34" charset="0"/>
                <a:ea typeface="Calibri" pitchFamily="34" charset="-122"/>
                <a:cs typeface="Calibri" pitchFamily="34" charset="-120"/>
              </a:rPr>
              <a:t>Training in reading audience data, built around real projects (Vial, 2019).</a:t>
            </a:r>
            <a:endParaRPr lang="en-US" sz="1300" dirty="0"/>
          </a:p>
        </p:txBody>
      </p:sp>
      <p:sp>
        <p:nvSpPr>
          <p:cNvPr id="30" name="Shape 28"/>
          <p:cNvSpPr/>
          <p:nvPr/>
        </p:nvSpPr>
        <p:spPr>
          <a:xfrm>
            <a:off x="7589520" y="3154680"/>
            <a:ext cx="4023360" cy="3017520"/>
          </a:xfrm>
          <a:prstGeom prst="roundRect">
            <a:avLst>
              <a:gd name="adj" fmla="val 2424"/>
            </a:avLst>
          </a:prstGeom>
          <a:solidFill>
            <a:srgbClr val="1E2761"/>
          </a:solidFill>
          <a:ln w="12700">
            <a:solidFill>
              <a:srgbClr val="1E2761"/>
            </a:solidFill>
            <a:prstDash val="solid"/>
          </a:ln>
        </p:spPr>
      </p:sp>
      <p:sp>
        <p:nvSpPr>
          <p:cNvPr id="31" name="Text 29"/>
          <p:cNvSpPr txBox="1"/>
          <p:nvPr/>
        </p:nvSpPr>
        <p:spPr>
          <a:xfrm>
            <a:off x="7772400" y="3246120"/>
            <a:ext cx="36576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Digital confidence actions</a:t>
            </a:r>
            <a:endParaRPr lang="en-US" sz="1600" dirty="0"/>
          </a:p>
        </p:txBody>
      </p:sp>
      <p:sp>
        <p:nvSpPr>
          <p:cNvPr id="32" name="Text 30"/>
          <p:cNvSpPr txBox="1"/>
          <p:nvPr/>
        </p:nvSpPr>
        <p:spPr>
          <a:xfrm>
            <a:off x="7772400" y="3749040"/>
            <a:ext cx="365760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Training for writers and producers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Pilots on a small slate of originals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Creative champions on each team</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Feedback channels into the model team</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692640"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Sustained Competitive Advantage: VRIO</a:t>
            </a:r>
            <a:endParaRPr lang="en-US" sz="3000" dirty="0"/>
          </a:p>
        </p:txBody>
      </p:sp>
      <p:sp>
        <p:nvSpPr>
          <p:cNvPr id="3" name="Text 1"/>
          <p:cNvSpPr txBox="1"/>
          <p:nvPr/>
        </p:nvSpPr>
        <p:spPr>
          <a:xfrm>
            <a:off x="10332720" y="137160"/>
            <a:ext cx="1463040" cy="274320"/>
          </a:xfrm>
          <a:prstGeom prst="rect">
            <a:avLst/>
          </a:prstGeom>
          <a:noFill/>
          <a:ln/>
        </p:spPr>
        <p:txBody>
          <a:bodyPr wrap="square" lIns="0" tIns="0" rIns="0" bIns="0" rtlCol="0" anchor="t"/>
          <a:lstStyle/>
          <a:p>
            <a:pPr algn="r" indent="0" marL="0">
              <a:buNone/>
            </a:pPr>
            <a:r>
              <a:rPr lang="en-US" sz="1100" dirty="0">
                <a:solidFill>
                  <a:srgbClr val="6B7590"/>
                </a:solidFill>
                <a:latin typeface="Calibri" pitchFamily="34" charset="0"/>
                <a:ea typeface="Calibri" pitchFamily="34" charset="-122"/>
                <a:cs typeface="Calibri" pitchFamily="34" charset="-120"/>
              </a:rPr>
              <a:t>Strategy</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194560"/>
                <a:gridCol w="1280160"/>
                <a:gridCol w="758952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Question</a:t>
                      </a:r>
                      <a:endParaRPr lang="en-US" sz="1300" dirty="0">
                        <a:latin typeface="Calibri" charset="0"/>
                        <a:ea typeface="Calibri" charset="0"/>
                        <a:cs typeface="Calibri" charset="0"/>
                      </a:endParaRPr>
                    </a:p>
                  </a:txBody>
                  <a:tcPr marL="91440" marR="91440" marT="45720" marB="45720">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Verdict</a:t>
                      </a:r>
                      <a:endParaRPr lang="en-US" sz="1300" dirty="0">
                        <a:latin typeface="Calibri" charset="0"/>
                        <a:ea typeface="Calibri" charset="0"/>
                        <a:cs typeface="Calibri" charset="0"/>
                      </a:endParaRPr>
                    </a:p>
                  </a:txBody>
                  <a:tcPr marL="91440" marR="91440" marT="45720" marB="45720">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Evidence</a:t>
                      </a:r>
                      <a:endParaRPr lang="en-US" sz="1300" dirty="0">
                        <a:latin typeface="Calibri" charset="0"/>
                        <a:ea typeface="Calibri" charset="0"/>
                        <a:cs typeface="Calibri" charset="0"/>
                      </a:endParaRPr>
                    </a:p>
                  </a:txBody>
                  <a:tcPr marL="91440" marR="91440" marT="45720" marB="45720">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r>
              <a:tr h="685800">
                <a:tc>
                  <a:txBody>
                    <a:bodyPr/>
                    <a:lstStyle/>
                    <a:p>
                      <a:pPr indent="0" marL="0">
                        <a:buNone/>
                      </a:pPr>
                      <a:r>
                        <a:rPr lang="en-US" sz="1250" b="1" dirty="0">
                          <a:solidFill>
                            <a:srgbClr val="27314D"/>
                          </a:solidFill>
                          <a:latin typeface="Calibri" pitchFamily="34" charset="0"/>
                          <a:ea typeface="Calibri" pitchFamily="34" charset="-122"/>
                          <a:cs typeface="Calibri" pitchFamily="34" charset="-120"/>
                        </a:rPr>
                        <a:t>Valuable?</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algn="ctr" indent="0" marL="0">
                        <a:buNone/>
                      </a:pPr>
                      <a:r>
                        <a:rPr lang="en-US" sz="1250" b="1" dirty="0">
                          <a:solidFill>
                            <a:srgbClr val="1E56A0"/>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50" dirty="0">
                          <a:solidFill>
                            <a:srgbClr val="27314D"/>
                          </a:solidFill>
                          <a:latin typeface="Calibri" pitchFamily="34" charset="0"/>
                          <a:ea typeface="Calibri" pitchFamily="34" charset="-122"/>
                          <a:cs typeface="Calibri" pitchFamily="34" charset="-120"/>
                        </a:rPr>
                        <a:t>Better discovery supports retention and engagement (Gomez-Uribe and Hunt, 2015). But scaling it brings privacy, governance and bias risks (Mokoena and Obagbuwa, 2025).</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r>
              <a:tr h="594360">
                <a:tc>
                  <a:txBody>
                    <a:bodyPr/>
                    <a:lstStyle/>
                    <a:p>
                      <a:pPr indent="0" marL="0">
                        <a:buNone/>
                      </a:pPr>
                      <a:r>
                        <a:rPr lang="en-US" sz="1250" b="1" dirty="0">
                          <a:solidFill>
                            <a:srgbClr val="27314D"/>
                          </a:solidFill>
                          <a:latin typeface="Calibri" pitchFamily="34" charset="0"/>
                          <a:ea typeface="Calibri" pitchFamily="34" charset="-122"/>
                          <a:cs typeface="Calibri" pitchFamily="34" charset="-120"/>
                        </a:rPr>
                        <a:t>Rare?</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algn="ctr" indent="0" marL="0">
                        <a:buNone/>
                      </a:pPr>
                      <a:r>
                        <a:rPr lang="en-US" sz="1250" b="1" dirty="0">
                          <a:solidFill>
                            <a:srgbClr val="C00000"/>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50" dirty="0">
                          <a:solidFill>
                            <a:srgbClr val="27314D"/>
                          </a:solidFill>
                          <a:latin typeface="Calibri" pitchFamily="34" charset="0"/>
                          <a:ea typeface="Calibri" pitchFamily="34" charset="-122"/>
                          <a:cs typeface="Calibri" pitchFamily="34" charset="-120"/>
                        </a:rPr>
                        <a:t>Streaming rivals already run recommenders; the technique is widely documented (Ricci, Rokach and Shapira, 2015).</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r>
              <a:tr h="594360">
                <a:tc>
                  <a:txBody>
                    <a:bodyPr/>
                    <a:lstStyle/>
                    <a:p>
                      <a:pPr indent="0" marL="0">
                        <a:buNone/>
                      </a:pPr>
                      <a:r>
                        <a:rPr lang="en-US" sz="1250" b="1" dirty="0">
                          <a:solidFill>
                            <a:srgbClr val="27314D"/>
                          </a:solidFill>
                          <a:latin typeface="Calibri" pitchFamily="34" charset="0"/>
                          <a:ea typeface="Calibri" pitchFamily="34" charset="-122"/>
                          <a:cs typeface="Calibri" pitchFamily="34" charset="-120"/>
                        </a:rPr>
                        <a:t>Hard to imitate?</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algn="ctr" indent="0" marL="0">
                        <a:buNone/>
                      </a:pPr>
                      <a:r>
                        <a:rPr lang="en-US" sz="1250" b="1" dirty="0">
                          <a:solidFill>
                            <a:srgbClr val="B8860B"/>
                          </a:solidFill>
                          <a:latin typeface="Calibri" pitchFamily="34" charset="0"/>
                          <a:ea typeface="Calibri" pitchFamily="34" charset="-122"/>
                          <a:cs typeface="Calibri" pitchFamily="34" charset="-120"/>
                        </a:rPr>
                        <a:t>Partly</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50" dirty="0">
                          <a:solidFill>
                            <a:srgbClr val="27314D"/>
                          </a:solidFill>
                          <a:latin typeface="Calibri" pitchFamily="34" charset="0"/>
                          <a:ea typeface="Calibri" pitchFamily="34" charset="-122"/>
                          <a:cs typeface="Calibri" pitchFamily="34" charset="-120"/>
                        </a:rPr>
                        <a:t>Models are copyable. Apple’s ecosystem data and quality-focused catalogue are harder to copy.</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r>
              <a:tr h="594360">
                <a:tc>
                  <a:txBody>
                    <a:bodyPr/>
                    <a:lstStyle/>
                    <a:p>
                      <a:pPr indent="0" marL="0">
                        <a:buNone/>
                      </a:pPr>
                      <a:r>
                        <a:rPr lang="en-US" sz="1250" b="1" dirty="0">
                          <a:solidFill>
                            <a:srgbClr val="27314D"/>
                          </a:solidFill>
                          <a:latin typeface="Calibri" pitchFamily="34" charset="0"/>
                          <a:ea typeface="Calibri" pitchFamily="34" charset="-122"/>
                          <a:cs typeface="Calibri" pitchFamily="34" charset="-120"/>
                        </a:rPr>
                        <a:t>Organised to exploit?</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algn="ctr" indent="0" marL="0">
                        <a:buNone/>
                      </a:pPr>
                      <a:r>
                        <a:rPr lang="en-US" sz="1250" b="1" dirty="0">
                          <a:solidFill>
                            <a:srgbClr val="B8860B"/>
                          </a:solidFill>
                          <a:latin typeface="Calibri" pitchFamily="34" charset="0"/>
                          <a:ea typeface="Calibri" pitchFamily="34" charset="-122"/>
                          <a:cs typeface="Calibri" pitchFamily="34" charset="-120"/>
                        </a:rPr>
                        <a:t>Not yet</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50" dirty="0">
                          <a:solidFill>
                            <a:srgbClr val="27314D"/>
                          </a:solidFill>
                          <a:latin typeface="Calibri" pitchFamily="34" charset="0"/>
                          <a:ea typeface="Calibri" pitchFamily="34" charset="-122"/>
                          <a:cs typeface="Calibri" pitchFamily="34" charset="-120"/>
                        </a:rPr>
                        <a:t>Creative and data teams are not yet aligned; no shared rules for how data shapes commissioning.</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r>
            </a:tbl>
          </a:graphicData>
        </a:graphic>
      </p:graphicFrame>
      <p:sp>
        <p:nvSpPr>
          <p:cNvPr id="5" name="Text 2"/>
          <p:cNvSpPr txBox="1"/>
          <p:nvPr/>
        </p:nvSpPr>
        <p:spPr>
          <a:xfrm>
            <a:off x="548640" y="6263640"/>
            <a:ext cx="11064240" cy="365760"/>
          </a:xfrm>
          <a:prstGeom prst="rect">
            <a:avLst/>
          </a:prstGeom>
          <a:noFill/>
          <a:ln/>
        </p:spPr>
        <p:txBody>
          <a:bodyPr wrap="square" lIns="0" tIns="0" rIns="0" bIns="0" rtlCol="0" anchor="t"/>
          <a:lstStyle/>
          <a:p>
            <a:pPr indent="0" marL="0">
              <a:buNone/>
            </a:pPr>
            <a:r>
              <a:rPr lang="en-US" sz="1100" i="1" dirty="0">
                <a:solidFill>
                  <a:srgbClr val="6B7590"/>
                </a:solidFill>
                <a:latin typeface="Calibri" pitchFamily="34" charset="0"/>
                <a:ea typeface="Calibri" pitchFamily="34" charset="-122"/>
                <a:cs typeface="Calibri" pitchFamily="34" charset="-120"/>
              </a:rPr>
              <a:t>Table 2: VRIO analysis of the recommendation engine (framework from Barney, 1991).</a:t>
            </a:r>
            <a:endParaRPr lang="en-US" sz="1100" dirty="0"/>
          </a:p>
        </p:txBody>
      </p:sp>
      <p:sp>
        <p:nvSpPr>
          <p:cNvPr id="6" name="Text 3"/>
          <p:cNvSpPr txBox="1"/>
          <p:nvPr/>
        </p:nvSpPr>
        <p:spPr>
          <a:xfrm>
            <a:off x="548640" y="4297680"/>
            <a:ext cx="11064240" cy="64008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Verdict: </a:t>
            </a:r>
            <a:pPr indent="0" marL="0">
              <a:buNone/>
            </a:pPr>
            <a:r>
              <a:rPr lang="en-US" sz="1400" dirty="0">
                <a:solidFill>
                  <a:srgbClr val="27314D"/>
                </a:solidFill>
                <a:latin typeface="Calibri" pitchFamily="34" charset="0"/>
                <a:ea typeface="Calibri" pitchFamily="34" charset="-122"/>
                <a:cs typeface="Calibri" pitchFamily="34" charset="-120"/>
              </a:rPr>
              <a:t>competitive parity, not sustained advantage. The recommender supports retention and agility but is only a baseline; advantage comes from pairing it with Apple’s ecosystem and creative judgement.</a:t>
            </a:r>
            <a:endParaRPr lang="en-US" sz="1400" dirty="0"/>
          </a:p>
        </p:txBody>
      </p:sp>
      <p:sp>
        <p:nvSpPr>
          <p:cNvPr id="7" name="Text 4"/>
          <p:cNvSpPr txBox="1"/>
          <p:nvPr/>
        </p:nvSpPr>
        <p:spPr>
          <a:xfrm>
            <a:off x="548640" y="4983480"/>
            <a:ext cx="10972800" cy="320040"/>
          </a:xfrm>
          <a:prstGeom prst="rect">
            <a:avLst/>
          </a:prstGeom>
          <a:noFill/>
          <a:ln/>
        </p:spPr>
        <p:txBody>
          <a:bodyPr wrap="square" lIns="0" tIns="0" rIns="0" bIns="0" rtlCol="0" anchor="t"/>
          <a:lstStyle/>
          <a:p>
            <a:pPr indent="0" marL="0">
              <a:buNone/>
            </a:pPr>
            <a:r>
              <a:rPr lang="en-US" sz="1600" b="1" dirty="0">
                <a:solidFill>
                  <a:srgbClr val="1E2761"/>
                </a:solidFill>
                <a:latin typeface="Cambria" pitchFamily="34" charset="0"/>
                <a:ea typeface="Cambria" pitchFamily="34" charset="-122"/>
                <a:cs typeface="Cambria" pitchFamily="34" charset="-120"/>
              </a:rPr>
              <a:t>Continuous improvement actions</a:t>
            </a:r>
            <a:endParaRPr lang="en-US" sz="1600" dirty="0"/>
          </a:p>
        </p:txBody>
      </p:sp>
      <p:sp>
        <p:nvSpPr>
          <p:cNvPr id="8" name="Shape 5"/>
          <p:cNvSpPr/>
          <p:nvPr/>
        </p:nvSpPr>
        <p:spPr>
          <a:xfrm>
            <a:off x="548640" y="5349240"/>
            <a:ext cx="2697480" cy="822960"/>
          </a:xfrm>
          <a:prstGeom prst="roundRect">
            <a:avLst>
              <a:gd name="adj" fmla="val 8889"/>
            </a:avLst>
          </a:prstGeom>
          <a:solidFill>
            <a:srgbClr val="F2F5FB"/>
          </a:solidFill>
          <a:ln w="12700">
            <a:solidFill>
              <a:srgbClr val="CADCFC"/>
            </a:solidFill>
            <a:prstDash val="solid"/>
          </a:ln>
        </p:spPr>
      </p:sp>
      <p:sp>
        <p:nvSpPr>
          <p:cNvPr id="9" name="Text 6"/>
          <p:cNvSpPr txBox="1"/>
          <p:nvPr/>
        </p:nvSpPr>
        <p:spPr>
          <a:xfrm>
            <a:off x="658368" y="5349240"/>
            <a:ext cx="2478024" cy="82296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Test (agility): </a:t>
            </a:r>
            <a:pPr indent="0" marL="0">
              <a:buNone/>
            </a:pPr>
            <a:r>
              <a:rPr lang="en-US" sz="1200" dirty="0">
                <a:solidFill>
                  <a:srgbClr val="27314D"/>
                </a:solidFill>
                <a:latin typeface="Calibri" pitchFamily="34" charset="0"/>
                <a:ea typeface="Calibri" pitchFamily="34" charset="-122"/>
                <a:cs typeface="Calibri" pitchFamily="34" charset="-120"/>
              </a:rPr>
              <a:t>A/B test changes against retention</a:t>
            </a:r>
            <a:endParaRPr lang="en-US" sz="1200" dirty="0"/>
          </a:p>
        </p:txBody>
      </p:sp>
      <p:sp>
        <p:nvSpPr>
          <p:cNvPr id="10" name="Shape 7"/>
          <p:cNvSpPr/>
          <p:nvPr/>
        </p:nvSpPr>
        <p:spPr>
          <a:xfrm>
            <a:off x="3355848" y="5349240"/>
            <a:ext cx="2697480" cy="822960"/>
          </a:xfrm>
          <a:prstGeom prst="roundRect">
            <a:avLst>
              <a:gd name="adj" fmla="val 8889"/>
            </a:avLst>
          </a:prstGeom>
          <a:solidFill>
            <a:srgbClr val="F2F5FB"/>
          </a:solidFill>
          <a:ln w="12700">
            <a:solidFill>
              <a:srgbClr val="CADCFC"/>
            </a:solidFill>
            <a:prstDash val="solid"/>
          </a:ln>
        </p:spPr>
      </p:sp>
      <p:sp>
        <p:nvSpPr>
          <p:cNvPr id="11" name="Text 8"/>
          <p:cNvSpPr txBox="1"/>
          <p:nvPr/>
        </p:nvSpPr>
        <p:spPr>
          <a:xfrm>
            <a:off x="3465576" y="5349240"/>
            <a:ext cx="2478024" cy="82296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Creative input (innovation): </a:t>
            </a:r>
            <a:pPr indent="0" marL="0">
              <a:buNone/>
            </a:pPr>
            <a:r>
              <a:rPr lang="en-US" sz="1200" dirty="0">
                <a:solidFill>
                  <a:srgbClr val="27314D"/>
                </a:solidFill>
                <a:latin typeface="Calibri" pitchFamily="34" charset="0"/>
                <a:ea typeface="Calibri" pitchFamily="34" charset="-122"/>
                <a:cs typeface="Calibri" pitchFamily="34" charset="-120"/>
              </a:rPr>
              <a:t>Creatives help set the goals the model optimises</a:t>
            </a:r>
            <a:endParaRPr lang="en-US" sz="1200" dirty="0"/>
          </a:p>
        </p:txBody>
      </p:sp>
      <p:sp>
        <p:nvSpPr>
          <p:cNvPr id="12" name="Shape 9"/>
          <p:cNvSpPr/>
          <p:nvPr/>
        </p:nvSpPr>
        <p:spPr>
          <a:xfrm>
            <a:off x="6163056" y="5349240"/>
            <a:ext cx="2697480" cy="822960"/>
          </a:xfrm>
          <a:prstGeom prst="roundRect">
            <a:avLst>
              <a:gd name="adj" fmla="val 8889"/>
            </a:avLst>
          </a:prstGeom>
          <a:solidFill>
            <a:srgbClr val="F2F5FB"/>
          </a:solidFill>
          <a:ln w="12700">
            <a:solidFill>
              <a:srgbClr val="CADCFC"/>
            </a:solidFill>
            <a:prstDash val="solid"/>
          </a:ln>
        </p:spPr>
      </p:sp>
      <p:sp>
        <p:nvSpPr>
          <p:cNvPr id="13" name="Text 10"/>
          <p:cNvSpPr txBox="1"/>
          <p:nvPr/>
        </p:nvSpPr>
        <p:spPr>
          <a:xfrm>
            <a:off x="6272784" y="5349240"/>
            <a:ext cx="2478024" cy="82296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Refresh: </a:t>
            </a:r>
            <a:pPr indent="0" marL="0">
              <a:buNone/>
            </a:pPr>
            <a:r>
              <a:rPr lang="en-US" sz="1200" dirty="0">
                <a:solidFill>
                  <a:srgbClr val="27314D"/>
                </a:solidFill>
                <a:latin typeface="Calibri" pitchFamily="34" charset="0"/>
                <a:ea typeface="Calibri" pitchFamily="34" charset="-122"/>
                <a:cs typeface="Calibri" pitchFamily="34" charset="-120"/>
              </a:rPr>
              <a:t>Update data and models regularly</a:t>
            </a:r>
            <a:endParaRPr lang="en-US" sz="1200" dirty="0"/>
          </a:p>
        </p:txBody>
      </p:sp>
      <p:sp>
        <p:nvSpPr>
          <p:cNvPr id="14" name="Shape 11"/>
          <p:cNvSpPr/>
          <p:nvPr/>
        </p:nvSpPr>
        <p:spPr>
          <a:xfrm>
            <a:off x="8970264" y="5349240"/>
            <a:ext cx="2697480" cy="822960"/>
          </a:xfrm>
          <a:prstGeom prst="roundRect">
            <a:avLst>
              <a:gd name="adj" fmla="val 8889"/>
            </a:avLst>
          </a:prstGeom>
          <a:solidFill>
            <a:srgbClr val="F2F5FB"/>
          </a:solidFill>
          <a:ln w="12700">
            <a:solidFill>
              <a:srgbClr val="CADCFC"/>
            </a:solidFill>
            <a:prstDash val="solid"/>
          </a:ln>
        </p:spPr>
      </p:sp>
      <p:sp>
        <p:nvSpPr>
          <p:cNvPr id="15" name="Text 12"/>
          <p:cNvSpPr txBox="1"/>
          <p:nvPr/>
        </p:nvSpPr>
        <p:spPr>
          <a:xfrm>
            <a:off x="9079992" y="5349240"/>
            <a:ext cx="2478024" cy="82296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Ansoff: </a:t>
            </a:r>
            <a:pPr indent="0" marL="0">
              <a:buNone/>
            </a:pPr>
            <a:r>
              <a:rPr lang="en-US" sz="1200" dirty="0">
                <a:solidFill>
                  <a:srgbClr val="27314D"/>
                </a:solidFill>
                <a:latin typeface="Calibri" pitchFamily="34" charset="0"/>
                <a:ea typeface="Calibri" pitchFamily="34" charset="-122"/>
                <a:cs typeface="Calibri" pitchFamily="34" charset="-120"/>
              </a:rPr>
              <a:t>Market penetration: deeper retention in existing markets (Ansoff, 1957)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692640"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Ethical, Social and Risk Issues</a:t>
            </a:r>
            <a:endParaRPr lang="en-US" sz="3000" dirty="0"/>
          </a:p>
        </p:txBody>
      </p:sp>
      <p:sp>
        <p:nvSpPr>
          <p:cNvPr id="3" name="Text 1"/>
          <p:cNvSpPr txBox="1"/>
          <p:nvPr/>
        </p:nvSpPr>
        <p:spPr>
          <a:xfrm>
            <a:off x="10332720" y="137160"/>
            <a:ext cx="1463040" cy="274320"/>
          </a:xfrm>
          <a:prstGeom prst="rect">
            <a:avLst/>
          </a:prstGeom>
          <a:noFill/>
          <a:ln/>
        </p:spPr>
        <p:txBody>
          <a:bodyPr wrap="square" lIns="0" tIns="0" rIns="0" bIns="0" rtlCol="0" anchor="t"/>
          <a:lstStyle/>
          <a:p>
            <a:pPr algn="r" indent="0" marL="0">
              <a:buNone/>
            </a:pPr>
            <a:r>
              <a:rPr lang="en-US" sz="1100" dirty="0">
                <a:solidFill>
                  <a:srgbClr val="6B7590"/>
                </a:solidFill>
                <a:latin typeface="Calibri" pitchFamily="34" charset="0"/>
                <a:ea typeface="Calibri" pitchFamily="34" charset="-122"/>
                <a:cs typeface="Calibri" pitchFamily="34" charset="-120"/>
              </a:rPr>
              <a:t>Strategy</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828800"/>
                <a:gridCol w="3931920"/>
                <a:gridCol w="1371600"/>
                <a:gridCol w="393192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Issue</a:t>
                      </a:r>
                      <a:endParaRPr lang="en-US" sz="1300" dirty="0">
                        <a:latin typeface="Calibri" charset="0"/>
                        <a:ea typeface="Calibri" charset="0"/>
                        <a:cs typeface="Calibri" charset="0"/>
                      </a:endParaRPr>
                    </a:p>
                  </a:txBody>
                  <a:tcPr marL="91440" marR="91440" marT="45720" marB="45720">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Why it matters</a:t>
                      </a:r>
                      <a:endParaRPr lang="en-US" sz="1300" dirty="0">
                        <a:latin typeface="Calibri" charset="0"/>
                        <a:ea typeface="Calibri" charset="0"/>
                        <a:cs typeface="Calibri" charset="0"/>
                      </a:endParaRPr>
                    </a:p>
                  </a:txBody>
                  <a:tcPr marL="91440" marR="91440" marT="45720" marB="45720">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Principle</a:t>
                      </a:r>
                      <a:endParaRPr lang="en-US" sz="1300" dirty="0">
                        <a:latin typeface="Calibri" charset="0"/>
                        <a:ea typeface="Calibri" charset="0"/>
                        <a:cs typeface="Calibri" charset="0"/>
                      </a:endParaRPr>
                    </a:p>
                  </a:txBody>
                  <a:tcPr marL="91440" marR="91440" marT="45720" marB="45720">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Mitigation</a:t>
                      </a:r>
                      <a:endParaRPr lang="en-US" sz="1300" dirty="0">
                        <a:latin typeface="Calibri" charset="0"/>
                        <a:ea typeface="Calibri" charset="0"/>
                        <a:cs typeface="Calibri" charset="0"/>
                      </a:endParaRPr>
                    </a:p>
                  </a:txBody>
                  <a:tcPr marL="91440" marR="91440" marT="45720" marB="45720">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r>
              <a:tr h="914400">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Privacy</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dirty="0">
                          <a:solidFill>
                            <a:srgbClr val="27314D"/>
                          </a:solidFill>
                          <a:latin typeface="Calibri" pitchFamily="34" charset="0"/>
                          <a:ea typeface="Calibri" pitchFamily="34" charset="-122"/>
                          <a:cs typeface="Calibri" pitchFamily="34" charset="-120"/>
                        </a:rPr>
                        <a:t>Data collected for recommendations could be reused for other purposes; GDPR Article 5 requires specified, explicit purposes (European Parliament and Council, 2016).</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b="1" dirty="0">
                          <a:solidFill>
                            <a:srgbClr val="1E56A0"/>
                          </a:solidFill>
                          <a:latin typeface="Calibri" pitchFamily="34" charset="0"/>
                          <a:ea typeface="Calibri" pitchFamily="34" charset="-122"/>
                          <a:cs typeface="Calibri" pitchFamily="34" charset="-120"/>
                        </a:rPr>
                        <a:t>Privacy</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dirty="0">
                          <a:solidFill>
                            <a:srgbClr val="27314D"/>
                          </a:solidFill>
                          <a:latin typeface="Calibri" pitchFamily="34" charset="0"/>
                          <a:ea typeface="Calibri" pitchFamily="34" charset="-122"/>
                          <a:cs typeface="Calibri" pitchFamily="34" charset="-120"/>
                        </a:rPr>
                        <a:t>Document purpose limitation and review it regularly.</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r>
              <a:tr h="731520">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Bias and fairness</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dirty="0">
                          <a:solidFill>
                            <a:srgbClr val="27314D"/>
                          </a:solidFill>
                          <a:latin typeface="Calibri" pitchFamily="34" charset="0"/>
                          <a:ea typeface="Calibri" pitchFamily="34" charset="-122"/>
                          <a:cs typeface="Calibri" pitchFamily="34" charset="-120"/>
                        </a:rPr>
                        <a:t>Models trained on past viewing narrow what is shown (Ricci et al., 2015).</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b="1" dirty="0">
                          <a:solidFill>
                            <a:srgbClr val="1E56A0"/>
                          </a:solidFill>
                          <a:latin typeface="Calibri" pitchFamily="34" charset="0"/>
                          <a:ea typeface="Calibri" pitchFamily="34" charset="-122"/>
                          <a:cs typeface="Calibri" pitchFamily="34" charset="-120"/>
                        </a:rPr>
                        <a:t>Fairness</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dirty="0">
                          <a:solidFill>
                            <a:srgbClr val="27314D"/>
                          </a:solidFill>
                          <a:latin typeface="Calibri" pitchFamily="34" charset="0"/>
                          <a:ea typeface="Calibri" pitchFamily="34" charset="-122"/>
                          <a:cs typeface="Calibri" pitchFamily="34" charset="-120"/>
                        </a:rPr>
                        <a:t>Run regular diversity-of-recommendation audits.</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r>
              <a:tr h="731520">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Transparency</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dirty="0">
                          <a:solidFill>
                            <a:srgbClr val="27314D"/>
                          </a:solidFill>
                          <a:latin typeface="Calibri" pitchFamily="34" charset="0"/>
                          <a:ea typeface="Calibri" pitchFamily="34" charset="-122"/>
                          <a:cs typeface="Calibri" pitchFamily="34" charset="-120"/>
                        </a:rPr>
                        <a:t>Viewers and creatives cannot see why content is promoted.</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b="1" dirty="0">
                          <a:solidFill>
                            <a:srgbClr val="1E56A0"/>
                          </a:solidFill>
                          <a:latin typeface="Calibri" pitchFamily="34" charset="0"/>
                          <a:ea typeface="Calibri" pitchFamily="34" charset="-122"/>
                          <a:cs typeface="Calibri" pitchFamily="34" charset="-120"/>
                        </a:rPr>
                        <a:t>Transparency</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dirty="0">
                          <a:solidFill>
                            <a:srgbClr val="27314D"/>
                          </a:solidFill>
                          <a:latin typeface="Calibri" pitchFamily="34" charset="0"/>
                          <a:ea typeface="Calibri" pitchFamily="34" charset="-122"/>
                          <a:cs typeface="Calibri" pitchFamily="34" charset="-120"/>
                        </a:rPr>
                        <a:t>Add “why am I seeing this” explanations for viewers and creatives.</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r>
              <a:tr h="731520">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Creators’ autonomy</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dirty="0">
                          <a:solidFill>
                            <a:srgbClr val="27314D"/>
                          </a:solidFill>
                          <a:latin typeface="Calibri" pitchFamily="34" charset="0"/>
                          <a:ea typeface="Calibri" pitchFamily="34" charset="-122"/>
                          <a:cs typeface="Calibri" pitchFamily="34" charset="-120"/>
                        </a:rPr>
                        <a:t>Algorithms can steer which projects are promoted and made (Napoli, 2014).</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b="1" dirty="0">
                          <a:solidFill>
                            <a:srgbClr val="1E56A0"/>
                          </a:solidFill>
                          <a:latin typeface="Calibri" pitchFamily="34" charset="0"/>
                          <a:ea typeface="Calibri" pitchFamily="34" charset="-122"/>
                          <a:cs typeface="Calibri" pitchFamily="34" charset="-120"/>
                        </a:rPr>
                        <a:t>Autonomy</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dirty="0">
                          <a:solidFill>
                            <a:srgbClr val="27314D"/>
                          </a:solidFill>
                          <a:latin typeface="Calibri" pitchFamily="34" charset="0"/>
                          <a:ea typeface="Calibri" pitchFamily="34" charset="-122"/>
                          <a:cs typeface="Calibri" pitchFamily="34" charset="-120"/>
                        </a:rPr>
                        <a:t>Keep creative sign-off; use data to inform, not decide.</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r>
              <a:tr h="731520">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Social: cultural diversity</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dirty="0">
                          <a:solidFill>
                            <a:srgbClr val="27314D"/>
                          </a:solidFill>
                          <a:latin typeface="Calibri" pitchFamily="34" charset="0"/>
                          <a:ea typeface="Calibri" pitchFamily="34" charset="-122"/>
                          <a:cs typeface="Calibri" pitchFamily="34" charset="-120"/>
                        </a:rPr>
                        <a:t>Filter bubbles can reduce exposure to varied content (Pariser, 2011; Helberger, 2019).</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b="1" dirty="0">
                          <a:solidFill>
                            <a:srgbClr val="1E56A0"/>
                          </a:solidFill>
                          <a:latin typeface="Calibri" pitchFamily="34" charset="0"/>
                          <a:ea typeface="Calibri" pitchFamily="34" charset="-122"/>
                          <a:cs typeface="Calibri" pitchFamily="34" charset="-120"/>
                        </a:rPr>
                        <a:t>Diversity</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dirty="0">
                          <a:solidFill>
                            <a:srgbClr val="27314D"/>
                          </a:solidFill>
                          <a:latin typeface="Calibri" pitchFamily="34" charset="0"/>
                          <a:ea typeface="Calibri" pitchFamily="34" charset="-122"/>
                          <a:cs typeface="Calibri" pitchFamily="34" charset="-120"/>
                        </a:rPr>
                        <a:t>Set minimum exposure for varied and local content.</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r>
            </a:tbl>
          </a:graphicData>
        </a:graphic>
      </p:graphicFrame>
      <p:sp>
        <p:nvSpPr>
          <p:cNvPr id="5" name="Text 2"/>
          <p:cNvSpPr txBox="1"/>
          <p:nvPr/>
        </p:nvSpPr>
        <p:spPr>
          <a:xfrm>
            <a:off x="548640" y="6263640"/>
            <a:ext cx="11064240" cy="365760"/>
          </a:xfrm>
          <a:prstGeom prst="rect">
            <a:avLst/>
          </a:prstGeom>
          <a:noFill/>
          <a:ln/>
        </p:spPr>
        <p:txBody>
          <a:bodyPr wrap="square" lIns="0" tIns="0" rIns="0" bIns="0" rtlCol="0" anchor="t"/>
          <a:lstStyle/>
          <a:p>
            <a:pPr indent="0" marL="0">
              <a:buNone/>
            </a:pPr>
            <a:r>
              <a:rPr lang="en-US" sz="1100" i="1" dirty="0">
                <a:solidFill>
                  <a:srgbClr val="6B7590"/>
                </a:solidFill>
                <a:latin typeface="Calibri" pitchFamily="34" charset="0"/>
                <a:ea typeface="Calibri" pitchFamily="34" charset="-122"/>
                <a:cs typeface="Calibri" pitchFamily="34" charset="-120"/>
              </a:rPr>
              <a:t>Table 3: Ethical, social and risk issues. Sources: European Parliament and Council (2016); Ricci et al. (2015); Floridi et al. (2018); Napoli (2014); Pariser (2011); Helberger (2019).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692640"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Three Recommendations</a:t>
            </a:r>
            <a:endParaRPr lang="en-US" sz="3000" dirty="0"/>
          </a:p>
        </p:txBody>
      </p:sp>
      <p:sp>
        <p:nvSpPr>
          <p:cNvPr id="3" name="Text 1"/>
          <p:cNvSpPr txBox="1"/>
          <p:nvPr/>
        </p:nvSpPr>
        <p:spPr>
          <a:xfrm>
            <a:off x="10332720" y="137160"/>
            <a:ext cx="1463040" cy="274320"/>
          </a:xfrm>
          <a:prstGeom prst="rect">
            <a:avLst/>
          </a:prstGeom>
          <a:noFill/>
          <a:ln/>
        </p:spPr>
        <p:txBody>
          <a:bodyPr wrap="square" lIns="0" tIns="0" rIns="0" bIns="0" rtlCol="0" anchor="t"/>
          <a:lstStyle/>
          <a:p>
            <a:pPr algn="r" indent="0" marL="0">
              <a:buNone/>
            </a:pPr>
            <a:r>
              <a:rPr lang="en-US" sz="1100" dirty="0">
                <a:solidFill>
                  <a:srgbClr val="6B7590"/>
                </a:solidFill>
                <a:latin typeface="Calibri" pitchFamily="34" charset="0"/>
                <a:ea typeface="Calibri" pitchFamily="34" charset="-122"/>
                <a:cs typeface="Calibri" pitchFamily="34" charset="-120"/>
              </a:rPr>
              <a:t>Strategy</a:t>
            </a:r>
            <a:endParaRPr lang="en-US" sz="1100" dirty="0"/>
          </a:p>
        </p:txBody>
      </p:sp>
      <p:sp>
        <p:nvSpPr>
          <p:cNvPr id="4" name="Shape 2"/>
          <p:cNvSpPr/>
          <p:nvPr/>
        </p:nvSpPr>
        <p:spPr>
          <a:xfrm>
            <a:off x="548640" y="1371600"/>
            <a:ext cx="3611880" cy="4023360"/>
          </a:xfrm>
          <a:prstGeom prst="roundRect">
            <a:avLst>
              <a:gd name="adj" fmla="val 2025"/>
            </a:avLst>
          </a:prstGeom>
          <a:solidFill>
            <a:srgbClr val="F2F5FB"/>
          </a:solidFill>
          <a:ln w="12700">
            <a:solidFill>
              <a:srgbClr val="CADCFC"/>
            </a:solidFill>
            <a:prstDash val="solid"/>
          </a:ln>
        </p:spPr>
      </p:sp>
      <p:sp>
        <p:nvSpPr>
          <p:cNvPr id="5" name="Shape 3"/>
          <p:cNvSpPr/>
          <p:nvPr/>
        </p:nvSpPr>
        <p:spPr>
          <a:xfrm>
            <a:off x="731520" y="1554480"/>
            <a:ext cx="548640" cy="548640"/>
          </a:xfrm>
          <a:prstGeom prst="ellipse">
            <a:avLst/>
          </a:prstGeom>
          <a:solidFill>
            <a:srgbClr val="1E2761"/>
          </a:solidFill>
          <a:ln w="12700">
            <a:solidFill>
              <a:srgbClr val="1E2761"/>
            </a:solidFill>
            <a:prstDash val="solid"/>
          </a:ln>
        </p:spPr>
      </p:sp>
      <p:sp>
        <p:nvSpPr>
          <p:cNvPr id="6" name="Text 4"/>
          <p:cNvSpPr txBox="1"/>
          <p:nvPr/>
        </p:nvSpPr>
        <p:spPr>
          <a:xfrm>
            <a:off x="731520" y="1554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txBox="1"/>
          <p:nvPr/>
        </p:nvSpPr>
        <p:spPr>
          <a:xfrm>
            <a:off x="731520" y="2240280"/>
            <a:ext cx="3246120" cy="1097280"/>
          </a:xfrm>
          <a:prstGeom prst="rect">
            <a:avLst/>
          </a:prstGeom>
          <a:noFill/>
          <a:ln/>
        </p:spPr>
        <p:txBody>
          <a:bodyPr wrap="square" lIns="0" tIns="0" rIns="0" bIns="0" rtlCol="0" anchor="t"/>
          <a:lstStyle/>
          <a:p>
            <a:pPr indent="0" marL="0">
              <a:buNone/>
            </a:pPr>
            <a:r>
              <a:rPr lang="en-US" sz="1700" b="1" dirty="0">
                <a:solidFill>
                  <a:srgbClr val="1E2761"/>
                </a:solidFill>
                <a:latin typeface="Cambria" pitchFamily="34" charset="0"/>
                <a:ea typeface="Cambria" pitchFamily="34" charset="-122"/>
                <a:cs typeface="Cambria" pitchFamily="34" charset="-120"/>
              </a:rPr>
              <a:t>Run a creative-team pilot in Kotter-style steps</a:t>
            </a:r>
            <a:endParaRPr lang="en-US" sz="1700" dirty="0"/>
          </a:p>
        </p:txBody>
      </p:sp>
      <p:sp>
        <p:nvSpPr>
          <p:cNvPr id="8" name="Text 6"/>
          <p:cNvSpPr txBox="1"/>
          <p:nvPr/>
        </p:nvSpPr>
        <p:spPr>
          <a:xfrm>
            <a:off x="731520" y="3383280"/>
            <a:ext cx="3246120" cy="1920240"/>
          </a:xfrm>
          <a:prstGeom prst="rect">
            <a:avLst/>
          </a:prstGeom>
          <a:noFill/>
          <a:ln/>
        </p:spPr>
        <p:txBody>
          <a:bodyPr wrap="square" lIns="0" tIns="0" rIns="0" bIns="0" rtlCol="0" anchor="t"/>
          <a:lstStyle/>
          <a:p>
            <a:pPr indent="0" marL="0">
              <a:spcAft>
                <a:spcPts val="600"/>
              </a:spcAft>
              <a:buNone/>
            </a:pPr>
            <a:r>
              <a:rPr lang="en-US" sz="1300" b="1" dirty="0">
                <a:solidFill>
                  <a:srgbClr val="1E2761"/>
                </a:solidFill>
                <a:latin typeface="Calibri" pitchFamily="34" charset="0"/>
                <a:ea typeface="Calibri" pitchFamily="34" charset="-122"/>
                <a:cs typeface="Calibri" pitchFamily="34" charset="-120"/>
              </a:rPr>
              <a:t>Owner: </a:t>
            </a:r>
            <a:pPr indent="0" marL="0">
              <a:spcAft>
                <a:spcPts val="600"/>
              </a:spcAft>
              <a:buNone/>
            </a:pPr>
            <a:r>
              <a:rPr lang="en-US" sz="1300" dirty="0">
                <a:solidFill>
                  <a:srgbClr val="27314D"/>
                </a:solidFill>
                <a:latin typeface="Calibri" pitchFamily="34" charset="0"/>
                <a:ea typeface="Calibri" pitchFamily="34" charset="-122"/>
                <a:cs typeface="Calibri" pitchFamily="34" charset="-120"/>
              </a:rPr>
              <a:t>Creative leadership (writers, producers, content developers), supported by the data team</a:t>
            </a:r>
            <a:endParaRPr lang="en-US" sz="1300" dirty="0"/>
          </a:p>
          <a:p>
            <a:pPr indent="0" marL="0">
              <a:spcAft>
                <a:spcPts val="600"/>
              </a:spcAft>
              <a:buNone/>
            </a:pPr>
            <a:r>
              <a:rPr lang="en-US" sz="1300" b="1" dirty="0">
                <a:solidFill>
                  <a:srgbClr val="1E2761"/>
                </a:solidFill>
                <a:latin typeface="Calibri" pitchFamily="34" charset="0"/>
                <a:ea typeface="Calibri" pitchFamily="34" charset="-122"/>
                <a:cs typeface="Calibri" pitchFamily="34" charset="-120"/>
              </a:rPr>
              <a:t>Evidence: </a:t>
            </a:r>
            <a:pPr indent="0" marL="0">
              <a:spcAft>
                <a:spcPts val="600"/>
              </a:spcAft>
              <a:buNone/>
            </a:pPr>
            <a:r>
              <a:rPr lang="en-US" sz="1300" dirty="0">
                <a:solidFill>
                  <a:srgbClr val="27314D"/>
                </a:solidFill>
                <a:latin typeface="Calibri" pitchFamily="34" charset="0"/>
                <a:ea typeface="Calibri" pitchFamily="34" charset="-122"/>
                <a:cs typeface="Calibri" pitchFamily="34" charset="-120"/>
              </a:rPr>
              <a:t>Kotter (1995); Napoli (2014)</a:t>
            </a:r>
            <a:endParaRPr lang="en-US" sz="1300" dirty="0"/>
          </a:p>
          <a:p>
            <a:pPr indent="0" marL="0">
              <a:spcAft>
                <a:spcPts val="600"/>
              </a:spcAft>
              <a:buNone/>
            </a:pPr>
            <a:r>
              <a:rPr lang="en-US" sz="1300" b="1" dirty="0">
                <a:solidFill>
                  <a:srgbClr val="1E2761"/>
                </a:solidFill>
                <a:latin typeface="Calibri" pitchFamily="34" charset="0"/>
                <a:ea typeface="Calibri" pitchFamily="34" charset="-122"/>
                <a:cs typeface="Calibri" pitchFamily="34" charset="-120"/>
              </a:rPr>
              <a:t>From: </a:t>
            </a:r>
            <a:pPr indent="0" marL="0">
              <a:spcAft>
                <a:spcPts val="600"/>
              </a:spcAft>
              <a:buNone/>
            </a:pPr>
            <a:r>
              <a:rPr lang="en-US" sz="1300" dirty="0">
                <a:solidFill>
                  <a:srgbClr val="27314D"/>
                </a:solidFill>
                <a:latin typeface="Calibri" pitchFamily="34" charset="0"/>
                <a:ea typeface="Calibri" pitchFamily="34" charset="-122"/>
                <a:cs typeface="Calibri" pitchFamily="34" charset="-120"/>
              </a:rPr>
              <a:t>Slides 6 and 7</a:t>
            </a:r>
            <a:endParaRPr lang="en-US" sz="1300" dirty="0"/>
          </a:p>
        </p:txBody>
      </p:sp>
      <p:sp>
        <p:nvSpPr>
          <p:cNvPr id="9" name="Shape 7"/>
          <p:cNvSpPr/>
          <p:nvPr/>
        </p:nvSpPr>
        <p:spPr>
          <a:xfrm>
            <a:off x="4297680" y="1371600"/>
            <a:ext cx="3611880" cy="4023360"/>
          </a:xfrm>
          <a:prstGeom prst="roundRect">
            <a:avLst>
              <a:gd name="adj" fmla="val 2025"/>
            </a:avLst>
          </a:prstGeom>
          <a:solidFill>
            <a:srgbClr val="F2F5FB"/>
          </a:solidFill>
          <a:ln w="12700">
            <a:solidFill>
              <a:srgbClr val="CADCFC"/>
            </a:solidFill>
            <a:prstDash val="solid"/>
          </a:ln>
        </p:spPr>
      </p:sp>
      <p:sp>
        <p:nvSpPr>
          <p:cNvPr id="10" name="Shape 8"/>
          <p:cNvSpPr/>
          <p:nvPr/>
        </p:nvSpPr>
        <p:spPr>
          <a:xfrm>
            <a:off x="4480560" y="1554480"/>
            <a:ext cx="548640" cy="548640"/>
          </a:xfrm>
          <a:prstGeom prst="ellipse">
            <a:avLst/>
          </a:prstGeom>
          <a:solidFill>
            <a:srgbClr val="1E2761"/>
          </a:solidFill>
          <a:ln w="12700">
            <a:solidFill>
              <a:srgbClr val="1E2761"/>
            </a:solidFill>
            <a:prstDash val="solid"/>
          </a:ln>
        </p:spPr>
      </p:sp>
      <p:sp>
        <p:nvSpPr>
          <p:cNvPr id="11" name="Text 9"/>
          <p:cNvSpPr txBox="1"/>
          <p:nvPr/>
        </p:nvSpPr>
        <p:spPr>
          <a:xfrm>
            <a:off x="4480560" y="1554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txBox="1"/>
          <p:nvPr/>
        </p:nvSpPr>
        <p:spPr>
          <a:xfrm>
            <a:off x="4480560" y="2240280"/>
            <a:ext cx="3246120" cy="1097280"/>
          </a:xfrm>
          <a:prstGeom prst="rect">
            <a:avLst/>
          </a:prstGeom>
          <a:noFill/>
          <a:ln/>
        </p:spPr>
        <p:txBody>
          <a:bodyPr wrap="square" lIns="0" tIns="0" rIns="0" bIns="0" rtlCol="0" anchor="t"/>
          <a:lstStyle/>
          <a:p>
            <a:pPr indent="0" marL="0">
              <a:buNone/>
            </a:pPr>
            <a:r>
              <a:rPr lang="en-US" sz="1700" b="1" dirty="0">
                <a:solidFill>
                  <a:srgbClr val="1E2761"/>
                </a:solidFill>
                <a:latin typeface="Cambria" pitchFamily="34" charset="0"/>
                <a:ea typeface="Cambria" pitchFamily="34" charset="-122"/>
                <a:cs typeface="Cambria" pitchFamily="34" charset="-120"/>
              </a:rPr>
              <a:t>Add an explanation feature for recommendations</a:t>
            </a:r>
            <a:endParaRPr lang="en-US" sz="1700" dirty="0"/>
          </a:p>
        </p:txBody>
      </p:sp>
      <p:sp>
        <p:nvSpPr>
          <p:cNvPr id="13" name="Text 11"/>
          <p:cNvSpPr txBox="1"/>
          <p:nvPr/>
        </p:nvSpPr>
        <p:spPr>
          <a:xfrm>
            <a:off x="4480560" y="3383280"/>
            <a:ext cx="3246120" cy="1920240"/>
          </a:xfrm>
          <a:prstGeom prst="rect">
            <a:avLst/>
          </a:prstGeom>
          <a:noFill/>
          <a:ln/>
        </p:spPr>
        <p:txBody>
          <a:bodyPr wrap="square" lIns="0" tIns="0" rIns="0" bIns="0" rtlCol="0" anchor="t"/>
          <a:lstStyle/>
          <a:p>
            <a:pPr indent="0" marL="0">
              <a:spcAft>
                <a:spcPts val="600"/>
              </a:spcAft>
              <a:buNone/>
            </a:pPr>
            <a:r>
              <a:rPr lang="en-US" sz="1300" b="1" dirty="0">
                <a:solidFill>
                  <a:srgbClr val="1E2761"/>
                </a:solidFill>
                <a:latin typeface="Calibri" pitchFamily="34" charset="0"/>
                <a:ea typeface="Calibri" pitchFamily="34" charset="-122"/>
                <a:cs typeface="Calibri" pitchFamily="34" charset="-120"/>
              </a:rPr>
              <a:t>Owner: </a:t>
            </a:r>
            <a:pPr indent="0" marL="0">
              <a:spcAft>
                <a:spcPts val="600"/>
              </a:spcAft>
              <a:buNone/>
            </a:pPr>
            <a:r>
              <a:rPr lang="en-US" sz="1300" dirty="0">
                <a:solidFill>
                  <a:srgbClr val="27314D"/>
                </a:solidFill>
                <a:latin typeface="Calibri" pitchFamily="34" charset="0"/>
                <a:ea typeface="Calibri" pitchFamily="34" charset="-122"/>
                <a:cs typeface="Calibri" pitchFamily="34" charset="-120"/>
              </a:rPr>
              <a:t>Marketing, with the product and technology teams</a:t>
            </a:r>
            <a:endParaRPr lang="en-US" sz="1300" dirty="0"/>
          </a:p>
          <a:p>
            <a:pPr indent="0" marL="0">
              <a:spcAft>
                <a:spcPts val="600"/>
              </a:spcAft>
              <a:buNone/>
            </a:pPr>
            <a:r>
              <a:rPr lang="en-US" sz="1300" b="1" dirty="0">
                <a:solidFill>
                  <a:srgbClr val="1E2761"/>
                </a:solidFill>
                <a:latin typeface="Calibri" pitchFamily="34" charset="0"/>
                <a:ea typeface="Calibri" pitchFamily="34" charset="-122"/>
                <a:cs typeface="Calibri" pitchFamily="34" charset="-120"/>
              </a:rPr>
              <a:t>Evidence: </a:t>
            </a:r>
            <a:pPr indent="0" marL="0">
              <a:spcAft>
                <a:spcPts val="600"/>
              </a:spcAft>
              <a:buNone/>
            </a:pPr>
            <a:r>
              <a:rPr lang="en-US" sz="1300" dirty="0">
                <a:solidFill>
                  <a:srgbClr val="27314D"/>
                </a:solidFill>
                <a:latin typeface="Calibri" pitchFamily="34" charset="0"/>
                <a:ea typeface="Calibri" pitchFamily="34" charset="-122"/>
                <a:cs typeface="Calibri" pitchFamily="34" charset="-120"/>
              </a:rPr>
              <a:t>Floridi et al. (2018); Apple Inc. (2025)</a:t>
            </a:r>
            <a:endParaRPr lang="en-US" sz="1300" dirty="0"/>
          </a:p>
          <a:p>
            <a:pPr indent="0" marL="0">
              <a:spcAft>
                <a:spcPts val="600"/>
              </a:spcAft>
              <a:buNone/>
            </a:pPr>
            <a:r>
              <a:rPr lang="en-US" sz="1300" b="1" dirty="0">
                <a:solidFill>
                  <a:srgbClr val="1E2761"/>
                </a:solidFill>
                <a:latin typeface="Calibri" pitchFamily="34" charset="0"/>
                <a:ea typeface="Calibri" pitchFamily="34" charset="-122"/>
                <a:cs typeface="Calibri" pitchFamily="34" charset="-120"/>
              </a:rPr>
              <a:t>From: </a:t>
            </a:r>
            <a:pPr indent="0" marL="0">
              <a:spcAft>
                <a:spcPts val="600"/>
              </a:spcAft>
              <a:buNone/>
            </a:pPr>
            <a:r>
              <a:rPr lang="en-US" sz="1300" dirty="0">
                <a:solidFill>
                  <a:srgbClr val="27314D"/>
                </a:solidFill>
                <a:latin typeface="Calibri" pitchFamily="34" charset="0"/>
                <a:ea typeface="Calibri" pitchFamily="34" charset="-122"/>
                <a:cs typeface="Calibri" pitchFamily="34" charset="-120"/>
              </a:rPr>
              <a:t>Slides 4 and 9</a:t>
            </a:r>
            <a:endParaRPr lang="en-US" sz="1300" dirty="0"/>
          </a:p>
        </p:txBody>
      </p:sp>
      <p:sp>
        <p:nvSpPr>
          <p:cNvPr id="14" name="Shape 12"/>
          <p:cNvSpPr/>
          <p:nvPr/>
        </p:nvSpPr>
        <p:spPr>
          <a:xfrm>
            <a:off x="8046720" y="1371600"/>
            <a:ext cx="3611880" cy="4023360"/>
          </a:xfrm>
          <a:prstGeom prst="roundRect">
            <a:avLst>
              <a:gd name="adj" fmla="val 2025"/>
            </a:avLst>
          </a:prstGeom>
          <a:solidFill>
            <a:srgbClr val="F2F5FB"/>
          </a:solidFill>
          <a:ln w="12700">
            <a:solidFill>
              <a:srgbClr val="CADCFC"/>
            </a:solidFill>
            <a:prstDash val="solid"/>
          </a:ln>
        </p:spPr>
      </p:sp>
      <p:sp>
        <p:nvSpPr>
          <p:cNvPr id="15" name="Shape 13"/>
          <p:cNvSpPr/>
          <p:nvPr/>
        </p:nvSpPr>
        <p:spPr>
          <a:xfrm>
            <a:off x="8229600" y="1554480"/>
            <a:ext cx="548640" cy="548640"/>
          </a:xfrm>
          <a:prstGeom prst="ellipse">
            <a:avLst/>
          </a:prstGeom>
          <a:solidFill>
            <a:srgbClr val="1E2761"/>
          </a:solidFill>
          <a:ln w="12700">
            <a:solidFill>
              <a:srgbClr val="1E2761"/>
            </a:solidFill>
            <a:prstDash val="solid"/>
          </a:ln>
        </p:spPr>
      </p:sp>
      <p:sp>
        <p:nvSpPr>
          <p:cNvPr id="16" name="Text 14"/>
          <p:cNvSpPr txBox="1"/>
          <p:nvPr/>
        </p:nvSpPr>
        <p:spPr>
          <a:xfrm>
            <a:off x="8229600" y="1554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txBox="1"/>
          <p:nvPr/>
        </p:nvSpPr>
        <p:spPr>
          <a:xfrm>
            <a:off x="8229600" y="2240280"/>
            <a:ext cx="3246120" cy="1097280"/>
          </a:xfrm>
          <a:prstGeom prst="rect">
            <a:avLst/>
          </a:prstGeom>
          <a:noFill/>
          <a:ln/>
        </p:spPr>
        <p:txBody>
          <a:bodyPr wrap="square" lIns="0" tIns="0" rIns="0" bIns="0" rtlCol="0" anchor="t"/>
          <a:lstStyle/>
          <a:p>
            <a:pPr indent="0" marL="0">
              <a:buNone/>
            </a:pPr>
            <a:r>
              <a:rPr lang="en-US" sz="1700" b="1" dirty="0">
                <a:solidFill>
                  <a:srgbClr val="1E2761"/>
                </a:solidFill>
                <a:latin typeface="Cambria" pitchFamily="34" charset="0"/>
                <a:ea typeface="Cambria" pitchFamily="34" charset="-122"/>
                <a:cs typeface="Cambria" pitchFamily="34" charset="-120"/>
              </a:rPr>
              <a:t>Set up a governance review for purpose limitation and diversity auditing</a:t>
            </a:r>
            <a:endParaRPr lang="en-US" sz="1700" dirty="0"/>
          </a:p>
        </p:txBody>
      </p:sp>
      <p:sp>
        <p:nvSpPr>
          <p:cNvPr id="18" name="Text 16"/>
          <p:cNvSpPr txBox="1"/>
          <p:nvPr/>
        </p:nvSpPr>
        <p:spPr>
          <a:xfrm>
            <a:off x="8229600" y="3383280"/>
            <a:ext cx="3246120" cy="1920240"/>
          </a:xfrm>
          <a:prstGeom prst="rect">
            <a:avLst/>
          </a:prstGeom>
          <a:noFill/>
          <a:ln/>
        </p:spPr>
        <p:txBody>
          <a:bodyPr wrap="square" lIns="0" tIns="0" rIns="0" bIns="0" rtlCol="0" anchor="t"/>
          <a:lstStyle/>
          <a:p>
            <a:pPr indent="0" marL="0">
              <a:spcAft>
                <a:spcPts val="600"/>
              </a:spcAft>
              <a:buNone/>
            </a:pPr>
            <a:r>
              <a:rPr lang="en-US" sz="1300" b="1" dirty="0">
                <a:solidFill>
                  <a:srgbClr val="1E2761"/>
                </a:solidFill>
                <a:latin typeface="Calibri" pitchFamily="34" charset="0"/>
                <a:ea typeface="Calibri" pitchFamily="34" charset="-122"/>
                <a:cs typeface="Calibri" pitchFamily="34" charset="-120"/>
              </a:rPr>
              <a:t>Owner: </a:t>
            </a:r>
            <a:pPr indent="0" marL="0">
              <a:spcAft>
                <a:spcPts val="600"/>
              </a:spcAft>
              <a:buNone/>
            </a:pPr>
            <a:r>
              <a:rPr lang="en-US" sz="1300" dirty="0">
                <a:solidFill>
                  <a:srgbClr val="27314D"/>
                </a:solidFill>
                <a:latin typeface="Calibri" pitchFamily="34" charset="0"/>
                <a:ea typeface="Calibri" pitchFamily="34" charset="-122"/>
                <a:cs typeface="Calibri" pitchFamily="34" charset="-120"/>
              </a:rPr>
              <a:t>Operations (legal, compliance and employee support)</a:t>
            </a:r>
            <a:endParaRPr lang="en-US" sz="1300" dirty="0"/>
          </a:p>
          <a:p>
            <a:pPr indent="0" marL="0">
              <a:spcAft>
                <a:spcPts val="600"/>
              </a:spcAft>
              <a:buNone/>
            </a:pPr>
            <a:r>
              <a:rPr lang="en-US" sz="1300" b="1" dirty="0">
                <a:solidFill>
                  <a:srgbClr val="1E2761"/>
                </a:solidFill>
                <a:latin typeface="Calibri" pitchFamily="34" charset="0"/>
                <a:ea typeface="Calibri" pitchFamily="34" charset="-122"/>
                <a:cs typeface="Calibri" pitchFamily="34" charset="-120"/>
              </a:rPr>
              <a:t>Evidence: </a:t>
            </a:r>
            <a:pPr indent="0" marL="0">
              <a:spcAft>
                <a:spcPts val="600"/>
              </a:spcAft>
              <a:buNone/>
            </a:pPr>
            <a:r>
              <a:rPr lang="en-US" sz="1300" dirty="0">
                <a:solidFill>
                  <a:srgbClr val="27314D"/>
                </a:solidFill>
                <a:latin typeface="Calibri" pitchFamily="34" charset="0"/>
                <a:ea typeface="Calibri" pitchFamily="34" charset="-122"/>
                <a:cs typeface="Calibri" pitchFamily="34" charset="-120"/>
              </a:rPr>
              <a:t>GDPR Art. 5 (European Parliament and Council, 2016); Ricci et al. (2015)</a:t>
            </a:r>
            <a:endParaRPr lang="en-US" sz="1300" dirty="0"/>
          </a:p>
          <a:p>
            <a:pPr indent="0" marL="0">
              <a:spcAft>
                <a:spcPts val="600"/>
              </a:spcAft>
              <a:buNone/>
            </a:pPr>
            <a:r>
              <a:rPr lang="en-US" sz="1300" b="1" dirty="0">
                <a:solidFill>
                  <a:srgbClr val="1E2761"/>
                </a:solidFill>
                <a:latin typeface="Calibri" pitchFamily="34" charset="0"/>
                <a:ea typeface="Calibri" pitchFamily="34" charset="-122"/>
                <a:cs typeface="Calibri" pitchFamily="34" charset="-120"/>
              </a:rPr>
              <a:t>From: </a:t>
            </a:r>
            <a:pPr indent="0" marL="0">
              <a:spcAft>
                <a:spcPts val="600"/>
              </a:spcAft>
              <a:buNone/>
            </a:pPr>
            <a:r>
              <a:rPr lang="en-US" sz="1300" dirty="0">
                <a:solidFill>
                  <a:srgbClr val="27314D"/>
                </a:solidFill>
                <a:latin typeface="Calibri" pitchFamily="34" charset="0"/>
                <a:ea typeface="Calibri" pitchFamily="34" charset="-122"/>
                <a:cs typeface="Calibri" pitchFamily="34" charset="-120"/>
              </a:rPr>
              <a:t>Slides 5 and 9</a:t>
            </a:r>
            <a:endParaRPr lang="en-US" sz="1300" dirty="0"/>
          </a:p>
        </p:txBody>
      </p:sp>
      <p:sp>
        <p:nvSpPr>
          <p:cNvPr id="19" name="Text 17"/>
          <p:cNvSpPr txBox="1"/>
          <p:nvPr/>
        </p:nvSpPr>
        <p:spPr>
          <a:xfrm>
            <a:off x="548640" y="5669280"/>
            <a:ext cx="11064240" cy="548640"/>
          </a:xfrm>
          <a:prstGeom prst="rect">
            <a:avLst/>
          </a:prstGeom>
          <a:noFill/>
          <a:ln/>
        </p:spPr>
        <p:txBody>
          <a:bodyPr wrap="square" lIns="0" tIns="0" rIns="0" bIns="0"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Do first: </a:t>
            </a:r>
            <a:pPr indent="0" marL="0">
              <a:buNone/>
            </a:pPr>
            <a:r>
              <a:rPr lang="en-US" sz="1500" dirty="0">
                <a:solidFill>
                  <a:srgbClr val="27314D"/>
                </a:solidFill>
                <a:latin typeface="Calibri" pitchFamily="34" charset="0"/>
                <a:ea typeface="Calibri" pitchFamily="34" charset="-122"/>
                <a:cs typeface="Calibri" pitchFamily="34" charset="-120"/>
              </a:rPr>
              <a:t>the creative-team pilot, because it tackles the central challenge and builds the evidence the other two depend on.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692640"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Conclusion</a:t>
            </a:r>
            <a:endParaRPr lang="en-US" sz="3000" dirty="0"/>
          </a:p>
        </p:txBody>
      </p:sp>
      <p:sp>
        <p:nvSpPr>
          <p:cNvPr id="3" name="Text 1"/>
          <p:cNvSpPr txBox="1"/>
          <p:nvPr/>
        </p:nvSpPr>
        <p:spPr>
          <a:xfrm>
            <a:off x="10332720" y="137160"/>
            <a:ext cx="1463040" cy="274320"/>
          </a:xfrm>
          <a:prstGeom prst="rect">
            <a:avLst/>
          </a:prstGeom>
          <a:noFill/>
          <a:ln/>
        </p:spPr>
        <p:txBody>
          <a:bodyPr wrap="square" lIns="0" tIns="0" rIns="0" bIns="0" rtlCol="0" anchor="t"/>
          <a:lstStyle/>
          <a:p>
            <a:pPr algn="r" indent="0" marL="0">
              <a:buNone/>
            </a:pPr>
            <a:r>
              <a:rPr lang="en-US" sz="1100" dirty="0">
                <a:solidFill>
                  <a:srgbClr val="6B7590"/>
                </a:solidFill>
                <a:latin typeface="Calibri" pitchFamily="34" charset="0"/>
                <a:ea typeface="Calibri" pitchFamily="34" charset="-122"/>
                <a:cs typeface="Calibri" pitchFamily="34" charset="-120"/>
              </a:rPr>
              <a:t>Conclusion</a:t>
            </a:r>
            <a:endParaRPr lang="en-US" sz="1100" dirty="0"/>
          </a:p>
        </p:txBody>
      </p:sp>
      <p:sp>
        <p:nvSpPr>
          <p:cNvPr id="4" name="Text 2"/>
          <p:cNvSpPr txBox="1"/>
          <p:nvPr/>
        </p:nvSpPr>
        <p:spPr>
          <a:xfrm>
            <a:off x="548640" y="1325880"/>
            <a:ext cx="1097280" cy="6858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Technology</a:t>
            </a:r>
            <a:endParaRPr lang="en-US" sz="1500" dirty="0"/>
          </a:p>
        </p:txBody>
      </p:sp>
      <p:sp>
        <p:nvSpPr>
          <p:cNvPr id="5" name="Text 3"/>
          <p:cNvSpPr txBox="1"/>
          <p:nvPr/>
        </p:nvSpPr>
        <p:spPr>
          <a:xfrm>
            <a:off x="1645920" y="1325880"/>
            <a:ext cx="9966960" cy="685800"/>
          </a:xfrm>
          <a:prstGeom prst="rect">
            <a:avLst/>
          </a:prstGeom>
          <a:noFill/>
          <a:ln/>
        </p:spPr>
        <p:txBody>
          <a:bodyPr wrap="square" lIns="0" tIns="0" rIns="0" bIns="0" rtlCol="0" anchor="ctr"/>
          <a:lstStyle/>
          <a:p>
            <a:pPr indent="0" marL="0">
              <a:buNone/>
            </a:pPr>
            <a:r>
              <a:rPr lang="en-US" sz="1400" dirty="0">
                <a:solidFill>
                  <a:srgbClr val="27314D"/>
                </a:solidFill>
                <a:latin typeface="Calibri" pitchFamily="34" charset="0"/>
                <a:ea typeface="Calibri" pitchFamily="34" charset="-122"/>
                <a:cs typeface="Calibri" pitchFamily="34" charset="-120"/>
              </a:rPr>
              <a:t>A machine-learning recommendation engine helps match a small catalogue to many viewers, but it protects Apple TV+’s position rather than creating a lead.</a:t>
            </a:r>
            <a:endParaRPr lang="en-US" sz="1400" dirty="0"/>
          </a:p>
        </p:txBody>
      </p:sp>
      <p:sp>
        <p:nvSpPr>
          <p:cNvPr id="6" name="Text 4"/>
          <p:cNvSpPr txBox="1"/>
          <p:nvPr/>
        </p:nvSpPr>
        <p:spPr>
          <a:xfrm>
            <a:off x="548640" y="2103120"/>
            <a:ext cx="1097280" cy="6858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Task 2</a:t>
            </a:r>
            <a:endParaRPr lang="en-US" sz="1500" dirty="0"/>
          </a:p>
        </p:txBody>
      </p:sp>
      <p:sp>
        <p:nvSpPr>
          <p:cNvPr id="7" name="Text 5"/>
          <p:cNvSpPr txBox="1"/>
          <p:nvPr/>
        </p:nvSpPr>
        <p:spPr>
          <a:xfrm>
            <a:off x="1645920" y="2103120"/>
            <a:ext cx="9966960" cy="685800"/>
          </a:xfrm>
          <a:prstGeom prst="rect">
            <a:avLst/>
          </a:prstGeom>
          <a:noFill/>
          <a:ln/>
        </p:spPr>
        <p:txBody>
          <a:bodyPr wrap="square" lIns="0" tIns="0" rIns="0" bIns="0" rtlCol="0" anchor="ctr"/>
          <a:lstStyle/>
          <a:p>
            <a:pPr indent="0" marL="0">
              <a:buNone/>
            </a:pPr>
            <a:r>
              <a:rPr lang="en-US" sz="1400" dirty="0">
                <a:solidFill>
                  <a:srgbClr val="27314D"/>
                </a:solidFill>
                <a:latin typeface="Calibri" pitchFamily="34" charset="0"/>
                <a:ea typeface="Calibri" pitchFamily="34" charset="-122"/>
                <a:cs typeface="Calibri" pitchFamily="34" charset="-120"/>
              </a:rPr>
              <a:t>Creative teams, the group analysed, can protect originality while adopting data if a Kotter-style change plan is used.</a:t>
            </a:r>
            <a:endParaRPr lang="en-US" sz="1400" dirty="0"/>
          </a:p>
        </p:txBody>
      </p:sp>
      <p:sp>
        <p:nvSpPr>
          <p:cNvPr id="8" name="Text 6"/>
          <p:cNvSpPr txBox="1"/>
          <p:nvPr/>
        </p:nvSpPr>
        <p:spPr>
          <a:xfrm>
            <a:off x="548640" y="2880360"/>
            <a:ext cx="1097280" cy="6858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Task 3</a:t>
            </a:r>
            <a:endParaRPr lang="en-US" sz="1500" dirty="0"/>
          </a:p>
        </p:txBody>
      </p:sp>
      <p:sp>
        <p:nvSpPr>
          <p:cNvPr id="9" name="Text 7"/>
          <p:cNvSpPr txBox="1"/>
          <p:nvPr/>
        </p:nvSpPr>
        <p:spPr>
          <a:xfrm>
            <a:off x="1645920" y="2880360"/>
            <a:ext cx="9966960" cy="685800"/>
          </a:xfrm>
          <a:prstGeom prst="rect">
            <a:avLst/>
          </a:prstGeom>
          <a:noFill/>
          <a:ln/>
        </p:spPr>
        <p:txBody>
          <a:bodyPr wrap="square" lIns="0" tIns="0" rIns="0" bIns="0" rtlCol="0" anchor="ctr"/>
          <a:lstStyle/>
          <a:p>
            <a:pPr indent="0" marL="0">
              <a:buNone/>
            </a:pPr>
            <a:r>
              <a:rPr lang="en-US" sz="1400" dirty="0">
                <a:solidFill>
                  <a:srgbClr val="27314D"/>
                </a:solidFill>
                <a:latin typeface="Calibri" pitchFamily="34" charset="0"/>
                <a:ea typeface="Calibri" pitchFamily="34" charset="-122"/>
                <a:cs typeface="Calibri" pitchFamily="34" charset="-120"/>
              </a:rPr>
              <a:t>Rivals can copy the technology, so advantage depends on ecosystem, creative judgement and ethical safeguards.</a:t>
            </a:r>
            <a:endParaRPr lang="en-US" sz="1400" dirty="0"/>
          </a:p>
        </p:txBody>
      </p:sp>
      <p:sp>
        <p:nvSpPr>
          <p:cNvPr id="10" name="Text 8"/>
          <p:cNvSpPr txBox="1"/>
          <p:nvPr/>
        </p:nvSpPr>
        <p:spPr>
          <a:xfrm>
            <a:off x="548640" y="3749040"/>
            <a:ext cx="5486400" cy="365760"/>
          </a:xfrm>
          <a:prstGeom prst="rect">
            <a:avLst/>
          </a:prstGeom>
          <a:noFill/>
          <a:ln/>
        </p:spPr>
        <p:txBody>
          <a:bodyPr wrap="square" lIns="0" tIns="0" rIns="0" bIns="0" rtlCol="0" anchor="t"/>
          <a:lstStyle/>
          <a:p>
            <a:pPr indent="0" marL="0">
              <a:buNone/>
            </a:pPr>
            <a:r>
              <a:rPr lang="en-US" sz="1800" b="1" dirty="0">
                <a:solidFill>
                  <a:srgbClr val="1E2761"/>
                </a:solidFill>
                <a:latin typeface="Cambria" pitchFamily="34" charset="0"/>
                <a:ea typeface="Cambria" pitchFamily="34" charset="-122"/>
                <a:cs typeface="Cambria" pitchFamily="34" charset="-120"/>
              </a:rPr>
              <a:t>Recommendations</a:t>
            </a:r>
            <a:endParaRPr lang="en-US" sz="1800" dirty="0"/>
          </a:p>
        </p:txBody>
      </p:sp>
      <p:sp>
        <p:nvSpPr>
          <p:cNvPr id="11" name="Text 9"/>
          <p:cNvSpPr txBox="1"/>
          <p:nvPr/>
        </p:nvSpPr>
        <p:spPr>
          <a:xfrm>
            <a:off x="548640" y="4160520"/>
            <a:ext cx="11064240" cy="118872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500" dirty="0">
                <a:solidFill>
                  <a:srgbClr val="27314D"/>
                </a:solidFill>
                <a:latin typeface="Calibri" pitchFamily="34" charset="0"/>
                <a:ea typeface="Calibri" pitchFamily="34" charset="-122"/>
                <a:cs typeface="Calibri" pitchFamily="34" charset="-120"/>
              </a:rPr>
              <a:t>Pilot with creative teams, using Kotter-style steps.</a:t>
            </a:r>
            <a:endParaRPr lang="en-US" sz="1500" dirty="0"/>
          </a:p>
          <a:p>
            <a:pPr marL="342900" indent="-342900">
              <a:spcAft>
                <a:spcPts val="400"/>
              </a:spcAft>
              <a:buSzPct val="100000"/>
              <a:buFont typeface="+mj-lt"/>
              <a:buAutoNum type="arabicPeriod" startAt="1"/>
            </a:pPr>
            <a:r>
              <a:rPr lang="en-US" sz="1500" dirty="0">
                <a:solidFill>
                  <a:srgbClr val="27314D"/>
                </a:solidFill>
                <a:latin typeface="Calibri" pitchFamily="34" charset="0"/>
                <a:ea typeface="Calibri" pitchFamily="34" charset="-122"/>
                <a:cs typeface="Calibri" pitchFamily="34" charset="-120"/>
              </a:rPr>
              <a:t>Add explanations for why content is recommended.</a:t>
            </a:r>
            <a:endParaRPr lang="en-US" sz="1500" dirty="0"/>
          </a:p>
          <a:p>
            <a:pPr marL="342900" indent="-342900">
              <a:spcAft>
                <a:spcPts val="400"/>
              </a:spcAft>
              <a:buSzPct val="100000"/>
              <a:buFont typeface="+mj-lt"/>
              <a:buAutoNum type="arabicPeriod" startAt="1"/>
            </a:pPr>
            <a:r>
              <a:rPr lang="en-US" sz="1500" dirty="0">
                <a:solidFill>
                  <a:srgbClr val="27314D"/>
                </a:solidFill>
                <a:latin typeface="Calibri" pitchFamily="34" charset="0"/>
                <a:ea typeface="Calibri" pitchFamily="34" charset="-122"/>
                <a:cs typeface="Calibri" pitchFamily="34" charset="-120"/>
              </a:rPr>
              <a:t>Review purpose limitation and diversity audits regularly.</a:t>
            </a:r>
            <a:endParaRPr lang="en-US" sz="1500" dirty="0"/>
          </a:p>
        </p:txBody>
      </p:sp>
      <p:sp>
        <p:nvSpPr>
          <p:cNvPr id="12" name="Shape 10"/>
          <p:cNvSpPr/>
          <p:nvPr/>
        </p:nvSpPr>
        <p:spPr>
          <a:xfrm>
            <a:off x="548640" y="5440680"/>
            <a:ext cx="11064240" cy="777240"/>
          </a:xfrm>
          <a:prstGeom prst="roundRect">
            <a:avLst>
              <a:gd name="adj" fmla="val 9412"/>
            </a:avLst>
          </a:prstGeom>
          <a:solidFill>
            <a:srgbClr val="1E2761"/>
          </a:solidFill>
          <a:ln w="12700">
            <a:solidFill>
              <a:srgbClr val="1E2761"/>
            </a:solidFill>
            <a:prstDash val="solid"/>
          </a:ln>
        </p:spPr>
      </p:sp>
      <p:sp>
        <p:nvSpPr>
          <p:cNvPr id="13" name="Text 11"/>
          <p:cNvSpPr txBox="1"/>
          <p:nvPr/>
        </p:nvSpPr>
        <p:spPr>
          <a:xfrm>
            <a:off x="731520" y="5440680"/>
            <a:ext cx="10698480" cy="7772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Used with creative teams at its side, the recommendation engine can help Apple TV+ keep subscribers without giving up the originality it is known for.</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692640"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References</a:t>
            </a:r>
            <a:endParaRPr lang="en-US" sz="3000" dirty="0"/>
          </a:p>
        </p:txBody>
      </p:sp>
      <p:sp>
        <p:nvSpPr>
          <p:cNvPr id="3" name="Text 1"/>
          <p:cNvSpPr txBox="1"/>
          <p:nvPr/>
        </p:nvSpPr>
        <p:spPr>
          <a:xfrm>
            <a:off x="10332720" y="137160"/>
            <a:ext cx="1463040" cy="274320"/>
          </a:xfrm>
          <a:prstGeom prst="rect">
            <a:avLst/>
          </a:prstGeom>
          <a:noFill/>
          <a:ln/>
        </p:spPr>
        <p:txBody>
          <a:bodyPr wrap="square" lIns="0" tIns="0" rIns="0" bIns="0" rtlCol="0" anchor="t"/>
          <a:lstStyle/>
          <a:p>
            <a:pPr algn="r" indent="0" marL="0">
              <a:buNone/>
            </a:pPr>
            <a:r>
              <a:rPr lang="en-US" sz="1100" dirty="0">
                <a:solidFill>
                  <a:srgbClr val="6B7590"/>
                </a:solidFill>
                <a:latin typeface="Calibri" pitchFamily="34" charset="0"/>
                <a:ea typeface="Calibri" pitchFamily="34" charset="-122"/>
                <a:cs typeface="Calibri" pitchFamily="34" charset="-120"/>
              </a:rPr>
              <a:t>References</a:t>
            </a:r>
            <a:endParaRPr lang="en-US" sz="1100" dirty="0"/>
          </a:p>
        </p:txBody>
      </p:sp>
      <p:sp>
        <p:nvSpPr>
          <p:cNvPr id="4" name="Text 2"/>
          <p:cNvSpPr txBox="1"/>
          <p:nvPr/>
        </p:nvSpPr>
        <p:spPr>
          <a:xfrm>
            <a:off x="548640" y="1234440"/>
            <a:ext cx="11064240" cy="5303520"/>
          </a:xfrm>
          <a:prstGeom prst="rect">
            <a:avLst/>
          </a:prstGeom>
          <a:noFill/>
          <a:ln/>
        </p:spPr>
        <p:txBody>
          <a:bodyPr wrap="square" lIns="0" tIns="0" rIns="0" bIns="0" rtlCol="0" anchor="t"/>
          <a:lstStyle/>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Antenna (2024) Domestic SVOD market data. Industry churn figures as reported in ‘Streaming services see rising churn as serial cancelers seek value for money’, ABC News.</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Ansoff, H.I. (1957) ‘Strategies for diversification’, Harvard Business Review, 35(5), pp.113–124.</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Apple Inc. (2025) Apple TV App &amp; Privacy. Cupertino: Apple Inc.</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Barney, J. (1991) ‘Firm resources and sustained competitive advantage’, Journal of Management, 17(1), pp.99–120.</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Davis, F.D. (1989) ‘Perceived usefulness, perceived ease of use, and user acceptance of information technology’, MIS Quarterly, 13(3), pp.319–340.</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European Parliament and Council (2016) Regulation (EU) 2016/679 (GDPR).</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Floridi, L. et al. (2018) ‘AI4People—an ethical framework for a good AI society’, Minds and Machines, 28(4), pp.689–707.</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Gomez-Uribe, C.A. and Hunt, N. (2015) ‘The Netflix recommender system’, ACM Transactions on Management Information Systems, 6(4), Article 13.</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Gracenote (2025) State of Play 2025. Gracenote, a Nielsen company. Released 5 November 2025.</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Helberger, N. (2019) ‘On the democratic role of news recommenders’, Digital Journalism, 7(8), pp.993–1012.</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Kotter, J.P. (1995) ‘Leading change: why transformation efforts fail’, Harvard Business Review, 73(2), pp.59–67.</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Mokoena, N. and Obagbuwa, I.C. (2025) ‘An analysis of artificial intelligence automation in digital music streaming platforms for improving consumer subscription responses: a review’, Frontiers in Artificial Intelligence, 7, Article 1515716.</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Napoli, P.M. (2014) ‘Automated media: an institutional theory perspective on algorithmic media production and consumption’, Communication Theory, 24(3), pp.340–360.</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Pariser, E. (2011) The Filter Bubble. New York: Penguin Press.</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Porter, M.E. (2008) ‘The five competitive forces that shape strategy’, Harvard Business Review, 86(1), pp.78–93.</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Reichheld, F.F. (2003) ‘The one number you need to grow’, Harvard Business Review, 81(12), pp.46–54.</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Resnick, P. and Varian, H.R. (1997) ‘Recommender systems’, Communications of the ACM, 40(3), pp.56–58.</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Ricci, F., Rokach, L. and Shapira, B. (2015) Recommender Systems Handbook. 2nd edn. New York: Springer.</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Vial, G. (2019) ‘Understanding digital transformation: a review and a research agenda’, Journal of Strategic Information Systems, 28(2), pp.118–144.</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2026-10-25T02:20:58Z</dcterms:created>
  <dcterms:modified xsi:type="dcterms:W3CDTF">2026-10-25T02:20:58Z</dcterms:modified>
</cp:coreProperties>
</file>