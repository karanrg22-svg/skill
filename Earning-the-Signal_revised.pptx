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0:30]
Good morning. I'm presenting as Apple TV+'s Digital Transformation Consultant, SRN [add SRN].
Purpose: to show the leadership team how a machine-learning recommendation engine could help Apple TV+ use data without limiting creativity.
Structure: technology (Task 1), impact on creative teams (Task 2), and strategy, ethics and recommendations (Task 3).
Next: why this matters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1:00]
Apple TV+ is an original-content service. It competes on the quality of its programmes, not the size of its library, so every title matters more. Its strategy is the Apple ecosystem: content integrated across iPhone, iPad and other devices (Apple brief).
The challenge I chose from the brief: using data to improve recommendations without limiting creativity.
Why it matters: retention, competition with Netflix, Prime Video and Disney+, and the tension between creative and data-driven teams.
Evidence: Antenna (2024) reports 37.2% of Apple TV+ gross additions were returning subscribers who had cancelled within the prior 12 months, the highest serial-churn rate in the industry. Industry-wide, monthly churn across major US services rose from 5.1% to 6.3% between November 2022 and November 2023 (Antenna, as reported by ABC News).
So what: Reichheld (2003) shows keeping a customer is cheaper than winning a new one, so churn is a cost problem for leadership, not just a marketing metric.
Next: the technology I propose.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0:50]
In plain terms: a machine-learning recommendation engine learns from what viewers do and predicts what each viewer will want next. Resnick and Varian (1997) describe recommender systems as helping people choose among many options using patterns in other people's choices.
Walk the diagram left to right. Input: viewing history, search queries and behaviour signals such as pauses and rewinds. Process: machine learning finds patterns. Output: a personalised home screen.
Evidence: Netflix is the best-documented case. Gomez-Uribe and Hunt (2015) estimate its recommender is worth over $1 billion a year in retained subscribers. Note this is Netflix, not Apple, so it shows the potential rather than guaranteeing the result.
Apple's own privacy documentation says data is collected "to tailor features and offer personalised recommendations" (Apple Inc., 2025).
Next: how it helps with our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0:50]
How it helps: Apple TV+ has a small, high-quality catalogue. The engine matches it to millions of different viewers, so good originals are found rather than buried.
Porter's Five Forces (Porter, 2008): two forces change most.
Rivalry: better discovery raises the value of each subscription, but Netflix, Prime Video and Disney+ run similar engines, so it protects our position rather than creating a lead.
Buyer power: switching costs are low. The high serial-churn figure on slide 2 is evidence that subscribers leave and return easily. A profile that has learned someone's taste adds only a small cost to leaving.
The creativity side: the engine can steer which content is promoted. That is where creative teams' concern comes from.
Next: weighing benefits against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1:00]
Benefits, each sourced. Discovery: Gracenote (2025) found 49% of viewers say they are likely to cancel if they cannot find something to watch. Engagement and retention: Gomez-Uribe and Hunt (2015) and Reichheld (2003).
Limitations. Narrowing and data quality: Ricci, Rokach and Shapira (2015). Reduced diversity: Helberger (2019). Possible loss of creative originality: Napoli (2014). Privacy, governance and bias when AI is scaled: Mokoena and Obagbuwa (2025).
Weigh them: for Apple TV+ the most important benefit is discovery, because a small catalogue only pays off if each show is found. The most important limitation is creative originality, because Apple competes on quality.
Conclusion: personalisation is necessary but not sufficient. Its benefits depend on managing these limits.
Next: what this means for the people who make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1:00]
Personalisation at this scale does not only change what customers see; it also changes how creative teams decide what gets made.
Stakeholder group I chose: creative teams, meaning writers, producers and content developers. Their concern, from the brief: too much reliance on data could affect originality. Structure, culture and process influence one another. Structure: who decides what gets made. Culture: creative autonomy versus data-driven decisions; if teams see data as a verdict, they will resist (Napoli, 2014). Process: pitches and green-lighting. If the process keeps creative sign-off final, the culture is more likely to accept the tool.
TAM (Davis, 1989): is it useful and easy to use? Useful if it shows which audiences a pitch could reach; easy only if insights are in plain language and built into the pitch workflow.
Next: the barriers and how to manage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1:00]
Barriers: fear of losing creative control, distrust of algorithms, and skills gaps. The main barrier is visibility: creative teams cannot see how data influences decisions.
Responses: keep creative sign-off final and publish rules for data use; show why content is promoted so creatives can see the reasoning; train people on real projects (Vial, 2019).
Change model: Kotter (1995), condensed from eight steps to six for Apple TV+. Urgency from churn and rivals; a coalition of creative champions and data leads; a vision that data informs and creatives decide; a pilot on one slate of originals with early wins shared; extension into pitches and green-lighting; and embedding in how Apple TV+ commissions.
Next: does this give lasting advantage?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1:00]
VRIO (Barney, 1991), applied honestly.
Valuable: yes. Better discovery supports retention and agility, but scaling AI brings privacy, governance and bias risks.
Rare: no. Streaming rivals already run recommenders and the technique is widely documented (Ricci et al., 2015).
Hard to imitate: partly. Models are copyable. Apple's ecosystem data and quality-focused catalogue are harder to copy; this is my judgement, not a measured finding.
Organised to exploit: not yet. The brief shows creative, marketing and operations teams hold different views, so there are no shared rules for how data shapes commissioning. This is my inference from the brief.
Verdict: competitive parity, not sustained advantage. As models converge, accuracy alone differentiates little.
Continuous improvement: A/B testing gives agility; creative input into the goals the model optimises supports innovation; regular data and model refresh keeps it current. Ansoff (1957): this is market penetration, deepening retention in existing markets, rather than a new product.
Next: the risks that come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0:50]
Risks, ranked by impact for Apple TV+, with a principle and mitigation for each.
Privacy: data collected for recommendations could be reused for other purposes. GDPR Article 5 requires specified, explicit purposes (European Parliament and Council, 2016) and applies to subscribers in the EU. Mitigation: document and review purpose limitation. This also protects Apple's brand.
Bias and fairness: models trained on past viewing narrow what is shown (Ricci et al., 2015). Mitigation: regular diversity audits.
Transparency: viewers and creatives cannot see why content is promoted. Mitigation: 'why am I seeing this' explanations.
Creators' autonomy: algorithms can steer which projects are promoted and made (Napoli, 2014). Mitigation: keep creative sign-off.
Next: what I recommend.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0:50]
Three recommendations, each with action, owner, evidence and the slide it comes from.
1. Creative-team pilot in Kotter-style steps. Owner: creative leadership with the data team. Evidence: Kotter (1995), Napoli (2014). From slides 6 and 7.
2. Explanation feature for recommendations. Owner: marketing with product and technology. Evidence: Floridi et al. (2018), Apple Inc. (2025). From slides 4 and 9.
3. Governance review of purpose limitation and diversity auditing. Owner: operations (legal and compliance). Evidence: GDPR Article 5, Ricci et al. (2015). From slides 5 and 9.
Sequence: pilot first, because it tackles the central challenge and builds evidence for the other two; the governance review runs alongside it.
Next: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0:40]
Task 1: a machine-learning recommendation engine helps match a small catalogue to many viewers, but it protects Apple TV+'s position rather than creating a lead.
Task 2: creative teams, the group I assessed, can protect originality while adopting data if a Kotter-style change plan is used.
Task 3: rivals can copy the technology, so advantage depends on ecosystem, creative judgement and ethical safeguards.
Close: used with creative teams at its side, the engine can help Apple TV+ keep subscribers without giving up the originality it is known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list in alphabetical Harvard style. Provided for information; not presented.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F5FB"/>
        </a:solidFill>
      </p:bgPr>
    </p:bg>
    <p:spTree>
      <p:nvGrpSpPr>
        <p:cNvPr id="1" name=""/>
        <p:cNvGrpSpPr/>
        <p:nvPr/>
      </p:nvGrpSpPr>
      <p:grpSpPr>
        <a:xfrm>
          <a:off x="0" y="0"/>
          <a:ext cx="0" cy="0"/>
          <a:chOff x="0" y="0"/>
          <a:chExt cx="0" cy="0"/>
        </a:xfrm>
      </p:grpSpPr>
      <p:sp>
        <p:nvSpPr>
          <p:cNvPr id="2" name="Text 0"/>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Intro</a:t>
            </a:r>
            <a:endParaRPr lang="en-US" sz="1100" dirty="0"/>
          </a:p>
        </p:txBody>
      </p:sp>
      <p:sp>
        <p:nvSpPr>
          <p:cNvPr id="3" name="Text 1"/>
          <p:cNvSpPr txBox="1"/>
          <p:nvPr/>
        </p:nvSpPr>
        <p:spPr>
          <a:xfrm>
            <a:off x="914400" y="1371600"/>
            <a:ext cx="10332720" cy="10058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Using a Recommendation Engine at Apple TV+</a:t>
            </a:r>
            <a:endParaRPr lang="en-US" sz="4000" dirty="0"/>
          </a:p>
        </p:txBody>
      </p:sp>
      <p:sp>
        <p:nvSpPr>
          <p:cNvPr id="4" name="Text 2"/>
          <p:cNvSpPr txBox="1"/>
          <p:nvPr/>
        </p:nvSpPr>
        <p:spPr>
          <a:xfrm>
            <a:off x="914400" y="2468880"/>
            <a:ext cx="10332720" cy="548640"/>
          </a:xfrm>
          <a:prstGeom prst="rect">
            <a:avLst/>
          </a:prstGeom>
          <a:noFill/>
          <a:ln/>
        </p:spPr>
        <p:txBody>
          <a:bodyPr wrap="square" lIns="0" tIns="0" rIns="0" bIns="0" rtlCol="0" anchor="t"/>
          <a:lstStyle/>
          <a:p>
            <a:pPr algn="ctr" indent="0" marL="0">
              <a:buNone/>
            </a:pPr>
            <a:r>
              <a:rPr lang="en-US" sz="2200" dirty="0">
                <a:solidFill>
                  <a:srgbClr val="1E56A0"/>
                </a:solidFill>
                <a:latin typeface="Calibri" pitchFamily="34" charset="0"/>
                <a:ea typeface="Calibri" pitchFamily="34" charset="-122"/>
                <a:cs typeface="Calibri" pitchFamily="34" charset="-120"/>
              </a:rPr>
              <a:t>Personalisation without limiting creativity</a:t>
            </a:r>
            <a:endParaRPr lang="en-US" sz="2200" dirty="0"/>
          </a:p>
        </p:txBody>
      </p:sp>
      <p:sp>
        <p:nvSpPr>
          <p:cNvPr id="5" name="Text 3"/>
          <p:cNvSpPr txBox="1"/>
          <p:nvPr/>
        </p:nvSpPr>
        <p:spPr>
          <a:xfrm>
            <a:off x="1828800" y="3383280"/>
            <a:ext cx="8503920" cy="1920240"/>
          </a:xfrm>
          <a:prstGeom prst="rect">
            <a:avLst/>
          </a:prstGeom>
          <a:noFill/>
          <a:ln/>
        </p:spPr>
        <p:txBody>
          <a:bodyPr wrap="square" lIns="0" tIns="0" rIns="0" bIns="0" rtlCol="0" anchor="t"/>
          <a:lstStyle/>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I am presenting as Apple TV+’s Digital Transformation Consultant.</a:t>
            </a:r>
            <a:endParaRPr lang="en-US" sz="1600" dirty="0"/>
          </a:p>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Purpose: to analyse how a machine-learning recommendation engine could help Apple TV+ use data without limiting creativity.</a:t>
            </a:r>
            <a:endParaRPr lang="en-US" sz="1600" dirty="0"/>
          </a:p>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Structure: technology (Task 1), impact on creative teams (Task 2), and strategy, ethics and recommendations (Task 3).</a:t>
            </a:r>
            <a:endParaRPr lang="en-US" sz="1600" dirty="0"/>
          </a:p>
        </p:txBody>
      </p:sp>
      <p:sp>
        <p:nvSpPr>
          <p:cNvPr id="6" name="Text 4"/>
          <p:cNvSpPr txBox="1"/>
          <p:nvPr/>
        </p:nvSpPr>
        <p:spPr>
          <a:xfrm>
            <a:off x="914400" y="5669280"/>
            <a:ext cx="10332720" cy="365760"/>
          </a:xfrm>
          <a:prstGeom prst="rect">
            <a:avLst/>
          </a:prstGeom>
          <a:noFill/>
          <a:ln/>
        </p:spPr>
        <p:txBody>
          <a:bodyPr wrap="square" lIns="0" tIns="0" rIns="0" bIns="0" rtlCol="0" anchor="t"/>
          <a:lstStyle/>
          <a:p>
            <a:pPr algn="ctr" indent="0" marL="0">
              <a:buNone/>
            </a:pPr>
            <a:r>
              <a:rPr lang="en-US" sz="1600" b="1" dirty="0">
                <a:solidFill>
                  <a:srgbClr val="1E2761"/>
                </a:solidFill>
                <a:latin typeface="Calibri" pitchFamily="34" charset="0"/>
                <a:ea typeface="Calibri" pitchFamily="34" charset="-122"/>
                <a:cs typeface="Calibri" pitchFamily="34" charset="-120"/>
              </a:rPr>
              <a:t>SRN: [enter your SRN]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Apple TV+ and the Challenge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Intro</a:t>
            </a:r>
            <a:endParaRPr lang="en-US" sz="1100" dirty="0"/>
          </a:p>
        </p:txBody>
      </p:sp>
      <p:sp>
        <p:nvSpPr>
          <p:cNvPr id="4" name="Text 2"/>
          <p:cNvSpPr txBox="1"/>
          <p:nvPr/>
        </p:nvSpPr>
        <p:spPr>
          <a:xfrm>
            <a:off x="548640" y="137160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What it is</a:t>
            </a:r>
            <a:endParaRPr lang="en-US" sz="1500" dirty="0"/>
          </a:p>
        </p:txBody>
      </p:sp>
      <p:sp>
        <p:nvSpPr>
          <p:cNvPr id="5" name="Text 3"/>
          <p:cNvSpPr txBox="1"/>
          <p:nvPr/>
        </p:nvSpPr>
        <p:spPr>
          <a:xfrm>
            <a:off x="2286000" y="137160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Apple TV+ is an original-content subscription service. It competes on the quality of its programmes rather than the size of its library, so each title carries more weight.</a:t>
            </a:r>
            <a:endParaRPr lang="en-US" sz="1400" dirty="0"/>
          </a:p>
        </p:txBody>
      </p:sp>
      <p:sp>
        <p:nvSpPr>
          <p:cNvPr id="6" name="Text 4"/>
          <p:cNvSpPr txBox="1"/>
          <p:nvPr/>
        </p:nvSpPr>
        <p:spPr>
          <a:xfrm>
            <a:off x="548640" y="256032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Ecosystem</a:t>
            </a:r>
            <a:endParaRPr lang="en-US" sz="1500" dirty="0"/>
          </a:p>
        </p:txBody>
      </p:sp>
      <p:sp>
        <p:nvSpPr>
          <p:cNvPr id="7" name="Text 5"/>
          <p:cNvSpPr txBox="1"/>
          <p:nvPr/>
        </p:nvSpPr>
        <p:spPr>
          <a:xfrm>
            <a:off x="2286000" y="256032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Content is integrated across iPhone, iPad and other Apple devices, so the viewing experience follows the subscriber from screen to screen.</a:t>
            </a:r>
            <a:endParaRPr lang="en-US" sz="1400" dirty="0"/>
          </a:p>
        </p:txBody>
      </p:sp>
      <p:sp>
        <p:nvSpPr>
          <p:cNvPr id="8" name="Text 6"/>
          <p:cNvSpPr txBox="1"/>
          <p:nvPr/>
        </p:nvSpPr>
        <p:spPr>
          <a:xfrm>
            <a:off x="548640" y="374904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Our challenge</a:t>
            </a:r>
            <a:endParaRPr lang="en-US" sz="1500" dirty="0"/>
          </a:p>
        </p:txBody>
      </p:sp>
      <p:sp>
        <p:nvSpPr>
          <p:cNvPr id="9" name="Text 7"/>
          <p:cNvSpPr txBox="1"/>
          <p:nvPr/>
        </p:nvSpPr>
        <p:spPr>
          <a:xfrm>
            <a:off x="2286000" y="374904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Using data to improve recommendations without limiting creativity.</a:t>
            </a:r>
            <a:endParaRPr lang="en-US" sz="1400" dirty="0"/>
          </a:p>
        </p:txBody>
      </p:sp>
      <p:sp>
        <p:nvSpPr>
          <p:cNvPr id="10" name="Text 8"/>
          <p:cNvSpPr txBox="1"/>
          <p:nvPr/>
        </p:nvSpPr>
        <p:spPr>
          <a:xfrm>
            <a:off x="548640" y="493776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Why it matters</a:t>
            </a:r>
            <a:endParaRPr lang="en-US" sz="1500" dirty="0"/>
          </a:p>
        </p:txBody>
      </p:sp>
      <p:sp>
        <p:nvSpPr>
          <p:cNvPr id="11" name="Text 9"/>
          <p:cNvSpPr txBox="1"/>
          <p:nvPr/>
        </p:nvSpPr>
        <p:spPr>
          <a:xfrm>
            <a:off x="2286000" y="493776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Retention, competition with Netflix, Prime Video and Disney+, and the tension between creative and data-driven decisions inside the organisation.</a:t>
            </a:r>
            <a:endParaRPr lang="en-US" sz="1400" dirty="0"/>
          </a:p>
        </p:txBody>
      </p:sp>
      <p:sp>
        <p:nvSpPr>
          <p:cNvPr id="12" name="Shape 10"/>
          <p:cNvSpPr/>
          <p:nvPr/>
        </p:nvSpPr>
        <p:spPr>
          <a:xfrm>
            <a:off x="7772400" y="1371600"/>
            <a:ext cx="3840480" cy="4480560"/>
          </a:xfrm>
          <a:prstGeom prst="roundRect">
            <a:avLst>
              <a:gd name="adj" fmla="val 1905"/>
            </a:avLst>
          </a:prstGeom>
          <a:solidFill>
            <a:srgbClr val="F2F5FB"/>
          </a:solidFill>
          <a:ln w="12700">
            <a:solidFill>
              <a:srgbClr val="CADCFC"/>
            </a:solidFill>
            <a:prstDash val="solid"/>
          </a:ln>
        </p:spPr>
      </p:sp>
      <p:sp>
        <p:nvSpPr>
          <p:cNvPr id="13" name="Text 11"/>
          <p:cNvSpPr txBox="1"/>
          <p:nvPr/>
        </p:nvSpPr>
        <p:spPr>
          <a:xfrm>
            <a:off x="7955280" y="1645920"/>
            <a:ext cx="3474720" cy="1097280"/>
          </a:xfrm>
          <a:prstGeom prst="rect">
            <a:avLst/>
          </a:prstGeom>
          <a:noFill/>
          <a:ln/>
        </p:spPr>
        <p:txBody>
          <a:bodyPr wrap="square" lIns="0" tIns="0" rIns="0" bIns="0" rtlCol="0" anchor="ctr"/>
          <a:lstStyle/>
          <a:p>
            <a:pPr algn="ctr" indent="0" marL="0">
              <a:buNone/>
            </a:pPr>
            <a:r>
              <a:rPr lang="en-US" sz="6000" b="1" dirty="0">
                <a:solidFill>
                  <a:srgbClr val="1E2761"/>
                </a:solidFill>
                <a:latin typeface="Cambria" pitchFamily="34" charset="0"/>
                <a:ea typeface="Cambria" pitchFamily="34" charset="-122"/>
                <a:cs typeface="Cambria" pitchFamily="34" charset="-120"/>
              </a:rPr>
              <a:t>37.2%</a:t>
            </a:r>
            <a:endParaRPr lang="en-US" sz="6000" dirty="0"/>
          </a:p>
        </p:txBody>
      </p:sp>
      <p:sp>
        <p:nvSpPr>
          <p:cNvPr id="14" name="Text 12"/>
          <p:cNvSpPr txBox="1"/>
          <p:nvPr/>
        </p:nvSpPr>
        <p:spPr>
          <a:xfrm>
            <a:off x="8046720" y="2743200"/>
            <a:ext cx="3291840" cy="1554480"/>
          </a:xfrm>
          <a:prstGeom prst="rect">
            <a:avLst/>
          </a:prstGeom>
          <a:noFill/>
          <a:ln/>
        </p:spPr>
        <p:txBody>
          <a:bodyPr wrap="square" lIns="0" tIns="0" rIns="0" bIns="0" rtlCol="0" anchor="t"/>
          <a:lstStyle/>
          <a:p>
            <a:pPr algn="ctr" indent="0" marL="0">
              <a:buNone/>
            </a:pPr>
            <a:r>
              <a:rPr lang="en-US" sz="1400" dirty="0">
                <a:solidFill>
                  <a:srgbClr val="27314D"/>
                </a:solidFill>
                <a:latin typeface="Calibri" pitchFamily="34" charset="0"/>
                <a:ea typeface="Calibri" pitchFamily="34" charset="-122"/>
                <a:cs typeface="Calibri" pitchFamily="34" charset="-120"/>
              </a:rPr>
              <a:t>of Apple TV+ gross subscriber additions were returning subscribers who had cancelled within the prior 12 months, the highest serial-churn rate in the industry (Antenna, 2024)</a:t>
            </a:r>
            <a:endParaRPr lang="en-US" sz="1400" dirty="0"/>
          </a:p>
        </p:txBody>
      </p:sp>
      <p:sp>
        <p:nvSpPr>
          <p:cNvPr id="15" name="Text 13"/>
          <p:cNvSpPr txBox="1"/>
          <p:nvPr/>
        </p:nvSpPr>
        <p:spPr>
          <a:xfrm>
            <a:off x="8046720" y="4343400"/>
            <a:ext cx="3291840" cy="1371600"/>
          </a:xfrm>
          <a:prstGeom prst="rect">
            <a:avLst/>
          </a:prstGeom>
          <a:noFill/>
          <a:ln/>
        </p:spPr>
        <p:txBody>
          <a:bodyPr wrap="square" lIns="0" tIns="0" rIns="0" bIns="0" rtlCol="0" anchor="t"/>
          <a:lstStyle/>
          <a:p>
            <a:pPr algn="ctr" indent="0" marL="0">
              <a:buNone/>
            </a:pPr>
            <a:r>
              <a:rPr lang="en-US" sz="1200" i="1" dirty="0">
                <a:solidFill>
                  <a:srgbClr val="6B7590"/>
                </a:solidFill>
                <a:latin typeface="Calibri" pitchFamily="34" charset="0"/>
                <a:ea typeface="Calibri" pitchFamily="34" charset="-122"/>
                <a:cs typeface="Calibri" pitchFamily="34" charset="-120"/>
              </a:rPr>
              <a:t>Industry context: monthly churn across major US streaming services rose from 5.1% to 6.3% (Nov 2022 to Nov 2023). Retaining a subscriber costs less than acquiring one (Reichheld, 2003).</a:t>
            </a:r>
            <a:endParaRPr lang="en-US" sz="1200" dirty="0"/>
          </a:p>
        </p:txBody>
      </p:sp>
      <p:sp>
        <p:nvSpPr>
          <p:cNvPr id="16" name="Text 14"/>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Source: Antenna (2024); industry churn as reported by ABC News.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The Technology: A Recommendation Engine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4" name="Text 2"/>
          <p:cNvSpPr txBox="1"/>
          <p:nvPr/>
        </p:nvSpPr>
        <p:spPr>
          <a:xfrm>
            <a:off x="548640" y="1280160"/>
            <a:ext cx="11064240" cy="914400"/>
          </a:xfrm>
          <a:prstGeom prst="rect">
            <a:avLst/>
          </a:prstGeom>
          <a:noFill/>
          <a:ln/>
        </p:spPr>
        <p:txBody>
          <a:bodyPr wrap="square" lIns="0" tIns="0" rIns="0" bIns="0" rtlCol="0" anchor="t"/>
          <a:lstStyle/>
          <a:p>
            <a:pPr indent="0" marL="0">
              <a:buNone/>
            </a:pPr>
            <a:r>
              <a:rPr lang="en-US" sz="1600" dirty="0">
                <a:solidFill>
                  <a:srgbClr val="27314D"/>
                </a:solidFill>
                <a:latin typeface="Calibri" pitchFamily="34" charset="0"/>
                <a:ea typeface="Calibri" pitchFamily="34" charset="-122"/>
                <a:cs typeface="Calibri" pitchFamily="34" charset="-120"/>
              </a:rPr>
              <a:t>A machine-learning recommendation engine learns from what viewers do and predicts what each viewer will want to watch next. Recommender systems help people choose among many options by drawing on patterns in collective behaviour (Resnick and Varian, 1997).</a:t>
            </a:r>
            <a:endParaRPr lang="en-US" sz="1600" dirty="0"/>
          </a:p>
        </p:txBody>
      </p:sp>
      <p:sp>
        <p:nvSpPr>
          <p:cNvPr id="5" name="Shape 3"/>
          <p:cNvSpPr/>
          <p:nvPr/>
        </p:nvSpPr>
        <p:spPr>
          <a:xfrm>
            <a:off x="548640" y="2377440"/>
            <a:ext cx="3108960" cy="2103120"/>
          </a:xfrm>
          <a:prstGeom prst="roundRect">
            <a:avLst>
              <a:gd name="adj" fmla="val 3478"/>
            </a:avLst>
          </a:prstGeom>
          <a:solidFill>
            <a:srgbClr val="F2F5FB"/>
          </a:solidFill>
          <a:ln w="12700">
            <a:solidFill>
              <a:srgbClr val="CADCFC"/>
            </a:solidFill>
            <a:prstDash val="solid"/>
          </a:ln>
        </p:spPr>
      </p:sp>
      <p:sp>
        <p:nvSpPr>
          <p:cNvPr id="6" name="Text 4"/>
          <p:cNvSpPr txBox="1"/>
          <p:nvPr/>
        </p:nvSpPr>
        <p:spPr>
          <a:xfrm>
            <a:off x="731520" y="2514600"/>
            <a:ext cx="2743200" cy="411480"/>
          </a:xfrm>
          <a:prstGeom prst="rect">
            <a:avLst/>
          </a:prstGeom>
          <a:noFill/>
          <a:ln/>
        </p:spPr>
        <p:txBody>
          <a:bodyPr wrap="square" lIns="0" tIns="0" rIns="0" bIns="0" rtlCol="0" anchor="t"/>
          <a:lstStyle/>
          <a:p>
            <a:pPr indent="0" marL="0">
              <a:buNone/>
            </a:pPr>
            <a:r>
              <a:rPr lang="en-US" sz="1800" b="1" dirty="0">
                <a:solidFill>
                  <a:srgbClr val="27314D"/>
                </a:solidFill>
                <a:latin typeface="Cambria" pitchFamily="34" charset="0"/>
                <a:ea typeface="Cambria" pitchFamily="34" charset="-122"/>
                <a:cs typeface="Cambria" pitchFamily="34" charset="-120"/>
              </a:rPr>
              <a:t>Input</a:t>
            </a:r>
            <a:endParaRPr lang="en-US" sz="1800" dirty="0"/>
          </a:p>
        </p:txBody>
      </p:sp>
      <p:sp>
        <p:nvSpPr>
          <p:cNvPr id="7" name="Text 5"/>
          <p:cNvSpPr txBox="1"/>
          <p:nvPr/>
        </p:nvSpPr>
        <p:spPr>
          <a:xfrm>
            <a:off x="731520" y="3017520"/>
            <a:ext cx="2743200" cy="1371600"/>
          </a:xfrm>
          <a:prstGeom prst="rect">
            <a:avLst/>
          </a:prstGeom>
          <a:noFill/>
          <a:ln/>
        </p:spPr>
        <p:txBody>
          <a:bodyPr wrap="square" lIns="0" tIns="0" rIns="0" bIns="0" rtlCol="0" anchor="t"/>
          <a:lstStyle/>
          <a:p>
            <a:pPr indent="0" marL="0">
              <a:buNone/>
            </a:pPr>
            <a:r>
              <a:rPr lang="en-US" sz="1500" dirty="0">
                <a:solidFill>
                  <a:srgbClr val="27314D"/>
                </a:solidFill>
                <a:latin typeface="Calibri" pitchFamily="34" charset="0"/>
                <a:ea typeface="Calibri" pitchFamily="34" charset="-122"/>
                <a:cs typeface="Calibri" pitchFamily="34" charset="-120"/>
              </a:rPr>
              <a:t>Viewing history, searches, and behaviour signals such as pauses and rewinds</a:t>
            </a:r>
            <a:endParaRPr lang="en-US" sz="1500" dirty="0"/>
          </a:p>
        </p:txBody>
      </p:sp>
      <p:sp>
        <p:nvSpPr>
          <p:cNvPr id="8" name="Shape 6"/>
          <p:cNvSpPr/>
          <p:nvPr/>
        </p:nvSpPr>
        <p:spPr>
          <a:xfrm>
            <a:off x="3794760" y="3246120"/>
            <a:ext cx="640080" cy="365760"/>
          </a:xfrm>
          <a:prstGeom prst="rightArrow">
            <a:avLst/>
          </a:prstGeom>
          <a:solidFill>
            <a:srgbClr val="1E56A0"/>
          </a:solidFill>
          <a:ln w="12700">
            <a:solidFill>
              <a:srgbClr val="1E56A0"/>
            </a:solidFill>
            <a:prstDash val="solid"/>
          </a:ln>
        </p:spPr>
      </p:sp>
      <p:sp>
        <p:nvSpPr>
          <p:cNvPr id="9" name="Shape 7"/>
          <p:cNvSpPr/>
          <p:nvPr/>
        </p:nvSpPr>
        <p:spPr>
          <a:xfrm>
            <a:off x="4526280" y="2377440"/>
            <a:ext cx="3108960" cy="2103120"/>
          </a:xfrm>
          <a:prstGeom prst="roundRect">
            <a:avLst>
              <a:gd name="adj" fmla="val 3478"/>
            </a:avLst>
          </a:prstGeom>
          <a:solidFill>
            <a:srgbClr val="1E2761"/>
          </a:solidFill>
          <a:ln w="12700">
            <a:solidFill>
              <a:srgbClr val="1E2761"/>
            </a:solidFill>
            <a:prstDash val="solid"/>
          </a:ln>
        </p:spPr>
      </p:sp>
      <p:sp>
        <p:nvSpPr>
          <p:cNvPr id="10" name="Text 8"/>
          <p:cNvSpPr txBox="1"/>
          <p:nvPr/>
        </p:nvSpPr>
        <p:spPr>
          <a:xfrm>
            <a:off x="4709160" y="2514600"/>
            <a:ext cx="2743200" cy="41148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Process</a:t>
            </a:r>
            <a:endParaRPr lang="en-US" sz="1800" dirty="0"/>
          </a:p>
        </p:txBody>
      </p:sp>
      <p:sp>
        <p:nvSpPr>
          <p:cNvPr id="11" name="Text 9"/>
          <p:cNvSpPr txBox="1"/>
          <p:nvPr/>
        </p:nvSpPr>
        <p:spPr>
          <a:xfrm>
            <a:off x="4709160" y="3017520"/>
            <a:ext cx="2743200" cy="13716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Machine learning finds patterns and predicts what each viewer wants next</a:t>
            </a:r>
            <a:endParaRPr lang="en-US" sz="1500" dirty="0"/>
          </a:p>
        </p:txBody>
      </p:sp>
      <p:sp>
        <p:nvSpPr>
          <p:cNvPr id="12" name="Shape 10"/>
          <p:cNvSpPr/>
          <p:nvPr/>
        </p:nvSpPr>
        <p:spPr>
          <a:xfrm>
            <a:off x="7772400" y="3246120"/>
            <a:ext cx="640080" cy="365760"/>
          </a:xfrm>
          <a:prstGeom prst="rightArrow">
            <a:avLst/>
          </a:prstGeom>
          <a:solidFill>
            <a:srgbClr val="1E56A0"/>
          </a:solidFill>
          <a:ln w="12700">
            <a:solidFill>
              <a:srgbClr val="1E56A0"/>
            </a:solidFill>
            <a:prstDash val="solid"/>
          </a:ln>
        </p:spPr>
      </p:sp>
      <p:sp>
        <p:nvSpPr>
          <p:cNvPr id="13" name="Shape 11"/>
          <p:cNvSpPr/>
          <p:nvPr/>
        </p:nvSpPr>
        <p:spPr>
          <a:xfrm>
            <a:off x="8503920" y="2377440"/>
            <a:ext cx="3108960" cy="2103120"/>
          </a:xfrm>
          <a:prstGeom prst="roundRect">
            <a:avLst>
              <a:gd name="adj" fmla="val 3478"/>
            </a:avLst>
          </a:prstGeom>
          <a:solidFill>
            <a:srgbClr val="F2F5FB"/>
          </a:solidFill>
          <a:ln w="12700">
            <a:solidFill>
              <a:srgbClr val="CADCFC"/>
            </a:solidFill>
            <a:prstDash val="solid"/>
          </a:ln>
        </p:spPr>
      </p:sp>
      <p:sp>
        <p:nvSpPr>
          <p:cNvPr id="14" name="Text 12"/>
          <p:cNvSpPr txBox="1"/>
          <p:nvPr/>
        </p:nvSpPr>
        <p:spPr>
          <a:xfrm>
            <a:off x="8686800" y="2514600"/>
            <a:ext cx="2743200" cy="411480"/>
          </a:xfrm>
          <a:prstGeom prst="rect">
            <a:avLst/>
          </a:prstGeom>
          <a:noFill/>
          <a:ln/>
        </p:spPr>
        <p:txBody>
          <a:bodyPr wrap="square" lIns="0" tIns="0" rIns="0" bIns="0" rtlCol="0" anchor="t"/>
          <a:lstStyle/>
          <a:p>
            <a:pPr indent="0" marL="0">
              <a:buNone/>
            </a:pPr>
            <a:r>
              <a:rPr lang="en-US" sz="1800" b="1" dirty="0">
                <a:solidFill>
                  <a:srgbClr val="27314D"/>
                </a:solidFill>
                <a:latin typeface="Cambria" pitchFamily="34" charset="0"/>
                <a:ea typeface="Cambria" pitchFamily="34" charset="-122"/>
                <a:cs typeface="Cambria" pitchFamily="34" charset="-120"/>
              </a:rPr>
              <a:t>Output</a:t>
            </a:r>
            <a:endParaRPr lang="en-US" sz="1800" dirty="0"/>
          </a:p>
        </p:txBody>
      </p:sp>
      <p:sp>
        <p:nvSpPr>
          <p:cNvPr id="15" name="Text 13"/>
          <p:cNvSpPr txBox="1"/>
          <p:nvPr/>
        </p:nvSpPr>
        <p:spPr>
          <a:xfrm>
            <a:off x="8686800" y="3017520"/>
            <a:ext cx="2743200" cy="1371600"/>
          </a:xfrm>
          <a:prstGeom prst="rect">
            <a:avLst/>
          </a:prstGeom>
          <a:noFill/>
          <a:ln/>
        </p:spPr>
        <p:txBody>
          <a:bodyPr wrap="square" lIns="0" tIns="0" rIns="0" bIns="0" rtlCol="0" anchor="t"/>
          <a:lstStyle/>
          <a:p>
            <a:pPr indent="0" marL="0">
              <a:buNone/>
            </a:pPr>
            <a:r>
              <a:rPr lang="en-US" sz="1500" dirty="0">
                <a:solidFill>
                  <a:srgbClr val="27314D"/>
                </a:solidFill>
                <a:latin typeface="Calibri" pitchFamily="34" charset="0"/>
                <a:ea typeface="Calibri" pitchFamily="34" charset="-122"/>
                <a:cs typeface="Calibri" pitchFamily="34" charset="-120"/>
              </a:rPr>
              <a:t>A personalised home screen and “what to watch next” suggestions</a:t>
            </a:r>
            <a:endParaRPr lang="en-US" sz="1500" dirty="0"/>
          </a:p>
        </p:txBody>
      </p:sp>
      <p:sp>
        <p:nvSpPr>
          <p:cNvPr id="16" name="Text 14"/>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1: Input, process and output of a recommendation engine. Adapted from Resnick and Varian (1997) and Gomez-Uribe and Hunt (2015).</a:t>
            </a:r>
            <a:endParaRPr lang="en-US" sz="1100" dirty="0"/>
          </a:p>
        </p:txBody>
      </p:sp>
      <p:sp>
        <p:nvSpPr>
          <p:cNvPr id="17" name="Text 15"/>
          <p:cNvSpPr txBox="1"/>
          <p:nvPr/>
        </p:nvSpPr>
        <p:spPr>
          <a:xfrm>
            <a:off x="548640" y="4846320"/>
            <a:ext cx="11064240" cy="1280160"/>
          </a:xfrm>
          <a:prstGeom prst="rect">
            <a:avLst/>
          </a:prstGeom>
          <a:noFill/>
          <a:ln/>
        </p:spPr>
        <p:txBody>
          <a:bodyPr wrap="square" lIns="0" tIns="0" rIns="0" bIns="0" rtlCol="0" anchor="t"/>
          <a:lstStyle/>
          <a:p>
            <a:pPr indent="0" marL="0">
              <a:spcAft>
                <a:spcPts val="800"/>
              </a:spcAft>
              <a:buNone/>
            </a:pPr>
            <a:r>
              <a:rPr lang="en-US" sz="1500" b="1" dirty="0">
                <a:solidFill>
                  <a:srgbClr val="1E2761"/>
                </a:solidFill>
                <a:latin typeface="Calibri" pitchFamily="34" charset="0"/>
                <a:ea typeface="Calibri" pitchFamily="34" charset="-122"/>
                <a:cs typeface="Calibri" pitchFamily="34" charset="-120"/>
              </a:rPr>
              <a:t>Example: </a:t>
            </a:r>
            <a:pPr indent="0" marL="0">
              <a:spcAft>
                <a:spcPts val="800"/>
              </a:spcAft>
              <a:buNone/>
            </a:pPr>
            <a:r>
              <a:rPr lang="en-US" sz="1500" dirty="0">
                <a:solidFill>
                  <a:srgbClr val="27314D"/>
                </a:solidFill>
                <a:latin typeface="Calibri" pitchFamily="34" charset="0"/>
                <a:ea typeface="Calibri" pitchFamily="34" charset="-122"/>
                <a:cs typeface="Calibri" pitchFamily="34" charset="-120"/>
              </a:rPr>
              <a:t>Netflix personalises rows and titles for each member, and estimates the system is worth over $1 billion a year in retained subscribers (Gomez-Uribe and Hunt, 2015).</a:t>
            </a:r>
            <a:endParaRPr lang="en-US" sz="1500" dirty="0"/>
          </a:p>
          <a:p>
            <a:pPr indent="0" marL="0">
              <a:spcAft>
                <a:spcPts val="800"/>
              </a:spcAft>
              <a:buNone/>
            </a:pPr>
            <a:r>
              <a:rPr lang="en-US" sz="1500" b="1" dirty="0">
                <a:solidFill>
                  <a:srgbClr val="1E2761"/>
                </a:solidFill>
                <a:latin typeface="Calibri" pitchFamily="34" charset="0"/>
                <a:ea typeface="Calibri" pitchFamily="34" charset="-122"/>
                <a:cs typeface="Calibri" pitchFamily="34" charset="-120"/>
              </a:rPr>
              <a:t>Apple’s disclosure: </a:t>
            </a:r>
            <a:pPr indent="0" marL="0">
              <a:spcAft>
                <a:spcPts val="800"/>
              </a:spcAft>
              <a:buNone/>
            </a:pPr>
            <a:r>
              <a:rPr lang="en-US" sz="1500" dirty="0">
                <a:solidFill>
                  <a:srgbClr val="27314D"/>
                </a:solidFill>
                <a:latin typeface="Calibri" pitchFamily="34" charset="0"/>
                <a:ea typeface="Calibri" pitchFamily="34" charset="-122"/>
                <a:cs typeface="Calibri" pitchFamily="34" charset="-120"/>
              </a:rPr>
              <a:t>viewing and activity data is collected “to tailor features and offer personalised recommendations” (Apple Inc., 2025).</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How the Engine Addresses the Challenge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4" name="Text 2"/>
          <p:cNvSpPr txBox="1"/>
          <p:nvPr/>
        </p:nvSpPr>
        <p:spPr>
          <a:xfrm>
            <a:off x="548640" y="1371600"/>
            <a:ext cx="6035040" cy="36576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Matching at scale</a:t>
            </a:r>
            <a:endParaRPr lang="en-US" sz="1500" dirty="0"/>
          </a:p>
          <a:p>
            <a:pPr indent="0" marL="0">
              <a:buNone/>
            </a:pPr>
            <a:r>
              <a:rPr lang="en-US" sz="1500" dirty="0">
                <a:solidFill>
                  <a:srgbClr val="27314D"/>
                </a:solidFill>
                <a:latin typeface="Calibri" pitchFamily="34" charset="0"/>
                <a:ea typeface="Calibri" pitchFamily="34" charset="-122"/>
                <a:cs typeface="Calibri" pitchFamily="34" charset="-120"/>
              </a:rPr>
              <a:t>The engine matches a small, high-quality catalogue to millions of different viewers, so good original content is found rather than buried.</a:t>
            </a:r>
            <a:endParaRPr lang="en-US" sz="15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1E2761"/>
                </a:solidFill>
                <a:latin typeface="Calibri" pitchFamily="34" charset="0"/>
                <a:ea typeface="Calibri" pitchFamily="34" charset="-122"/>
                <a:cs typeface="Calibri" pitchFamily="34" charset="-120"/>
              </a:rPr>
              <a:t>Rivalry with Netflix, Prime Video and Disney+</a:t>
            </a:r>
            <a:endParaRPr lang="en-US" sz="1500" dirty="0"/>
          </a:p>
          <a:p>
            <a:pPr indent="0" marL="0">
              <a:buNone/>
            </a:pPr>
            <a:r>
              <a:rPr lang="en-US" sz="1500" dirty="0">
                <a:solidFill>
                  <a:srgbClr val="27314D"/>
                </a:solidFill>
                <a:latin typeface="Calibri" pitchFamily="34" charset="0"/>
                <a:ea typeface="Calibri" pitchFamily="34" charset="-122"/>
                <a:cs typeface="Calibri" pitchFamily="34" charset="-120"/>
              </a:rPr>
              <a:t>Better discovery raises the value of each subscription, but rivals run similar engines, so it protects position rather than creating a lead.</a:t>
            </a:r>
            <a:endParaRPr lang="en-US" sz="15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1E2761"/>
                </a:solidFill>
                <a:latin typeface="Calibri" pitchFamily="34" charset="0"/>
                <a:ea typeface="Calibri" pitchFamily="34" charset="-122"/>
                <a:cs typeface="Calibri" pitchFamily="34" charset="-120"/>
              </a:rPr>
              <a:t>Buyer switching power</a:t>
            </a:r>
            <a:endParaRPr lang="en-US" sz="1500" dirty="0"/>
          </a:p>
          <a:p>
            <a:pPr indent="0" marL="0">
              <a:buNone/>
            </a:pPr>
            <a:r>
              <a:rPr lang="en-US" sz="1500" dirty="0">
                <a:solidFill>
                  <a:srgbClr val="27314D"/>
                </a:solidFill>
                <a:latin typeface="Calibri" pitchFamily="34" charset="0"/>
                <a:ea typeface="Calibri" pitchFamily="34" charset="-122"/>
                <a:cs typeface="Calibri" pitchFamily="34" charset="-120"/>
              </a:rPr>
              <a:t>Switching costs are low. A profile that has learned a viewer’s taste adds a small cost to leaving.</a:t>
            </a:r>
            <a:endParaRPr lang="en-US" sz="15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F96167"/>
                </a:solidFill>
                <a:latin typeface="Calibri" pitchFamily="34" charset="0"/>
                <a:ea typeface="Calibri" pitchFamily="34" charset="-122"/>
                <a:cs typeface="Calibri" pitchFamily="34" charset="-120"/>
              </a:rPr>
              <a:t>The creativity side</a:t>
            </a:r>
            <a:endParaRPr lang="en-US" sz="1500" dirty="0"/>
          </a:p>
          <a:p>
            <a:pPr indent="0" marL="0">
              <a:buNone/>
            </a:pPr>
            <a:r>
              <a:rPr lang="en-US" sz="1500" dirty="0">
                <a:solidFill>
                  <a:srgbClr val="27314D"/>
                </a:solidFill>
                <a:latin typeface="Calibri" pitchFamily="34" charset="0"/>
                <a:ea typeface="Calibri" pitchFamily="34" charset="-122"/>
                <a:cs typeface="Calibri" pitchFamily="34" charset="-120"/>
              </a:rPr>
              <a:t>The engine can steer which content is promoted. This is where creative teams’ concern comes from.</a:t>
            </a:r>
            <a:endParaRPr lang="en-US" sz="1500" dirty="0"/>
          </a:p>
        </p:txBody>
      </p:sp>
      <p:sp>
        <p:nvSpPr>
          <p:cNvPr id="5" name="Shape 3"/>
          <p:cNvSpPr/>
          <p:nvPr/>
        </p:nvSpPr>
        <p:spPr>
          <a:xfrm>
            <a:off x="548640" y="5120640"/>
            <a:ext cx="1508760" cy="731520"/>
          </a:xfrm>
          <a:prstGeom prst="homePlate">
            <a:avLst/>
          </a:prstGeom>
          <a:solidFill>
            <a:srgbClr val="1E56A0"/>
          </a:solidFill>
          <a:ln w="12700">
            <a:solidFill>
              <a:srgbClr val="FFFFFF"/>
            </a:solidFill>
            <a:prstDash val="solid"/>
          </a:ln>
        </p:spPr>
      </p:sp>
      <p:sp>
        <p:nvSpPr>
          <p:cNvPr id="6" name="Text 4"/>
          <p:cNvSpPr txBox="1"/>
          <p:nvPr/>
        </p:nvSpPr>
        <p:spPr>
          <a:xfrm>
            <a:off x="621792"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Viewing data</a:t>
            </a:r>
            <a:endParaRPr lang="en-US" sz="1200" dirty="0"/>
          </a:p>
        </p:txBody>
      </p:sp>
      <p:sp>
        <p:nvSpPr>
          <p:cNvPr id="7" name="Shape 5"/>
          <p:cNvSpPr/>
          <p:nvPr/>
        </p:nvSpPr>
        <p:spPr>
          <a:xfrm>
            <a:off x="2084832" y="5120640"/>
            <a:ext cx="1508760" cy="731520"/>
          </a:xfrm>
          <a:prstGeom prst="homePlate">
            <a:avLst/>
          </a:prstGeom>
          <a:solidFill>
            <a:srgbClr val="1E2761"/>
          </a:solidFill>
          <a:ln w="12700">
            <a:solidFill>
              <a:srgbClr val="FFFFFF"/>
            </a:solidFill>
            <a:prstDash val="solid"/>
          </a:ln>
        </p:spPr>
      </p:sp>
      <p:sp>
        <p:nvSpPr>
          <p:cNvPr id="8" name="Text 6"/>
          <p:cNvSpPr txBox="1"/>
          <p:nvPr/>
        </p:nvSpPr>
        <p:spPr>
          <a:xfrm>
            <a:off x="2157984"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Recommendation engine</a:t>
            </a:r>
            <a:endParaRPr lang="en-US" sz="1200" dirty="0"/>
          </a:p>
        </p:txBody>
      </p:sp>
      <p:sp>
        <p:nvSpPr>
          <p:cNvPr id="9" name="Shape 7"/>
          <p:cNvSpPr/>
          <p:nvPr/>
        </p:nvSpPr>
        <p:spPr>
          <a:xfrm>
            <a:off x="3621024" y="5120640"/>
            <a:ext cx="1508760" cy="731520"/>
          </a:xfrm>
          <a:prstGeom prst="homePlate">
            <a:avLst/>
          </a:prstGeom>
          <a:solidFill>
            <a:srgbClr val="1E56A0"/>
          </a:solidFill>
          <a:ln w="12700">
            <a:solidFill>
              <a:srgbClr val="FFFFFF"/>
            </a:solidFill>
            <a:prstDash val="solid"/>
          </a:ln>
        </p:spPr>
      </p:sp>
      <p:sp>
        <p:nvSpPr>
          <p:cNvPr id="10" name="Text 8"/>
          <p:cNvSpPr txBox="1"/>
          <p:nvPr/>
        </p:nvSpPr>
        <p:spPr>
          <a:xfrm>
            <a:off x="3694176"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Tailored home screen</a:t>
            </a:r>
            <a:endParaRPr lang="en-US" sz="1200" dirty="0"/>
          </a:p>
        </p:txBody>
      </p:sp>
      <p:sp>
        <p:nvSpPr>
          <p:cNvPr id="11" name="Shape 9"/>
          <p:cNvSpPr/>
          <p:nvPr/>
        </p:nvSpPr>
        <p:spPr>
          <a:xfrm>
            <a:off x="5157216" y="5120640"/>
            <a:ext cx="1508760" cy="731520"/>
          </a:xfrm>
          <a:prstGeom prst="homePlate">
            <a:avLst/>
          </a:prstGeom>
          <a:solidFill>
            <a:srgbClr val="1E56A0"/>
          </a:solidFill>
          <a:ln w="12700">
            <a:solidFill>
              <a:srgbClr val="FFFFFF"/>
            </a:solidFill>
            <a:prstDash val="solid"/>
          </a:ln>
        </p:spPr>
      </p:sp>
      <p:sp>
        <p:nvSpPr>
          <p:cNvPr id="12" name="Text 10"/>
          <p:cNvSpPr txBox="1"/>
          <p:nvPr/>
        </p:nvSpPr>
        <p:spPr>
          <a:xfrm>
            <a:off x="5230368"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Retention vs rivals</a:t>
            </a:r>
            <a:endParaRPr lang="en-US" sz="1200" dirty="0"/>
          </a:p>
        </p:txBody>
      </p:sp>
      <p:sp>
        <p:nvSpPr>
          <p:cNvPr id="13" name="Shape 11"/>
          <p:cNvSpPr/>
          <p:nvPr/>
        </p:nvSpPr>
        <p:spPr>
          <a:xfrm>
            <a:off x="6949440" y="1371600"/>
            <a:ext cx="4663440" cy="4572000"/>
          </a:xfrm>
          <a:prstGeom prst="roundRect">
            <a:avLst>
              <a:gd name="adj" fmla="val 1600"/>
            </a:avLst>
          </a:prstGeom>
          <a:solidFill>
            <a:srgbClr val="F2F5FB"/>
          </a:solidFill>
          <a:ln w="12700">
            <a:solidFill>
              <a:srgbClr val="CADCFC"/>
            </a:solidFill>
            <a:prstDash val="solid"/>
          </a:ln>
        </p:spPr>
      </p:sp>
      <p:sp>
        <p:nvSpPr>
          <p:cNvPr id="14" name="Text 12"/>
          <p:cNvSpPr txBox="1"/>
          <p:nvPr/>
        </p:nvSpPr>
        <p:spPr>
          <a:xfrm>
            <a:off x="7132320" y="1463040"/>
            <a:ext cx="4297680" cy="365760"/>
          </a:xfrm>
          <a:prstGeom prst="rect">
            <a:avLst/>
          </a:prstGeom>
          <a:noFill/>
          <a:ln/>
        </p:spPr>
        <p:txBody>
          <a:bodyPr wrap="square" lIns="0" tIns="0" rIns="0" bIns="0" rtlCol="0" anchor="t"/>
          <a:lstStyle/>
          <a:p>
            <a:pPr algn="ctr" indent="0" marL="0">
              <a:buNone/>
            </a:pPr>
            <a:r>
              <a:rPr lang="en-US" sz="1500" b="1" dirty="0">
                <a:solidFill>
                  <a:srgbClr val="1E2761"/>
                </a:solidFill>
                <a:latin typeface="Calibri" pitchFamily="34" charset="0"/>
                <a:ea typeface="Calibri" pitchFamily="34" charset="-122"/>
                <a:cs typeface="Calibri" pitchFamily="34" charset="-120"/>
              </a:rPr>
              <a:t>Porter’s Five Forces</a:t>
            </a:r>
            <a:endParaRPr lang="en-US" sz="1500" dirty="0"/>
          </a:p>
        </p:txBody>
      </p:sp>
      <p:sp>
        <p:nvSpPr>
          <p:cNvPr id="15" name="Shape 13"/>
          <p:cNvSpPr/>
          <p:nvPr/>
        </p:nvSpPr>
        <p:spPr>
          <a:xfrm>
            <a:off x="8595360" y="2011680"/>
            <a:ext cx="1371600" cy="914400"/>
          </a:xfrm>
          <a:prstGeom prst="roundRect">
            <a:avLst>
              <a:gd name="adj" fmla="val 8000"/>
            </a:avLst>
          </a:prstGeom>
          <a:solidFill>
            <a:srgbClr val="FFFFFF"/>
          </a:solidFill>
          <a:ln w="12700">
            <a:solidFill>
              <a:srgbClr val="CADCFC"/>
            </a:solidFill>
            <a:prstDash val="solid"/>
          </a:ln>
        </p:spPr>
      </p:sp>
      <p:sp>
        <p:nvSpPr>
          <p:cNvPr id="16" name="Text 14"/>
          <p:cNvSpPr txBox="1"/>
          <p:nvPr/>
        </p:nvSpPr>
        <p:spPr>
          <a:xfrm>
            <a:off x="8641080" y="201168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New entrants</a:t>
            </a:r>
            <a:endParaRPr lang="en-US" sz="1200" dirty="0"/>
          </a:p>
        </p:txBody>
      </p:sp>
      <p:sp>
        <p:nvSpPr>
          <p:cNvPr id="17" name="Shape 15"/>
          <p:cNvSpPr/>
          <p:nvPr/>
        </p:nvSpPr>
        <p:spPr>
          <a:xfrm>
            <a:off x="7086600" y="3246120"/>
            <a:ext cx="1371600" cy="914400"/>
          </a:xfrm>
          <a:prstGeom prst="roundRect">
            <a:avLst>
              <a:gd name="adj" fmla="val 8000"/>
            </a:avLst>
          </a:prstGeom>
          <a:solidFill>
            <a:srgbClr val="FFFFFF"/>
          </a:solidFill>
          <a:ln w="12700">
            <a:solidFill>
              <a:srgbClr val="CADCFC"/>
            </a:solidFill>
            <a:prstDash val="solid"/>
          </a:ln>
        </p:spPr>
      </p:sp>
      <p:sp>
        <p:nvSpPr>
          <p:cNvPr id="18" name="Text 16"/>
          <p:cNvSpPr txBox="1"/>
          <p:nvPr/>
        </p:nvSpPr>
        <p:spPr>
          <a:xfrm>
            <a:off x="7132320" y="324612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Supplier power</a:t>
            </a:r>
            <a:endParaRPr lang="en-US" sz="1200" dirty="0"/>
          </a:p>
        </p:txBody>
      </p:sp>
      <p:sp>
        <p:nvSpPr>
          <p:cNvPr id="19" name="Shape 17"/>
          <p:cNvSpPr/>
          <p:nvPr/>
        </p:nvSpPr>
        <p:spPr>
          <a:xfrm>
            <a:off x="8595360" y="3246120"/>
            <a:ext cx="1371600" cy="914400"/>
          </a:xfrm>
          <a:prstGeom prst="roundRect">
            <a:avLst>
              <a:gd name="adj" fmla="val 8000"/>
            </a:avLst>
          </a:prstGeom>
          <a:solidFill>
            <a:srgbClr val="1E2761"/>
          </a:solidFill>
          <a:ln w="12700">
            <a:solidFill>
              <a:srgbClr val="1E2761"/>
            </a:solidFill>
            <a:prstDash val="solid"/>
          </a:ln>
        </p:spPr>
      </p:sp>
      <p:sp>
        <p:nvSpPr>
          <p:cNvPr id="20" name="Text 18"/>
          <p:cNvSpPr txBox="1"/>
          <p:nvPr/>
        </p:nvSpPr>
        <p:spPr>
          <a:xfrm>
            <a:off x="8641080" y="3246120"/>
            <a:ext cx="128016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Rivalry with Netflix, Prime, Disney+</a:t>
            </a:r>
            <a:endParaRPr lang="en-US" sz="1200" dirty="0"/>
          </a:p>
        </p:txBody>
      </p:sp>
      <p:sp>
        <p:nvSpPr>
          <p:cNvPr id="21" name="Shape 19"/>
          <p:cNvSpPr/>
          <p:nvPr/>
        </p:nvSpPr>
        <p:spPr>
          <a:xfrm>
            <a:off x="10104120" y="3246120"/>
            <a:ext cx="1371600" cy="914400"/>
          </a:xfrm>
          <a:prstGeom prst="roundRect">
            <a:avLst>
              <a:gd name="adj" fmla="val 8000"/>
            </a:avLst>
          </a:prstGeom>
          <a:solidFill>
            <a:srgbClr val="1E2761"/>
          </a:solidFill>
          <a:ln w="12700">
            <a:solidFill>
              <a:srgbClr val="1E2761"/>
            </a:solidFill>
            <a:prstDash val="solid"/>
          </a:ln>
        </p:spPr>
      </p:sp>
      <p:sp>
        <p:nvSpPr>
          <p:cNvPr id="22" name="Text 20"/>
          <p:cNvSpPr txBox="1"/>
          <p:nvPr/>
        </p:nvSpPr>
        <p:spPr>
          <a:xfrm>
            <a:off x="10149840" y="3246120"/>
            <a:ext cx="128016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Buyer power (switching)</a:t>
            </a:r>
            <a:endParaRPr lang="en-US" sz="1200" dirty="0"/>
          </a:p>
        </p:txBody>
      </p:sp>
      <p:sp>
        <p:nvSpPr>
          <p:cNvPr id="23" name="Shape 21"/>
          <p:cNvSpPr/>
          <p:nvPr/>
        </p:nvSpPr>
        <p:spPr>
          <a:xfrm>
            <a:off x="8595360" y="4480560"/>
            <a:ext cx="1371600" cy="914400"/>
          </a:xfrm>
          <a:prstGeom prst="roundRect">
            <a:avLst>
              <a:gd name="adj" fmla="val 8000"/>
            </a:avLst>
          </a:prstGeom>
          <a:solidFill>
            <a:srgbClr val="FFFFFF"/>
          </a:solidFill>
          <a:ln w="12700">
            <a:solidFill>
              <a:srgbClr val="CADCFC"/>
            </a:solidFill>
            <a:prstDash val="solid"/>
          </a:ln>
        </p:spPr>
      </p:sp>
      <p:sp>
        <p:nvSpPr>
          <p:cNvPr id="24" name="Text 22"/>
          <p:cNvSpPr txBox="1"/>
          <p:nvPr/>
        </p:nvSpPr>
        <p:spPr>
          <a:xfrm>
            <a:off x="8641080" y="448056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Substitutes</a:t>
            </a:r>
            <a:endParaRPr lang="en-US" sz="1200" dirty="0"/>
          </a:p>
        </p:txBody>
      </p:sp>
      <p:sp>
        <p:nvSpPr>
          <p:cNvPr id="25" name="Text 23"/>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2: Porter’s Five Forces (adapted from Porter, 2008). Highlighted forces are the two the recommender changes most.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Benefits and Limitations of Personalisation</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4" name="Shape 2"/>
          <p:cNvSpPr/>
          <p:nvPr/>
        </p:nvSpPr>
        <p:spPr>
          <a:xfrm>
            <a:off x="548640" y="1371600"/>
            <a:ext cx="5394960" cy="411480"/>
          </a:xfrm>
          <a:prstGeom prst="rect">
            <a:avLst/>
          </a:prstGeom>
          <a:solidFill>
            <a:srgbClr val="1E56A0"/>
          </a:solidFill>
          <a:ln w="12700">
            <a:solidFill>
              <a:srgbClr val="1E56A0"/>
            </a:solidFill>
            <a:prstDash val="solid"/>
          </a:ln>
        </p:spPr>
      </p:sp>
      <p:sp>
        <p:nvSpPr>
          <p:cNvPr id="5" name="Text 3"/>
          <p:cNvSpPr txBox="1"/>
          <p:nvPr/>
        </p:nvSpPr>
        <p:spPr>
          <a:xfrm>
            <a:off x="685800" y="1371600"/>
            <a:ext cx="5120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Benefits</a:t>
            </a:r>
            <a:endParaRPr lang="en-US" sz="1500" dirty="0"/>
          </a:p>
        </p:txBody>
      </p:sp>
      <p:sp>
        <p:nvSpPr>
          <p:cNvPr id="6" name="Shape 4"/>
          <p:cNvSpPr/>
          <p:nvPr/>
        </p:nvSpPr>
        <p:spPr>
          <a:xfrm>
            <a:off x="548640" y="1828800"/>
            <a:ext cx="5394960" cy="914400"/>
          </a:xfrm>
          <a:prstGeom prst="rect">
            <a:avLst/>
          </a:prstGeom>
          <a:solidFill>
            <a:srgbClr val="F2F5FB"/>
          </a:solidFill>
          <a:ln w="9525">
            <a:solidFill>
              <a:srgbClr val="CADCFC"/>
            </a:solidFill>
            <a:prstDash val="solid"/>
          </a:ln>
        </p:spPr>
      </p:sp>
      <p:sp>
        <p:nvSpPr>
          <p:cNvPr id="7" name="Text 5"/>
          <p:cNvSpPr txBox="1"/>
          <p:nvPr/>
        </p:nvSpPr>
        <p:spPr>
          <a:xfrm>
            <a:off x="685800" y="1874520"/>
            <a:ext cx="5120640" cy="8229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Discovery. </a:t>
            </a:r>
            <a:pPr indent="0" marL="0">
              <a:buNone/>
            </a:pPr>
            <a:r>
              <a:rPr lang="en-US" sz="1250" dirty="0">
                <a:solidFill>
                  <a:srgbClr val="27314D"/>
                </a:solidFill>
                <a:latin typeface="Calibri" pitchFamily="34" charset="0"/>
                <a:ea typeface="Calibri" pitchFamily="34" charset="-122"/>
                <a:cs typeface="Calibri" pitchFamily="34" charset="-120"/>
              </a:rPr>
              <a:t>Poor discovery costs subscribers: 49% of viewers say they are likely to cancel if they cannot find something to watch (Gracenote, 2025).</a:t>
            </a:r>
            <a:endParaRPr lang="en-US" sz="1250" dirty="0"/>
          </a:p>
        </p:txBody>
      </p:sp>
      <p:sp>
        <p:nvSpPr>
          <p:cNvPr id="8" name="Shape 6"/>
          <p:cNvSpPr/>
          <p:nvPr/>
        </p:nvSpPr>
        <p:spPr>
          <a:xfrm>
            <a:off x="548640" y="2743200"/>
            <a:ext cx="5394960" cy="914400"/>
          </a:xfrm>
          <a:prstGeom prst="rect">
            <a:avLst/>
          </a:prstGeom>
          <a:solidFill>
            <a:srgbClr val="FFFFFF"/>
          </a:solidFill>
          <a:ln w="9525">
            <a:solidFill>
              <a:srgbClr val="CADCFC"/>
            </a:solidFill>
            <a:prstDash val="solid"/>
          </a:ln>
        </p:spPr>
      </p:sp>
      <p:sp>
        <p:nvSpPr>
          <p:cNvPr id="9" name="Text 7"/>
          <p:cNvSpPr txBox="1"/>
          <p:nvPr/>
        </p:nvSpPr>
        <p:spPr>
          <a:xfrm>
            <a:off x="685800" y="2788920"/>
            <a:ext cx="5120640" cy="8229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Engagement. </a:t>
            </a:r>
            <a:pPr indent="0" marL="0">
              <a:buNone/>
            </a:pPr>
            <a:r>
              <a:rPr lang="en-US" sz="1250" dirty="0">
                <a:solidFill>
                  <a:srgbClr val="27314D"/>
                </a:solidFill>
                <a:latin typeface="Calibri" pitchFamily="34" charset="0"/>
                <a:ea typeface="Calibri" pitchFamily="34" charset="-122"/>
                <a:cs typeface="Calibri" pitchFamily="34" charset="-120"/>
              </a:rPr>
              <a:t>Personalised rows and titles increase viewing and use of the service (Gomez-Uribe and Hunt, 2015).</a:t>
            </a:r>
            <a:endParaRPr lang="en-US" sz="1250" dirty="0"/>
          </a:p>
        </p:txBody>
      </p:sp>
      <p:sp>
        <p:nvSpPr>
          <p:cNvPr id="10" name="Shape 8"/>
          <p:cNvSpPr/>
          <p:nvPr/>
        </p:nvSpPr>
        <p:spPr>
          <a:xfrm>
            <a:off x="548640" y="3657600"/>
            <a:ext cx="5394960" cy="1097280"/>
          </a:xfrm>
          <a:prstGeom prst="rect">
            <a:avLst/>
          </a:prstGeom>
          <a:solidFill>
            <a:srgbClr val="F2F5FB"/>
          </a:solidFill>
          <a:ln w="9525">
            <a:solidFill>
              <a:srgbClr val="CADCFC"/>
            </a:solidFill>
            <a:prstDash val="solid"/>
          </a:ln>
        </p:spPr>
      </p:sp>
      <p:sp>
        <p:nvSpPr>
          <p:cNvPr id="11" name="Text 9"/>
          <p:cNvSpPr txBox="1"/>
          <p:nvPr/>
        </p:nvSpPr>
        <p:spPr>
          <a:xfrm>
            <a:off x="685800" y="3703320"/>
            <a:ext cx="5120640" cy="100584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Retention. </a:t>
            </a:r>
            <a:pPr indent="0" marL="0">
              <a:buNone/>
            </a:pPr>
            <a:r>
              <a:rPr lang="en-US" sz="1250" dirty="0">
                <a:solidFill>
                  <a:srgbClr val="27314D"/>
                </a:solidFill>
                <a:latin typeface="Calibri" pitchFamily="34" charset="0"/>
                <a:ea typeface="Calibri" pitchFamily="34" charset="-122"/>
                <a:cs typeface="Calibri" pitchFamily="34" charset="-120"/>
              </a:rPr>
              <a:t>Better discovery reduces cancellations; Netflix values its recommender at over $1bn a year (Gomez-Uribe and Hunt, 2015; Reichheld, 2003).</a:t>
            </a:r>
            <a:endParaRPr lang="en-US" sz="1250" dirty="0"/>
          </a:p>
        </p:txBody>
      </p:sp>
      <p:sp>
        <p:nvSpPr>
          <p:cNvPr id="12" name="Shape 10"/>
          <p:cNvSpPr/>
          <p:nvPr/>
        </p:nvSpPr>
        <p:spPr>
          <a:xfrm>
            <a:off x="6217920" y="1371600"/>
            <a:ext cx="5394960" cy="411480"/>
          </a:xfrm>
          <a:prstGeom prst="rect">
            <a:avLst/>
          </a:prstGeom>
          <a:solidFill>
            <a:srgbClr val="F96167"/>
          </a:solidFill>
          <a:ln w="12700">
            <a:solidFill>
              <a:srgbClr val="F96167"/>
            </a:solidFill>
            <a:prstDash val="solid"/>
          </a:ln>
        </p:spPr>
      </p:sp>
      <p:sp>
        <p:nvSpPr>
          <p:cNvPr id="13" name="Text 11"/>
          <p:cNvSpPr txBox="1"/>
          <p:nvPr/>
        </p:nvSpPr>
        <p:spPr>
          <a:xfrm>
            <a:off x="6355080" y="1371600"/>
            <a:ext cx="5120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Limitations</a:t>
            </a:r>
            <a:endParaRPr lang="en-US" sz="1500" dirty="0"/>
          </a:p>
        </p:txBody>
      </p:sp>
      <p:sp>
        <p:nvSpPr>
          <p:cNvPr id="14" name="Shape 12"/>
          <p:cNvSpPr/>
          <p:nvPr/>
        </p:nvSpPr>
        <p:spPr>
          <a:xfrm>
            <a:off x="6217920" y="1828800"/>
            <a:ext cx="5394960" cy="676656"/>
          </a:xfrm>
          <a:prstGeom prst="rect">
            <a:avLst/>
          </a:prstGeom>
          <a:solidFill>
            <a:srgbClr val="F2F5FB"/>
          </a:solidFill>
          <a:ln w="9525">
            <a:solidFill>
              <a:srgbClr val="CADCFC"/>
            </a:solidFill>
            <a:prstDash val="solid"/>
          </a:ln>
        </p:spPr>
      </p:sp>
      <p:sp>
        <p:nvSpPr>
          <p:cNvPr id="15" name="Text 13"/>
          <p:cNvSpPr txBox="1"/>
          <p:nvPr/>
        </p:nvSpPr>
        <p:spPr>
          <a:xfrm>
            <a:off x="6355080" y="1874520"/>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Narrowing. </a:t>
            </a:r>
            <a:pPr indent="0" marL="0">
              <a:buNone/>
            </a:pPr>
            <a:r>
              <a:rPr lang="en-US" sz="1250" dirty="0">
                <a:solidFill>
                  <a:srgbClr val="27314D"/>
                </a:solidFill>
                <a:latin typeface="Calibri" pitchFamily="34" charset="0"/>
                <a:ea typeface="Calibri" pitchFamily="34" charset="-122"/>
                <a:cs typeface="Calibri" pitchFamily="34" charset="-120"/>
              </a:rPr>
              <a:t>Models reinforce past viewing and narrow what is shown (Ricci, Rokach and Shapira, 2015).</a:t>
            </a:r>
            <a:endParaRPr lang="en-US" sz="1250" dirty="0"/>
          </a:p>
        </p:txBody>
      </p:sp>
      <p:sp>
        <p:nvSpPr>
          <p:cNvPr id="16" name="Shape 14"/>
          <p:cNvSpPr/>
          <p:nvPr/>
        </p:nvSpPr>
        <p:spPr>
          <a:xfrm>
            <a:off x="6217920" y="2505456"/>
            <a:ext cx="5394960" cy="676656"/>
          </a:xfrm>
          <a:prstGeom prst="rect">
            <a:avLst/>
          </a:prstGeom>
          <a:solidFill>
            <a:srgbClr val="FFFFFF"/>
          </a:solidFill>
          <a:ln w="9525">
            <a:solidFill>
              <a:srgbClr val="CADCFC"/>
            </a:solidFill>
            <a:prstDash val="solid"/>
          </a:ln>
        </p:spPr>
      </p:sp>
      <p:sp>
        <p:nvSpPr>
          <p:cNvPr id="17" name="Text 15"/>
          <p:cNvSpPr txBox="1"/>
          <p:nvPr/>
        </p:nvSpPr>
        <p:spPr>
          <a:xfrm>
            <a:off x="6355080" y="2551176"/>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Less diversity. </a:t>
            </a:r>
            <a:pPr indent="0" marL="0">
              <a:buNone/>
            </a:pPr>
            <a:r>
              <a:rPr lang="en-US" sz="1250" dirty="0">
                <a:solidFill>
                  <a:srgbClr val="27314D"/>
                </a:solidFill>
                <a:latin typeface="Calibri" pitchFamily="34" charset="0"/>
                <a:ea typeface="Calibri" pitchFamily="34" charset="-122"/>
                <a:cs typeface="Calibri" pitchFamily="34" charset="-120"/>
              </a:rPr>
              <a:t>Personalised feeds can reduce exposure to varied content (Helberger, 2019).</a:t>
            </a:r>
            <a:endParaRPr lang="en-US" sz="1250" dirty="0"/>
          </a:p>
        </p:txBody>
      </p:sp>
      <p:sp>
        <p:nvSpPr>
          <p:cNvPr id="18" name="Shape 16"/>
          <p:cNvSpPr/>
          <p:nvPr/>
        </p:nvSpPr>
        <p:spPr>
          <a:xfrm>
            <a:off x="6217920" y="3182112"/>
            <a:ext cx="5394960" cy="676656"/>
          </a:xfrm>
          <a:prstGeom prst="rect">
            <a:avLst/>
          </a:prstGeom>
          <a:solidFill>
            <a:srgbClr val="F2F5FB"/>
          </a:solidFill>
          <a:ln w="9525">
            <a:solidFill>
              <a:srgbClr val="CADCFC"/>
            </a:solidFill>
            <a:prstDash val="solid"/>
          </a:ln>
        </p:spPr>
      </p:sp>
      <p:sp>
        <p:nvSpPr>
          <p:cNvPr id="19" name="Text 17"/>
          <p:cNvSpPr txBox="1"/>
          <p:nvPr/>
        </p:nvSpPr>
        <p:spPr>
          <a:xfrm>
            <a:off x="6355080" y="3227832"/>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Creative originality. </a:t>
            </a:r>
            <a:pPr indent="0" marL="0">
              <a:buNone/>
            </a:pPr>
            <a:r>
              <a:rPr lang="en-US" sz="1250" dirty="0">
                <a:solidFill>
                  <a:srgbClr val="27314D"/>
                </a:solidFill>
                <a:latin typeface="Calibri" pitchFamily="34" charset="0"/>
                <a:ea typeface="Calibri" pitchFamily="34" charset="-122"/>
                <a:cs typeface="Calibri" pitchFamily="34" charset="-120"/>
              </a:rPr>
              <a:t>Data-led promotion can favour familiar formats over new ideas (Napoli, 2014).</a:t>
            </a:r>
            <a:endParaRPr lang="en-US" sz="1250" dirty="0"/>
          </a:p>
        </p:txBody>
      </p:sp>
      <p:sp>
        <p:nvSpPr>
          <p:cNvPr id="20" name="Shape 18"/>
          <p:cNvSpPr/>
          <p:nvPr/>
        </p:nvSpPr>
        <p:spPr>
          <a:xfrm>
            <a:off x="6217920" y="3858768"/>
            <a:ext cx="5394960" cy="676656"/>
          </a:xfrm>
          <a:prstGeom prst="rect">
            <a:avLst/>
          </a:prstGeom>
          <a:solidFill>
            <a:srgbClr val="FFFFFF"/>
          </a:solidFill>
          <a:ln w="9525">
            <a:solidFill>
              <a:srgbClr val="CADCFC"/>
            </a:solidFill>
            <a:prstDash val="solid"/>
          </a:ln>
        </p:spPr>
      </p:sp>
      <p:sp>
        <p:nvSpPr>
          <p:cNvPr id="21" name="Text 19"/>
          <p:cNvSpPr txBox="1"/>
          <p:nvPr/>
        </p:nvSpPr>
        <p:spPr>
          <a:xfrm>
            <a:off x="6355080" y="3904488"/>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Data quality. </a:t>
            </a:r>
            <a:pPr indent="0" marL="0">
              <a:buNone/>
            </a:pPr>
            <a:r>
              <a:rPr lang="en-US" sz="1250" dirty="0">
                <a:solidFill>
                  <a:srgbClr val="27314D"/>
                </a:solidFill>
                <a:latin typeface="Calibri" pitchFamily="34" charset="0"/>
                <a:ea typeface="Calibri" pitchFamily="34" charset="-122"/>
                <a:cs typeface="Calibri" pitchFamily="34" charset="-120"/>
              </a:rPr>
              <a:t>Output is only as good as the data and signals behind it (Ricci et al., 2015).</a:t>
            </a:r>
            <a:endParaRPr lang="en-US" sz="1250" dirty="0"/>
          </a:p>
        </p:txBody>
      </p:sp>
      <p:sp>
        <p:nvSpPr>
          <p:cNvPr id="22" name="Shape 20"/>
          <p:cNvSpPr/>
          <p:nvPr/>
        </p:nvSpPr>
        <p:spPr>
          <a:xfrm>
            <a:off x="6217920" y="4535424"/>
            <a:ext cx="5394960" cy="676656"/>
          </a:xfrm>
          <a:prstGeom prst="rect">
            <a:avLst/>
          </a:prstGeom>
          <a:solidFill>
            <a:srgbClr val="F2F5FB"/>
          </a:solidFill>
          <a:ln w="9525">
            <a:solidFill>
              <a:srgbClr val="CADCFC"/>
            </a:solidFill>
            <a:prstDash val="solid"/>
          </a:ln>
        </p:spPr>
      </p:sp>
      <p:sp>
        <p:nvSpPr>
          <p:cNvPr id="23" name="Text 21"/>
          <p:cNvSpPr txBox="1"/>
          <p:nvPr/>
        </p:nvSpPr>
        <p:spPr>
          <a:xfrm>
            <a:off x="6355080" y="4581144"/>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Privacy and governance. </a:t>
            </a:r>
            <a:pPr indent="0" marL="0">
              <a:buNone/>
            </a:pPr>
            <a:r>
              <a:rPr lang="en-US" sz="1250" dirty="0">
                <a:solidFill>
                  <a:srgbClr val="27314D"/>
                </a:solidFill>
                <a:latin typeface="Calibri" pitchFamily="34" charset="0"/>
                <a:ea typeface="Calibri" pitchFamily="34" charset="-122"/>
                <a:cs typeface="Calibri" pitchFamily="34" charset="-120"/>
              </a:rPr>
              <a:t>Scaling AI adds privacy risk, governance demands and algorithmic bias that limits content diversity (Mokoena and Obagbuwa, 2025).</a:t>
            </a:r>
            <a:endParaRPr lang="en-US" sz="1250" dirty="0"/>
          </a:p>
        </p:txBody>
      </p:sp>
      <p:sp>
        <p:nvSpPr>
          <p:cNvPr id="24" name="Text 22"/>
          <p:cNvSpPr txBox="1"/>
          <p:nvPr/>
        </p:nvSpPr>
        <p:spPr>
          <a:xfrm>
            <a:off x="548640" y="5349240"/>
            <a:ext cx="11064240" cy="868680"/>
          </a:xfrm>
          <a:prstGeom prst="rect">
            <a:avLst/>
          </a:prstGeom>
          <a:noFill/>
          <a:ln/>
        </p:spPr>
        <p:txBody>
          <a:bodyPr wrap="square" lIns="0" tIns="0" rIns="0" bIns="0" rtlCol="0" anchor="t"/>
          <a:lstStyle/>
          <a:p>
            <a:pPr indent="0" marL="0">
              <a:spcAft>
                <a:spcPts val="400"/>
              </a:spcAft>
              <a:buNone/>
            </a:pPr>
            <a:r>
              <a:rPr lang="en-US" sz="1300" b="1" dirty="0">
                <a:solidFill>
                  <a:srgbClr val="1E2761"/>
                </a:solidFill>
                <a:latin typeface="Calibri" pitchFamily="34" charset="0"/>
                <a:ea typeface="Calibri" pitchFamily="34" charset="-122"/>
                <a:cs typeface="Calibri" pitchFamily="34" charset="-120"/>
              </a:rPr>
              <a:t>Matters most for Apple TV+: </a:t>
            </a:r>
            <a:pPr indent="0" marL="0">
              <a:spcAft>
                <a:spcPts val="400"/>
              </a:spcAft>
              <a:buNone/>
            </a:pPr>
            <a:r>
              <a:rPr lang="en-US" sz="1300" dirty="0">
                <a:solidFill>
                  <a:srgbClr val="27314D"/>
                </a:solidFill>
                <a:latin typeface="Calibri" pitchFamily="34" charset="0"/>
                <a:ea typeface="Calibri" pitchFamily="34" charset="-122"/>
                <a:cs typeface="Calibri" pitchFamily="34" charset="-120"/>
              </a:rPr>
              <a:t>discovery (benefit), because a small catalogue of original shows only pays off if each is found; and creative originality (limitation), because Apple competes on quality. Personalisation is necessary but not sufficient: its benefits depend on managing these limits.</a:t>
            </a:r>
            <a:endParaRPr lang="en-US" sz="1300" dirty="0"/>
          </a:p>
        </p:txBody>
      </p:sp>
      <p:sp>
        <p:nvSpPr>
          <p:cNvPr id="25" name="Text 23"/>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Table 1: Benefits and limitations of personalisation. Sources as cited in each row.</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Impact on Creative Teams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2</a:t>
            </a:r>
            <a:endParaRPr lang="en-US" sz="1100" dirty="0"/>
          </a:p>
        </p:txBody>
      </p:sp>
      <p:sp>
        <p:nvSpPr>
          <p:cNvPr id="4" name="Text 2"/>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400" i="1" dirty="0">
                <a:solidFill>
                  <a:srgbClr val="1E56A0"/>
                </a:solidFill>
                <a:latin typeface="Calibri" pitchFamily="34" charset="0"/>
                <a:ea typeface="Calibri" pitchFamily="34" charset="-122"/>
                <a:cs typeface="Calibri" pitchFamily="34" charset="-120"/>
              </a:rPr>
              <a:t>Personalisation at this scale does not only change what customers see; it also changes how creative teams decide what gets made.</a:t>
            </a:r>
            <a:endParaRPr lang="en-US" sz="1400" dirty="0"/>
          </a:p>
        </p:txBody>
      </p:sp>
      <p:sp>
        <p:nvSpPr>
          <p:cNvPr id="5" name="Shape 3"/>
          <p:cNvSpPr/>
          <p:nvPr/>
        </p:nvSpPr>
        <p:spPr>
          <a:xfrm>
            <a:off x="548640" y="1600200"/>
            <a:ext cx="3291840" cy="3611880"/>
          </a:xfrm>
          <a:prstGeom prst="roundRect">
            <a:avLst>
              <a:gd name="adj" fmla="val 2222"/>
            </a:avLst>
          </a:prstGeom>
          <a:solidFill>
            <a:srgbClr val="1E2761"/>
          </a:solidFill>
          <a:ln w="12700">
            <a:solidFill>
              <a:srgbClr val="1E2761"/>
            </a:solidFill>
            <a:prstDash val="solid"/>
          </a:ln>
        </p:spPr>
      </p:sp>
      <p:sp>
        <p:nvSpPr>
          <p:cNvPr id="6" name="Text 4"/>
          <p:cNvSpPr txBox="1"/>
          <p:nvPr/>
        </p:nvSpPr>
        <p:spPr>
          <a:xfrm>
            <a:off x="731520" y="1737360"/>
            <a:ext cx="2926080" cy="457200"/>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Creative teams</a:t>
            </a:r>
            <a:endParaRPr lang="en-US" sz="2000" dirty="0"/>
          </a:p>
        </p:txBody>
      </p:sp>
      <p:sp>
        <p:nvSpPr>
          <p:cNvPr id="7" name="Text 5"/>
          <p:cNvSpPr txBox="1"/>
          <p:nvPr/>
        </p:nvSpPr>
        <p:spPr>
          <a:xfrm>
            <a:off x="731520" y="2286000"/>
            <a:ext cx="2926080" cy="27432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Writers, producers and content developers</a:t>
            </a:r>
            <a:endParaRPr lang="en-US" sz="1500" dirty="0"/>
          </a:p>
          <a:p>
            <a:pPr indent="0" marL="0">
              <a:buNone/>
            </a:pPr>
            <a:r>
              <a:rPr lang="en-US" sz="800" dirty="0">
                <a:solidFill>
                  <a:srgbClr val="FFFFFF"/>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Concern: too much reliance on data could affect originality.</a:t>
            </a:r>
            <a:endParaRPr lang="en-US" sz="1500" dirty="0"/>
          </a:p>
        </p:txBody>
      </p:sp>
      <p:sp>
        <p:nvSpPr>
          <p:cNvPr id="8" name="Shape 6"/>
          <p:cNvSpPr/>
          <p:nvPr/>
        </p:nvSpPr>
        <p:spPr>
          <a:xfrm>
            <a:off x="4114800" y="1600200"/>
            <a:ext cx="2423160" cy="3611880"/>
          </a:xfrm>
          <a:prstGeom prst="roundRect">
            <a:avLst>
              <a:gd name="adj" fmla="val 3019"/>
            </a:avLst>
          </a:prstGeom>
          <a:solidFill>
            <a:srgbClr val="F2F5FB"/>
          </a:solidFill>
          <a:ln w="12700">
            <a:solidFill>
              <a:srgbClr val="CADCFC"/>
            </a:solidFill>
            <a:prstDash val="solid"/>
          </a:ln>
        </p:spPr>
      </p:sp>
      <p:sp>
        <p:nvSpPr>
          <p:cNvPr id="9" name="Text 7"/>
          <p:cNvSpPr txBox="1"/>
          <p:nvPr/>
        </p:nvSpPr>
        <p:spPr>
          <a:xfrm>
            <a:off x="425196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Structure</a:t>
            </a:r>
            <a:endParaRPr lang="en-US" sz="1800" dirty="0"/>
          </a:p>
        </p:txBody>
      </p:sp>
      <p:sp>
        <p:nvSpPr>
          <p:cNvPr id="10" name="Text 8"/>
          <p:cNvSpPr txBox="1"/>
          <p:nvPr/>
        </p:nvSpPr>
        <p:spPr>
          <a:xfrm>
            <a:off x="425196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Who decides what gets made. Data insight must inform, not replace, the commissioning executives’ and creators’ judgement.</a:t>
            </a:r>
            <a:endParaRPr lang="en-US" sz="1400" dirty="0"/>
          </a:p>
        </p:txBody>
      </p:sp>
      <p:sp>
        <p:nvSpPr>
          <p:cNvPr id="11" name="Shape 9"/>
          <p:cNvSpPr/>
          <p:nvPr/>
        </p:nvSpPr>
        <p:spPr>
          <a:xfrm>
            <a:off x="6675120" y="1600200"/>
            <a:ext cx="2423160" cy="3611880"/>
          </a:xfrm>
          <a:prstGeom prst="roundRect">
            <a:avLst>
              <a:gd name="adj" fmla="val 3019"/>
            </a:avLst>
          </a:prstGeom>
          <a:solidFill>
            <a:srgbClr val="F2F5FB"/>
          </a:solidFill>
          <a:ln w="12700">
            <a:solidFill>
              <a:srgbClr val="CADCFC"/>
            </a:solidFill>
            <a:prstDash val="solid"/>
          </a:ln>
        </p:spPr>
      </p:sp>
      <p:sp>
        <p:nvSpPr>
          <p:cNvPr id="12" name="Text 10"/>
          <p:cNvSpPr txBox="1"/>
          <p:nvPr/>
        </p:nvSpPr>
        <p:spPr>
          <a:xfrm>
            <a:off x="681228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Culture</a:t>
            </a:r>
            <a:endParaRPr lang="en-US" sz="1800" dirty="0"/>
          </a:p>
        </p:txBody>
      </p:sp>
      <p:sp>
        <p:nvSpPr>
          <p:cNvPr id="13" name="Text 11"/>
          <p:cNvSpPr txBox="1"/>
          <p:nvPr/>
        </p:nvSpPr>
        <p:spPr>
          <a:xfrm>
            <a:off x="681228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Creative autonomy versus data-driven decisions. Teams need to see data as a tool, not a verdict (Napoli, 2014).</a:t>
            </a:r>
            <a:endParaRPr lang="en-US" sz="1400" dirty="0"/>
          </a:p>
        </p:txBody>
      </p:sp>
      <p:sp>
        <p:nvSpPr>
          <p:cNvPr id="14" name="Shape 12"/>
          <p:cNvSpPr/>
          <p:nvPr/>
        </p:nvSpPr>
        <p:spPr>
          <a:xfrm>
            <a:off x="9235440" y="1600200"/>
            <a:ext cx="2423160" cy="3611880"/>
          </a:xfrm>
          <a:prstGeom prst="roundRect">
            <a:avLst>
              <a:gd name="adj" fmla="val 3019"/>
            </a:avLst>
          </a:prstGeom>
          <a:solidFill>
            <a:srgbClr val="F2F5FB"/>
          </a:solidFill>
          <a:ln w="12700">
            <a:solidFill>
              <a:srgbClr val="CADCFC"/>
            </a:solidFill>
            <a:prstDash val="solid"/>
          </a:ln>
        </p:spPr>
      </p:sp>
      <p:sp>
        <p:nvSpPr>
          <p:cNvPr id="15" name="Text 13"/>
          <p:cNvSpPr txBox="1"/>
          <p:nvPr/>
        </p:nvSpPr>
        <p:spPr>
          <a:xfrm>
            <a:off x="937260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Process</a:t>
            </a:r>
            <a:endParaRPr lang="en-US" sz="1800" dirty="0"/>
          </a:p>
        </p:txBody>
      </p:sp>
      <p:sp>
        <p:nvSpPr>
          <p:cNvPr id="16" name="Text 14"/>
          <p:cNvSpPr txBox="1"/>
          <p:nvPr/>
        </p:nvSpPr>
        <p:spPr>
          <a:xfrm>
            <a:off x="937260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Green-lighting and content pitches. Add a data check to pitches, with creative sign-off kept at the final step.</a:t>
            </a:r>
            <a:endParaRPr lang="en-US" sz="1400" dirty="0"/>
          </a:p>
        </p:txBody>
      </p:sp>
      <p:sp>
        <p:nvSpPr>
          <p:cNvPr id="17" name="Text 15"/>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3: Impact on creative teams (adapted from Davis, 1989; Napoli, 2014).</a:t>
            </a:r>
            <a:endParaRPr lang="en-US" sz="1100" dirty="0"/>
          </a:p>
        </p:txBody>
      </p:sp>
      <p:sp>
        <p:nvSpPr>
          <p:cNvPr id="18" name="Text 16"/>
          <p:cNvSpPr txBox="1"/>
          <p:nvPr/>
        </p:nvSpPr>
        <p:spPr>
          <a:xfrm>
            <a:off x="548640" y="5440680"/>
            <a:ext cx="11064240" cy="73152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TAM view (Davis, 1989): </a:t>
            </a:r>
            <a:pPr indent="0" marL="0">
              <a:buNone/>
            </a:pPr>
            <a:r>
              <a:rPr lang="en-US" sz="1400" dirty="0">
                <a:solidFill>
                  <a:srgbClr val="27314D"/>
                </a:solidFill>
                <a:latin typeface="Calibri" pitchFamily="34" charset="0"/>
                <a:ea typeface="Calibri" pitchFamily="34" charset="-122"/>
                <a:cs typeface="Calibri" pitchFamily="34" charset="-120"/>
              </a:rPr>
              <a:t>Useful? Yes if it shows which audiences a pitch could reach. Easy to use? Only if insights are plain-language and built into the pitch workflow.</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Barriers, Change Management and Digital Confidence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2</a:t>
            </a:r>
            <a:endParaRPr lang="en-US" sz="1100" dirty="0"/>
          </a:p>
        </p:txBody>
      </p:sp>
      <p:sp>
        <p:nvSpPr>
          <p:cNvPr id="4" name="Shape 2"/>
          <p:cNvSpPr/>
          <p:nvPr/>
        </p:nvSpPr>
        <p:spPr>
          <a:xfrm>
            <a:off x="548640" y="1325880"/>
            <a:ext cx="1828800" cy="502920"/>
          </a:xfrm>
          <a:prstGeom prst="homePlate">
            <a:avLst/>
          </a:prstGeom>
          <a:solidFill>
            <a:srgbClr val="1E2761"/>
          </a:solidFill>
          <a:ln w="12700">
            <a:solidFill>
              <a:srgbClr val="FFFFFF"/>
            </a:solidFill>
            <a:prstDash val="solid"/>
          </a:ln>
        </p:spPr>
      </p:sp>
      <p:sp>
        <p:nvSpPr>
          <p:cNvPr id="5" name="Text 3"/>
          <p:cNvSpPr txBox="1"/>
          <p:nvPr/>
        </p:nvSpPr>
        <p:spPr>
          <a:xfrm>
            <a:off x="64008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1 Urgency</a:t>
            </a:r>
            <a:endParaRPr lang="en-US" sz="1300" dirty="0"/>
          </a:p>
        </p:txBody>
      </p:sp>
      <p:sp>
        <p:nvSpPr>
          <p:cNvPr id="6" name="Text 4"/>
          <p:cNvSpPr txBox="1"/>
          <p:nvPr/>
        </p:nvSpPr>
        <p:spPr>
          <a:xfrm>
            <a:off x="54864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Churn and rivals make better discovery pressing</a:t>
            </a:r>
            <a:endParaRPr lang="en-US" sz="1200" dirty="0"/>
          </a:p>
        </p:txBody>
      </p:sp>
      <p:sp>
        <p:nvSpPr>
          <p:cNvPr id="7" name="Shape 5"/>
          <p:cNvSpPr/>
          <p:nvPr/>
        </p:nvSpPr>
        <p:spPr>
          <a:xfrm>
            <a:off x="2423160" y="1325880"/>
            <a:ext cx="1828800" cy="502920"/>
          </a:xfrm>
          <a:prstGeom prst="homePlate">
            <a:avLst/>
          </a:prstGeom>
          <a:solidFill>
            <a:srgbClr val="1E2761"/>
          </a:solidFill>
          <a:ln w="12700">
            <a:solidFill>
              <a:srgbClr val="FFFFFF"/>
            </a:solidFill>
            <a:prstDash val="solid"/>
          </a:ln>
        </p:spPr>
      </p:sp>
      <p:sp>
        <p:nvSpPr>
          <p:cNvPr id="8" name="Text 6"/>
          <p:cNvSpPr txBox="1"/>
          <p:nvPr/>
        </p:nvSpPr>
        <p:spPr>
          <a:xfrm>
            <a:off x="251460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2 Coalition</a:t>
            </a:r>
            <a:endParaRPr lang="en-US" sz="1300" dirty="0"/>
          </a:p>
        </p:txBody>
      </p:sp>
      <p:sp>
        <p:nvSpPr>
          <p:cNvPr id="9" name="Text 7"/>
          <p:cNvSpPr txBox="1"/>
          <p:nvPr/>
        </p:nvSpPr>
        <p:spPr>
          <a:xfrm>
            <a:off x="242316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Creative champions plus data leads</a:t>
            </a:r>
            <a:endParaRPr lang="en-US" sz="1200" dirty="0"/>
          </a:p>
        </p:txBody>
      </p:sp>
      <p:sp>
        <p:nvSpPr>
          <p:cNvPr id="10" name="Shape 8"/>
          <p:cNvSpPr/>
          <p:nvPr/>
        </p:nvSpPr>
        <p:spPr>
          <a:xfrm>
            <a:off x="4297680" y="1325880"/>
            <a:ext cx="1828800" cy="502920"/>
          </a:xfrm>
          <a:prstGeom prst="homePlate">
            <a:avLst/>
          </a:prstGeom>
          <a:solidFill>
            <a:srgbClr val="1E2761"/>
          </a:solidFill>
          <a:ln w="12700">
            <a:solidFill>
              <a:srgbClr val="FFFFFF"/>
            </a:solidFill>
            <a:prstDash val="solid"/>
          </a:ln>
        </p:spPr>
      </p:sp>
      <p:sp>
        <p:nvSpPr>
          <p:cNvPr id="11" name="Text 9"/>
          <p:cNvSpPr txBox="1"/>
          <p:nvPr/>
        </p:nvSpPr>
        <p:spPr>
          <a:xfrm>
            <a:off x="438912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3 Vision</a:t>
            </a:r>
            <a:endParaRPr lang="en-US" sz="1300" dirty="0"/>
          </a:p>
        </p:txBody>
      </p:sp>
      <p:sp>
        <p:nvSpPr>
          <p:cNvPr id="12" name="Text 10"/>
          <p:cNvSpPr txBox="1"/>
          <p:nvPr/>
        </p:nvSpPr>
        <p:spPr>
          <a:xfrm>
            <a:off x="429768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Data informs; creatives decide</a:t>
            </a:r>
            <a:endParaRPr lang="en-US" sz="1200" dirty="0"/>
          </a:p>
        </p:txBody>
      </p:sp>
      <p:sp>
        <p:nvSpPr>
          <p:cNvPr id="13" name="Shape 11"/>
          <p:cNvSpPr/>
          <p:nvPr/>
        </p:nvSpPr>
        <p:spPr>
          <a:xfrm>
            <a:off x="6172200" y="1325880"/>
            <a:ext cx="1828800" cy="502920"/>
          </a:xfrm>
          <a:prstGeom prst="homePlate">
            <a:avLst/>
          </a:prstGeom>
          <a:solidFill>
            <a:srgbClr val="1E56A0"/>
          </a:solidFill>
          <a:ln w="12700">
            <a:solidFill>
              <a:srgbClr val="FFFFFF"/>
            </a:solidFill>
            <a:prstDash val="solid"/>
          </a:ln>
        </p:spPr>
      </p:sp>
      <p:sp>
        <p:nvSpPr>
          <p:cNvPr id="14" name="Text 12"/>
          <p:cNvSpPr txBox="1"/>
          <p:nvPr/>
        </p:nvSpPr>
        <p:spPr>
          <a:xfrm>
            <a:off x="626364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4 Pilot</a:t>
            </a:r>
            <a:endParaRPr lang="en-US" sz="1300" dirty="0"/>
          </a:p>
        </p:txBody>
      </p:sp>
      <p:sp>
        <p:nvSpPr>
          <p:cNvPr id="15" name="Text 13"/>
          <p:cNvSpPr txBox="1"/>
          <p:nvPr/>
        </p:nvSpPr>
        <p:spPr>
          <a:xfrm>
            <a:off x="617220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One slate of originals; share early wins</a:t>
            </a:r>
            <a:endParaRPr lang="en-US" sz="1200" dirty="0"/>
          </a:p>
        </p:txBody>
      </p:sp>
      <p:sp>
        <p:nvSpPr>
          <p:cNvPr id="16" name="Shape 14"/>
          <p:cNvSpPr/>
          <p:nvPr/>
        </p:nvSpPr>
        <p:spPr>
          <a:xfrm>
            <a:off x="8046720" y="1325880"/>
            <a:ext cx="1828800" cy="502920"/>
          </a:xfrm>
          <a:prstGeom prst="homePlate">
            <a:avLst/>
          </a:prstGeom>
          <a:solidFill>
            <a:srgbClr val="1E56A0"/>
          </a:solidFill>
          <a:ln w="12700">
            <a:solidFill>
              <a:srgbClr val="FFFFFF"/>
            </a:solidFill>
            <a:prstDash val="solid"/>
          </a:ln>
        </p:spPr>
      </p:sp>
      <p:sp>
        <p:nvSpPr>
          <p:cNvPr id="17" name="Text 15"/>
          <p:cNvSpPr txBox="1"/>
          <p:nvPr/>
        </p:nvSpPr>
        <p:spPr>
          <a:xfrm>
            <a:off x="813816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5 Extend</a:t>
            </a:r>
            <a:endParaRPr lang="en-US" sz="1300" dirty="0"/>
          </a:p>
        </p:txBody>
      </p:sp>
      <p:sp>
        <p:nvSpPr>
          <p:cNvPr id="18" name="Text 16"/>
          <p:cNvSpPr txBox="1"/>
          <p:nvPr/>
        </p:nvSpPr>
        <p:spPr>
          <a:xfrm>
            <a:off x="804672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Roll into pitches and green-lighting</a:t>
            </a:r>
            <a:endParaRPr lang="en-US" sz="1200" dirty="0"/>
          </a:p>
        </p:txBody>
      </p:sp>
      <p:sp>
        <p:nvSpPr>
          <p:cNvPr id="19" name="Shape 17"/>
          <p:cNvSpPr/>
          <p:nvPr/>
        </p:nvSpPr>
        <p:spPr>
          <a:xfrm>
            <a:off x="9921240" y="1325880"/>
            <a:ext cx="1828800" cy="502920"/>
          </a:xfrm>
          <a:prstGeom prst="homePlate">
            <a:avLst/>
          </a:prstGeom>
          <a:solidFill>
            <a:srgbClr val="1E56A0"/>
          </a:solidFill>
          <a:ln w="12700">
            <a:solidFill>
              <a:srgbClr val="FFFFFF"/>
            </a:solidFill>
            <a:prstDash val="solid"/>
          </a:ln>
        </p:spPr>
      </p:sp>
      <p:sp>
        <p:nvSpPr>
          <p:cNvPr id="20" name="Text 18"/>
          <p:cNvSpPr txBox="1"/>
          <p:nvPr/>
        </p:nvSpPr>
        <p:spPr>
          <a:xfrm>
            <a:off x="1001268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6 Embed</a:t>
            </a:r>
            <a:endParaRPr lang="en-US" sz="1300" dirty="0"/>
          </a:p>
        </p:txBody>
      </p:sp>
      <p:sp>
        <p:nvSpPr>
          <p:cNvPr id="21" name="Text 19"/>
          <p:cNvSpPr txBox="1"/>
          <p:nvPr/>
        </p:nvSpPr>
        <p:spPr>
          <a:xfrm>
            <a:off x="992124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Make it part of how Apple TV+ commissions</a:t>
            </a:r>
            <a:endParaRPr lang="en-US" sz="1200" dirty="0"/>
          </a:p>
        </p:txBody>
      </p:sp>
      <p:sp>
        <p:nvSpPr>
          <p:cNvPr id="22" name="Text 20"/>
          <p:cNvSpPr txBox="1"/>
          <p:nvPr/>
        </p:nvSpPr>
        <p:spPr>
          <a:xfrm>
            <a:off x="548640" y="2743200"/>
            <a:ext cx="11064240" cy="27432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4: Kotter (1995) change model, tailored to Apple TV+. Digital skills and confidence: Vial (2019).</a:t>
            </a:r>
            <a:endParaRPr lang="en-US" sz="1100" dirty="0"/>
          </a:p>
        </p:txBody>
      </p:sp>
      <p:sp>
        <p:nvSpPr>
          <p:cNvPr id="23" name="Text 21"/>
          <p:cNvSpPr txBox="1"/>
          <p:nvPr/>
        </p:nvSpPr>
        <p:spPr>
          <a:xfrm>
            <a:off x="548640" y="3154680"/>
            <a:ext cx="6400800" cy="32004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Barriers and responses</a:t>
            </a:r>
            <a:endParaRPr lang="en-US" sz="1600" dirty="0"/>
          </a:p>
        </p:txBody>
      </p:sp>
      <p:sp>
        <p:nvSpPr>
          <p:cNvPr id="24" name="Shape 22"/>
          <p:cNvSpPr/>
          <p:nvPr/>
        </p:nvSpPr>
        <p:spPr>
          <a:xfrm>
            <a:off x="548640" y="3520440"/>
            <a:ext cx="6766560" cy="777240"/>
          </a:xfrm>
          <a:prstGeom prst="roundRect">
            <a:avLst>
              <a:gd name="adj" fmla="val 9412"/>
            </a:avLst>
          </a:prstGeom>
          <a:solidFill>
            <a:srgbClr val="F2F5FB"/>
          </a:solidFill>
          <a:ln w="12700">
            <a:solidFill>
              <a:srgbClr val="CADCFC"/>
            </a:solidFill>
            <a:prstDash val="solid"/>
          </a:ln>
        </p:spPr>
      </p:sp>
      <p:sp>
        <p:nvSpPr>
          <p:cNvPr id="25" name="Text 23"/>
          <p:cNvSpPr txBox="1"/>
          <p:nvPr/>
        </p:nvSpPr>
        <p:spPr>
          <a:xfrm>
            <a:off x="731520" y="352044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Fear of losing creative control: </a:t>
            </a:r>
            <a:pPr indent="0" marL="0">
              <a:buNone/>
            </a:pPr>
            <a:r>
              <a:rPr lang="en-US" sz="1300" dirty="0">
                <a:solidFill>
                  <a:srgbClr val="27314D"/>
                </a:solidFill>
                <a:latin typeface="Calibri" pitchFamily="34" charset="0"/>
                <a:ea typeface="Calibri" pitchFamily="34" charset="-122"/>
                <a:cs typeface="Calibri" pitchFamily="34" charset="-120"/>
              </a:rPr>
              <a:t>Keep creative sign-off final; publish rules for how data is used.</a:t>
            </a:r>
            <a:endParaRPr lang="en-US" sz="1300" dirty="0"/>
          </a:p>
        </p:txBody>
      </p:sp>
      <p:sp>
        <p:nvSpPr>
          <p:cNvPr id="26" name="Shape 24"/>
          <p:cNvSpPr/>
          <p:nvPr/>
        </p:nvSpPr>
        <p:spPr>
          <a:xfrm>
            <a:off x="548640" y="4389120"/>
            <a:ext cx="6766560" cy="777240"/>
          </a:xfrm>
          <a:prstGeom prst="roundRect">
            <a:avLst>
              <a:gd name="adj" fmla="val 9412"/>
            </a:avLst>
          </a:prstGeom>
          <a:solidFill>
            <a:srgbClr val="F2F5FB"/>
          </a:solidFill>
          <a:ln w="12700">
            <a:solidFill>
              <a:srgbClr val="CADCFC"/>
            </a:solidFill>
            <a:prstDash val="solid"/>
          </a:ln>
        </p:spPr>
      </p:sp>
      <p:sp>
        <p:nvSpPr>
          <p:cNvPr id="27" name="Text 25"/>
          <p:cNvSpPr txBox="1"/>
          <p:nvPr/>
        </p:nvSpPr>
        <p:spPr>
          <a:xfrm>
            <a:off x="731520" y="438912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Distrust of algorithms: </a:t>
            </a:r>
            <a:pPr indent="0" marL="0">
              <a:buNone/>
            </a:pPr>
            <a:r>
              <a:rPr lang="en-US" sz="1300" dirty="0">
                <a:solidFill>
                  <a:srgbClr val="27314D"/>
                </a:solidFill>
                <a:latin typeface="Calibri" pitchFamily="34" charset="0"/>
                <a:ea typeface="Calibri" pitchFamily="34" charset="-122"/>
                <a:cs typeface="Calibri" pitchFamily="34" charset="-120"/>
              </a:rPr>
              <a:t>Show why content is promoted, so creatives can see how data influences decisions.</a:t>
            </a:r>
            <a:endParaRPr lang="en-US" sz="1300" dirty="0"/>
          </a:p>
        </p:txBody>
      </p:sp>
      <p:sp>
        <p:nvSpPr>
          <p:cNvPr id="28" name="Shape 26"/>
          <p:cNvSpPr/>
          <p:nvPr/>
        </p:nvSpPr>
        <p:spPr>
          <a:xfrm>
            <a:off x="548640" y="5257800"/>
            <a:ext cx="6766560" cy="777240"/>
          </a:xfrm>
          <a:prstGeom prst="roundRect">
            <a:avLst>
              <a:gd name="adj" fmla="val 9412"/>
            </a:avLst>
          </a:prstGeom>
          <a:solidFill>
            <a:srgbClr val="F2F5FB"/>
          </a:solidFill>
          <a:ln w="12700">
            <a:solidFill>
              <a:srgbClr val="CADCFC"/>
            </a:solidFill>
            <a:prstDash val="solid"/>
          </a:ln>
        </p:spPr>
      </p:sp>
      <p:sp>
        <p:nvSpPr>
          <p:cNvPr id="29" name="Text 27"/>
          <p:cNvSpPr txBox="1"/>
          <p:nvPr/>
        </p:nvSpPr>
        <p:spPr>
          <a:xfrm>
            <a:off x="731520" y="525780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Skills gaps: </a:t>
            </a:r>
            <a:pPr indent="0" marL="0">
              <a:buNone/>
            </a:pPr>
            <a:r>
              <a:rPr lang="en-US" sz="1300" dirty="0">
                <a:solidFill>
                  <a:srgbClr val="27314D"/>
                </a:solidFill>
                <a:latin typeface="Calibri" pitchFamily="34" charset="0"/>
                <a:ea typeface="Calibri" pitchFamily="34" charset="-122"/>
                <a:cs typeface="Calibri" pitchFamily="34" charset="-120"/>
              </a:rPr>
              <a:t>Training in reading audience data, built around real projects (Vial, 2019).</a:t>
            </a:r>
            <a:endParaRPr lang="en-US" sz="1300" dirty="0"/>
          </a:p>
        </p:txBody>
      </p:sp>
      <p:sp>
        <p:nvSpPr>
          <p:cNvPr id="30" name="Shape 28"/>
          <p:cNvSpPr/>
          <p:nvPr/>
        </p:nvSpPr>
        <p:spPr>
          <a:xfrm>
            <a:off x="7589520" y="3154680"/>
            <a:ext cx="4023360" cy="3017520"/>
          </a:xfrm>
          <a:prstGeom prst="roundRect">
            <a:avLst>
              <a:gd name="adj" fmla="val 2424"/>
            </a:avLst>
          </a:prstGeom>
          <a:solidFill>
            <a:srgbClr val="1E2761"/>
          </a:solidFill>
          <a:ln w="12700">
            <a:solidFill>
              <a:srgbClr val="1E2761"/>
            </a:solidFill>
            <a:prstDash val="solid"/>
          </a:ln>
        </p:spPr>
      </p:sp>
      <p:sp>
        <p:nvSpPr>
          <p:cNvPr id="31" name="Text 29"/>
          <p:cNvSpPr txBox="1"/>
          <p:nvPr/>
        </p:nvSpPr>
        <p:spPr>
          <a:xfrm>
            <a:off x="7772400" y="3246120"/>
            <a:ext cx="36576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Digital confidence actions</a:t>
            </a:r>
            <a:endParaRPr lang="en-US" sz="1600" dirty="0"/>
          </a:p>
        </p:txBody>
      </p:sp>
      <p:sp>
        <p:nvSpPr>
          <p:cNvPr id="32" name="Text 30"/>
          <p:cNvSpPr txBox="1"/>
          <p:nvPr/>
        </p:nvSpPr>
        <p:spPr>
          <a:xfrm>
            <a:off x="7772400" y="3749040"/>
            <a:ext cx="365760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Training for writers and producers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Pilots on a small slate of originals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Creative champions on each team</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Feedback channels into the model team</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Sustained Competitive Advantage: VRIO</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1280160"/>
                <a:gridCol w="75895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Question</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Verdict</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Evidence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r>
              <a:tr h="68580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Valuable?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1E56A0"/>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Better discovery supports retention and engagement (Gomez-Uribe and Hunt, 2015). But scaling it brings privacy, governance and bias risks (Mokoena and Obagbuwa, 2025).</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Rare?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C00000"/>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Streaming rivals already run recommenders; the technique is widely documented (Ricci, Rokach and Shapira, 2015).</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Hard to imitate?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B8860B"/>
                          </a:solidFill>
                          <a:latin typeface="Calibri" pitchFamily="34" charset="0"/>
                          <a:ea typeface="Calibri" pitchFamily="34" charset="-122"/>
                          <a:cs typeface="Calibri" pitchFamily="34" charset="-120"/>
                        </a:rPr>
                        <a:t>Partly</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Models are copyable. Apple’s ecosystem data and quality-focused catalogue are harder to copy.</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Organised to exploit?</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B8860B"/>
                          </a:solidFill>
                          <a:latin typeface="Calibri" pitchFamily="34" charset="0"/>
                          <a:ea typeface="Calibri" pitchFamily="34" charset="-122"/>
                          <a:cs typeface="Calibri" pitchFamily="34" charset="-120"/>
                        </a:rPr>
                        <a:t>Not yet</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Creative and data teams are not yet aligned; no shared rules for how data shapes commissioning.</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bl>
          </a:graphicData>
        </a:graphic>
      </p:graphicFrame>
      <p:sp>
        <p:nvSpPr>
          <p:cNvPr id="5" name="Text 2"/>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Table 2: VRIO analysis of the recommendation engine (framework from Barney, 1991).</a:t>
            </a:r>
            <a:endParaRPr lang="en-US" sz="1100" dirty="0"/>
          </a:p>
        </p:txBody>
      </p:sp>
      <p:sp>
        <p:nvSpPr>
          <p:cNvPr id="6" name="Text 3"/>
          <p:cNvSpPr txBox="1"/>
          <p:nvPr/>
        </p:nvSpPr>
        <p:spPr>
          <a:xfrm>
            <a:off x="548640" y="4297680"/>
            <a:ext cx="11064240" cy="64008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Verdict: </a:t>
            </a:r>
            <a:pPr indent="0" marL="0">
              <a:buNone/>
            </a:pPr>
            <a:r>
              <a:rPr lang="en-US" sz="1400" dirty="0">
                <a:solidFill>
                  <a:srgbClr val="27314D"/>
                </a:solidFill>
                <a:latin typeface="Calibri" pitchFamily="34" charset="0"/>
                <a:ea typeface="Calibri" pitchFamily="34" charset="-122"/>
                <a:cs typeface="Calibri" pitchFamily="34" charset="-120"/>
              </a:rPr>
              <a:t>competitive parity, not sustained advantage. The recommender supports retention and agility but is only a baseline; advantage comes from pairing it with Apple’s ecosystem and creative judgement.</a:t>
            </a:r>
            <a:endParaRPr lang="en-US" sz="1400" dirty="0"/>
          </a:p>
        </p:txBody>
      </p:sp>
      <p:sp>
        <p:nvSpPr>
          <p:cNvPr id="7" name="Text 4"/>
          <p:cNvSpPr txBox="1"/>
          <p:nvPr/>
        </p:nvSpPr>
        <p:spPr>
          <a:xfrm>
            <a:off x="548640" y="4983480"/>
            <a:ext cx="10972800" cy="32004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Continuous improvement actions</a:t>
            </a:r>
            <a:endParaRPr lang="en-US" sz="1600" dirty="0"/>
          </a:p>
        </p:txBody>
      </p:sp>
      <p:sp>
        <p:nvSpPr>
          <p:cNvPr id="8" name="Shape 5"/>
          <p:cNvSpPr/>
          <p:nvPr/>
        </p:nvSpPr>
        <p:spPr>
          <a:xfrm>
            <a:off x="548640" y="5349240"/>
            <a:ext cx="2697480" cy="822960"/>
          </a:xfrm>
          <a:prstGeom prst="roundRect">
            <a:avLst>
              <a:gd name="adj" fmla="val 8889"/>
            </a:avLst>
          </a:prstGeom>
          <a:solidFill>
            <a:srgbClr val="F2F5FB"/>
          </a:solidFill>
          <a:ln w="12700">
            <a:solidFill>
              <a:srgbClr val="CADCFC"/>
            </a:solidFill>
            <a:prstDash val="solid"/>
          </a:ln>
        </p:spPr>
      </p:sp>
      <p:sp>
        <p:nvSpPr>
          <p:cNvPr id="9" name="Text 6"/>
          <p:cNvSpPr txBox="1"/>
          <p:nvPr/>
        </p:nvSpPr>
        <p:spPr>
          <a:xfrm>
            <a:off x="658368"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Test (agility): </a:t>
            </a:r>
            <a:pPr indent="0" marL="0">
              <a:buNone/>
            </a:pPr>
            <a:r>
              <a:rPr lang="en-US" sz="1200" dirty="0">
                <a:solidFill>
                  <a:srgbClr val="27314D"/>
                </a:solidFill>
                <a:latin typeface="Calibri" pitchFamily="34" charset="0"/>
                <a:ea typeface="Calibri" pitchFamily="34" charset="-122"/>
                <a:cs typeface="Calibri" pitchFamily="34" charset="-120"/>
              </a:rPr>
              <a:t>A/B test changes against retention</a:t>
            </a:r>
            <a:endParaRPr lang="en-US" sz="1200" dirty="0"/>
          </a:p>
        </p:txBody>
      </p:sp>
      <p:sp>
        <p:nvSpPr>
          <p:cNvPr id="10" name="Shape 7"/>
          <p:cNvSpPr/>
          <p:nvPr/>
        </p:nvSpPr>
        <p:spPr>
          <a:xfrm>
            <a:off x="3355848" y="5349240"/>
            <a:ext cx="2697480" cy="822960"/>
          </a:xfrm>
          <a:prstGeom prst="roundRect">
            <a:avLst>
              <a:gd name="adj" fmla="val 8889"/>
            </a:avLst>
          </a:prstGeom>
          <a:solidFill>
            <a:srgbClr val="F2F5FB"/>
          </a:solidFill>
          <a:ln w="12700">
            <a:solidFill>
              <a:srgbClr val="CADCFC"/>
            </a:solidFill>
            <a:prstDash val="solid"/>
          </a:ln>
        </p:spPr>
      </p:sp>
      <p:sp>
        <p:nvSpPr>
          <p:cNvPr id="11" name="Text 8"/>
          <p:cNvSpPr txBox="1"/>
          <p:nvPr/>
        </p:nvSpPr>
        <p:spPr>
          <a:xfrm>
            <a:off x="3465576"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Creative input (innovation): </a:t>
            </a:r>
            <a:pPr indent="0" marL="0">
              <a:buNone/>
            </a:pPr>
            <a:r>
              <a:rPr lang="en-US" sz="1200" dirty="0">
                <a:solidFill>
                  <a:srgbClr val="27314D"/>
                </a:solidFill>
                <a:latin typeface="Calibri" pitchFamily="34" charset="0"/>
                <a:ea typeface="Calibri" pitchFamily="34" charset="-122"/>
                <a:cs typeface="Calibri" pitchFamily="34" charset="-120"/>
              </a:rPr>
              <a:t>Creatives help set the goals the model optimises</a:t>
            </a:r>
            <a:endParaRPr lang="en-US" sz="1200" dirty="0"/>
          </a:p>
        </p:txBody>
      </p:sp>
      <p:sp>
        <p:nvSpPr>
          <p:cNvPr id="12" name="Shape 9"/>
          <p:cNvSpPr/>
          <p:nvPr/>
        </p:nvSpPr>
        <p:spPr>
          <a:xfrm>
            <a:off x="6163056" y="5349240"/>
            <a:ext cx="2697480" cy="822960"/>
          </a:xfrm>
          <a:prstGeom prst="roundRect">
            <a:avLst>
              <a:gd name="adj" fmla="val 8889"/>
            </a:avLst>
          </a:prstGeom>
          <a:solidFill>
            <a:srgbClr val="F2F5FB"/>
          </a:solidFill>
          <a:ln w="12700">
            <a:solidFill>
              <a:srgbClr val="CADCFC"/>
            </a:solidFill>
            <a:prstDash val="solid"/>
          </a:ln>
        </p:spPr>
      </p:sp>
      <p:sp>
        <p:nvSpPr>
          <p:cNvPr id="13" name="Text 10"/>
          <p:cNvSpPr txBox="1"/>
          <p:nvPr/>
        </p:nvSpPr>
        <p:spPr>
          <a:xfrm>
            <a:off x="6272784"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Refresh: </a:t>
            </a:r>
            <a:pPr indent="0" marL="0">
              <a:buNone/>
            </a:pPr>
            <a:r>
              <a:rPr lang="en-US" sz="1200" dirty="0">
                <a:solidFill>
                  <a:srgbClr val="27314D"/>
                </a:solidFill>
                <a:latin typeface="Calibri" pitchFamily="34" charset="0"/>
                <a:ea typeface="Calibri" pitchFamily="34" charset="-122"/>
                <a:cs typeface="Calibri" pitchFamily="34" charset="-120"/>
              </a:rPr>
              <a:t>Update data and models regularly</a:t>
            </a:r>
            <a:endParaRPr lang="en-US" sz="1200" dirty="0"/>
          </a:p>
        </p:txBody>
      </p:sp>
      <p:sp>
        <p:nvSpPr>
          <p:cNvPr id="14" name="Shape 11"/>
          <p:cNvSpPr/>
          <p:nvPr/>
        </p:nvSpPr>
        <p:spPr>
          <a:xfrm>
            <a:off x="8970264" y="5349240"/>
            <a:ext cx="2697480" cy="822960"/>
          </a:xfrm>
          <a:prstGeom prst="roundRect">
            <a:avLst>
              <a:gd name="adj" fmla="val 8889"/>
            </a:avLst>
          </a:prstGeom>
          <a:solidFill>
            <a:srgbClr val="F2F5FB"/>
          </a:solidFill>
          <a:ln w="12700">
            <a:solidFill>
              <a:srgbClr val="CADCFC"/>
            </a:solidFill>
            <a:prstDash val="solid"/>
          </a:ln>
        </p:spPr>
      </p:sp>
      <p:sp>
        <p:nvSpPr>
          <p:cNvPr id="15" name="Text 12"/>
          <p:cNvSpPr txBox="1"/>
          <p:nvPr/>
        </p:nvSpPr>
        <p:spPr>
          <a:xfrm>
            <a:off x="9079992"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Ansoff: </a:t>
            </a:r>
            <a:pPr indent="0" marL="0">
              <a:buNone/>
            </a:pPr>
            <a:r>
              <a:rPr lang="en-US" sz="1200" dirty="0">
                <a:solidFill>
                  <a:srgbClr val="27314D"/>
                </a:solidFill>
                <a:latin typeface="Calibri" pitchFamily="34" charset="0"/>
                <a:ea typeface="Calibri" pitchFamily="34" charset="-122"/>
                <a:cs typeface="Calibri" pitchFamily="34" charset="-120"/>
              </a:rPr>
              <a:t>Market penetration: deeper retention in existing markets (Ansoff, 1957)</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Ethical, Social and Risk Issues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828800"/>
                <a:gridCol w="3931920"/>
                <a:gridCol w="1371600"/>
                <a:gridCol w="39319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Issue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Why it matters</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Principle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Mitigation</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r>
              <a:tr h="91440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Privacy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Data collected for recommendations could be reused for other purposes; GDPR Article 5 requires specified, explicit purposes (European Parliament and Council, 2016).</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Privacy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Document purpose limitation and review it regularly.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Bias and fairness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Models trained on past viewing narrow what is shown (Ricci et al., 2015).</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Fairness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Run regular diversity-of-recommendation audits.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Transparency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Viewers and creatives cannot see why content is promoted.</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Transparency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Add “why am I seeing this” explanations for viewers and creatives.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Creators’ autonomy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Algorithms can steer which projects are promoted and made (Napoli, 2014).</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Autonomy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Keep creative sign-off; use data to inform, not decide.</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Social: cultural diversity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Filter bubbles can reduce exposure to varied content (Pariser, 2011; Helberger, 2019).</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Diversity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Set minimum exposure for varied and local content.</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bl>
          </a:graphicData>
        </a:graphic>
      </p:graphicFrame>
      <p:sp>
        <p:nvSpPr>
          <p:cNvPr id="5" name="Text 2"/>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Table 3: Ethical, social and risk issues. Sources: European Parliament and Council (2016); Ricci et al. (2015); Floridi et al. (2018); Napoli (2014); Pariser (2011); Helberger (2019).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Recommendations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sp>
        <p:nvSpPr>
          <p:cNvPr id="4" name="Shape 2"/>
          <p:cNvSpPr/>
          <p:nvPr/>
        </p:nvSpPr>
        <p:spPr>
          <a:xfrm>
            <a:off x="548640" y="1371600"/>
            <a:ext cx="3611880" cy="4023360"/>
          </a:xfrm>
          <a:prstGeom prst="roundRect">
            <a:avLst>
              <a:gd name="adj" fmla="val 2025"/>
            </a:avLst>
          </a:prstGeom>
          <a:solidFill>
            <a:srgbClr val="F2F5FB"/>
          </a:solidFill>
          <a:ln w="12700">
            <a:solidFill>
              <a:srgbClr val="CADCFC"/>
            </a:solidFill>
            <a:prstDash val="solid"/>
          </a:ln>
        </p:spPr>
      </p:sp>
      <p:sp>
        <p:nvSpPr>
          <p:cNvPr id="5" name="Shape 3"/>
          <p:cNvSpPr/>
          <p:nvPr/>
        </p:nvSpPr>
        <p:spPr>
          <a:xfrm>
            <a:off x="731520" y="1554480"/>
            <a:ext cx="548640" cy="548640"/>
          </a:xfrm>
          <a:prstGeom prst="ellipse">
            <a:avLst/>
          </a:prstGeom>
          <a:solidFill>
            <a:srgbClr val="1E2761"/>
          </a:solidFill>
          <a:ln w="12700">
            <a:solidFill>
              <a:srgbClr val="1E2761"/>
            </a:solidFill>
            <a:prstDash val="solid"/>
          </a:ln>
        </p:spPr>
      </p:sp>
      <p:sp>
        <p:nvSpPr>
          <p:cNvPr id="6" name="Text 4"/>
          <p:cNvSpPr txBox="1"/>
          <p:nvPr/>
        </p:nvSpPr>
        <p:spPr>
          <a:xfrm>
            <a:off x="73152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73152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Run a creative-team pilot in Kotter-style steps</a:t>
            </a:r>
            <a:endParaRPr lang="en-US" sz="1700" dirty="0"/>
          </a:p>
        </p:txBody>
      </p:sp>
      <p:sp>
        <p:nvSpPr>
          <p:cNvPr id="8" name="Text 6"/>
          <p:cNvSpPr txBox="1"/>
          <p:nvPr/>
        </p:nvSpPr>
        <p:spPr>
          <a:xfrm>
            <a:off x="73152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Creative leadership (writers, producers, content developers), supported by the data team</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Kotter (1995); Napoli (2014)</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6 and 7</a:t>
            </a:r>
            <a:endParaRPr lang="en-US" sz="1300" dirty="0"/>
          </a:p>
        </p:txBody>
      </p:sp>
      <p:sp>
        <p:nvSpPr>
          <p:cNvPr id="9" name="Shape 7"/>
          <p:cNvSpPr/>
          <p:nvPr/>
        </p:nvSpPr>
        <p:spPr>
          <a:xfrm>
            <a:off x="4297680" y="1371600"/>
            <a:ext cx="3611880" cy="4023360"/>
          </a:xfrm>
          <a:prstGeom prst="roundRect">
            <a:avLst>
              <a:gd name="adj" fmla="val 2025"/>
            </a:avLst>
          </a:prstGeom>
          <a:solidFill>
            <a:srgbClr val="F2F5FB"/>
          </a:solidFill>
          <a:ln w="12700">
            <a:solidFill>
              <a:srgbClr val="CADCFC"/>
            </a:solidFill>
            <a:prstDash val="solid"/>
          </a:ln>
        </p:spPr>
      </p:sp>
      <p:sp>
        <p:nvSpPr>
          <p:cNvPr id="10" name="Shape 8"/>
          <p:cNvSpPr/>
          <p:nvPr/>
        </p:nvSpPr>
        <p:spPr>
          <a:xfrm>
            <a:off x="4480560" y="1554480"/>
            <a:ext cx="548640" cy="548640"/>
          </a:xfrm>
          <a:prstGeom prst="ellipse">
            <a:avLst/>
          </a:prstGeom>
          <a:solidFill>
            <a:srgbClr val="1E2761"/>
          </a:solidFill>
          <a:ln w="12700">
            <a:solidFill>
              <a:srgbClr val="1E2761"/>
            </a:solidFill>
            <a:prstDash val="solid"/>
          </a:ln>
        </p:spPr>
      </p:sp>
      <p:sp>
        <p:nvSpPr>
          <p:cNvPr id="11" name="Text 9"/>
          <p:cNvSpPr txBox="1"/>
          <p:nvPr/>
        </p:nvSpPr>
        <p:spPr>
          <a:xfrm>
            <a:off x="448056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448056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Add an explanation feature for recommendations</a:t>
            </a:r>
            <a:endParaRPr lang="en-US" sz="1700" dirty="0"/>
          </a:p>
        </p:txBody>
      </p:sp>
      <p:sp>
        <p:nvSpPr>
          <p:cNvPr id="13" name="Text 11"/>
          <p:cNvSpPr txBox="1"/>
          <p:nvPr/>
        </p:nvSpPr>
        <p:spPr>
          <a:xfrm>
            <a:off x="448056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Marketing, with the product and technology teams</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Floridi et al. (2018); Apple Inc. (2025)</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4 and 9</a:t>
            </a:r>
            <a:endParaRPr lang="en-US" sz="1300" dirty="0"/>
          </a:p>
        </p:txBody>
      </p:sp>
      <p:sp>
        <p:nvSpPr>
          <p:cNvPr id="14" name="Shape 12"/>
          <p:cNvSpPr/>
          <p:nvPr/>
        </p:nvSpPr>
        <p:spPr>
          <a:xfrm>
            <a:off x="8046720" y="1371600"/>
            <a:ext cx="3611880" cy="4023360"/>
          </a:xfrm>
          <a:prstGeom prst="roundRect">
            <a:avLst>
              <a:gd name="adj" fmla="val 2025"/>
            </a:avLst>
          </a:prstGeom>
          <a:solidFill>
            <a:srgbClr val="F2F5FB"/>
          </a:solidFill>
          <a:ln w="12700">
            <a:solidFill>
              <a:srgbClr val="CADCFC"/>
            </a:solidFill>
            <a:prstDash val="solid"/>
          </a:ln>
        </p:spPr>
      </p:sp>
      <p:sp>
        <p:nvSpPr>
          <p:cNvPr id="15" name="Shape 13"/>
          <p:cNvSpPr/>
          <p:nvPr/>
        </p:nvSpPr>
        <p:spPr>
          <a:xfrm>
            <a:off x="8229600" y="1554480"/>
            <a:ext cx="548640" cy="548640"/>
          </a:xfrm>
          <a:prstGeom prst="ellipse">
            <a:avLst/>
          </a:prstGeom>
          <a:solidFill>
            <a:srgbClr val="1E2761"/>
          </a:solidFill>
          <a:ln w="12700">
            <a:solidFill>
              <a:srgbClr val="1E2761"/>
            </a:solidFill>
            <a:prstDash val="solid"/>
          </a:ln>
        </p:spPr>
      </p:sp>
      <p:sp>
        <p:nvSpPr>
          <p:cNvPr id="16" name="Text 14"/>
          <p:cNvSpPr txBox="1"/>
          <p:nvPr/>
        </p:nvSpPr>
        <p:spPr>
          <a:xfrm>
            <a:off x="822960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7" name="Text 15"/>
          <p:cNvSpPr txBox="1"/>
          <p:nvPr/>
        </p:nvSpPr>
        <p:spPr>
          <a:xfrm>
            <a:off x="822960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Set up a governance review for purpose limitation and diversity auditing</a:t>
            </a:r>
            <a:endParaRPr lang="en-US" sz="1700" dirty="0"/>
          </a:p>
        </p:txBody>
      </p:sp>
      <p:sp>
        <p:nvSpPr>
          <p:cNvPr id="18" name="Text 16"/>
          <p:cNvSpPr txBox="1"/>
          <p:nvPr/>
        </p:nvSpPr>
        <p:spPr>
          <a:xfrm>
            <a:off x="822960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Operations (legal, compliance and employee support)</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GDPR Art. 5 (European Parliament and Council, 2016); Ricci et al. (2015)</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5 and 9</a:t>
            </a:r>
            <a:endParaRPr lang="en-US" sz="1300" dirty="0"/>
          </a:p>
        </p:txBody>
      </p:sp>
      <p:sp>
        <p:nvSpPr>
          <p:cNvPr id="19" name="Text 17"/>
          <p:cNvSpPr txBox="1"/>
          <p:nvPr/>
        </p:nvSpPr>
        <p:spPr>
          <a:xfrm>
            <a:off x="548640" y="5669280"/>
            <a:ext cx="11064240" cy="54864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Do first: </a:t>
            </a:r>
            <a:pPr indent="0" marL="0">
              <a:buNone/>
            </a:pPr>
            <a:r>
              <a:rPr lang="en-US" sz="1500" dirty="0">
                <a:solidFill>
                  <a:srgbClr val="27314D"/>
                </a:solidFill>
                <a:latin typeface="Calibri" pitchFamily="34" charset="0"/>
                <a:ea typeface="Calibri" pitchFamily="34" charset="-122"/>
                <a:cs typeface="Calibri" pitchFamily="34" charset="-120"/>
              </a:rPr>
              <a:t>the creative-team pilot, because it tackles the central challenge and builds the evidence the other two depend on.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Conclusion</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Conclusion</a:t>
            </a:r>
            <a:endParaRPr lang="en-US" sz="1100" dirty="0"/>
          </a:p>
        </p:txBody>
      </p:sp>
      <p:sp>
        <p:nvSpPr>
          <p:cNvPr id="4" name="Text 2"/>
          <p:cNvSpPr txBox="1"/>
          <p:nvPr/>
        </p:nvSpPr>
        <p:spPr>
          <a:xfrm>
            <a:off x="548640" y="132588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1</a:t>
            </a:r>
            <a:endParaRPr lang="en-US" sz="1500" dirty="0"/>
          </a:p>
        </p:txBody>
      </p:sp>
      <p:sp>
        <p:nvSpPr>
          <p:cNvPr id="5" name="Text 3"/>
          <p:cNvSpPr txBox="1"/>
          <p:nvPr/>
        </p:nvSpPr>
        <p:spPr>
          <a:xfrm>
            <a:off x="1645920" y="132588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A machine-learning recommendation engine helps match a small catalogue to many viewers, but it protects Apple TV+’s position rather than creating a lead.</a:t>
            </a:r>
            <a:endParaRPr lang="en-US" sz="1400" dirty="0"/>
          </a:p>
        </p:txBody>
      </p:sp>
      <p:sp>
        <p:nvSpPr>
          <p:cNvPr id="6" name="Text 4"/>
          <p:cNvSpPr txBox="1"/>
          <p:nvPr/>
        </p:nvSpPr>
        <p:spPr>
          <a:xfrm>
            <a:off x="548640" y="210312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2</a:t>
            </a:r>
            <a:endParaRPr lang="en-US" sz="1500" dirty="0"/>
          </a:p>
        </p:txBody>
      </p:sp>
      <p:sp>
        <p:nvSpPr>
          <p:cNvPr id="7" name="Text 5"/>
          <p:cNvSpPr txBox="1"/>
          <p:nvPr/>
        </p:nvSpPr>
        <p:spPr>
          <a:xfrm>
            <a:off x="1645920" y="210312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Creative teams, the group assessed, can protect originality while adopting data if a Kotter-style change plan is used.</a:t>
            </a:r>
            <a:endParaRPr lang="en-US" sz="1400" dirty="0"/>
          </a:p>
        </p:txBody>
      </p:sp>
      <p:sp>
        <p:nvSpPr>
          <p:cNvPr id="8" name="Text 6"/>
          <p:cNvSpPr txBox="1"/>
          <p:nvPr/>
        </p:nvSpPr>
        <p:spPr>
          <a:xfrm>
            <a:off x="548640" y="288036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3</a:t>
            </a:r>
            <a:endParaRPr lang="en-US" sz="1500" dirty="0"/>
          </a:p>
        </p:txBody>
      </p:sp>
      <p:sp>
        <p:nvSpPr>
          <p:cNvPr id="9" name="Text 7"/>
          <p:cNvSpPr txBox="1"/>
          <p:nvPr/>
        </p:nvSpPr>
        <p:spPr>
          <a:xfrm>
            <a:off x="1645920" y="288036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Rivals can copy the technology, so advantage depends on ecosystem, creative judgement and ethical safeguards.</a:t>
            </a:r>
            <a:endParaRPr lang="en-US" sz="1400" dirty="0"/>
          </a:p>
        </p:txBody>
      </p:sp>
      <p:sp>
        <p:nvSpPr>
          <p:cNvPr id="10" name="Text 8"/>
          <p:cNvSpPr txBox="1"/>
          <p:nvPr/>
        </p:nvSpPr>
        <p:spPr>
          <a:xfrm>
            <a:off x="548640" y="3749040"/>
            <a:ext cx="5486400" cy="36576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Recommendations</a:t>
            </a:r>
            <a:endParaRPr lang="en-US" sz="1800" dirty="0"/>
          </a:p>
        </p:txBody>
      </p:sp>
      <p:sp>
        <p:nvSpPr>
          <p:cNvPr id="11" name="Text 9"/>
          <p:cNvSpPr txBox="1"/>
          <p:nvPr/>
        </p:nvSpPr>
        <p:spPr>
          <a:xfrm>
            <a:off x="548640" y="4160520"/>
            <a:ext cx="11064240" cy="1188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Pilot with creative teams, using Kotter-style steps.</a:t>
            </a:r>
            <a:endParaRPr lang="en-US" sz="1500" dirty="0"/>
          </a:p>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Add explanations for why content is recommended.</a:t>
            </a:r>
            <a:endParaRPr lang="en-US" sz="1500" dirty="0"/>
          </a:p>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Review purpose limitation and diversity audits regularly.</a:t>
            </a:r>
            <a:endParaRPr lang="en-US" sz="1500" dirty="0"/>
          </a:p>
        </p:txBody>
      </p:sp>
      <p:sp>
        <p:nvSpPr>
          <p:cNvPr id="12" name="Shape 10"/>
          <p:cNvSpPr/>
          <p:nvPr/>
        </p:nvSpPr>
        <p:spPr>
          <a:xfrm>
            <a:off x="548640" y="5440680"/>
            <a:ext cx="11064240" cy="777240"/>
          </a:xfrm>
          <a:prstGeom prst="roundRect">
            <a:avLst>
              <a:gd name="adj" fmla="val 9412"/>
            </a:avLst>
          </a:prstGeom>
          <a:solidFill>
            <a:srgbClr val="1E2761"/>
          </a:solidFill>
          <a:ln w="12700">
            <a:solidFill>
              <a:srgbClr val="1E2761"/>
            </a:solidFill>
            <a:prstDash val="solid"/>
          </a:ln>
        </p:spPr>
      </p:sp>
      <p:sp>
        <p:nvSpPr>
          <p:cNvPr id="13" name="Text 11"/>
          <p:cNvSpPr txBox="1"/>
          <p:nvPr/>
        </p:nvSpPr>
        <p:spPr>
          <a:xfrm>
            <a:off x="731520" y="5440680"/>
            <a:ext cx="10698480" cy="77724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Used with creative teams at its side, the recommendation engine can help Apple TV+ keep subscribers without giving up the originality it is known for.</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References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References</a:t>
            </a:r>
            <a:endParaRPr lang="en-US" sz="1100" dirty="0"/>
          </a:p>
        </p:txBody>
      </p:sp>
      <p:sp>
        <p:nvSpPr>
          <p:cNvPr id="4" name="Text 2"/>
          <p:cNvSpPr txBox="1"/>
          <p:nvPr/>
        </p:nvSpPr>
        <p:spPr>
          <a:xfrm>
            <a:off x="548640" y="1234440"/>
            <a:ext cx="11064240" cy="5303520"/>
          </a:xfrm>
          <a:prstGeom prst="rect">
            <a:avLst/>
          </a:prstGeom>
          <a:noFill/>
          <a:ln/>
        </p:spPr>
        <p:txBody>
          <a:bodyPr wrap="square" lIns="0" tIns="0" rIns="0" bIns="0" rtlCol="0" anchor="t"/>
          <a:lstStyle/>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Antenna (2024) Domestic SVOD market data. Industry churn figures as reported in ‘Streaming services see rising churn as serial cancelers seek value for money’, ABC News.</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Ansoff, H.I. (1957) ‘Strategies for diversification’, Harvard Business Review, 35(5), pp.113–124.</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Apple Inc. (2025) Apple TV App &amp; Privacy. Cupertino: Apple Inc.</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Barney, J. (1991) ‘Firm resources and sustained competitive advantage’, Journal of Management, 17(1), pp.99–120.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Davis, F.D. (1989) ‘Perceived usefulness, perceived ease of use, and user acceptance of information technology’, MIS Quarterly, 13(3), pp.319–340.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European Parliament and Council (2016) Regulation (EU) 2016/679 (GDPR).</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Floridi, L. et al. (2018) ‘AI4People—an ethical framework for a good AI society’, Minds and Machines, 28(4), pp.689–707.</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Gomez-Uribe, C.A. and Hunt, N. (2015) ‘The Netflix recommender system’, ACM Transactions on Management Information Systems, 6(4), Article 13.</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Gracenote (2025) State of Play 2025. Gracenote, a Nielsen company. Released 5 November 2025.</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Helberger, N. (2019) ‘On the democratic role of news recommenders’, Digital Journalism, 7(8), pp.993–1012.</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Kotter, J.P. (1995) ‘Leading change: why transformation efforts fail’, Harvard Business Review, 73(2), pp.59–67.</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Mokoena, N. and Obagbuwa, I.C. (2025) ‘An analysis of artificial intelligence automation in digital music streaming platforms for improving consumer subscription responses: a review’, Frontiers in Artificial Intelligence, 7, Article 1515716.</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Napoli, P.M. (2014) ‘Automated media: an institutional theory perspective on algorithmic media production and consumption’, Communication Theory, 24(3), pp.340–360.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Pariser, E. (2011) The Filter Bubble. New York: Penguin Press.</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Porter, M.E. (2008) ‘The five competitive forces that shape strategy’, Harvard Business Review, 86(1), pp.78–93.</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Reichheld, F.F. (2003) ‘The one number you need to grow’, Harvard Business Review, 81(12), pp.46–54.</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Resnick, P. and Varian, H.R. (1997) ‘Recommender systems’, Communications of the ACM, 40(3), pp.56–58.</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Ricci, F., Rokach, L. and Shapira, B. (2015) Recommender Systems Handbook. 2nd edn. New York: Springer.</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Vial, G. (2019) ‘Understanding digital transformation: a review and a research agenda’, Journal of Strategic Information Systems, 28(2), pp.118–144.</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2026-10-25T01:55:46Z</dcterms:created>
  <dcterms:modified xsi:type="dcterms:W3CDTF">2026-10-25T01:55:46Z</dcterms:modified>
</cp:coreProperties>
</file>