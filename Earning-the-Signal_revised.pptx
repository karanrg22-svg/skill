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as the Digital Transformation Consultant, state the purpose, then name the three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TV+ is an original-content subscription service that competes on quality rather than library size. Its content is integrated across Apple devices. The challenge: use data to improve recommendations without limiting creativity. Stat: Antenna (2024) serial-churn figure for Apple TV+; industry churn via ABC News. Confirm both against the Antenna report before submission. Reichheld (2003): retention is cheaper than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recommender system helps people choose among many options by using patterns in other people's behaviour (Resnick and Varian, 1997). Netflix is the best-documented streaming example (Gomez-Uribe and Hunt, 2015). Apple states it collects data “to tailor features and offer personalised recommendations” (Apple Inc.,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Porter's Five Forces (Porter, 2008). The engine helps with the challenge by matching content to viewers at scale. The creativity concern comes from the engine steering which content is promoted.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Gracenote (2025): 49% likely to cancel over poor discovery (State of Play 2025, released 5 Nov 2025). Mokoena and Obagbuwa (2025) is a review of AI in music streaming, used here for its privacy, governance and bias risks. Conclusion: personalisation is necessary but not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writers, producers and content developers. Concern: heavy reliance on data could affect originality. TAM (Davis, 1989): usefulness and ease of use. Napoli (2014) on algorithms shaping media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model: Kotter (1995), eight steps condensed to six for Apple TV+. Barriers: fear of losing creative control, distrust of algorithms, skills gaps. Creative champions and feedback channels build digital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VRIO from Barney (1991). Honest verdict: valuable but not rare or hard to imitate, so the recommender alone gives parity. Scaling AI brings privacy, governance and bias risks (Mokoena and Obagbuwa, 2025). Optional Ansoff placement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Privacy: GDPR Article 5 purpose limitation (European Parliament and Council, 2016). Bias: Ricci et al. (2015). Principles from Floridi et al. (2018). The earlier App Tracking Transparency claim was dropped because it was unsourced.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first: the creative-team pilot, because it addresses the central challenge and builds the evidence the other two rest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evidence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in-text citation appears here. Verify the Antenna/ABC News figure against the original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5FB"/>
        </a:solidFill>
      </p:bgPr>
    </p:bg>
    <p:spTree>
      <p:nvGrpSpPr>
        <p:cNvPr id="1" name=""/>
        <p:cNvGrpSpPr/>
        <p:nvPr/>
      </p:nvGrpSpPr>
      <p:grpSpPr>
        <a:xfrm>
          <a:off x="0" y="0"/>
          <a:ext cx="0" cy="0"/>
          <a:chOff x="0" y="0"/>
          <a:chExt cx="0" cy="0"/>
        </a:xfrm>
      </p:grpSpPr>
      <p:sp>
        <p:nvSpPr>
          <p:cNvPr id="2" name="Text 0"/>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3" name="Text 1"/>
          <p:cNvSpPr txBox="1"/>
          <p:nvPr/>
        </p:nvSpPr>
        <p:spPr>
          <a:xfrm>
            <a:off x="914400" y="1371600"/>
            <a:ext cx="10332720" cy="10058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Using a Recommendation Engine at Apple TV+</a:t>
            </a:r>
            <a:endParaRPr lang="en-US" sz="4000" dirty="0"/>
          </a:p>
        </p:txBody>
      </p:sp>
      <p:sp>
        <p:nvSpPr>
          <p:cNvPr id="4" name="Text 2"/>
          <p:cNvSpPr txBox="1"/>
          <p:nvPr/>
        </p:nvSpPr>
        <p:spPr>
          <a:xfrm>
            <a:off x="914400" y="2468880"/>
            <a:ext cx="10332720" cy="548640"/>
          </a:xfrm>
          <a:prstGeom prst="rect">
            <a:avLst/>
          </a:prstGeom>
          <a:noFill/>
          <a:ln/>
        </p:spPr>
        <p:txBody>
          <a:bodyPr wrap="square" lIns="0" tIns="0" rIns="0" bIns="0" rtlCol="0" anchor="t"/>
          <a:lstStyle/>
          <a:p>
            <a:pPr algn="ctr" indent="0" marL="0">
              <a:buNone/>
            </a:pPr>
            <a:r>
              <a:rPr lang="en-US" sz="2200" dirty="0">
                <a:solidFill>
                  <a:srgbClr val="1E56A0"/>
                </a:solidFill>
                <a:latin typeface="Calibri" pitchFamily="34" charset="0"/>
                <a:ea typeface="Calibri" pitchFamily="34" charset="-122"/>
                <a:cs typeface="Calibri" pitchFamily="34" charset="-120"/>
              </a:rPr>
              <a:t>Personalisation without limiting creativity</a:t>
            </a:r>
            <a:endParaRPr lang="en-US" sz="2200" dirty="0"/>
          </a:p>
        </p:txBody>
      </p:sp>
      <p:sp>
        <p:nvSpPr>
          <p:cNvPr id="5" name="Text 3"/>
          <p:cNvSpPr txBox="1"/>
          <p:nvPr/>
        </p:nvSpPr>
        <p:spPr>
          <a:xfrm>
            <a:off x="1828800" y="3383280"/>
            <a:ext cx="8503920" cy="1920240"/>
          </a:xfrm>
          <a:prstGeom prst="rect">
            <a:avLst/>
          </a:prstGeom>
          <a:noFill/>
          <a:ln/>
        </p:spPr>
        <p:txBody>
          <a:bodyPr wrap="square" lIns="0" tIns="0" rIns="0" bIns="0" rtlCol="0" anchor="t"/>
          <a:lstStyle/>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I am presenting as Apple TV+’s Digital Transformation Consultant.</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Purpose: to analyse how a machine-learning recommendation engine could help Apple TV+ use data without limiting creativity.</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Structure: technology (Task 1), impact on creative teams (Task 2), and strategy, ethics and recommendations (Task 3).</a:t>
            </a:r>
            <a:endParaRPr lang="en-US" sz="1600" dirty="0"/>
          </a:p>
        </p:txBody>
      </p:sp>
      <p:sp>
        <p:nvSpPr>
          <p:cNvPr id="6" name="Text 4"/>
          <p:cNvSpPr txBox="1"/>
          <p:nvPr/>
        </p:nvSpPr>
        <p:spPr>
          <a:xfrm>
            <a:off x="914400" y="5669280"/>
            <a:ext cx="10332720" cy="365760"/>
          </a:xfrm>
          <a:prstGeom prst="rect">
            <a:avLst/>
          </a:prstGeom>
          <a:noFill/>
          <a:ln/>
        </p:spPr>
        <p:txBody>
          <a:bodyPr wrap="square" lIns="0" tIns="0" rIns="0" bIns="0" rtlCol="0" anchor="t"/>
          <a:lstStyle/>
          <a:p>
            <a:pPr algn="ctr" indent="0" marL="0">
              <a:buNone/>
            </a:pPr>
            <a:r>
              <a:rPr lang="en-US" sz="1600" b="1" dirty="0">
                <a:solidFill>
                  <a:srgbClr val="1E2761"/>
                </a:solidFill>
                <a:latin typeface="Calibri" pitchFamily="34" charset="0"/>
                <a:ea typeface="Calibri" pitchFamily="34" charset="-122"/>
                <a:cs typeface="Calibri" pitchFamily="34" charset="-120"/>
              </a:rPr>
              <a:t>SRN: [enter your SRN]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Apple TV+ and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5" name="Text 2"/>
          <p:cNvSpPr txBox="1"/>
          <p:nvPr/>
        </p:nvSpPr>
        <p:spPr>
          <a:xfrm>
            <a:off x="548640" y="137160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What it is</a:t>
            </a:r>
            <a:endParaRPr lang="en-US" sz="1500" dirty="0"/>
          </a:p>
        </p:txBody>
      </p:sp>
      <p:sp>
        <p:nvSpPr>
          <p:cNvPr id="6" name="Text 3"/>
          <p:cNvSpPr txBox="1"/>
          <p:nvPr/>
        </p:nvSpPr>
        <p:spPr>
          <a:xfrm>
            <a:off x="2286000" y="137160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Apple TV+ is an original-content subscription service. It competes on the quality of its programmes rather than the size of its library, so each title carries more weight.</a:t>
            </a:r>
            <a:endParaRPr lang="en-US" sz="1400" dirty="0"/>
          </a:p>
        </p:txBody>
      </p:sp>
      <p:sp>
        <p:nvSpPr>
          <p:cNvPr id="7" name="Text 4"/>
          <p:cNvSpPr txBox="1"/>
          <p:nvPr/>
        </p:nvSpPr>
        <p:spPr>
          <a:xfrm>
            <a:off x="548640" y="256032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Ecosystem</a:t>
            </a:r>
            <a:endParaRPr lang="en-US" sz="1500" dirty="0"/>
          </a:p>
        </p:txBody>
      </p:sp>
      <p:sp>
        <p:nvSpPr>
          <p:cNvPr id="8" name="Text 5"/>
          <p:cNvSpPr txBox="1"/>
          <p:nvPr/>
        </p:nvSpPr>
        <p:spPr>
          <a:xfrm>
            <a:off x="2286000" y="256032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Content is integrated across iPhone, iPad and other Apple devices, so the viewing experience follows the subscriber from screen to screen.</a:t>
            </a:r>
            <a:endParaRPr lang="en-US" sz="1400" dirty="0"/>
          </a:p>
        </p:txBody>
      </p:sp>
      <p:sp>
        <p:nvSpPr>
          <p:cNvPr id="9" name="Text 6"/>
          <p:cNvSpPr txBox="1"/>
          <p:nvPr/>
        </p:nvSpPr>
        <p:spPr>
          <a:xfrm>
            <a:off x="548640" y="374904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Our challenge</a:t>
            </a:r>
            <a:endParaRPr lang="en-US" sz="1500" dirty="0"/>
          </a:p>
        </p:txBody>
      </p:sp>
      <p:sp>
        <p:nvSpPr>
          <p:cNvPr id="10" name="Text 7"/>
          <p:cNvSpPr txBox="1"/>
          <p:nvPr/>
        </p:nvSpPr>
        <p:spPr>
          <a:xfrm>
            <a:off x="2286000" y="374904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Using data to improve recommendations without limiting creativity.</a:t>
            </a:r>
            <a:endParaRPr lang="en-US" sz="1400" dirty="0"/>
          </a:p>
        </p:txBody>
      </p:sp>
      <p:sp>
        <p:nvSpPr>
          <p:cNvPr id="11" name="Text 8"/>
          <p:cNvSpPr txBox="1"/>
          <p:nvPr/>
        </p:nvSpPr>
        <p:spPr>
          <a:xfrm>
            <a:off x="548640" y="493776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Why it matters</a:t>
            </a:r>
            <a:endParaRPr lang="en-US" sz="1500" dirty="0"/>
          </a:p>
        </p:txBody>
      </p:sp>
      <p:sp>
        <p:nvSpPr>
          <p:cNvPr id="12" name="Text 9"/>
          <p:cNvSpPr txBox="1"/>
          <p:nvPr/>
        </p:nvSpPr>
        <p:spPr>
          <a:xfrm>
            <a:off x="2286000" y="493776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Retention, competition with Netflix, Prime Video and Disney+, and the tension between creative and data-driven decisions inside the organisation.</a:t>
            </a:r>
            <a:endParaRPr lang="en-US" sz="1400" dirty="0"/>
          </a:p>
        </p:txBody>
      </p:sp>
      <p:sp>
        <p:nvSpPr>
          <p:cNvPr id="13" name="Shape 10"/>
          <p:cNvSpPr/>
          <p:nvPr/>
        </p:nvSpPr>
        <p:spPr>
          <a:xfrm>
            <a:off x="7772400" y="1371600"/>
            <a:ext cx="3840480" cy="4480560"/>
          </a:xfrm>
          <a:prstGeom prst="roundRect">
            <a:avLst>
              <a:gd name="adj" fmla="val 1905"/>
            </a:avLst>
          </a:prstGeom>
          <a:solidFill>
            <a:srgbClr val="F2F5FB"/>
          </a:solidFill>
          <a:ln w="12700">
            <a:solidFill>
              <a:srgbClr val="CADCFC"/>
            </a:solidFill>
            <a:prstDash val="solid"/>
          </a:ln>
        </p:spPr>
      </p:sp>
      <p:sp>
        <p:nvSpPr>
          <p:cNvPr id="14" name="Text 11"/>
          <p:cNvSpPr txBox="1"/>
          <p:nvPr/>
        </p:nvSpPr>
        <p:spPr>
          <a:xfrm>
            <a:off x="7955280" y="1645920"/>
            <a:ext cx="3474720" cy="1097280"/>
          </a:xfrm>
          <a:prstGeom prst="rect">
            <a:avLst/>
          </a:prstGeom>
          <a:noFill/>
          <a:ln/>
        </p:spPr>
        <p:txBody>
          <a:bodyPr wrap="square" lIns="0" tIns="0" rIns="0" bIns="0" rtlCol="0" anchor="ctr"/>
          <a:lstStyle/>
          <a:p>
            <a:pPr algn="ctr" indent="0" marL="0">
              <a:buNone/>
            </a:pPr>
            <a:r>
              <a:rPr lang="en-US" sz="6000" b="1" dirty="0">
                <a:solidFill>
                  <a:srgbClr val="1E2761"/>
                </a:solidFill>
                <a:latin typeface="Cambria" pitchFamily="34" charset="0"/>
                <a:ea typeface="Cambria" pitchFamily="34" charset="-122"/>
                <a:cs typeface="Cambria" pitchFamily="34" charset="-120"/>
              </a:rPr>
              <a:t>37.2%</a:t>
            </a:r>
            <a:endParaRPr lang="en-US" sz="6000" dirty="0"/>
          </a:p>
        </p:txBody>
      </p:sp>
      <p:sp>
        <p:nvSpPr>
          <p:cNvPr id="15" name="Text 12"/>
          <p:cNvSpPr txBox="1"/>
          <p:nvPr/>
        </p:nvSpPr>
        <p:spPr>
          <a:xfrm>
            <a:off x="8046720" y="2743200"/>
            <a:ext cx="3291840" cy="1554480"/>
          </a:xfrm>
          <a:prstGeom prst="rect">
            <a:avLst/>
          </a:prstGeom>
          <a:noFill/>
          <a:ln/>
        </p:spPr>
        <p:txBody>
          <a:bodyPr wrap="square" lIns="0" tIns="0" rIns="0" bIns="0" rtlCol="0" anchor="t"/>
          <a:lstStyle/>
          <a:p>
            <a:pPr algn="ctr" indent="0" marL="0">
              <a:buNone/>
            </a:pPr>
            <a:r>
              <a:rPr lang="en-US" sz="1400" dirty="0">
                <a:solidFill>
                  <a:srgbClr val="27314D"/>
                </a:solidFill>
                <a:latin typeface="Calibri" pitchFamily="34" charset="0"/>
                <a:ea typeface="Calibri" pitchFamily="34" charset="-122"/>
                <a:cs typeface="Calibri" pitchFamily="34" charset="-120"/>
              </a:rPr>
              <a:t>of Apple TV+ gross subscriber additions were returning subscribers who had cancelled within the prior 12 months, the highest serial-churn rate in the industry (Antenna, 2024)</a:t>
            </a:r>
            <a:endParaRPr lang="en-US" sz="1400" dirty="0"/>
          </a:p>
        </p:txBody>
      </p:sp>
      <p:sp>
        <p:nvSpPr>
          <p:cNvPr id="16" name="Text 13"/>
          <p:cNvSpPr txBox="1"/>
          <p:nvPr/>
        </p:nvSpPr>
        <p:spPr>
          <a:xfrm>
            <a:off x="8046720" y="4343400"/>
            <a:ext cx="3291840" cy="1371600"/>
          </a:xfrm>
          <a:prstGeom prst="rect">
            <a:avLst/>
          </a:prstGeom>
          <a:noFill/>
          <a:ln/>
        </p:spPr>
        <p:txBody>
          <a:bodyPr wrap="square" lIns="0" tIns="0" rIns="0" bIns="0" rtlCol="0" anchor="t"/>
          <a:lstStyle/>
          <a:p>
            <a:pPr algn="ctr" indent="0" marL="0">
              <a:buNone/>
            </a:pPr>
            <a:r>
              <a:rPr lang="en-US" sz="1200" i="1" dirty="0">
                <a:solidFill>
                  <a:srgbClr val="6B7590"/>
                </a:solidFill>
                <a:latin typeface="Calibri" pitchFamily="34" charset="0"/>
                <a:ea typeface="Calibri" pitchFamily="34" charset="-122"/>
                <a:cs typeface="Calibri" pitchFamily="34" charset="-120"/>
              </a:rPr>
              <a:t>Industry context: monthly churn across major US streaming services rose from 5.1% to 6.3% (Nov 2022 to Nov 2023). Retaining a subscriber costs less than acquiring one (Reichheld, 2003).</a:t>
            </a:r>
            <a:endParaRPr lang="en-US" sz="1200" dirty="0"/>
          </a:p>
        </p:txBody>
      </p:sp>
      <p:sp>
        <p:nvSpPr>
          <p:cNvPr id="17"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Antenna (2024); industry churn as reported by ABC News.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Technology: A Recommendation Engine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280160"/>
            <a:ext cx="11064240" cy="9144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A machine-learning recommendation engine learns from what viewers do and predicts what each viewer will want to watch next. Recommender systems help people choose among many options by drawing on patterns in collective behaviour (Resnick and Varian, 1997).</a:t>
            </a:r>
            <a:endParaRPr lang="en-US" sz="1500" dirty="0"/>
          </a:p>
        </p:txBody>
      </p:sp>
      <p:sp>
        <p:nvSpPr>
          <p:cNvPr id="6" name="Shape 3"/>
          <p:cNvSpPr/>
          <p:nvPr/>
        </p:nvSpPr>
        <p:spPr>
          <a:xfrm>
            <a:off x="548640" y="2468880"/>
            <a:ext cx="3108960" cy="1828800"/>
          </a:xfrm>
          <a:prstGeom prst="roundRect">
            <a:avLst>
              <a:gd name="adj" fmla="val 4000"/>
            </a:avLst>
          </a:prstGeom>
          <a:solidFill>
            <a:srgbClr val="F2F5FB"/>
          </a:solidFill>
          <a:ln w="12700">
            <a:solidFill>
              <a:srgbClr val="CADCFC"/>
            </a:solidFill>
            <a:prstDash val="solid"/>
          </a:ln>
        </p:spPr>
      </p:sp>
      <p:sp>
        <p:nvSpPr>
          <p:cNvPr id="7" name="Text 4"/>
          <p:cNvSpPr txBox="1"/>
          <p:nvPr/>
        </p:nvSpPr>
        <p:spPr>
          <a:xfrm>
            <a:off x="73152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Input</a:t>
            </a:r>
            <a:endParaRPr lang="en-US" sz="1700" dirty="0"/>
          </a:p>
        </p:txBody>
      </p:sp>
      <p:sp>
        <p:nvSpPr>
          <p:cNvPr id="8" name="Text 5"/>
          <p:cNvSpPr txBox="1"/>
          <p:nvPr/>
        </p:nvSpPr>
        <p:spPr>
          <a:xfrm>
            <a:off x="73152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Viewing history, searches, and behaviour signals such as pauses and rewinds</a:t>
            </a:r>
            <a:endParaRPr lang="en-US" sz="1400" dirty="0"/>
          </a:p>
        </p:txBody>
      </p:sp>
      <p:sp>
        <p:nvSpPr>
          <p:cNvPr id="9" name="Shape 6"/>
          <p:cNvSpPr/>
          <p:nvPr/>
        </p:nvSpPr>
        <p:spPr>
          <a:xfrm>
            <a:off x="3794760" y="3200400"/>
            <a:ext cx="640080" cy="365760"/>
          </a:xfrm>
          <a:prstGeom prst="rightArrow">
            <a:avLst/>
          </a:prstGeom>
          <a:solidFill>
            <a:srgbClr val="1E56A0"/>
          </a:solidFill>
          <a:ln w="12700">
            <a:solidFill>
              <a:srgbClr val="1E56A0"/>
            </a:solidFill>
            <a:prstDash val="solid"/>
          </a:ln>
        </p:spPr>
      </p:sp>
      <p:sp>
        <p:nvSpPr>
          <p:cNvPr id="10" name="Shape 7"/>
          <p:cNvSpPr/>
          <p:nvPr/>
        </p:nvSpPr>
        <p:spPr>
          <a:xfrm>
            <a:off x="4526280" y="2468880"/>
            <a:ext cx="3108960" cy="1828800"/>
          </a:xfrm>
          <a:prstGeom prst="roundRect">
            <a:avLst>
              <a:gd name="adj" fmla="val 4000"/>
            </a:avLst>
          </a:prstGeom>
          <a:solidFill>
            <a:srgbClr val="1E2761"/>
          </a:solidFill>
          <a:ln w="12700">
            <a:solidFill>
              <a:srgbClr val="1E2761"/>
            </a:solidFill>
            <a:prstDash val="solid"/>
          </a:ln>
        </p:spPr>
      </p:sp>
      <p:sp>
        <p:nvSpPr>
          <p:cNvPr id="11" name="Text 8"/>
          <p:cNvSpPr txBox="1"/>
          <p:nvPr/>
        </p:nvSpPr>
        <p:spPr>
          <a:xfrm>
            <a:off x="4709160" y="2560320"/>
            <a:ext cx="2743200" cy="41148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Process</a:t>
            </a:r>
            <a:endParaRPr lang="en-US" sz="1700" dirty="0"/>
          </a:p>
        </p:txBody>
      </p:sp>
      <p:sp>
        <p:nvSpPr>
          <p:cNvPr id="12" name="Text 9"/>
          <p:cNvSpPr txBox="1"/>
          <p:nvPr/>
        </p:nvSpPr>
        <p:spPr>
          <a:xfrm>
            <a:off x="4709160" y="3017520"/>
            <a:ext cx="2743200" cy="11887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Machine learning finds patterns and predicts what each viewer wants next</a:t>
            </a:r>
            <a:endParaRPr lang="en-US" sz="1400" dirty="0"/>
          </a:p>
        </p:txBody>
      </p:sp>
      <p:sp>
        <p:nvSpPr>
          <p:cNvPr id="13" name="Shape 10"/>
          <p:cNvSpPr/>
          <p:nvPr/>
        </p:nvSpPr>
        <p:spPr>
          <a:xfrm>
            <a:off x="7772400" y="3200400"/>
            <a:ext cx="640080" cy="365760"/>
          </a:xfrm>
          <a:prstGeom prst="rightArrow">
            <a:avLst/>
          </a:prstGeom>
          <a:solidFill>
            <a:srgbClr val="1E56A0"/>
          </a:solidFill>
          <a:ln w="12700">
            <a:solidFill>
              <a:srgbClr val="1E56A0"/>
            </a:solidFill>
            <a:prstDash val="solid"/>
          </a:ln>
        </p:spPr>
      </p:sp>
      <p:sp>
        <p:nvSpPr>
          <p:cNvPr id="14" name="Shape 11"/>
          <p:cNvSpPr/>
          <p:nvPr/>
        </p:nvSpPr>
        <p:spPr>
          <a:xfrm>
            <a:off x="8503920" y="2468880"/>
            <a:ext cx="3108960" cy="1828800"/>
          </a:xfrm>
          <a:prstGeom prst="roundRect">
            <a:avLst>
              <a:gd name="adj" fmla="val 4000"/>
            </a:avLst>
          </a:prstGeom>
          <a:solidFill>
            <a:srgbClr val="F2F5FB"/>
          </a:solidFill>
          <a:ln w="12700">
            <a:solidFill>
              <a:srgbClr val="CADCFC"/>
            </a:solidFill>
            <a:prstDash val="solid"/>
          </a:ln>
        </p:spPr>
      </p:sp>
      <p:sp>
        <p:nvSpPr>
          <p:cNvPr id="15" name="Text 12"/>
          <p:cNvSpPr txBox="1"/>
          <p:nvPr/>
        </p:nvSpPr>
        <p:spPr>
          <a:xfrm>
            <a:off x="868680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Output</a:t>
            </a:r>
            <a:endParaRPr lang="en-US" sz="1700" dirty="0"/>
          </a:p>
        </p:txBody>
      </p:sp>
      <p:sp>
        <p:nvSpPr>
          <p:cNvPr id="16" name="Text 13"/>
          <p:cNvSpPr txBox="1"/>
          <p:nvPr/>
        </p:nvSpPr>
        <p:spPr>
          <a:xfrm>
            <a:off x="868680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 personalised home screen and “what to watch next” suggestions</a:t>
            </a:r>
            <a:endParaRPr lang="en-US" sz="1400" dirty="0"/>
          </a:p>
        </p:txBody>
      </p:sp>
      <p:sp>
        <p:nvSpPr>
          <p:cNvPr id="17"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1: Input, process and output of a recommendation engine. Adapted from Resnick and Varian (1997) and Gomez-Uribe and Hunt (2015).</a:t>
            </a:r>
            <a:endParaRPr lang="en-US" sz="1100" dirty="0"/>
          </a:p>
        </p:txBody>
      </p:sp>
      <p:sp>
        <p:nvSpPr>
          <p:cNvPr id="18" name="Text 15"/>
          <p:cNvSpPr txBox="1"/>
          <p:nvPr/>
        </p:nvSpPr>
        <p:spPr>
          <a:xfrm>
            <a:off x="548640" y="4663440"/>
            <a:ext cx="11064240" cy="146304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Example: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Netflix personalises rows and titles for each member, and estimates the system is worth over $1 billion a year in retained subscribers (Gomez-Uribe and Hunt, 2015).</a:t>
            </a:r>
            <a:endParaRPr lang="en-US" sz="1400" dirty="0"/>
          </a:p>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Apple’s disclosure: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viewing and activity data is collected “to tailor features and offer personalised recommendations” (Apple Inc., 2025).</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How the Engine Addresses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371600"/>
            <a:ext cx="6035040" cy="47548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Matching at scale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matches a small, high-quality catalogue to millions of different viewers, so good original content is found rather than buried.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Rivalry with Netflix, Prime Video and Disney+</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Better discovery raises the value of each subscription, but rivals run similar engines, so it protects position rather than creating a lead.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Buyer switching power</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Switching costs are low. A profile that has learned a viewer’s taste adds a small cost to leaving.</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F96167"/>
                </a:solidFill>
                <a:latin typeface="Calibri" pitchFamily="34" charset="0"/>
                <a:ea typeface="Calibri" pitchFamily="34" charset="-122"/>
                <a:cs typeface="Calibri" pitchFamily="34" charset="-120"/>
              </a:rPr>
              <a:t>The creativity side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can steer which content is promoted. This is where creative teams’ concern comes from.</a:t>
            </a:r>
            <a:endParaRPr lang="en-US" sz="1400" dirty="0"/>
          </a:p>
        </p:txBody>
      </p:sp>
      <p:sp>
        <p:nvSpPr>
          <p:cNvPr id="6" name="Shape 3"/>
          <p:cNvSpPr/>
          <p:nvPr/>
        </p:nvSpPr>
        <p:spPr>
          <a:xfrm>
            <a:off x="6949440" y="1371600"/>
            <a:ext cx="4663440" cy="4572000"/>
          </a:xfrm>
          <a:prstGeom prst="roundRect">
            <a:avLst>
              <a:gd name="adj" fmla="val 1600"/>
            </a:avLst>
          </a:prstGeom>
          <a:solidFill>
            <a:srgbClr val="F2F5FB"/>
          </a:solidFill>
          <a:ln w="12700">
            <a:solidFill>
              <a:srgbClr val="CADCFC"/>
            </a:solidFill>
            <a:prstDash val="solid"/>
          </a:ln>
        </p:spPr>
      </p:sp>
      <p:sp>
        <p:nvSpPr>
          <p:cNvPr id="7" name="Text 4"/>
          <p:cNvSpPr txBox="1"/>
          <p:nvPr/>
        </p:nvSpPr>
        <p:spPr>
          <a:xfrm>
            <a:off x="7132320" y="1463040"/>
            <a:ext cx="4297680" cy="365760"/>
          </a:xfrm>
          <a:prstGeom prst="rect">
            <a:avLst/>
          </a:prstGeom>
          <a:noFill/>
          <a:ln/>
        </p:spPr>
        <p:txBody>
          <a:bodyPr wrap="square" lIns="0" tIns="0" rIns="0" bIns="0" rtlCol="0" anchor="t"/>
          <a:lstStyle/>
          <a:p>
            <a:pPr algn="ctr" indent="0" marL="0">
              <a:buNone/>
            </a:pPr>
            <a:r>
              <a:rPr lang="en-US" sz="1500" b="1" dirty="0">
                <a:solidFill>
                  <a:srgbClr val="1E2761"/>
                </a:solidFill>
                <a:latin typeface="Calibri" pitchFamily="34" charset="0"/>
                <a:ea typeface="Calibri" pitchFamily="34" charset="-122"/>
                <a:cs typeface="Calibri" pitchFamily="34" charset="-120"/>
              </a:rPr>
              <a:t>Porter’s Five Forces</a:t>
            </a:r>
            <a:endParaRPr lang="en-US" sz="1500" dirty="0"/>
          </a:p>
        </p:txBody>
      </p:sp>
      <p:sp>
        <p:nvSpPr>
          <p:cNvPr id="8" name="Shape 5"/>
          <p:cNvSpPr/>
          <p:nvPr/>
        </p:nvSpPr>
        <p:spPr>
          <a:xfrm>
            <a:off x="8595360" y="2011680"/>
            <a:ext cx="1371600" cy="914400"/>
          </a:xfrm>
          <a:prstGeom prst="roundRect">
            <a:avLst>
              <a:gd name="adj" fmla="val 8000"/>
            </a:avLst>
          </a:prstGeom>
          <a:solidFill>
            <a:srgbClr val="FFFFFF"/>
          </a:solidFill>
          <a:ln w="12700">
            <a:solidFill>
              <a:srgbClr val="CADCFC"/>
            </a:solidFill>
            <a:prstDash val="solid"/>
          </a:ln>
        </p:spPr>
      </p:sp>
      <p:sp>
        <p:nvSpPr>
          <p:cNvPr id="9" name="Text 6"/>
          <p:cNvSpPr txBox="1"/>
          <p:nvPr/>
        </p:nvSpPr>
        <p:spPr>
          <a:xfrm>
            <a:off x="8641080" y="201168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New entrants</a:t>
            </a:r>
            <a:endParaRPr lang="en-US" sz="1200" dirty="0"/>
          </a:p>
        </p:txBody>
      </p:sp>
      <p:sp>
        <p:nvSpPr>
          <p:cNvPr id="10" name="Shape 7"/>
          <p:cNvSpPr/>
          <p:nvPr/>
        </p:nvSpPr>
        <p:spPr>
          <a:xfrm>
            <a:off x="7086600" y="3246120"/>
            <a:ext cx="1371600" cy="914400"/>
          </a:xfrm>
          <a:prstGeom prst="roundRect">
            <a:avLst>
              <a:gd name="adj" fmla="val 8000"/>
            </a:avLst>
          </a:prstGeom>
          <a:solidFill>
            <a:srgbClr val="FFFFFF"/>
          </a:solidFill>
          <a:ln w="12700">
            <a:solidFill>
              <a:srgbClr val="CADCFC"/>
            </a:solidFill>
            <a:prstDash val="solid"/>
          </a:ln>
        </p:spPr>
      </p:sp>
      <p:sp>
        <p:nvSpPr>
          <p:cNvPr id="11" name="Text 8"/>
          <p:cNvSpPr txBox="1"/>
          <p:nvPr/>
        </p:nvSpPr>
        <p:spPr>
          <a:xfrm>
            <a:off x="7132320" y="324612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Supplier power</a:t>
            </a:r>
            <a:endParaRPr lang="en-US" sz="1200" dirty="0"/>
          </a:p>
        </p:txBody>
      </p:sp>
      <p:sp>
        <p:nvSpPr>
          <p:cNvPr id="12" name="Shape 9"/>
          <p:cNvSpPr/>
          <p:nvPr/>
        </p:nvSpPr>
        <p:spPr>
          <a:xfrm>
            <a:off x="8595360" y="3246120"/>
            <a:ext cx="1371600" cy="914400"/>
          </a:xfrm>
          <a:prstGeom prst="roundRect">
            <a:avLst>
              <a:gd name="adj" fmla="val 8000"/>
            </a:avLst>
          </a:prstGeom>
          <a:solidFill>
            <a:srgbClr val="1E2761"/>
          </a:solidFill>
          <a:ln w="12700">
            <a:solidFill>
              <a:srgbClr val="1E2761"/>
            </a:solidFill>
            <a:prstDash val="solid"/>
          </a:ln>
        </p:spPr>
      </p:sp>
      <p:sp>
        <p:nvSpPr>
          <p:cNvPr id="13" name="Text 10"/>
          <p:cNvSpPr txBox="1"/>
          <p:nvPr/>
        </p:nvSpPr>
        <p:spPr>
          <a:xfrm>
            <a:off x="864108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Rivalry with Netflix, Prime, Disney+</a:t>
            </a:r>
            <a:endParaRPr lang="en-US" sz="1200" dirty="0"/>
          </a:p>
        </p:txBody>
      </p:sp>
      <p:sp>
        <p:nvSpPr>
          <p:cNvPr id="14" name="Shape 11"/>
          <p:cNvSpPr/>
          <p:nvPr/>
        </p:nvSpPr>
        <p:spPr>
          <a:xfrm>
            <a:off x="10104120" y="3246120"/>
            <a:ext cx="1371600" cy="914400"/>
          </a:xfrm>
          <a:prstGeom prst="roundRect">
            <a:avLst>
              <a:gd name="adj" fmla="val 8000"/>
            </a:avLst>
          </a:prstGeom>
          <a:solidFill>
            <a:srgbClr val="1E2761"/>
          </a:solidFill>
          <a:ln w="12700">
            <a:solidFill>
              <a:srgbClr val="1E2761"/>
            </a:solidFill>
            <a:prstDash val="solid"/>
          </a:ln>
        </p:spPr>
      </p:sp>
      <p:sp>
        <p:nvSpPr>
          <p:cNvPr id="15" name="Text 12"/>
          <p:cNvSpPr txBox="1"/>
          <p:nvPr/>
        </p:nvSpPr>
        <p:spPr>
          <a:xfrm>
            <a:off x="1014984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Buyer power (switching)</a:t>
            </a:r>
            <a:endParaRPr lang="en-US" sz="1200" dirty="0"/>
          </a:p>
        </p:txBody>
      </p:sp>
      <p:sp>
        <p:nvSpPr>
          <p:cNvPr id="16" name="Shape 13"/>
          <p:cNvSpPr/>
          <p:nvPr/>
        </p:nvSpPr>
        <p:spPr>
          <a:xfrm>
            <a:off x="8595360" y="4480560"/>
            <a:ext cx="1371600" cy="914400"/>
          </a:xfrm>
          <a:prstGeom prst="roundRect">
            <a:avLst>
              <a:gd name="adj" fmla="val 8000"/>
            </a:avLst>
          </a:prstGeom>
          <a:solidFill>
            <a:srgbClr val="FFFFFF"/>
          </a:solidFill>
          <a:ln w="12700">
            <a:solidFill>
              <a:srgbClr val="CADCFC"/>
            </a:solidFill>
            <a:prstDash val="solid"/>
          </a:ln>
        </p:spPr>
      </p:sp>
      <p:sp>
        <p:nvSpPr>
          <p:cNvPr id="17" name="Text 14"/>
          <p:cNvSpPr txBox="1"/>
          <p:nvPr/>
        </p:nvSpPr>
        <p:spPr>
          <a:xfrm>
            <a:off x="8641080" y="448056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Substitutes</a:t>
            </a:r>
            <a:endParaRPr lang="en-US" sz="1200" dirty="0"/>
          </a:p>
        </p:txBody>
      </p:sp>
      <p:sp>
        <p:nvSpPr>
          <p:cNvPr id="18" name="Text 1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2: Porter’s Five Forces (adapted from Porter, 2008). Highlighted forces are the two the recommender changes most.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Benefits and Limitations of Personalisation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Shape 2"/>
          <p:cNvSpPr/>
          <p:nvPr/>
        </p:nvSpPr>
        <p:spPr>
          <a:xfrm>
            <a:off x="548640" y="1371600"/>
            <a:ext cx="5394960" cy="411480"/>
          </a:xfrm>
          <a:prstGeom prst="rect">
            <a:avLst/>
          </a:prstGeom>
          <a:solidFill>
            <a:srgbClr val="1E56A0"/>
          </a:solidFill>
          <a:ln w="12700">
            <a:solidFill>
              <a:srgbClr val="1E56A0"/>
            </a:solidFill>
            <a:prstDash val="solid"/>
          </a:ln>
        </p:spPr>
      </p:sp>
      <p:sp>
        <p:nvSpPr>
          <p:cNvPr id="6" name="Text 3"/>
          <p:cNvSpPr txBox="1"/>
          <p:nvPr/>
        </p:nvSpPr>
        <p:spPr>
          <a:xfrm>
            <a:off x="68580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Benefits</a:t>
            </a:r>
            <a:endParaRPr lang="en-US" sz="1500" dirty="0"/>
          </a:p>
        </p:txBody>
      </p:sp>
      <p:sp>
        <p:nvSpPr>
          <p:cNvPr id="7" name="Shape 4"/>
          <p:cNvSpPr/>
          <p:nvPr/>
        </p:nvSpPr>
        <p:spPr>
          <a:xfrm>
            <a:off x="548640" y="1828800"/>
            <a:ext cx="5394960" cy="914400"/>
          </a:xfrm>
          <a:prstGeom prst="rect">
            <a:avLst/>
          </a:prstGeom>
          <a:solidFill>
            <a:srgbClr val="F2F5FB"/>
          </a:solidFill>
          <a:ln w="9525">
            <a:solidFill>
              <a:srgbClr val="CADCFC"/>
            </a:solidFill>
            <a:prstDash val="solid"/>
          </a:ln>
        </p:spPr>
      </p:sp>
      <p:sp>
        <p:nvSpPr>
          <p:cNvPr id="8" name="Text 5"/>
          <p:cNvSpPr txBox="1"/>
          <p:nvPr/>
        </p:nvSpPr>
        <p:spPr>
          <a:xfrm>
            <a:off x="685800" y="18745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Discovery. </a:t>
            </a:r>
            <a:pPr indent="0" marL="0">
              <a:buNone/>
            </a:pPr>
            <a:r>
              <a:rPr lang="en-US" sz="1250" dirty="0">
                <a:solidFill>
                  <a:srgbClr val="27314D"/>
                </a:solidFill>
                <a:latin typeface="Calibri" pitchFamily="34" charset="0"/>
                <a:ea typeface="Calibri" pitchFamily="34" charset="-122"/>
                <a:cs typeface="Calibri" pitchFamily="34" charset="-120"/>
              </a:rPr>
              <a:t>Poor discovery costs subscribers: 49% of viewers say they are likely to cancel if they cannot find something to watch (Gracenote, 2025).</a:t>
            </a:r>
            <a:endParaRPr lang="en-US" sz="1250" dirty="0"/>
          </a:p>
        </p:txBody>
      </p:sp>
      <p:sp>
        <p:nvSpPr>
          <p:cNvPr id="9" name="Shape 6"/>
          <p:cNvSpPr/>
          <p:nvPr/>
        </p:nvSpPr>
        <p:spPr>
          <a:xfrm>
            <a:off x="548640" y="2743200"/>
            <a:ext cx="5394960" cy="914400"/>
          </a:xfrm>
          <a:prstGeom prst="rect">
            <a:avLst/>
          </a:prstGeom>
          <a:solidFill>
            <a:srgbClr val="FFFFFF"/>
          </a:solidFill>
          <a:ln w="9525">
            <a:solidFill>
              <a:srgbClr val="CADCFC"/>
            </a:solidFill>
            <a:prstDash val="solid"/>
          </a:ln>
        </p:spPr>
      </p:sp>
      <p:sp>
        <p:nvSpPr>
          <p:cNvPr id="10" name="Text 7"/>
          <p:cNvSpPr txBox="1"/>
          <p:nvPr/>
        </p:nvSpPr>
        <p:spPr>
          <a:xfrm>
            <a:off x="685800" y="27889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Engagement. </a:t>
            </a:r>
            <a:pPr indent="0" marL="0">
              <a:buNone/>
            </a:pPr>
            <a:r>
              <a:rPr lang="en-US" sz="1250" dirty="0">
                <a:solidFill>
                  <a:srgbClr val="27314D"/>
                </a:solidFill>
                <a:latin typeface="Calibri" pitchFamily="34" charset="0"/>
                <a:ea typeface="Calibri" pitchFamily="34" charset="-122"/>
                <a:cs typeface="Calibri" pitchFamily="34" charset="-120"/>
              </a:rPr>
              <a:t>Personalised rows and titles increase viewing and use of the service (Gomez-Uribe and Hunt, 2015).</a:t>
            </a:r>
            <a:endParaRPr lang="en-US" sz="1250" dirty="0"/>
          </a:p>
        </p:txBody>
      </p:sp>
      <p:sp>
        <p:nvSpPr>
          <p:cNvPr id="11" name="Shape 8"/>
          <p:cNvSpPr/>
          <p:nvPr/>
        </p:nvSpPr>
        <p:spPr>
          <a:xfrm>
            <a:off x="548640" y="3657600"/>
            <a:ext cx="5394960" cy="1097280"/>
          </a:xfrm>
          <a:prstGeom prst="rect">
            <a:avLst/>
          </a:prstGeom>
          <a:solidFill>
            <a:srgbClr val="F2F5FB"/>
          </a:solidFill>
          <a:ln w="9525">
            <a:solidFill>
              <a:srgbClr val="CADCFC"/>
            </a:solidFill>
            <a:prstDash val="solid"/>
          </a:ln>
        </p:spPr>
      </p:sp>
      <p:sp>
        <p:nvSpPr>
          <p:cNvPr id="12" name="Text 9"/>
          <p:cNvSpPr txBox="1"/>
          <p:nvPr/>
        </p:nvSpPr>
        <p:spPr>
          <a:xfrm>
            <a:off x="685800" y="3703320"/>
            <a:ext cx="5120640" cy="10058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Retention. </a:t>
            </a:r>
            <a:pPr indent="0" marL="0">
              <a:buNone/>
            </a:pPr>
            <a:r>
              <a:rPr lang="en-US" sz="1250" dirty="0">
                <a:solidFill>
                  <a:srgbClr val="27314D"/>
                </a:solidFill>
                <a:latin typeface="Calibri" pitchFamily="34" charset="0"/>
                <a:ea typeface="Calibri" pitchFamily="34" charset="-122"/>
                <a:cs typeface="Calibri" pitchFamily="34" charset="-120"/>
              </a:rPr>
              <a:t>Better discovery reduces cancellations; Netflix values its recommender at over $1bn a year (Gomez-Uribe and Hunt, 2015; Reichheld, 2003).</a:t>
            </a:r>
            <a:endParaRPr lang="en-US" sz="1250" dirty="0"/>
          </a:p>
        </p:txBody>
      </p:sp>
      <p:sp>
        <p:nvSpPr>
          <p:cNvPr id="13" name="Shape 10"/>
          <p:cNvSpPr/>
          <p:nvPr/>
        </p:nvSpPr>
        <p:spPr>
          <a:xfrm>
            <a:off x="6217920" y="1371600"/>
            <a:ext cx="5394960" cy="411480"/>
          </a:xfrm>
          <a:prstGeom prst="rect">
            <a:avLst/>
          </a:prstGeom>
          <a:solidFill>
            <a:srgbClr val="F96167"/>
          </a:solidFill>
          <a:ln w="12700">
            <a:solidFill>
              <a:srgbClr val="F96167"/>
            </a:solidFill>
            <a:prstDash val="solid"/>
          </a:ln>
        </p:spPr>
      </p:sp>
      <p:sp>
        <p:nvSpPr>
          <p:cNvPr id="14" name="Text 11"/>
          <p:cNvSpPr txBox="1"/>
          <p:nvPr/>
        </p:nvSpPr>
        <p:spPr>
          <a:xfrm>
            <a:off x="635508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5" name="Shape 12"/>
          <p:cNvSpPr/>
          <p:nvPr/>
        </p:nvSpPr>
        <p:spPr>
          <a:xfrm>
            <a:off x="6217920" y="1828800"/>
            <a:ext cx="5394960" cy="731520"/>
          </a:xfrm>
          <a:prstGeom prst="rect">
            <a:avLst/>
          </a:prstGeom>
          <a:solidFill>
            <a:srgbClr val="F2F5FB"/>
          </a:solidFill>
          <a:ln w="9525">
            <a:solidFill>
              <a:srgbClr val="CADCFC"/>
            </a:solidFill>
            <a:prstDash val="solid"/>
          </a:ln>
        </p:spPr>
      </p:sp>
      <p:sp>
        <p:nvSpPr>
          <p:cNvPr id="16" name="Text 13"/>
          <p:cNvSpPr txBox="1"/>
          <p:nvPr/>
        </p:nvSpPr>
        <p:spPr>
          <a:xfrm>
            <a:off x="6355080" y="187452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Narrowing. </a:t>
            </a:r>
            <a:pPr indent="0" marL="0">
              <a:buNone/>
            </a:pPr>
            <a:r>
              <a:rPr lang="en-US" sz="1250" dirty="0">
                <a:solidFill>
                  <a:srgbClr val="27314D"/>
                </a:solidFill>
                <a:latin typeface="Calibri" pitchFamily="34" charset="0"/>
                <a:ea typeface="Calibri" pitchFamily="34" charset="-122"/>
                <a:cs typeface="Calibri" pitchFamily="34" charset="-120"/>
              </a:rPr>
              <a:t>Models reinforce past viewing and narrow what is shown (Ricci, Rokach and Shapira, 2015).</a:t>
            </a:r>
            <a:endParaRPr lang="en-US" sz="1250" dirty="0"/>
          </a:p>
        </p:txBody>
      </p:sp>
      <p:sp>
        <p:nvSpPr>
          <p:cNvPr id="17" name="Shape 14"/>
          <p:cNvSpPr/>
          <p:nvPr/>
        </p:nvSpPr>
        <p:spPr>
          <a:xfrm>
            <a:off x="6217920" y="2560320"/>
            <a:ext cx="5394960" cy="731520"/>
          </a:xfrm>
          <a:prstGeom prst="rect">
            <a:avLst/>
          </a:prstGeom>
          <a:solidFill>
            <a:srgbClr val="FFFFFF"/>
          </a:solidFill>
          <a:ln w="9525">
            <a:solidFill>
              <a:srgbClr val="CADCFC"/>
            </a:solidFill>
            <a:prstDash val="solid"/>
          </a:ln>
        </p:spPr>
      </p:sp>
      <p:sp>
        <p:nvSpPr>
          <p:cNvPr id="18" name="Text 15"/>
          <p:cNvSpPr txBox="1"/>
          <p:nvPr/>
        </p:nvSpPr>
        <p:spPr>
          <a:xfrm>
            <a:off x="6355080" y="260604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Less diversity. </a:t>
            </a:r>
            <a:pPr indent="0" marL="0">
              <a:buNone/>
            </a:pPr>
            <a:r>
              <a:rPr lang="en-US" sz="1250" dirty="0">
                <a:solidFill>
                  <a:srgbClr val="27314D"/>
                </a:solidFill>
                <a:latin typeface="Calibri" pitchFamily="34" charset="0"/>
                <a:ea typeface="Calibri" pitchFamily="34" charset="-122"/>
                <a:cs typeface="Calibri" pitchFamily="34" charset="-120"/>
              </a:rPr>
              <a:t>Personalised feeds can reduce exposure to varied content (Helberger, 2019).</a:t>
            </a:r>
            <a:endParaRPr lang="en-US" sz="1250" dirty="0"/>
          </a:p>
        </p:txBody>
      </p:sp>
      <p:sp>
        <p:nvSpPr>
          <p:cNvPr id="19" name="Shape 16"/>
          <p:cNvSpPr/>
          <p:nvPr/>
        </p:nvSpPr>
        <p:spPr>
          <a:xfrm>
            <a:off x="6217920" y="3291840"/>
            <a:ext cx="5394960" cy="731520"/>
          </a:xfrm>
          <a:prstGeom prst="rect">
            <a:avLst/>
          </a:prstGeom>
          <a:solidFill>
            <a:srgbClr val="F2F5FB"/>
          </a:solidFill>
          <a:ln w="9525">
            <a:solidFill>
              <a:srgbClr val="CADCFC"/>
            </a:solidFill>
            <a:prstDash val="solid"/>
          </a:ln>
        </p:spPr>
      </p:sp>
      <p:sp>
        <p:nvSpPr>
          <p:cNvPr id="20" name="Text 17"/>
          <p:cNvSpPr txBox="1"/>
          <p:nvPr/>
        </p:nvSpPr>
        <p:spPr>
          <a:xfrm>
            <a:off x="6355080" y="333756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Creative originality. </a:t>
            </a:r>
            <a:pPr indent="0" marL="0">
              <a:buNone/>
            </a:pPr>
            <a:r>
              <a:rPr lang="en-US" sz="1250" dirty="0">
                <a:solidFill>
                  <a:srgbClr val="27314D"/>
                </a:solidFill>
                <a:latin typeface="Calibri" pitchFamily="34" charset="0"/>
                <a:ea typeface="Calibri" pitchFamily="34" charset="-122"/>
                <a:cs typeface="Calibri" pitchFamily="34" charset="-120"/>
              </a:rPr>
              <a:t>Data-led promotion can favour familiar formats over new ideas (Napoli, 2014).</a:t>
            </a:r>
            <a:endParaRPr lang="en-US" sz="1250" dirty="0"/>
          </a:p>
        </p:txBody>
      </p:sp>
      <p:sp>
        <p:nvSpPr>
          <p:cNvPr id="21" name="Shape 18"/>
          <p:cNvSpPr/>
          <p:nvPr/>
        </p:nvSpPr>
        <p:spPr>
          <a:xfrm>
            <a:off x="6217920" y="4023360"/>
            <a:ext cx="5394960" cy="731520"/>
          </a:xfrm>
          <a:prstGeom prst="rect">
            <a:avLst/>
          </a:prstGeom>
          <a:solidFill>
            <a:srgbClr val="FFFFFF"/>
          </a:solidFill>
          <a:ln w="9525">
            <a:solidFill>
              <a:srgbClr val="CADCFC"/>
            </a:solidFill>
            <a:prstDash val="solid"/>
          </a:ln>
        </p:spPr>
      </p:sp>
      <p:sp>
        <p:nvSpPr>
          <p:cNvPr id="22" name="Text 19"/>
          <p:cNvSpPr txBox="1"/>
          <p:nvPr/>
        </p:nvSpPr>
        <p:spPr>
          <a:xfrm>
            <a:off x="6355080" y="406908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Data quality. </a:t>
            </a:r>
            <a:pPr indent="0" marL="0">
              <a:buNone/>
            </a:pPr>
            <a:r>
              <a:rPr lang="en-US" sz="1250" dirty="0">
                <a:solidFill>
                  <a:srgbClr val="27314D"/>
                </a:solidFill>
                <a:latin typeface="Calibri" pitchFamily="34" charset="0"/>
                <a:ea typeface="Calibri" pitchFamily="34" charset="-122"/>
                <a:cs typeface="Calibri" pitchFamily="34" charset="-120"/>
              </a:rPr>
              <a:t>Output is only as good as the data and signals behind it (Ricci et al., 2015).</a:t>
            </a:r>
            <a:endParaRPr lang="en-US" sz="1250" dirty="0"/>
          </a:p>
        </p:txBody>
      </p:sp>
      <p:sp>
        <p:nvSpPr>
          <p:cNvPr id="23" name="Shape 20"/>
          <p:cNvSpPr/>
          <p:nvPr/>
        </p:nvSpPr>
        <p:spPr>
          <a:xfrm>
            <a:off x="6217920" y="4754880"/>
            <a:ext cx="5394960" cy="731520"/>
          </a:xfrm>
          <a:prstGeom prst="rect">
            <a:avLst/>
          </a:prstGeom>
          <a:solidFill>
            <a:srgbClr val="F2F5FB"/>
          </a:solidFill>
          <a:ln w="9525">
            <a:solidFill>
              <a:srgbClr val="CADCFC"/>
            </a:solidFill>
            <a:prstDash val="solid"/>
          </a:ln>
        </p:spPr>
      </p:sp>
      <p:sp>
        <p:nvSpPr>
          <p:cNvPr id="24" name="Text 21"/>
          <p:cNvSpPr txBox="1"/>
          <p:nvPr/>
        </p:nvSpPr>
        <p:spPr>
          <a:xfrm>
            <a:off x="6355080" y="480060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Privacy and governance. </a:t>
            </a:r>
            <a:pPr indent="0" marL="0">
              <a:buNone/>
            </a:pPr>
            <a:r>
              <a:rPr lang="en-US" sz="1250" dirty="0">
                <a:solidFill>
                  <a:srgbClr val="27314D"/>
                </a:solidFill>
                <a:latin typeface="Calibri" pitchFamily="34" charset="0"/>
                <a:ea typeface="Calibri" pitchFamily="34" charset="-122"/>
                <a:cs typeface="Calibri" pitchFamily="34" charset="-120"/>
              </a:rPr>
              <a:t>Scaling AI adds privacy risk, governance demands and algorithmic bias that limits content diversity (Mokoena and Obagbuwa, 2025).</a:t>
            </a:r>
            <a:endParaRPr lang="en-US" sz="1250" dirty="0"/>
          </a:p>
        </p:txBody>
      </p:sp>
      <p:sp>
        <p:nvSpPr>
          <p:cNvPr id="25" name="Text 22"/>
          <p:cNvSpPr txBox="1"/>
          <p:nvPr/>
        </p:nvSpPr>
        <p:spPr>
          <a:xfrm>
            <a:off x="548640" y="5577840"/>
            <a:ext cx="11064240" cy="640080"/>
          </a:xfrm>
          <a:prstGeom prst="rect">
            <a:avLst/>
          </a:prstGeom>
          <a:noFill/>
          <a:ln/>
        </p:spPr>
        <p:txBody>
          <a:bodyPr wrap="square" lIns="0" tIns="0" rIns="0" bIns="0" rtlCol="0" anchor="t"/>
          <a:lstStyle/>
          <a:p>
            <a:pPr indent="0" marL="0">
              <a:buNone/>
            </a:pPr>
            <a:r>
              <a:rPr lang="en-US" sz="1300" b="1" dirty="0">
                <a:solidFill>
                  <a:srgbClr val="1E2761"/>
                </a:solidFill>
                <a:latin typeface="Calibri" pitchFamily="34" charset="0"/>
                <a:ea typeface="Calibri" pitchFamily="34" charset="-122"/>
                <a:cs typeface="Calibri" pitchFamily="34" charset="-120"/>
              </a:rPr>
              <a:t>Matters most for Apple TV+: </a:t>
            </a:r>
            <a:pPr indent="0" marL="0">
              <a:buNone/>
            </a:pPr>
            <a:r>
              <a:rPr lang="en-US" sz="1300" dirty="0">
                <a:solidFill>
                  <a:srgbClr val="27314D"/>
                </a:solidFill>
                <a:latin typeface="Calibri" pitchFamily="34" charset="0"/>
                <a:ea typeface="Calibri" pitchFamily="34" charset="-122"/>
                <a:cs typeface="Calibri" pitchFamily="34" charset="-120"/>
              </a:rPr>
              <a:t>discovery (benefit), because a small catalogue of original shows only pays off if each is found; and creative originality (limitation), because Apple competes on quality. Personalisation is necessary but not sufficient: its benefits depend on managing these limits.</a:t>
            </a:r>
            <a:endParaRPr lang="en-US" sz="1300" dirty="0"/>
          </a:p>
        </p:txBody>
      </p:sp>
      <p:sp>
        <p:nvSpPr>
          <p:cNvPr id="26"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1: Benefits and limitations of personalisation. Sources as cited in each row.</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Impact on Creative Teams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Text 2"/>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400" i="1" dirty="0">
                <a:solidFill>
                  <a:srgbClr val="1E56A0"/>
                </a:solidFill>
                <a:latin typeface="Calibri" pitchFamily="34" charset="0"/>
                <a:ea typeface="Calibri" pitchFamily="34" charset="-122"/>
                <a:cs typeface="Calibri" pitchFamily="34" charset="-120"/>
              </a:rPr>
              <a:t>Personalisation at this scale does not only change what customers see; it also changes how creative teams decide what gets made.</a:t>
            </a:r>
            <a:endParaRPr lang="en-US" sz="1400" dirty="0"/>
          </a:p>
        </p:txBody>
      </p:sp>
      <p:sp>
        <p:nvSpPr>
          <p:cNvPr id="6" name="Shape 3"/>
          <p:cNvSpPr/>
          <p:nvPr/>
        </p:nvSpPr>
        <p:spPr>
          <a:xfrm>
            <a:off x="548640" y="1600200"/>
            <a:ext cx="3291840" cy="3611880"/>
          </a:xfrm>
          <a:prstGeom prst="roundRect">
            <a:avLst>
              <a:gd name="adj" fmla="val 2222"/>
            </a:avLst>
          </a:prstGeom>
          <a:solidFill>
            <a:srgbClr val="1E2761"/>
          </a:solidFill>
          <a:ln w="12700">
            <a:solidFill>
              <a:srgbClr val="1E2761"/>
            </a:solidFill>
            <a:prstDash val="solid"/>
          </a:ln>
        </p:spPr>
      </p:sp>
      <p:sp>
        <p:nvSpPr>
          <p:cNvPr id="7" name="Text 4"/>
          <p:cNvSpPr txBox="1"/>
          <p:nvPr/>
        </p:nvSpPr>
        <p:spPr>
          <a:xfrm>
            <a:off x="731520" y="1737360"/>
            <a:ext cx="292608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Creative teams</a:t>
            </a:r>
            <a:endParaRPr lang="en-US" sz="2000" dirty="0"/>
          </a:p>
        </p:txBody>
      </p:sp>
      <p:sp>
        <p:nvSpPr>
          <p:cNvPr id="8" name="Text 5"/>
          <p:cNvSpPr txBox="1"/>
          <p:nvPr/>
        </p:nvSpPr>
        <p:spPr>
          <a:xfrm>
            <a:off x="731520" y="2286000"/>
            <a:ext cx="2926080" cy="27432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Writers, producers and content developers</a:t>
            </a:r>
            <a:endParaRPr lang="en-US" sz="15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Concern: too much reliance on data could affect originality.</a:t>
            </a:r>
            <a:endParaRPr lang="en-US" sz="1500" dirty="0"/>
          </a:p>
        </p:txBody>
      </p:sp>
      <p:sp>
        <p:nvSpPr>
          <p:cNvPr id="9" name="Shape 6"/>
          <p:cNvSpPr/>
          <p:nvPr/>
        </p:nvSpPr>
        <p:spPr>
          <a:xfrm>
            <a:off x="4114800" y="1600200"/>
            <a:ext cx="2423160" cy="3611880"/>
          </a:xfrm>
          <a:prstGeom prst="roundRect">
            <a:avLst>
              <a:gd name="adj" fmla="val 3019"/>
            </a:avLst>
          </a:prstGeom>
          <a:solidFill>
            <a:srgbClr val="F2F5FB"/>
          </a:solidFill>
          <a:ln w="12700">
            <a:solidFill>
              <a:srgbClr val="CADCFC"/>
            </a:solidFill>
            <a:prstDash val="solid"/>
          </a:ln>
        </p:spPr>
      </p:sp>
      <p:sp>
        <p:nvSpPr>
          <p:cNvPr id="10" name="Text 7"/>
          <p:cNvSpPr txBox="1"/>
          <p:nvPr/>
        </p:nvSpPr>
        <p:spPr>
          <a:xfrm>
            <a:off x="425196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Structure</a:t>
            </a:r>
            <a:endParaRPr lang="en-US" sz="1800" dirty="0"/>
          </a:p>
        </p:txBody>
      </p:sp>
      <p:sp>
        <p:nvSpPr>
          <p:cNvPr id="11" name="Text 8"/>
          <p:cNvSpPr txBox="1"/>
          <p:nvPr/>
        </p:nvSpPr>
        <p:spPr>
          <a:xfrm>
            <a:off x="425196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Who decides what gets made. Data insight must inform, not replace, the commissioning executives’ and creators’ judgement.</a:t>
            </a:r>
            <a:endParaRPr lang="en-US" sz="1400" dirty="0"/>
          </a:p>
        </p:txBody>
      </p:sp>
      <p:sp>
        <p:nvSpPr>
          <p:cNvPr id="12" name="Shape 9"/>
          <p:cNvSpPr/>
          <p:nvPr/>
        </p:nvSpPr>
        <p:spPr>
          <a:xfrm>
            <a:off x="6675120" y="1600200"/>
            <a:ext cx="2423160" cy="3611880"/>
          </a:xfrm>
          <a:prstGeom prst="roundRect">
            <a:avLst>
              <a:gd name="adj" fmla="val 3019"/>
            </a:avLst>
          </a:prstGeom>
          <a:solidFill>
            <a:srgbClr val="F2F5FB"/>
          </a:solidFill>
          <a:ln w="12700">
            <a:solidFill>
              <a:srgbClr val="CADCFC"/>
            </a:solidFill>
            <a:prstDash val="solid"/>
          </a:ln>
        </p:spPr>
      </p:sp>
      <p:sp>
        <p:nvSpPr>
          <p:cNvPr id="13" name="Text 10"/>
          <p:cNvSpPr txBox="1"/>
          <p:nvPr/>
        </p:nvSpPr>
        <p:spPr>
          <a:xfrm>
            <a:off x="681228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Culture</a:t>
            </a:r>
            <a:endParaRPr lang="en-US" sz="1800" dirty="0"/>
          </a:p>
        </p:txBody>
      </p:sp>
      <p:sp>
        <p:nvSpPr>
          <p:cNvPr id="14" name="Text 11"/>
          <p:cNvSpPr txBox="1"/>
          <p:nvPr/>
        </p:nvSpPr>
        <p:spPr>
          <a:xfrm>
            <a:off x="681228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Creative autonomy versus data-driven decisions. Teams need to see data as a tool, not a verdict (Napoli, 2014).</a:t>
            </a:r>
            <a:endParaRPr lang="en-US" sz="1400" dirty="0"/>
          </a:p>
        </p:txBody>
      </p:sp>
      <p:sp>
        <p:nvSpPr>
          <p:cNvPr id="15" name="Shape 12"/>
          <p:cNvSpPr/>
          <p:nvPr/>
        </p:nvSpPr>
        <p:spPr>
          <a:xfrm>
            <a:off x="9235440" y="1600200"/>
            <a:ext cx="2423160" cy="3611880"/>
          </a:xfrm>
          <a:prstGeom prst="roundRect">
            <a:avLst>
              <a:gd name="adj" fmla="val 3019"/>
            </a:avLst>
          </a:prstGeom>
          <a:solidFill>
            <a:srgbClr val="F2F5FB"/>
          </a:solidFill>
          <a:ln w="12700">
            <a:solidFill>
              <a:srgbClr val="CADCFC"/>
            </a:solidFill>
            <a:prstDash val="solid"/>
          </a:ln>
        </p:spPr>
      </p:sp>
      <p:sp>
        <p:nvSpPr>
          <p:cNvPr id="16" name="Text 13"/>
          <p:cNvSpPr txBox="1"/>
          <p:nvPr/>
        </p:nvSpPr>
        <p:spPr>
          <a:xfrm>
            <a:off x="937260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Process</a:t>
            </a:r>
            <a:endParaRPr lang="en-US" sz="1800" dirty="0"/>
          </a:p>
        </p:txBody>
      </p:sp>
      <p:sp>
        <p:nvSpPr>
          <p:cNvPr id="17" name="Text 14"/>
          <p:cNvSpPr txBox="1"/>
          <p:nvPr/>
        </p:nvSpPr>
        <p:spPr>
          <a:xfrm>
            <a:off x="937260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Green-lighting and content pitches. Add a data check to pitches, with creative sign-off kept at the final step.</a:t>
            </a:r>
            <a:endParaRPr lang="en-US" sz="1400" dirty="0"/>
          </a:p>
        </p:txBody>
      </p:sp>
      <p:sp>
        <p:nvSpPr>
          <p:cNvPr id="18" name="Text 1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3: Impact on creative teams (adapted from Davis, 1989; Napoli, 2014).</a:t>
            </a:r>
            <a:endParaRPr lang="en-US" sz="1100" dirty="0"/>
          </a:p>
        </p:txBody>
      </p:sp>
      <p:sp>
        <p:nvSpPr>
          <p:cNvPr id="19" name="Text 16"/>
          <p:cNvSpPr txBox="1"/>
          <p:nvPr/>
        </p:nvSpPr>
        <p:spPr>
          <a:xfrm>
            <a:off x="548640" y="5440680"/>
            <a:ext cx="11064240" cy="7315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TAM view (Davis, 1989): </a:t>
            </a:r>
            <a:pPr indent="0" marL="0">
              <a:buNone/>
            </a:pPr>
            <a:r>
              <a:rPr lang="en-US" sz="1400" dirty="0">
                <a:solidFill>
                  <a:srgbClr val="27314D"/>
                </a:solidFill>
                <a:latin typeface="Calibri" pitchFamily="34" charset="0"/>
                <a:ea typeface="Calibri" pitchFamily="34" charset="-122"/>
                <a:cs typeface="Calibri" pitchFamily="34" charset="-120"/>
              </a:rPr>
              <a:t>Useful? Yes if it shows which audiences a pitch could reach. Easy to use? Only if insights are plain-language and built into the pitch workflow.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Barriers, Change Management and Digital Confidence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Shape 2"/>
          <p:cNvSpPr/>
          <p:nvPr/>
        </p:nvSpPr>
        <p:spPr>
          <a:xfrm>
            <a:off x="548640" y="1325880"/>
            <a:ext cx="1828800" cy="502920"/>
          </a:xfrm>
          <a:prstGeom prst="homePlate">
            <a:avLst/>
          </a:prstGeom>
          <a:solidFill>
            <a:srgbClr val="1E2761"/>
          </a:solidFill>
          <a:ln w="12700">
            <a:solidFill>
              <a:srgbClr val="FFFFFF"/>
            </a:solidFill>
            <a:prstDash val="solid"/>
          </a:ln>
        </p:spPr>
      </p:sp>
      <p:sp>
        <p:nvSpPr>
          <p:cNvPr id="6" name="Text 3"/>
          <p:cNvSpPr txBox="1"/>
          <p:nvPr/>
        </p:nvSpPr>
        <p:spPr>
          <a:xfrm>
            <a:off x="6400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1 Urgency</a:t>
            </a:r>
            <a:endParaRPr lang="en-US" sz="1300" dirty="0"/>
          </a:p>
        </p:txBody>
      </p:sp>
      <p:sp>
        <p:nvSpPr>
          <p:cNvPr id="7" name="Text 4"/>
          <p:cNvSpPr txBox="1"/>
          <p:nvPr/>
        </p:nvSpPr>
        <p:spPr>
          <a:xfrm>
            <a:off x="5486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Churn and rivals make better discovery pressing</a:t>
            </a:r>
            <a:endParaRPr lang="en-US" sz="1200" dirty="0"/>
          </a:p>
        </p:txBody>
      </p:sp>
      <p:sp>
        <p:nvSpPr>
          <p:cNvPr id="8" name="Shape 5"/>
          <p:cNvSpPr/>
          <p:nvPr/>
        </p:nvSpPr>
        <p:spPr>
          <a:xfrm>
            <a:off x="2423160" y="1325880"/>
            <a:ext cx="1828800" cy="502920"/>
          </a:xfrm>
          <a:prstGeom prst="homePlate">
            <a:avLst/>
          </a:prstGeom>
          <a:solidFill>
            <a:srgbClr val="1E2761"/>
          </a:solidFill>
          <a:ln w="12700">
            <a:solidFill>
              <a:srgbClr val="FFFFFF"/>
            </a:solidFill>
            <a:prstDash val="solid"/>
          </a:ln>
        </p:spPr>
      </p:sp>
      <p:sp>
        <p:nvSpPr>
          <p:cNvPr id="9" name="Text 6"/>
          <p:cNvSpPr txBox="1"/>
          <p:nvPr/>
        </p:nvSpPr>
        <p:spPr>
          <a:xfrm>
            <a:off x="251460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Coalition</a:t>
            </a:r>
            <a:endParaRPr lang="en-US" sz="1300" dirty="0"/>
          </a:p>
        </p:txBody>
      </p:sp>
      <p:sp>
        <p:nvSpPr>
          <p:cNvPr id="10" name="Text 7"/>
          <p:cNvSpPr txBox="1"/>
          <p:nvPr/>
        </p:nvSpPr>
        <p:spPr>
          <a:xfrm>
            <a:off x="242316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Creative champions plus data leads</a:t>
            </a:r>
            <a:endParaRPr lang="en-US" sz="1200" dirty="0"/>
          </a:p>
        </p:txBody>
      </p:sp>
      <p:sp>
        <p:nvSpPr>
          <p:cNvPr id="11" name="Shape 8"/>
          <p:cNvSpPr/>
          <p:nvPr/>
        </p:nvSpPr>
        <p:spPr>
          <a:xfrm>
            <a:off x="4297680" y="1325880"/>
            <a:ext cx="1828800" cy="502920"/>
          </a:xfrm>
          <a:prstGeom prst="homePlate">
            <a:avLst/>
          </a:prstGeom>
          <a:solidFill>
            <a:srgbClr val="1E2761"/>
          </a:solidFill>
          <a:ln w="12700">
            <a:solidFill>
              <a:srgbClr val="FFFFFF"/>
            </a:solidFill>
            <a:prstDash val="solid"/>
          </a:ln>
        </p:spPr>
      </p:sp>
      <p:sp>
        <p:nvSpPr>
          <p:cNvPr id="12" name="Text 9"/>
          <p:cNvSpPr txBox="1"/>
          <p:nvPr/>
        </p:nvSpPr>
        <p:spPr>
          <a:xfrm>
            <a:off x="438912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 Vision</a:t>
            </a:r>
            <a:endParaRPr lang="en-US" sz="1300" dirty="0"/>
          </a:p>
        </p:txBody>
      </p:sp>
      <p:sp>
        <p:nvSpPr>
          <p:cNvPr id="13" name="Text 10"/>
          <p:cNvSpPr txBox="1"/>
          <p:nvPr/>
        </p:nvSpPr>
        <p:spPr>
          <a:xfrm>
            <a:off x="429768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Data informs; creatives decide</a:t>
            </a:r>
            <a:endParaRPr lang="en-US" sz="1200" dirty="0"/>
          </a:p>
        </p:txBody>
      </p:sp>
      <p:sp>
        <p:nvSpPr>
          <p:cNvPr id="14" name="Shape 11"/>
          <p:cNvSpPr/>
          <p:nvPr/>
        </p:nvSpPr>
        <p:spPr>
          <a:xfrm>
            <a:off x="6172200" y="1325880"/>
            <a:ext cx="1828800" cy="502920"/>
          </a:xfrm>
          <a:prstGeom prst="homePlate">
            <a:avLst/>
          </a:prstGeom>
          <a:solidFill>
            <a:srgbClr val="1E56A0"/>
          </a:solidFill>
          <a:ln w="12700">
            <a:solidFill>
              <a:srgbClr val="FFFFFF"/>
            </a:solidFill>
            <a:prstDash val="solid"/>
          </a:ln>
        </p:spPr>
      </p:sp>
      <p:sp>
        <p:nvSpPr>
          <p:cNvPr id="15" name="Text 12"/>
          <p:cNvSpPr txBox="1"/>
          <p:nvPr/>
        </p:nvSpPr>
        <p:spPr>
          <a:xfrm>
            <a:off x="626364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4 Pilot</a:t>
            </a:r>
            <a:endParaRPr lang="en-US" sz="1300" dirty="0"/>
          </a:p>
        </p:txBody>
      </p:sp>
      <p:sp>
        <p:nvSpPr>
          <p:cNvPr id="16" name="Text 13"/>
          <p:cNvSpPr txBox="1"/>
          <p:nvPr/>
        </p:nvSpPr>
        <p:spPr>
          <a:xfrm>
            <a:off x="617220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One slate of originals; share early wins</a:t>
            </a:r>
            <a:endParaRPr lang="en-US" sz="1200" dirty="0"/>
          </a:p>
        </p:txBody>
      </p:sp>
      <p:sp>
        <p:nvSpPr>
          <p:cNvPr id="17" name="Shape 14"/>
          <p:cNvSpPr/>
          <p:nvPr/>
        </p:nvSpPr>
        <p:spPr>
          <a:xfrm>
            <a:off x="8046720" y="1325880"/>
            <a:ext cx="1828800" cy="502920"/>
          </a:xfrm>
          <a:prstGeom prst="homePlate">
            <a:avLst/>
          </a:prstGeom>
          <a:solidFill>
            <a:srgbClr val="1E56A0"/>
          </a:solidFill>
          <a:ln w="12700">
            <a:solidFill>
              <a:srgbClr val="FFFFFF"/>
            </a:solidFill>
            <a:prstDash val="solid"/>
          </a:ln>
        </p:spPr>
      </p:sp>
      <p:sp>
        <p:nvSpPr>
          <p:cNvPr id="18" name="Text 15"/>
          <p:cNvSpPr txBox="1"/>
          <p:nvPr/>
        </p:nvSpPr>
        <p:spPr>
          <a:xfrm>
            <a:off x="813816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Extend</a:t>
            </a:r>
            <a:endParaRPr lang="en-US" sz="1300" dirty="0"/>
          </a:p>
        </p:txBody>
      </p:sp>
      <p:sp>
        <p:nvSpPr>
          <p:cNvPr id="19" name="Text 16"/>
          <p:cNvSpPr txBox="1"/>
          <p:nvPr/>
        </p:nvSpPr>
        <p:spPr>
          <a:xfrm>
            <a:off x="804672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Roll into pitches and green-lighting</a:t>
            </a:r>
            <a:endParaRPr lang="en-US" sz="1200" dirty="0"/>
          </a:p>
        </p:txBody>
      </p:sp>
      <p:sp>
        <p:nvSpPr>
          <p:cNvPr id="20" name="Shape 17"/>
          <p:cNvSpPr/>
          <p:nvPr/>
        </p:nvSpPr>
        <p:spPr>
          <a:xfrm>
            <a:off x="9921240" y="1325880"/>
            <a:ext cx="1828800" cy="502920"/>
          </a:xfrm>
          <a:prstGeom prst="homePlate">
            <a:avLst/>
          </a:prstGeom>
          <a:solidFill>
            <a:srgbClr val="1E56A0"/>
          </a:solidFill>
          <a:ln w="12700">
            <a:solidFill>
              <a:srgbClr val="FFFFFF"/>
            </a:solidFill>
            <a:prstDash val="solid"/>
          </a:ln>
        </p:spPr>
      </p:sp>
      <p:sp>
        <p:nvSpPr>
          <p:cNvPr id="21" name="Text 18"/>
          <p:cNvSpPr txBox="1"/>
          <p:nvPr/>
        </p:nvSpPr>
        <p:spPr>
          <a:xfrm>
            <a:off x="100126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 Embed</a:t>
            </a:r>
            <a:endParaRPr lang="en-US" sz="1300" dirty="0"/>
          </a:p>
        </p:txBody>
      </p:sp>
      <p:sp>
        <p:nvSpPr>
          <p:cNvPr id="22" name="Text 19"/>
          <p:cNvSpPr txBox="1"/>
          <p:nvPr/>
        </p:nvSpPr>
        <p:spPr>
          <a:xfrm>
            <a:off x="99212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Make it part of how Apple TV+ commissions</a:t>
            </a:r>
            <a:endParaRPr lang="en-US" sz="1200" dirty="0"/>
          </a:p>
        </p:txBody>
      </p:sp>
      <p:sp>
        <p:nvSpPr>
          <p:cNvPr id="23" name="Text 20"/>
          <p:cNvSpPr txBox="1"/>
          <p:nvPr/>
        </p:nvSpPr>
        <p:spPr>
          <a:xfrm>
            <a:off x="548640" y="2743200"/>
            <a:ext cx="11064240" cy="27432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4: Kotter (1995) change model, tailored to Apple TV+. Digital skills and confidence: Vial (2019).</a:t>
            </a:r>
            <a:endParaRPr lang="en-US" sz="1100" dirty="0"/>
          </a:p>
        </p:txBody>
      </p:sp>
      <p:sp>
        <p:nvSpPr>
          <p:cNvPr id="24" name="Text 21"/>
          <p:cNvSpPr txBox="1"/>
          <p:nvPr/>
        </p:nvSpPr>
        <p:spPr>
          <a:xfrm>
            <a:off x="548640" y="3154680"/>
            <a:ext cx="6400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Barriers and responses</a:t>
            </a:r>
            <a:endParaRPr lang="en-US" sz="1600" dirty="0"/>
          </a:p>
        </p:txBody>
      </p:sp>
      <p:sp>
        <p:nvSpPr>
          <p:cNvPr id="25" name="Shape 22"/>
          <p:cNvSpPr/>
          <p:nvPr/>
        </p:nvSpPr>
        <p:spPr>
          <a:xfrm>
            <a:off x="548640" y="3520440"/>
            <a:ext cx="6766560" cy="777240"/>
          </a:xfrm>
          <a:prstGeom prst="roundRect">
            <a:avLst>
              <a:gd name="adj" fmla="val 9412"/>
            </a:avLst>
          </a:prstGeom>
          <a:solidFill>
            <a:srgbClr val="F2F5FB"/>
          </a:solidFill>
          <a:ln w="12700">
            <a:solidFill>
              <a:srgbClr val="CADCFC"/>
            </a:solidFill>
            <a:prstDash val="solid"/>
          </a:ln>
        </p:spPr>
      </p:sp>
      <p:sp>
        <p:nvSpPr>
          <p:cNvPr id="26" name="Text 23"/>
          <p:cNvSpPr txBox="1"/>
          <p:nvPr/>
        </p:nvSpPr>
        <p:spPr>
          <a:xfrm>
            <a:off x="731520" y="352044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Fear of losing creative control: </a:t>
            </a:r>
            <a:pPr indent="0" marL="0">
              <a:buNone/>
            </a:pPr>
            <a:r>
              <a:rPr lang="en-US" sz="1300" dirty="0">
                <a:solidFill>
                  <a:srgbClr val="27314D"/>
                </a:solidFill>
                <a:latin typeface="Calibri" pitchFamily="34" charset="0"/>
                <a:ea typeface="Calibri" pitchFamily="34" charset="-122"/>
                <a:cs typeface="Calibri" pitchFamily="34" charset="-120"/>
              </a:rPr>
              <a:t>Keep creative sign-off final; publish rules for how data is used.</a:t>
            </a:r>
            <a:endParaRPr lang="en-US" sz="1300" dirty="0"/>
          </a:p>
        </p:txBody>
      </p:sp>
      <p:sp>
        <p:nvSpPr>
          <p:cNvPr id="27" name="Shape 24"/>
          <p:cNvSpPr/>
          <p:nvPr/>
        </p:nvSpPr>
        <p:spPr>
          <a:xfrm>
            <a:off x="548640" y="4389120"/>
            <a:ext cx="6766560" cy="777240"/>
          </a:xfrm>
          <a:prstGeom prst="roundRect">
            <a:avLst>
              <a:gd name="adj" fmla="val 9412"/>
            </a:avLst>
          </a:prstGeom>
          <a:solidFill>
            <a:srgbClr val="F2F5FB"/>
          </a:solidFill>
          <a:ln w="12700">
            <a:solidFill>
              <a:srgbClr val="CADCFC"/>
            </a:solidFill>
            <a:prstDash val="solid"/>
          </a:ln>
        </p:spPr>
      </p:sp>
      <p:sp>
        <p:nvSpPr>
          <p:cNvPr id="28" name="Text 25"/>
          <p:cNvSpPr txBox="1"/>
          <p:nvPr/>
        </p:nvSpPr>
        <p:spPr>
          <a:xfrm>
            <a:off x="731520" y="438912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Distrust of algorithms: </a:t>
            </a:r>
            <a:pPr indent="0" marL="0">
              <a:buNone/>
            </a:pPr>
            <a:r>
              <a:rPr lang="en-US" sz="1300" dirty="0">
                <a:solidFill>
                  <a:srgbClr val="27314D"/>
                </a:solidFill>
                <a:latin typeface="Calibri" pitchFamily="34" charset="0"/>
                <a:ea typeface="Calibri" pitchFamily="34" charset="-122"/>
                <a:cs typeface="Calibri" pitchFamily="34" charset="-120"/>
              </a:rPr>
              <a:t>Show why content is promoted, so creatives can see how data influences decisions.</a:t>
            </a:r>
            <a:endParaRPr lang="en-US" sz="1300" dirty="0"/>
          </a:p>
        </p:txBody>
      </p:sp>
      <p:sp>
        <p:nvSpPr>
          <p:cNvPr id="29" name="Shape 26"/>
          <p:cNvSpPr/>
          <p:nvPr/>
        </p:nvSpPr>
        <p:spPr>
          <a:xfrm>
            <a:off x="548640" y="5257800"/>
            <a:ext cx="6766560" cy="777240"/>
          </a:xfrm>
          <a:prstGeom prst="roundRect">
            <a:avLst>
              <a:gd name="adj" fmla="val 9412"/>
            </a:avLst>
          </a:prstGeom>
          <a:solidFill>
            <a:srgbClr val="F2F5FB"/>
          </a:solidFill>
          <a:ln w="12700">
            <a:solidFill>
              <a:srgbClr val="CADCFC"/>
            </a:solidFill>
            <a:prstDash val="solid"/>
          </a:ln>
        </p:spPr>
      </p:sp>
      <p:sp>
        <p:nvSpPr>
          <p:cNvPr id="30" name="Text 27"/>
          <p:cNvSpPr txBox="1"/>
          <p:nvPr/>
        </p:nvSpPr>
        <p:spPr>
          <a:xfrm>
            <a:off x="731520" y="525780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Skills gaps: </a:t>
            </a:r>
            <a:pPr indent="0" marL="0">
              <a:buNone/>
            </a:pPr>
            <a:r>
              <a:rPr lang="en-US" sz="1300" dirty="0">
                <a:solidFill>
                  <a:srgbClr val="27314D"/>
                </a:solidFill>
                <a:latin typeface="Calibri" pitchFamily="34" charset="0"/>
                <a:ea typeface="Calibri" pitchFamily="34" charset="-122"/>
                <a:cs typeface="Calibri" pitchFamily="34" charset="-120"/>
              </a:rPr>
              <a:t>Training in reading audience data, built around real projects (Vial, 2019).</a:t>
            </a:r>
            <a:endParaRPr lang="en-US" sz="1300" dirty="0"/>
          </a:p>
        </p:txBody>
      </p:sp>
      <p:sp>
        <p:nvSpPr>
          <p:cNvPr id="31" name="Shape 28"/>
          <p:cNvSpPr/>
          <p:nvPr/>
        </p:nvSpPr>
        <p:spPr>
          <a:xfrm>
            <a:off x="7589520" y="3154680"/>
            <a:ext cx="4023360" cy="3017520"/>
          </a:xfrm>
          <a:prstGeom prst="roundRect">
            <a:avLst>
              <a:gd name="adj" fmla="val 2424"/>
            </a:avLst>
          </a:prstGeom>
          <a:solidFill>
            <a:srgbClr val="1E2761"/>
          </a:solidFill>
          <a:ln w="12700">
            <a:solidFill>
              <a:srgbClr val="1E2761"/>
            </a:solidFill>
            <a:prstDash val="solid"/>
          </a:ln>
        </p:spPr>
      </p:sp>
      <p:sp>
        <p:nvSpPr>
          <p:cNvPr id="32" name="Text 29"/>
          <p:cNvSpPr txBox="1"/>
          <p:nvPr/>
        </p:nvSpPr>
        <p:spPr>
          <a:xfrm>
            <a:off x="7772400" y="3246120"/>
            <a:ext cx="36576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Digital confidence actions</a:t>
            </a:r>
            <a:endParaRPr lang="en-US" sz="1600" dirty="0"/>
          </a:p>
        </p:txBody>
      </p:sp>
      <p:sp>
        <p:nvSpPr>
          <p:cNvPr id="33" name="Text 30"/>
          <p:cNvSpPr txBox="1"/>
          <p:nvPr/>
        </p:nvSpPr>
        <p:spPr>
          <a:xfrm>
            <a:off x="7772400" y="374904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Training for writers and producers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Pilots on a small slate of originals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Creative champions on each team</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Feedback channels into the model team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Sustained Competitive Advantage: VRIO</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1280160"/>
                <a:gridCol w="75895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68580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Valuable?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1E56A0"/>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Better discovery supports retention and engagement (Gomez-Uribe and Hunt, 2015). But scaling it brings privacy, governance and bias risks (Mokoena and Obagbuwa, 2025).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Rare?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C00000"/>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Streaming rivals already run recommenders; the technique is widely documented (Ricci, Rokach and Shapira, 2015).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Hard to imitate?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Models are copyable. Apple’s ecosystem data and quality-focused catalogue are harder to copy.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Organised to exploit?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Not yet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Creative and data teams are not yet aligned; no shared rules for how data shapes commissioning.</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2: VRIO analysis of the recommendation engine (framework from Barney, 1991).</a:t>
            </a:r>
            <a:endParaRPr lang="en-US" sz="1100" dirty="0"/>
          </a:p>
        </p:txBody>
      </p:sp>
      <p:sp>
        <p:nvSpPr>
          <p:cNvPr id="7" name="Text 3"/>
          <p:cNvSpPr txBox="1"/>
          <p:nvPr/>
        </p:nvSpPr>
        <p:spPr>
          <a:xfrm>
            <a:off x="548640" y="4297680"/>
            <a:ext cx="11064240" cy="6400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Verdict: </a:t>
            </a:r>
            <a:pPr indent="0" marL="0">
              <a:buNone/>
            </a:pPr>
            <a:r>
              <a:rPr lang="en-US" sz="1400" dirty="0">
                <a:solidFill>
                  <a:srgbClr val="27314D"/>
                </a:solidFill>
                <a:latin typeface="Calibri" pitchFamily="34" charset="0"/>
                <a:ea typeface="Calibri" pitchFamily="34" charset="-122"/>
                <a:cs typeface="Calibri" pitchFamily="34" charset="-120"/>
              </a:rPr>
              <a:t>competitive parity, not sustained advantage. The recommender is a necessary baseline; advantage comes from pairing it with Apple’s ecosystem and creative judgement.</a:t>
            </a:r>
            <a:endParaRPr lang="en-US" sz="1400" dirty="0"/>
          </a:p>
        </p:txBody>
      </p:sp>
      <p:sp>
        <p:nvSpPr>
          <p:cNvPr id="8" name="Text 4"/>
          <p:cNvSpPr txBox="1"/>
          <p:nvPr/>
        </p:nvSpPr>
        <p:spPr>
          <a:xfrm>
            <a:off x="548640" y="4983480"/>
            <a:ext cx="10972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Continuous improvement actions</a:t>
            </a:r>
            <a:endParaRPr lang="en-US" sz="1600" dirty="0"/>
          </a:p>
        </p:txBody>
      </p:sp>
      <p:sp>
        <p:nvSpPr>
          <p:cNvPr id="9" name="Shape 5"/>
          <p:cNvSpPr/>
          <p:nvPr/>
        </p:nvSpPr>
        <p:spPr>
          <a:xfrm>
            <a:off x="548640" y="5349240"/>
            <a:ext cx="3611880" cy="822960"/>
          </a:xfrm>
          <a:prstGeom prst="roundRect">
            <a:avLst>
              <a:gd name="adj" fmla="val 8889"/>
            </a:avLst>
          </a:prstGeom>
          <a:solidFill>
            <a:srgbClr val="F2F5FB"/>
          </a:solidFill>
          <a:ln w="12700">
            <a:solidFill>
              <a:srgbClr val="CADCFC"/>
            </a:solidFill>
            <a:prstDash val="solid"/>
          </a:ln>
        </p:spPr>
      </p:sp>
      <p:sp>
        <p:nvSpPr>
          <p:cNvPr id="10" name="Text 6"/>
          <p:cNvSpPr txBox="1"/>
          <p:nvPr/>
        </p:nvSpPr>
        <p:spPr>
          <a:xfrm>
            <a:off x="68580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Test: </a:t>
            </a:r>
            <a:pPr indent="0" marL="0">
              <a:buNone/>
            </a:pPr>
            <a:r>
              <a:rPr lang="en-US" sz="1300" dirty="0">
                <a:solidFill>
                  <a:srgbClr val="27314D"/>
                </a:solidFill>
                <a:latin typeface="Calibri" pitchFamily="34" charset="0"/>
                <a:ea typeface="Calibri" pitchFamily="34" charset="-122"/>
                <a:cs typeface="Calibri" pitchFamily="34" charset="-120"/>
              </a:rPr>
              <a:t>A/B test recommendation changes against retention</a:t>
            </a:r>
            <a:endParaRPr lang="en-US" sz="1300" dirty="0"/>
          </a:p>
        </p:txBody>
      </p:sp>
      <p:sp>
        <p:nvSpPr>
          <p:cNvPr id="11" name="Shape 7"/>
          <p:cNvSpPr/>
          <p:nvPr/>
        </p:nvSpPr>
        <p:spPr>
          <a:xfrm>
            <a:off x="4297680" y="5349240"/>
            <a:ext cx="3611880" cy="822960"/>
          </a:xfrm>
          <a:prstGeom prst="roundRect">
            <a:avLst>
              <a:gd name="adj" fmla="val 8889"/>
            </a:avLst>
          </a:prstGeom>
          <a:solidFill>
            <a:srgbClr val="F2F5FB"/>
          </a:solidFill>
          <a:ln w="12700">
            <a:solidFill>
              <a:srgbClr val="CADCFC"/>
            </a:solidFill>
            <a:prstDash val="solid"/>
          </a:ln>
        </p:spPr>
      </p:sp>
      <p:sp>
        <p:nvSpPr>
          <p:cNvPr id="12" name="Text 8"/>
          <p:cNvSpPr txBox="1"/>
          <p:nvPr/>
        </p:nvSpPr>
        <p:spPr>
          <a:xfrm>
            <a:off x="443484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Creative input: </a:t>
            </a:r>
            <a:pPr indent="0" marL="0">
              <a:buNone/>
            </a:pPr>
            <a:r>
              <a:rPr lang="en-US" sz="1300" dirty="0">
                <a:solidFill>
                  <a:srgbClr val="27314D"/>
                </a:solidFill>
                <a:latin typeface="Calibri" pitchFamily="34" charset="0"/>
                <a:ea typeface="Calibri" pitchFamily="34" charset="-122"/>
                <a:cs typeface="Calibri" pitchFamily="34" charset="-120"/>
              </a:rPr>
              <a:t>Creatives help set the goals the model optimises</a:t>
            </a:r>
            <a:endParaRPr lang="en-US" sz="1300" dirty="0"/>
          </a:p>
        </p:txBody>
      </p:sp>
      <p:sp>
        <p:nvSpPr>
          <p:cNvPr id="13" name="Shape 9"/>
          <p:cNvSpPr/>
          <p:nvPr/>
        </p:nvSpPr>
        <p:spPr>
          <a:xfrm>
            <a:off x="8046720" y="5349240"/>
            <a:ext cx="3611880" cy="822960"/>
          </a:xfrm>
          <a:prstGeom prst="roundRect">
            <a:avLst>
              <a:gd name="adj" fmla="val 8889"/>
            </a:avLst>
          </a:prstGeom>
          <a:solidFill>
            <a:srgbClr val="F2F5FB"/>
          </a:solidFill>
          <a:ln w="12700">
            <a:solidFill>
              <a:srgbClr val="CADCFC"/>
            </a:solidFill>
            <a:prstDash val="solid"/>
          </a:ln>
        </p:spPr>
      </p:sp>
      <p:sp>
        <p:nvSpPr>
          <p:cNvPr id="14" name="Text 10"/>
          <p:cNvSpPr txBox="1"/>
          <p:nvPr/>
        </p:nvSpPr>
        <p:spPr>
          <a:xfrm>
            <a:off x="818388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Refresh: </a:t>
            </a:r>
            <a:pPr indent="0" marL="0">
              <a:buNone/>
            </a:pPr>
            <a:r>
              <a:rPr lang="en-US" sz="1300" dirty="0">
                <a:solidFill>
                  <a:srgbClr val="27314D"/>
                </a:solidFill>
                <a:latin typeface="Calibri" pitchFamily="34" charset="0"/>
                <a:ea typeface="Calibri" pitchFamily="34" charset="-122"/>
                <a:cs typeface="Calibri" pitchFamily="34" charset="-120"/>
              </a:rPr>
              <a:t>Update data and models regularly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Ethical, Social and Risk Issues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3931920"/>
                <a:gridCol w="1371600"/>
                <a:gridCol w="3931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Issue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matters</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Principle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91440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Data collected for recommendations could be reused for other purposes; GDPR Article 5 requires specified, explicit purposes (European Parliament and Council, 2016).</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Document purpose limitation and review it regularly.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Bias and 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Models trained on past viewing narrow what is shown (Ricci et al., 2015).</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Run regular diversity-of-recommendation audits.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Viewers and creatives cannot see why content is promoted.</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Add “why am I seeing this” explanations for viewers and creatives.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Creators’ 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Algorithms can steer which projects are promoted and made (Napoli, 2014).</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Keep creative sign-off; use data to inform, not decide.</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Social: cultural 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Filter bubbles can reduce exposure to varied content (Pariser, 2011; Helberger, 2019).</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Set minimum exposure for varied and local content.</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3: Ethical, social and risk issues. Sources: European Parliament and Council (2016); Ricci et al. (2015); Floridi et al. (2018); Napoli (2014); Pariser (2011); Helberger (2019).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Recommendations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sp>
        <p:nvSpPr>
          <p:cNvPr id="5" name="Shape 2"/>
          <p:cNvSpPr/>
          <p:nvPr/>
        </p:nvSpPr>
        <p:spPr>
          <a:xfrm>
            <a:off x="548640" y="1371600"/>
            <a:ext cx="3611880" cy="4023360"/>
          </a:xfrm>
          <a:prstGeom prst="roundRect">
            <a:avLst>
              <a:gd name="adj" fmla="val 2025"/>
            </a:avLst>
          </a:prstGeom>
          <a:solidFill>
            <a:srgbClr val="F2F5FB"/>
          </a:solidFill>
          <a:ln w="12700">
            <a:solidFill>
              <a:srgbClr val="CADCFC"/>
            </a:solidFill>
            <a:prstDash val="solid"/>
          </a:ln>
        </p:spPr>
      </p:sp>
      <p:sp>
        <p:nvSpPr>
          <p:cNvPr id="6" name="Shape 3"/>
          <p:cNvSpPr/>
          <p:nvPr/>
        </p:nvSpPr>
        <p:spPr>
          <a:xfrm>
            <a:off x="731520" y="1554480"/>
            <a:ext cx="548640" cy="548640"/>
          </a:xfrm>
          <a:prstGeom prst="ellipse">
            <a:avLst/>
          </a:prstGeom>
          <a:solidFill>
            <a:srgbClr val="1E2761"/>
          </a:solidFill>
          <a:ln w="12700">
            <a:solidFill>
              <a:srgbClr val="1E2761"/>
            </a:solidFill>
            <a:prstDash val="solid"/>
          </a:ln>
        </p:spPr>
      </p:sp>
      <p:sp>
        <p:nvSpPr>
          <p:cNvPr id="7" name="Text 4"/>
          <p:cNvSpPr txBox="1"/>
          <p:nvPr/>
        </p:nvSpPr>
        <p:spPr>
          <a:xfrm>
            <a:off x="73152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73152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Run a creative-team pilot in Kotter-style steps</a:t>
            </a:r>
            <a:endParaRPr lang="en-US" sz="1700" dirty="0"/>
          </a:p>
        </p:txBody>
      </p:sp>
      <p:sp>
        <p:nvSpPr>
          <p:cNvPr id="9" name="Text 6"/>
          <p:cNvSpPr txBox="1"/>
          <p:nvPr/>
        </p:nvSpPr>
        <p:spPr>
          <a:xfrm>
            <a:off x="73152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Creative leadership (writers, producers, content developers), supported by the data team</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Kotter (1995); Napoli (2014)</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6 and 7</a:t>
            </a:r>
            <a:endParaRPr lang="en-US" sz="1300" dirty="0"/>
          </a:p>
        </p:txBody>
      </p:sp>
      <p:sp>
        <p:nvSpPr>
          <p:cNvPr id="10" name="Shape 7"/>
          <p:cNvSpPr/>
          <p:nvPr/>
        </p:nvSpPr>
        <p:spPr>
          <a:xfrm>
            <a:off x="4297680" y="1371600"/>
            <a:ext cx="3611880" cy="4023360"/>
          </a:xfrm>
          <a:prstGeom prst="roundRect">
            <a:avLst>
              <a:gd name="adj" fmla="val 2025"/>
            </a:avLst>
          </a:prstGeom>
          <a:solidFill>
            <a:srgbClr val="F2F5FB"/>
          </a:solidFill>
          <a:ln w="12700">
            <a:solidFill>
              <a:srgbClr val="CADCFC"/>
            </a:solidFill>
            <a:prstDash val="solid"/>
          </a:ln>
        </p:spPr>
      </p:sp>
      <p:sp>
        <p:nvSpPr>
          <p:cNvPr id="11" name="Shape 8"/>
          <p:cNvSpPr/>
          <p:nvPr/>
        </p:nvSpPr>
        <p:spPr>
          <a:xfrm>
            <a:off x="4480560" y="1554480"/>
            <a:ext cx="548640" cy="548640"/>
          </a:xfrm>
          <a:prstGeom prst="ellipse">
            <a:avLst/>
          </a:prstGeom>
          <a:solidFill>
            <a:srgbClr val="1E2761"/>
          </a:solidFill>
          <a:ln w="12700">
            <a:solidFill>
              <a:srgbClr val="1E2761"/>
            </a:solidFill>
            <a:prstDash val="solid"/>
          </a:ln>
        </p:spPr>
      </p:sp>
      <p:sp>
        <p:nvSpPr>
          <p:cNvPr id="12" name="Text 9"/>
          <p:cNvSpPr txBox="1"/>
          <p:nvPr/>
        </p:nvSpPr>
        <p:spPr>
          <a:xfrm>
            <a:off x="448056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448056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Add an explanation feature for recommendations</a:t>
            </a:r>
            <a:endParaRPr lang="en-US" sz="1700" dirty="0"/>
          </a:p>
        </p:txBody>
      </p:sp>
      <p:sp>
        <p:nvSpPr>
          <p:cNvPr id="14" name="Text 11"/>
          <p:cNvSpPr txBox="1"/>
          <p:nvPr/>
        </p:nvSpPr>
        <p:spPr>
          <a:xfrm>
            <a:off x="448056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Marketing, with the product and technology teams</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Floridi et al. (2018); Apple Inc. (2025)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4 and 9</a:t>
            </a:r>
            <a:endParaRPr lang="en-US" sz="1300" dirty="0"/>
          </a:p>
        </p:txBody>
      </p:sp>
      <p:sp>
        <p:nvSpPr>
          <p:cNvPr id="15" name="Shape 12"/>
          <p:cNvSpPr/>
          <p:nvPr/>
        </p:nvSpPr>
        <p:spPr>
          <a:xfrm>
            <a:off x="8046720" y="1371600"/>
            <a:ext cx="3611880" cy="4023360"/>
          </a:xfrm>
          <a:prstGeom prst="roundRect">
            <a:avLst>
              <a:gd name="adj" fmla="val 2025"/>
            </a:avLst>
          </a:prstGeom>
          <a:solidFill>
            <a:srgbClr val="F2F5FB"/>
          </a:solidFill>
          <a:ln w="12700">
            <a:solidFill>
              <a:srgbClr val="CADCFC"/>
            </a:solidFill>
            <a:prstDash val="solid"/>
          </a:ln>
        </p:spPr>
      </p:sp>
      <p:sp>
        <p:nvSpPr>
          <p:cNvPr id="16" name="Shape 13"/>
          <p:cNvSpPr/>
          <p:nvPr/>
        </p:nvSpPr>
        <p:spPr>
          <a:xfrm>
            <a:off x="8229600" y="1554480"/>
            <a:ext cx="548640" cy="548640"/>
          </a:xfrm>
          <a:prstGeom prst="ellipse">
            <a:avLst/>
          </a:prstGeom>
          <a:solidFill>
            <a:srgbClr val="1E2761"/>
          </a:solidFill>
          <a:ln w="12700">
            <a:solidFill>
              <a:srgbClr val="1E2761"/>
            </a:solidFill>
            <a:prstDash val="solid"/>
          </a:ln>
        </p:spPr>
      </p:sp>
      <p:sp>
        <p:nvSpPr>
          <p:cNvPr id="17" name="Text 14"/>
          <p:cNvSpPr txBox="1"/>
          <p:nvPr/>
        </p:nvSpPr>
        <p:spPr>
          <a:xfrm>
            <a:off x="822960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5"/>
          <p:cNvSpPr txBox="1"/>
          <p:nvPr/>
        </p:nvSpPr>
        <p:spPr>
          <a:xfrm>
            <a:off x="822960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Set up a governance review for purpose limitation and diversity auditing</a:t>
            </a:r>
            <a:endParaRPr lang="en-US" sz="1700" dirty="0"/>
          </a:p>
        </p:txBody>
      </p:sp>
      <p:sp>
        <p:nvSpPr>
          <p:cNvPr id="19" name="Text 16"/>
          <p:cNvSpPr txBox="1"/>
          <p:nvPr/>
        </p:nvSpPr>
        <p:spPr>
          <a:xfrm>
            <a:off x="822960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Operations (legal, compliance and employee support)</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GDPR Art. 5 (European Parliament and Council, 2016); Ricci et al. (2015)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5 and 9</a:t>
            </a:r>
            <a:endParaRPr lang="en-US" sz="1300" dirty="0"/>
          </a:p>
        </p:txBody>
      </p:sp>
      <p:sp>
        <p:nvSpPr>
          <p:cNvPr id="20" name="Text 17"/>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Do first: </a:t>
            </a:r>
            <a:pPr indent="0" marL="0">
              <a:buNone/>
            </a:pPr>
            <a:r>
              <a:rPr lang="en-US" sz="1500" dirty="0">
                <a:solidFill>
                  <a:srgbClr val="27314D"/>
                </a:solidFill>
                <a:latin typeface="Calibri" pitchFamily="34" charset="0"/>
                <a:ea typeface="Calibri" pitchFamily="34" charset="-122"/>
                <a:cs typeface="Calibri" pitchFamily="34" charset="-120"/>
              </a:rPr>
              <a:t>the creative-team pilot, because it tackles the central challenge and builds the evidence the other two depend 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Conclusion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Conclusion</a:t>
            </a:r>
            <a:endParaRPr lang="en-US" sz="1100" dirty="0"/>
          </a:p>
        </p:txBody>
      </p:sp>
      <p:sp>
        <p:nvSpPr>
          <p:cNvPr id="5" name="Text 2"/>
          <p:cNvSpPr txBox="1"/>
          <p:nvPr/>
        </p:nvSpPr>
        <p:spPr>
          <a:xfrm>
            <a:off x="548640" y="132588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1</a:t>
            </a:r>
            <a:endParaRPr lang="en-US" sz="1500" dirty="0"/>
          </a:p>
        </p:txBody>
      </p:sp>
      <p:sp>
        <p:nvSpPr>
          <p:cNvPr id="6" name="Text 3"/>
          <p:cNvSpPr txBox="1"/>
          <p:nvPr/>
        </p:nvSpPr>
        <p:spPr>
          <a:xfrm>
            <a:off x="1645920" y="132588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A machine-learning recommendation engine helps match a small catalogue to many viewers, but it protects Apple TV+’s position rather than creating a lead.</a:t>
            </a:r>
            <a:endParaRPr lang="en-US" sz="1400" dirty="0"/>
          </a:p>
        </p:txBody>
      </p:sp>
      <p:sp>
        <p:nvSpPr>
          <p:cNvPr id="7" name="Text 4"/>
          <p:cNvSpPr txBox="1"/>
          <p:nvPr/>
        </p:nvSpPr>
        <p:spPr>
          <a:xfrm>
            <a:off x="548640" y="210312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2</a:t>
            </a:r>
            <a:endParaRPr lang="en-US" sz="1500" dirty="0"/>
          </a:p>
        </p:txBody>
      </p:sp>
      <p:sp>
        <p:nvSpPr>
          <p:cNvPr id="8" name="Text 5"/>
          <p:cNvSpPr txBox="1"/>
          <p:nvPr/>
        </p:nvSpPr>
        <p:spPr>
          <a:xfrm>
            <a:off x="1645920" y="210312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Creative teams are the group most affected; a Kotter-style change plan can protect originality while they adopt data.</a:t>
            </a:r>
            <a:endParaRPr lang="en-US" sz="1400" dirty="0"/>
          </a:p>
        </p:txBody>
      </p:sp>
      <p:sp>
        <p:nvSpPr>
          <p:cNvPr id="9" name="Text 6"/>
          <p:cNvSpPr txBox="1"/>
          <p:nvPr/>
        </p:nvSpPr>
        <p:spPr>
          <a:xfrm>
            <a:off x="548640" y="288036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3</a:t>
            </a:r>
            <a:endParaRPr lang="en-US" sz="1500" dirty="0"/>
          </a:p>
        </p:txBody>
      </p:sp>
      <p:sp>
        <p:nvSpPr>
          <p:cNvPr id="10" name="Text 7"/>
          <p:cNvSpPr txBox="1"/>
          <p:nvPr/>
        </p:nvSpPr>
        <p:spPr>
          <a:xfrm>
            <a:off x="1645920" y="288036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Rivals can copy the technology, so advantage depends on ecosystem, creative judgement and ethical safeguards.</a:t>
            </a:r>
            <a:endParaRPr lang="en-US" sz="1400" dirty="0"/>
          </a:p>
        </p:txBody>
      </p:sp>
      <p:sp>
        <p:nvSpPr>
          <p:cNvPr id="11" name="Text 8"/>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Recommendations</a:t>
            </a:r>
            <a:endParaRPr lang="en-US" sz="1800" dirty="0"/>
          </a:p>
        </p:txBody>
      </p:sp>
      <p:sp>
        <p:nvSpPr>
          <p:cNvPr id="12" name="Text 9"/>
          <p:cNvSpPr txBox="1"/>
          <p:nvPr/>
        </p:nvSpPr>
        <p:spPr>
          <a:xfrm>
            <a:off x="548640" y="4160520"/>
            <a:ext cx="11064240"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Pilot with creative teams, using Kotter-style steps.</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Add explanations for why content is recommended.</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Review purpose limitation and diversity audits regularly.</a:t>
            </a:r>
            <a:endParaRPr lang="en-US" sz="1500" dirty="0"/>
          </a:p>
        </p:txBody>
      </p:sp>
      <p:sp>
        <p:nvSpPr>
          <p:cNvPr id="13" name="Shape 10"/>
          <p:cNvSpPr/>
          <p:nvPr/>
        </p:nvSpPr>
        <p:spPr>
          <a:xfrm>
            <a:off x="548640" y="5440680"/>
            <a:ext cx="11064240" cy="777240"/>
          </a:xfrm>
          <a:prstGeom prst="roundRect">
            <a:avLst>
              <a:gd name="adj" fmla="val 9412"/>
            </a:avLst>
          </a:prstGeom>
          <a:solidFill>
            <a:srgbClr val="1E2761"/>
          </a:solidFill>
          <a:ln w="12700">
            <a:solidFill>
              <a:srgbClr val="1E2761"/>
            </a:solidFill>
            <a:prstDash val="solid"/>
          </a:ln>
        </p:spPr>
      </p:sp>
      <p:sp>
        <p:nvSpPr>
          <p:cNvPr id="14" name="Text 11"/>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Used with creative teams at its side, the recommendation engine can help Apple TV+ keep subscribers without giving up the originality it is known for.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References</a:t>
            </a:r>
            <a:endParaRPr lang="en-US" sz="1100" dirty="0"/>
          </a:p>
        </p:txBody>
      </p:sp>
      <p:sp>
        <p:nvSpPr>
          <p:cNvPr id="5" name="Text 2"/>
          <p:cNvSpPr txBox="1"/>
          <p:nvPr/>
        </p:nvSpPr>
        <p:spPr>
          <a:xfrm>
            <a:off x="548640" y="1234440"/>
            <a:ext cx="11064240" cy="5303520"/>
          </a:xfrm>
          <a:prstGeom prst="rect">
            <a:avLst/>
          </a:prstGeom>
          <a:noFill/>
          <a:ln/>
        </p:spPr>
        <p:txBody>
          <a:bodyPr wrap="square" lIns="0" tIns="0" rIns="0" bIns="0" rtlCol="0" anchor="t"/>
          <a:lstStyle/>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Antenna (2024) Domestic SVOD market data. Industry churn figures as reported in ‘Streaming services see rising churn as serial cancelers seek value for money’, ABC News.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Apple Inc. (2025) Apple TV App &amp; Privacy. Cupertino: Apple Inc.</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Barney, J. (1991) ‘Firm resources and sustained competitive advantage’, Journal of Management, 17(1), pp.99–120.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Davis, F.D. (1989) ‘Perceived usefulness, perceived ease of use, and user acceptance of information technology’, MIS Quarterly, 13(3), pp.319–340.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European Parliament and Council (2016) Regulation (EU) 2016/679 (GDPR).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Floridi, L. et al. (2018) ‘AI4People—an ethical framework for a good AI society’, Minds and Machines, 28(4), pp.689–707.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Gomez-Uribe, C.A. and Hunt, N. (2015) ‘The Netflix recommender system’, ACM Transactions on Management Information Systems, 6(4), Article 13.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Gracenote (2025) State of Play 2025. Gracenote, a Nielsen company. Released 5 November 2025.</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Helberger, N. (2019) ‘On the democratic role of news recommenders’, Digital Journalism, 7(8), pp.993–1012.</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Kotter, J.P. (1995) ‘Leading change: why transformation efforts fail’, Harvard Business Review, 73(2), pp.59–67.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Mokoena, N. and Obagbuwa, I.C. (2025) ‘An analysis of artificial intelligence automation in digital music streaming platforms for improving consumer subscription responses: a review’, Frontiers in Artificial Intelligence, 7, Article 1515716.</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Napoli, P.M. (2014) ‘Automated media: an institutional theory perspective on algorithmic media production and consumption’, Communication Theory, 24(3), pp.340–360.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Pariser, E. (2011) The Filter Bubble. New York: Penguin Press.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Porter, M.E. (2008) ‘The five competitive forces that shape strategy’, Harvard Business Review, 86(1), pp.78–93.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Reichheld, F.F. (2003) ‘The one number you need to grow’, Harvard Business Review, 81(12), pp.46–54.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Resnick, P. and Varian, H.R. (1997) ‘Recommender systems’, Communications of the ACM, 40(3), pp.56–58.</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Ricci, F., Rokach, L. and Shapira, B. (2015) Recommender Systems Handbook. 2nd edn. New York: Springer.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Vial, G. (2019) ‘Understanding digital transformation: a review and a research agenda’, Journal of Strategic Information Systems, 28(2), pp.118–144.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2026-10-25T01:31:04Z</dcterms:created>
  <dcterms:modified xsi:type="dcterms:W3CDTF">2026-10-25T01:31:04Z</dcterms:modified>
</cp:coreProperties>
</file>