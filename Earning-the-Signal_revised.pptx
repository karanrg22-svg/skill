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the Digital Transformation Consultant, state the purpose, then name the three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that competes on quality rather than library size. Its content is integrated across Apple devices. The challenge: use data to improve recommendations without limiting creativity. Stat: Antenna churn data as reported by ABC News (check the original Antenna report before final submission). Reichheld (2003): retention is cheaper than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recommender system helps people choose among many options by using patterns in other people's behaviour (Resnick and Varian, 1997). Netflix is the best-documented streaming example (Gomez-Uribe and Hunt, 2015). Apple states it collects data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Porter's Five Forces (Porter, 2008). The engine helps with the challenge by matching content to viewers at scale. The creativity concern comes from the engine steering which content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Gracenote (2025) figure: verify at the source before final submission. Mokoena and Obagbuwa (2025) is a single national-market study, so applying it to Apple TV+ is an inference. Conclusion: personalisation is necessary but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writers, producers and content developers. Concern: heavy reliance on data could affect originality. TAM (Davis, 1989): usefulness and ease of use. Napoli (2014) on algorithms shaping media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model: Kotter (1995), eight steps condensed to six for Apple TV+. Barriers: fear of losing creative control, distrust of algorithms, skills gaps. Creative champions and feedback channels build digital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from Barney (1991). Honest verdict: valuable but not rare or hard to imitate, so the recommender alone gives parity. Engagement does not automatically produce retention (Mokoena and Obagbuwa, 2025). Optional Ansoff placement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GDPR Article 5 purpose limitation (European Parliament and Council, 2016). Bias: Ricci et al. (2015). Principles from Floridi et al. (2018). The earlier App Tracking Transparency claim was dropped because it was unsourced.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first: the creative-team pilot, because it addresses the central challenge and builds the evidence the other two rest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evidence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in-text citation appears here. Verify Antenna/ABC News and Gracenote figures against the originals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5"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6"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7"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8"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9"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10"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1"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2"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3"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4"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6.3%</a:t>
            </a:r>
            <a:endParaRPr lang="en-US" sz="6000" dirty="0"/>
          </a:p>
        </p:txBody>
      </p:sp>
      <p:sp>
        <p:nvSpPr>
          <p:cNvPr id="15" name="Text 12"/>
          <p:cNvSpPr txBox="1"/>
          <p:nvPr/>
        </p:nvSpPr>
        <p:spPr>
          <a:xfrm>
            <a:off x="8046720" y="2834640"/>
            <a:ext cx="3291840" cy="128016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average monthly churn across major US streaming services, November 2023 (up from 5.1% in November 2022)</a:t>
            </a:r>
            <a:endParaRPr lang="en-US" sz="1400" dirty="0"/>
          </a:p>
        </p:txBody>
      </p:sp>
      <p:sp>
        <p:nvSpPr>
          <p:cNvPr id="16" name="Text 13"/>
          <p:cNvSpPr txBox="1"/>
          <p:nvPr/>
        </p:nvSpPr>
        <p:spPr>
          <a:xfrm>
            <a:off x="8046720" y="4389120"/>
            <a:ext cx="3291840" cy="822960"/>
          </a:xfrm>
          <a:prstGeom prst="rect">
            <a:avLst/>
          </a:prstGeom>
          <a:noFill/>
          <a:ln/>
        </p:spPr>
        <p:txBody>
          <a:bodyPr wrap="square" lIns="0" tIns="0" rIns="0" bIns="0" rtlCol="0" anchor="t"/>
          <a:lstStyle/>
          <a:p>
            <a:pPr algn="ctr" indent="0" marL="0">
              <a:buNone/>
            </a:pPr>
            <a:r>
              <a:rPr lang="en-US" sz="1300" i="1" dirty="0">
                <a:solidFill>
                  <a:srgbClr val="6B7590"/>
                </a:solidFill>
                <a:latin typeface="Calibri" pitchFamily="34" charset="0"/>
                <a:ea typeface="Calibri" pitchFamily="34" charset="-122"/>
                <a:cs typeface="Calibri" pitchFamily="34" charset="-120"/>
              </a:rPr>
              <a:t>Retaining a subscriber costs less than acquiring one (Reichheld, 2003).</a:t>
            </a:r>
            <a:endParaRPr lang="en-US" sz="13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as reported by ABC News (2024). Industry-wide figure, not specific to Apple TV+.</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6"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7"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8"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9"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10"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1"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2"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3"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4"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5"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6"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7" name="Text 14"/>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6" name="Shape 3"/>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7" name="Text 4"/>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8" name="Shape 5"/>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9" name="Text 6"/>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0" name="Shape 7"/>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1" name="Text 8"/>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2" name="Shape 9"/>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13" name="Text 10"/>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14" name="Shape 11"/>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15" name="Text 12"/>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16" name="Shape 13"/>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17" name="Text 14"/>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6"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7"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8"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Viewers find relevant titles in a large catalogue; 74% rate recommendations “very” or “extremely” important (Gracenote, 2025).</a:t>
            </a:r>
            <a:endParaRPr lang="en-US" sz="1250" dirty="0"/>
          </a:p>
        </p:txBody>
      </p:sp>
      <p:sp>
        <p:nvSpPr>
          <p:cNvPr id="9"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10"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1"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2"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3"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4"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5" name="Shape 12"/>
          <p:cNvSpPr/>
          <p:nvPr/>
        </p:nvSpPr>
        <p:spPr>
          <a:xfrm>
            <a:off x="6217920" y="1828800"/>
            <a:ext cx="5394960" cy="731520"/>
          </a:xfrm>
          <a:prstGeom prst="rect">
            <a:avLst/>
          </a:prstGeom>
          <a:solidFill>
            <a:srgbClr val="F2F5FB"/>
          </a:solidFill>
          <a:ln w="9525">
            <a:solidFill>
              <a:srgbClr val="CADCFC"/>
            </a:solidFill>
            <a:prstDash val="solid"/>
          </a:ln>
        </p:spPr>
      </p:sp>
      <p:sp>
        <p:nvSpPr>
          <p:cNvPr id="16" name="Text 13"/>
          <p:cNvSpPr txBox="1"/>
          <p:nvPr/>
        </p:nvSpPr>
        <p:spPr>
          <a:xfrm>
            <a:off x="6355080" y="187452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7" name="Shape 14"/>
          <p:cNvSpPr/>
          <p:nvPr/>
        </p:nvSpPr>
        <p:spPr>
          <a:xfrm>
            <a:off x="6217920" y="2560320"/>
            <a:ext cx="5394960" cy="731520"/>
          </a:xfrm>
          <a:prstGeom prst="rect">
            <a:avLst/>
          </a:prstGeom>
          <a:solidFill>
            <a:srgbClr val="FFFFFF"/>
          </a:solidFill>
          <a:ln w="9525">
            <a:solidFill>
              <a:srgbClr val="CADCFC"/>
            </a:solidFill>
            <a:prstDash val="solid"/>
          </a:ln>
        </p:spPr>
      </p:sp>
      <p:sp>
        <p:nvSpPr>
          <p:cNvPr id="18" name="Text 15"/>
          <p:cNvSpPr txBox="1"/>
          <p:nvPr/>
        </p:nvSpPr>
        <p:spPr>
          <a:xfrm>
            <a:off x="6355080" y="260604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9" name="Shape 16"/>
          <p:cNvSpPr/>
          <p:nvPr/>
        </p:nvSpPr>
        <p:spPr>
          <a:xfrm>
            <a:off x="6217920" y="3291840"/>
            <a:ext cx="5394960" cy="731520"/>
          </a:xfrm>
          <a:prstGeom prst="rect">
            <a:avLst/>
          </a:prstGeom>
          <a:solidFill>
            <a:srgbClr val="F2F5FB"/>
          </a:solidFill>
          <a:ln w="9525">
            <a:solidFill>
              <a:srgbClr val="CADCFC"/>
            </a:solidFill>
            <a:prstDash val="solid"/>
          </a:ln>
        </p:spPr>
      </p:sp>
      <p:sp>
        <p:nvSpPr>
          <p:cNvPr id="20" name="Text 17"/>
          <p:cNvSpPr txBox="1"/>
          <p:nvPr/>
        </p:nvSpPr>
        <p:spPr>
          <a:xfrm>
            <a:off x="6355080" y="333756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1" name="Shape 18"/>
          <p:cNvSpPr/>
          <p:nvPr/>
        </p:nvSpPr>
        <p:spPr>
          <a:xfrm>
            <a:off x="6217920" y="4023360"/>
            <a:ext cx="5394960" cy="731520"/>
          </a:xfrm>
          <a:prstGeom prst="rect">
            <a:avLst/>
          </a:prstGeom>
          <a:solidFill>
            <a:srgbClr val="FFFFFF"/>
          </a:solidFill>
          <a:ln w="9525">
            <a:solidFill>
              <a:srgbClr val="CADCFC"/>
            </a:solidFill>
            <a:prstDash val="solid"/>
          </a:ln>
        </p:spPr>
      </p:sp>
      <p:sp>
        <p:nvSpPr>
          <p:cNvPr id="22" name="Text 19"/>
          <p:cNvSpPr txBox="1"/>
          <p:nvPr/>
        </p:nvSpPr>
        <p:spPr>
          <a:xfrm>
            <a:off x="6355080" y="406908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3" name="Shape 20"/>
          <p:cNvSpPr/>
          <p:nvPr/>
        </p:nvSpPr>
        <p:spPr>
          <a:xfrm>
            <a:off x="6217920" y="4754880"/>
            <a:ext cx="5394960" cy="731520"/>
          </a:xfrm>
          <a:prstGeom prst="rect">
            <a:avLst/>
          </a:prstGeom>
          <a:solidFill>
            <a:srgbClr val="F2F5FB"/>
          </a:solidFill>
          <a:ln w="9525">
            <a:solidFill>
              <a:srgbClr val="CADCFC"/>
            </a:solidFill>
            <a:prstDash val="solid"/>
          </a:ln>
        </p:spPr>
      </p:sp>
      <p:sp>
        <p:nvSpPr>
          <p:cNvPr id="24" name="Text 21"/>
          <p:cNvSpPr txBox="1"/>
          <p:nvPr/>
        </p:nvSpPr>
        <p:spPr>
          <a:xfrm>
            <a:off x="6355080" y="480060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Not decisive. </a:t>
            </a:r>
            <a:pPr indent="0" marL="0">
              <a:buNone/>
            </a:pPr>
            <a:r>
              <a:rPr lang="en-US" sz="1250" dirty="0">
                <a:solidFill>
                  <a:srgbClr val="27314D"/>
                </a:solidFill>
                <a:latin typeface="Calibri" pitchFamily="34" charset="0"/>
                <a:ea typeface="Calibri" pitchFamily="34" charset="-122"/>
                <a:cs typeface="Calibri" pitchFamily="34" charset="-120"/>
              </a:rPr>
              <a:t>Satisfaction and value predict continued use more than personalisation (Mokoena and Obagbuwa, 2025; single national market).</a:t>
            </a:r>
            <a:endParaRPr lang="en-US" sz="1250" dirty="0"/>
          </a:p>
        </p:txBody>
      </p:sp>
      <p:sp>
        <p:nvSpPr>
          <p:cNvPr id="25" name="Text 22"/>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71600"/>
            <a:ext cx="3291840" cy="3840480"/>
          </a:xfrm>
          <a:prstGeom prst="roundRect">
            <a:avLst>
              <a:gd name="adj" fmla="val 2222"/>
            </a:avLst>
          </a:prstGeom>
          <a:solidFill>
            <a:srgbClr val="1E2761"/>
          </a:solidFill>
          <a:ln w="12700">
            <a:solidFill>
              <a:srgbClr val="1E2761"/>
            </a:solidFill>
            <a:prstDash val="solid"/>
          </a:ln>
        </p:spPr>
      </p:sp>
      <p:sp>
        <p:nvSpPr>
          <p:cNvPr id="6" name="Text 3"/>
          <p:cNvSpPr txBox="1"/>
          <p:nvPr/>
        </p:nvSpPr>
        <p:spPr>
          <a:xfrm>
            <a:off x="731520" y="15087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7" name="Text 4"/>
          <p:cNvSpPr txBox="1"/>
          <p:nvPr/>
        </p:nvSpPr>
        <p:spPr>
          <a:xfrm>
            <a:off x="731520" y="2103120"/>
            <a:ext cx="2926080" cy="29260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8" name="Shape 5"/>
          <p:cNvSpPr/>
          <p:nvPr/>
        </p:nvSpPr>
        <p:spPr>
          <a:xfrm>
            <a:off x="4114800" y="1371600"/>
            <a:ext cx="2423160" cy="3840480"/>
          </a:xfrm>
          <a:prstGeom prst="roundRect">
            <a:avLst>
              <a:gd name="adj" fmla="val 3019"/>
            </a:avLst>
          </a:prstGeom>
          <a:solidFill>
            <a:srgbClr val="F2F5FB"/>
          </a:solidFill>
          <a:ln w="12700">
            <a:solidFill>
              <a:srgbClr val="CADCFC"/>
            </a:solidFill>
            <a:prstDash val="solid"/>
          </a:ln>
        </p:spPr>
      </p:sp>
      <p:sp>
        <p:nvSpPr>
          <p:cNvPr id="9" name="Text 6"/>
          <p:cNvSpPr txBox="1"/>
          <p:nvPr/>
        </p:nvSpPr>
        <p:spPr>
          <a:xfrm>
            <a:off x="4251960" y="15087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0" name="Text 7"/>
          <p:cNvSpPr txBox="1"/>
          <p:nvPr/>
        </p:nvSpPr>
        <p:spPr>
          <a:xfrm>
            <a:off x="4251960" y="2011680"/>
            <a:ext cx="2148840" cy="31089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1" name="Shape 8"/>
          <p:cNvSpPr/>
          <p:nvPr/>
        </p:nvSpPr>
        <p:spPr>
          <a:xfrm>
            <a:off x="6675120" y="1371600"/>
            <a:ext cx="2423160" cy="3840480"/>
          </a:xfrm>
          <a:prstGeom prst="roundRect">
            <a:avLst>
              <a:gd name="adj" fmla="val 3019"/>
            </a:avLst>
          </a:prstGeom>
          <a:solidFill>
            <a:srgbClr val="F2F5FB"/>
          </a:solidFill>
          <a:ln w="12700">
            <a:solidFill>
              <a:srgbClr val="CADCFC"/>
            </a:solidFill>
            <a:prstDash val="solid"/>
          </a:ln>
        </p:spPr>
      </p:sp>
      <p:sp>
        <p:nvSpPr>
          <p:cNvPr id="12" name="Text 9"/>
          <p:cNvSpPr txBox="1"/>
          <p:nvPr/>
        </p:nvSpPr>
        <p:spPr>
          <a:xfrm>
            <a:off x="6812280" y="15087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3" name="Text 10"/>
          <p:cNvSpPr txBox="1"/>
          <p:nvPr/>
        </p:nvSpPr>
        <p:spPr>
          <a:xfrm>
            <a:off x="6812280" y="2011680"/>
            <a:ext cx="2148840" cy="31089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4" name="Shape 11"/>
          <p:cNvSpPr/>
          <p:nvPr/>
        </p:nvSpPr>
        <p:spPr>
          <a:xfrm>
            <a:off x="9235440" y="1371600"/>
            <a:ext cx="2423160" cy="3840480"/>
          </a:xfrm>
          <a:prstGeom prst="roundRect">
            <a:avLst>
              <a:gd name="adj" fmla="val 3019"/>
            </a:avLst>
          </a:prstGeom>
          <a:solidFill>
            <a:srgbClr val="F2F5FB"/>
          </a:solidFill>
          <a:ln w="12700">
            <a:solidFill>
              <a:srgbClr val="CADCFC"/>
            </a:solidFill>
            <a:prstDash val="solid"/>
          </a:ln>
        </p:spPr>
      </p:sp>
      <p:sp>
        <p:nvSpPr>
          <p:cNvPr id="15" name="Text 12"/>
          <p:cNvSpPr txBox="1"/>
          <p:nvPr/>
        </p:nvSpPr>
        <p:spPr>
          <a:xfrm>
            <a:off x="9372600" y="15087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6" name="Text 13"/>
          <p:cNvSpPr txBox="1"/>
          <p:nvPr/>
        </p:nvSpPr>
        <p:spPr>
          <a:xfrm>
            <a:off x="9372600" y="2011680"/>
            <a:ext cx="2148840" cy="31089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7" name="Text 14"/>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6"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7"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8"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9"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10"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1"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2"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3"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4"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5"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6"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7"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8"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9"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20"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1"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2"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3"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Kotter (1995) change model, tailored to Apple TV+</a:t>
            </a:r>
            <a:endParaRPr lang="en-US" sz="1100" dirty="0"/>
          </a:p>
        </p:txBody>
      </p:sp>
      <p:sp>
        <p:nvSpPr>
          <p:cNvPr id="24"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5"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6"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7"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8"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9"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30"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a:t>
            </a:r>
            <a:endParaRPr lang="en-US" sz="1300" dirty="0"/>
          </a:p>
        </p:txBody>
      </p:sp>
      <p:sp>
        <p:nvSpPr>
          <p:cNvPr id="31"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2"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3"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engagement alone does not guarantee renewal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7" name="Text 3"/>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8" name="Shape 4"/>
          <p:cNvSpPr/>
          <p:nvPr/>
        </p:nvSpPr>
        <p:spPr>
          <a:xfrm>
            <a:off x="548640" y="5349240"/>
            <a:ext cx="3611880" cy="822960"/>
          </a:xfrm>
          <a:prstGeom prst="roundRect">
            <a:avLst>
              <a:gd name="adj" fmla="val 8889"/>
            </a:avLst>
          </a:prstGeom>
          <a:solidFill>
            <a:srgbClr val="F2F5FB"/>
          </a:solidFill>
          <a:ln w="12700">
            <a:solidFill>
              <a:srgbClr val="CADCFC"/>
            </a:solidFill>
            <a:prstDash val="solid"/>
          </a:ln>
        </p:spPr>
      </p:sp>
      <p:sp>
        <p:nvSpPr>
          <p:cNvPr id="9" name="Text 5"/>
          <p:cNvSpPr txBox="1"/>
          <p:nvPr/>
        </p:nvSpPr>
        <p:spPr>
          <a:xfrm>
            <a:off x="68580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Test: </a:t>
            </a:r>
            <a:pPr indent="0" marL="0">
              <a:buNone/>
            </a:pPr>
            <a:r>
              <a:rPr lang="en-US" sz="1300" dirty="0">
                <a:solidFill>
                  <a:srgbClr val="27314D"/>
                </a:solidFill>
                <a:latin typeface="Calibri" pitchFamily="34" charset="0"/>
                <a:ea typeface="Calibri" pitchFamily="34" charset="-122"/>
                <a:cs typeface="Calibri" pitchFamily="34" charset="-120"/>
              </a:rPr>
              <a:t>A/B test recommendation changes against retention</a:t>
            </a:r>
            <a:endParaRPr lang="en-US" sz="1300" dirty="0"/>
          </a:p>
        </p:txBody>
      </p:sp>
      <p:sp>
        <p:nvSpPr>
          <p:cNvPr id="10" name="Shape 6"/>
          <p:cNvSpPr/>
          <p:nvPr/>
        </p:nvSpPr>
        <p:spPr>
          <a:xfrm>
            <a:off x="4297680" y="5349240"/>
            <a:ext cx="3611880" cy="822960"/>
          </a:xfrm>
          <a:prstGeom prst="roundRect">
            <a:avLst>
              <a:gd name="adj" fmla="val 8889"/>
            </a:avLst>
          </a:prstGeom>
          <a:solidFill>
            <a:srgbClr val="F2F5FB"/>
          </a:solidFill>
          <a:ln w="12700">
            <a:solidFill>
              <a:srgbClr val="CADCFC"/>
            </a:solidFill>
            <a:prstDash val="solid"/>
          </a:ln>
        </p:spPr>
      </p:sp>
      <p:sp>
        <p:nvSpPr>
          <p:cNvPr id="11" name="Text 7"/>
          <p:cNvSpPr txBox="1"/>
          <p:nvPr/>
        </p:nvSpPr>
        <p:spPr>
          <a:xfrm>
            <a:off x="443484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Creative input: </a:t>
            </a:r>
            <a:pPr indent="0" marL="0">
              <a:buNone/>
            </a:pPr>
            <a:r>
              <a:rPr lang="en-US" sz="1300" dirty="0">
                <a:solidFill>
                  <a:srgbClr val="27314D"/>
                </a:solidFill>
                <a:latin typeface="Calibri" pitchFamily="34" charset="0"/>
                <a:ea typeface="Calibri" pitchFamily="34" charset="-122"/>
                <a:cs typeface="Calibri" pitchFamily="34" charset="-120"/>
              </a:rPr>
              <a:t>Creatives help set the goals the model optimises</a:t>
            </a:r>
            <a:endParaRPr lang="en-US" sz="1300" dirty="0"/>
          </a:p>
        </p:txBody>
      </p:sp>
      <p:sp>
        <p:nvSpPr>
          <p:cNvPr id="12" name="Shape 8"/>
          <p:cNvSpPr/>
          <p:nvPr/>
        </p:nvSpPr>
        <p:spPr>
          <a:xfrm>
            <a:off x="8046720" y="5349240"/>
            <a:ext cx="3611880" cy="822960"/>
          </a:xfrm>
          <a:prstGeom prst="roundRect">
            <a:avLst>
              <a:gd name="adj" fmla="val 8889"/>
            </a:avLst>
          </a:prstGeom>
          <a:solidFill>
            <a:srgbClr val="F2F5FB"/>
          </a:solidFill>
          <a:ln w="12700">
            <a:solidFill>
              <a:srgbClr val="CADCFC"/>
            </a:solidFill>
            <a:prstDash val="solid"/>
          </a:ln>
        </p:spPr>
      </p:sp>
      <p:sp>
        <p:nvSpPr>
          <p:cNvPr id="13" name="Text 9"/>
          <p:cNvSpPr txBox="1"/>
          <p:nvPr/>
        </p:nvSpPr>
        <p:spPr>
          <a:xfrm>
            <a:off x="818388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Refresh: </a:t>
            </a:r>
            <a:pPr indent="0" marL="0">
              <a:buNone/>
            </a:pPr>
            <a:r>
              <a:rPr lang="en-US" sz="1300" dirty="0">
                <a:solidFill>
                  <a:srgbClr val="27314D"/>
                </a:solidFill>
                <a:latin typeface="Calibri" pitchFamily="34" charset="0"/>
                <a:ea typeface="Calibri" pitchFamily="34" charset="-122"/>
                <a:cs typeface="Calibri" pitchFamily="34" charset="-120"/>
              </a:rPr>
              <a:t>Update data and models regularly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5"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6"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7"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9"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Chief Content Officer, with Head of Data Science</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10"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1"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2"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4"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Head of Product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5"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6"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7"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9"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Data Protection Officer</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20"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5"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6"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7"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8"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9"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10"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1"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2"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3"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4"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5"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[verify against original report]</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T. and Obagbuwa, O. (2025) Personalisation and continuance intention in SVOD [journal details to be confirmed].</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London: Viking.</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2026-10-25T00:38:53Z</dcterms:created>
  <dcterms:modified xsi:type="dcterms:W3CDTF">2026-10-25T00:38:53Z</dcterms:modified>
</cp:coreProperties>
</file>