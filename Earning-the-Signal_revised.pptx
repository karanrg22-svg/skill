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your time. I am your Digital Transformation Consultant, and today I will set out how a machine-learning recommendation engine could help Apple TV+ use data to improve what your subscribers watch, without limiting the creativity that defines the service. [SRN: add SRN.]
The presentation has three parts. First, the technology: how it works, how it addresses your challenge, and its benefits and limitations. Second, the impact on your creative teams, and how to manage the change. Third, the strategic implications, including whether it can give you lasting advantage, the ethical and risk issues, and three recommendations.
At the end I will ask you to approve three actions, and I will tell you which should come first.
Everything I present draws on published research and industry sources, which are listed on the final slide. Where a point is my own judgement and not a measured finding, I will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where Apple TV+ stands. You offer original films, series and documentaries to a global audience, and you compete on the quality of that content, not on library size. That makes every title count for more. When a service has fewer titles, a programme that viewers never find is a bigger loss.
Quality-led positioning also raises the stakes for how that content is surfaced. A subscriber who opens the app and sees nothing of interest will not blame the catalogue size. They will simply conclude that the service has little for them, and that is a retention risk.
Your wider strategy places Apple TV+ inside the Apple ecosystem, with content integrated across iPhone, iPad and other Apple products. Subscribers expect a seamless experience, and a viewer who starts a series on one device expects the service to remember them on the next.
The challenge I have chosen to address is using data to improve recommendations without limiting creativity. It matters for three reasons. First, retention. Second, competition with Netflix, Prime Video and Disney+. Third, a tension inside the organisation: your creative teams are concerned that too much reliance on data could affect originality, while marketing supports data-driven insight but knows that customers can be sensitive to pricing and content changes.
The data on this slide shows why retention is urgent. Antenna (2024) reports that 37.2% of Apple TV+'s gross subscriber additions were returning subscribers who had cancelled within the prior 12 months, the highest serial-churn rate in the industry. For wider context, monthly churn across major US streaming services rose from 5.1% in November 2022 to 6.3% in November 2023, as reported by ABC News using Antenna data. That industry figure is background and is not specific to Apple TV+.
The cost is real. Reichheld (2003) shows that keeping an existing customer is cheaper than winning a new one, so churn is a financial problem for you, not only a marketing metric.
Next, the technology I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I recommend is a machine-learning recommendation engine. In plain terms, it is software that learns from what your subscribers do and predicts what each will want to watch next. Resnick and Varian (1997) describe recommender systems as helping people choose among many options by drawing on the patterns in other people's choices.
Figure 1 shows the flow. On the input side, the engine takes in viewing history, search queries and behavioural signals such as pauses and rewinds. In the process stage, machine learning finds patterns in that data and predicts what a viewer is likely to want. The output is a personalised home screen and "what to watch next" suggestions.
I chose this technology for two reasons. It speaks directly to your challenge, and it fits your ecosystem strategy. Your subscribers move between devices, so the more consistently the service understands them, the more seamless the experience becomes.
I also considered where your challenge actually sits. It sits in the link between your content and each viewer, and that is the point where a recommendation engine operates. Technologies that change how content is produced would not address it. This one works on data you already collect, which makes it practical to start with.
The best-documented example is Netflix. Gomez-Uribe and Hunt (2015) describe how Netflix personalises rows and titles for each member and estimate that its recommender is worth over a billion dollars a year in retained subscribers. I want to be careful with that. It is evidence about Netflix, not Apple TV+, so it shows what is possible, not what you will achieve.
It is also worth noting that machine-learning recommendation is now an established technology, but it is still developing, particularly in how it handles context and explanation. That is why the way you deploy it matters more than the fact that you deploy it.
You are already open about this use of data. Apple's privacy documentation says viewing and activity data is collected "to tailor features and offer personalised recommendations" (Apple Inc., 2025). So this technology builds on a stated practice and does not introduce a hidden one.
Next, how it helps with your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helps by matching content to viewers at scale. You have a small, high-quality catalogue. The engine can match it to millions of different subscribers, so good originals are found and not buried. The flow on the left shows the chain: viewing data feeds the engine, the engine builds a tailored home screen, and that supports retention against rivals.
The ecosystem strengthens this. Because your subscribers use several Apple devices, the engine has more signals to learn from and more places to put a relevant suggestion in front of them. Marketing also benefits, because it can see which content is resonating, although I recommend that this insight informs promotion without replacing editorial judgement.
To test the strategic effect, I used Porter's Five Forces (Porter, 2008), shown in Figure 2. The recommender changes two forces most.
The first is rivalry with Netflix, Prime Video and Disney+. Better discovery raises the value of each subscription, which helps you. But those rivals run similar engines, so the technology protects your position rather than giving you a lead.
The second is buyer power, meaning how easily subscribers can switch. Switching costs are low, and the serial-churn figure on slide 2 shows subscribers leaving and returning easily (Antenna, 2024). A profile that has learned someone's taste adds a small cost to leaving, so the engine nudges switching costs up, but it does not solve the problem.
Now the creativity side, which I know is your leadership's main concern. The same engine that matches content can also steer which content is promoted. If it mainly promotes what is already popular or familiar, it could crowd out new and unusual ideas, and over time influence what gets commissioned. That is where your creative teams' concern comes from, and I take it seriously.
My message is that the technology is worth using, but the creative concern needs to be managed deliberately. I come back to how in the next section.
Next, the benefits and limitations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sets out three benefits and five limitations, each with a source.
The benefits. First, discovery: Gracenote (2025) found that 49% of viewers say they are likely to cancel a streaming service if they cannot find something to watch. Second, engagement: Gomez-Uribe and Hunt (2015) describe how personalised rows and titles increase viewing. Third, retention: better discovery reduces cancellations, which connects to Reichheld (2003) on the cost of losing customers.
The limitations. Narrowing: models reinforce what viewers have already watched, so recommendations narrow over time (Ricci, Rokach and Shapira, 2015). Reduced diversity: personalised feeds can limit exposure to varied content (Helberger, 2019). Possible loss of creative originality: data-led promotion can favour familiar formats over new ideas (Napoli, 2014). Data quality: the output depends on the quality of the data and signals behind it (Ricci, Rokach and Shapira, 2015). And privacy and governance: scaling AI adds privacy risk, governance demands and algorithmic bias that can limit content diversity (Mokoena and Obagbuwa, 2025).
For Apple TV+, the benefit that matters most is discovery, because a small catalogue only pays off if each show is found. The limitation that matters most is creative originality, because quality is your point of difference.
I should be open about the strength of this evidence. The Gracenote figure is stated intent, not recorded cancellations. Gomez-Uribe and Hunt (2015) describes Netflix. And Mokoena and Obagbuwa (2025) is a review of AI in music streaming, so I use it for its findings on risks, not as proof about video services.
My conclusion is that personalisation is necessary but not sufficient. Its benefits depend on managing these limits.
There is also an interaction between the two lists that is worth noting. Narrowing, if left unchecked, can undermine the very discovery benefit that justifies the investment, because viewers see more of the same and less of what is new. That is why the limitations are not an afterthought. They are part of whether the benefit lasts.
Next, what this means for the people who make your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Personalisation at this scale does not only change what subscribers see. It also changes how your creative teams decide what gets made.
I have focused on your creative teams: writers, producers and content developers. I chose them because they are the group most directly exposed to this technology, and because their concern is clear: too much reliance on data could affect originality.
I looked at three areas, structure, culture and process, and the important point is that they influence each other.
Structure is about who decides what gets made. Data should inform commissioning, not replace the judgement of your commissioning executives and creators.
Culture is about creative autonomy versus data-driven decisions. If teams see data as a verdict on their ideas, they will resist it. If they see it as a tool, they are more likely to use it. Napoli (2014) discusses how algorithms are shaping media production and audiences, which is exactly the context creative teams are worried about.
Process covers green-lighting and content pitches. I propose adding a data check to pitches while keeping creative sign-off at the final step.
The three are linked. If the process keeps creative sign-off final, the culture is more likely to accept the tool. If the culture accepts it, the structure can use data without conflict. If decisions drift towards data, culture suffers and resistance grows. So any change to one has to take account of the others.
I also looked at adoption through the Technology Acceptance Model (Davis, 1989), which asks whether people find a tool useful and easy to use. Your creative teams would find it useful if it shows which audiences a pitch could reach. They would find it easy to use only if insights come in plain language and fit the existing pitch workflow. If either is missing, adoption will be weak.
So their concern is addressed by design: creative sign-off stays final, data is input and not instruction, and the tool fits how they already work.
I recognise that marketing and operations also have views on this change. Marketing supports data-driven insight, and operations focus on service reliability, legal requirements and supporting employees. I have focused on creative teams because their concern goes to the heart of your challenge, but the governance review in my third recommendation also addresses the operations perspective.
Next, the barriers and how to manage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barriers, how to manage them, and the change plan.
I see three main barriers. The first is fear of losing creative control. The response is to keep creative sign-off final and publish clear rules for how data is used. The second is distrust of algorithms. The core issue is visibility: creative teams cannot see how data influences decisions. The response is to show why content is promoted, so creatives can follow the reasoning. The third is skills gaps. The response is training built around real projects, in line with Vial (2019) on the capabilities organisations need for digital transformation.
For the change plan I recommend Kotter (1995), condensed from eight steps to six for Apple TV+ and shown in Figure 4. Step one, urgency: churn and rivals make better discovery pressing. Step two, a coalition of creative champions and data leads. Step three, a vision that data informs and creatives decide. Step four, a pilot on one slate of originals, with early wins shared. Step five, extending the approach into pitches and green-lighting. Step six, embedding it in how you commission.
To build digital confidence, I recommend four actions: training for writers and producers, pilots on a small slate of originals, creative champions on each team, and feedback channels into the model team. The feedback channels let creatives shape the system and not just receive it.
To know whether it is working, I suggest three pilot measures: a creative-team survey on trust in the tool, the number of pitches using the data check, and whether discovery of original titles improves. Because Apple TV+ is a global platform, I would extend it region by region once the pilot has shown results.
This is a change in how people work, so the plan is designed to bring creative teams into shaping the technology.
Some resistance is natural and should be expected. Treating it as useful feedback and not as an obstacle is part of what makes change last. Kotter (1995) stresses the value of early visible wins, which is why the pilot is small and focused. A successful first slate gives sceptical colleagues evidence in place of assurances.
Next, whether it gives you lasting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question is whether this technology gives you a sustained competitive advantage. I applied the VRIO framework (Barney, 1991), shown in Table 2, and I have tried to be direct about where it falls short.
Valuable: yes. Better discovery supports retention and agility, meaning the ability to test and adjust quickly. But scaling AI brings privacy, governance and bias risks (Mokoena and Obagbuwa, 2025).
Rare: no. Your rivals already run recommendation engines, and the technique is widely documented (Ricci, Rokach and Shapira, 2015).
Hard to imitate: partly. The models can be copied. Your ecosystem data and quality-focused catalogue are harder to copy. That is my judgement and not a measured finding.
Organised to exploit: not yet. From what I understand, creative, marketing and operations teams hold different views, and there are no shared rules yet for how data shapes commissioning. That is my assessment of where you are today.
My verdict is competitive parity, not sustained advantage. As machine-learning capabilities converge across the market, accuracy alone differentiates very little. The recommender is a necessary baseline, and advantage comes from pairing it with your ecosystem and your creative judgement.
I would also add that engagement does not automatically produce retention. A subscriber can watch a lot and still cancel if the service does not feel worth the price. That is my own reasoning, and it is another reason accuracy alone will not win.
To keep improving, I recommend four things. First, A/B test changes against retention, which supports agility. Second, bring creatives into the model, helping to set the goals it optimises, which supports innovation. Third, refresh data and models regularly so the system does not go stale. Fourth, in Ansoff's terms (Ansoff, 1957), this is market penetration: deepening retention in your existing markets, not launching a new product.
Technology alone will not win. The organisation has to be ready to use it.
In practice, that means the continuous improvement actions should run on a regular cycle, with results reported to leadership. If testing shows a change improves retention but reduces the variety of what is promoted, creative leadership should have the right to adjust the model's goals. That keeps agility and originality working together.
Next, the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sets out five issues. For each I show why it matters, the ethical principle involved, and a mitigation. I have ordered them by likely impact on Apple TV+.
Privacy comes first. Data collected for recommendations could be reused for other purposes. GDPR Article 5 requires personal data to be collected for specified, explicit purposes (European Parliament and Council, 2016), and it applies to your subscribers in the EU. The mitigation is to document the purpose and review it regularly. This also protects your brand.
Bias and fairness. Models trained on past viewing narrow what subscribers are shown (Ricci, Rokach and Shapira, 2015). The principle is fairness, and the mitigation is regular diversity-of-recommendation audits.
Transparency. Viewers and creatives cannot see why content is promoted. The principle is transparency, and the mitigation is "why am I seeing this" explanations for both groups.
Creators' autonomy. Algorithms can steer which projects are promoted and made (Napoli, 2014). The principle is autonomy, and the mitigation is to keep creative sign-off, using data to inform and not to decide.
Finally, the social issue of cultural diversity and filter bubbles. Personalised feeds can reduce exposure to varied content (Pariser, 2011; Helberger, 2019). The principle is diversity, and the mitigation is to set minimum exposure for varied and local content.
These principles draw on the ethical framework in Floridi et al. (2018), which includes autonomy, fairness and explicability.
These risks are manageable, but only if the controls are built in from the start.
I have put privacy first because it carries legal exposure and could affect trust in your brand. Bias, transparency and autonomy are closely linked to the creative concern at the heart of this challenge. The social issue of diversity is longer term, but it affects the kind of content culture the service helps to shape.
Next, my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three actions. Each has an owner, evidence, and a link back to the analysis.
Recommendation one: run a creative-team pilot, using Kotter-style steps. The owner would be your creative leadership, supported by the data team. The evidence is Kotter (1995) on managing change and Napoli (2014) on the effects of algorithms on media production. It follows from the analysis on slides 6 and 7. Success means creative-team trust in the tool, and use of the data check in pitches, after one slate.
Recommendation two: add an explanation feature for recommendations. The owner would be marketing, working with product and technology teams. The evidence is Floridi et al. (2018) on explicability, and your own privacy documentation (Apple Inc., 2025). It follows from slides 4 and 9. Success means how many viewers use the feature.
Recommendation three: set up a governance review of purpose limitation and diversity auditing. The owner would be operations, covering legal and compliance. The evidence is GDPR Article 5 (European Parliament and Council, 2016) and Ricci, Rokach and Shapira (2015) on narrowing. It follows from slides 5 and 9. Success means audit results each quarter.
What should come first? The creative-team pilot. It tackles your central challenge of using data without limiting creativity, and it builds the evidence the other two depend on. The governance review should run alongside it, because the pilot will use viewer data and the rules need to be in place.
That is what I am asking you to approve today.
As a suggested sequence, the pilot design and the governance review would begin together, with the pilot running on one slate before any wider roll-out. The explanation feature would follow, informed by what the pilot teaches you about how viewers and creatives respond to seeing the reasoning behind a recommendation. Each stage reports back to leadership, so you can decide at each point whether to extend, adjust or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this together.
On technology, a machine-learning recommendation engine helps match your small catalogue to many viewers. But your rivals have similar technology, so it protects your position rather than creating a lead.
On people, your creative teams can protect originality while adopting data, provided you use a structured change plan like Kotter's and keep creative sign-off final.
On strategy, rivals can copy the technology, so lasting advantage depends on your ecosystem, your creative judgement and strong ethical safeguards.
My three recommendations, in one line each: run a pilot with your creative teams, add explanations for why content is recommended, and review purpose limitation and diversity audits regularly.
Used with creative teams at its side, the recommendation engine can help Apple TV+ keep its subscribers without giving up the originality that sets you apart.
The central point is that data and creativity do not have to be opposed. With the right governance, a clear change plan and creative teams involved from the start, the technology can support your strategy and not cut across it.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in alphabetical Harvard style. Provided for information;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B"/>
        </a:solidFill>
      </p:bgPr>
    </p:bg>
    <p:spTree>
      <p:nvGrpSpPr>
        <p:cNvPr id="1" name=""/>
        <p:cNvGrpSpPr/>
        <p:nvPr/>
      </p:nvGrpSpPr>
      <p:grpSpPr>
        <a:xfrm>
          <a:off x="0" y="0"/>
          <a:ext cx="0" cy="0"/>
          <a:chOff x="0" y="0"/>
          <a:chExt cx="0" cy="0"/>
        </a:xfrm>
      </p:grpSpPr>
      <p:sp>
        <p:nvSpPr>
          <p:cNvPr id="2" name="Text 0"/>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Intro</a:t>
            </a:r>
            <a:endParaRPr lang="en-US" sz="1100" dirty="0"/>
          </a:p>
        </p:txBody>
      </p:sp>
      <p:sp>
        <p:nvSpPr>
          <p:cNvPr id="3" name="Text 1"/>
          <p:cNvSpPr txBox="1"/>
          <p:nvPr/>
        </p:nvSpPr>
        <p:spPr>
          <a:xfrm>
            <a:off x="914400" y="1371600"/>
            <a:ext cx="10332720" cy="10058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Using a Recommendation Engine at Apple TV+</a:t>
            </a:r>
            <a:endParaRPr lang="en-US" sz="4000" dirty="0"/>
          </a:p>
        </p:txBody>
      </p:sp>
      <p:sp>
        <p:nvSpPr>
          <p:cNvPr id="4" name="Text 2"/>
          <p:cNvSpPr txBox="1"/>
          <p:nvPr/>
        </p:nvSpPr>
        <p:spPr>
          <a:xfrm>
            <a:off x="914400" y="2468880"/>
            <a:ext cx="10332720" cy="548640"/>
          </a:xfrm>
          <a:prstGeom prst="rect">
            <a:avLst/>
          </a:prstGeom>
          <a:noFill/>
          <a:ln/>
        </p:spPr>
        <p:txBody>
          <a:bodyPr wrap="square" lIns="0" tIns="0" rIns="0" bIns="0" rtlCol="0" anchor="t"/>
          <a:lstStyle/>
          <a:p>
            <a:pPr algn="ctr" indent="0" marL="0">
              <a:buNone/>
            </a:pPr>
            <a:r>
              <a:rPr lang="en-US" sz="2200" dirty="0">
                <a:solidFill>
                  <a:srgbClr val="1E56A0"/>
                </a:solidFill>
                <a:latin typeface="Calibri" pitchFamily="34" charset="0"/>
                <a:ea typeface="Calibri" pitchFamily="34" charset="-122"/>
                <a:cs typeface="Calibri" pitchFamily="34" charset="-120"/>
              </a:rPr>
              <a:t>Personalisation without limiting creativity</a:t>
            </a:r>
            <a:endParaRPr lang="en-US" sz="2200" dirty="0"/>
          </a:p>
        </p:txBody>
      </p:sp>
      <p:sp>
        <p:nvSpPr>
          <p:cNvPr id="5" name="Text 3"/>
          <p:cNvSpPr txBox="1"/>
          <p:nvPr/>
        </p:nvSpPr>
        <p:spPr>
          <a:xfrm>
            <a:off x="1828800" y="3383280"/>
            <a:ext cx="8503920" cy="1920240"/>
          </a:xfrm>
          <a:prstGeom prst="rect">
            <a:avLst/>
          </a:prstGeom>
          <a:noFill/>
          <a:ln/>
        </p:spPr>
        <p:txBody>
          <a:bodyPr wrap="square" lIns="0" tIns="0" rIns="0" bIns="0" rtlCol="0" anchor="t"/>
          <a:lstStyle/>
          <a:p>
            <a:pPr algn="ctr" indent="0" marL="0">
              <a:spcAft>
                <a:spcPts val="800"/>
              </a:spcAft>
              <a:buNone/>
            </a:pPr>
            <a:r>
              <a:rPr lang="en-US" sz="1600" dirty="0">
                <a:solidFill>
                  <a:srgbClr val="27314D"/>
                </a:solidFill>
                <a:latin typeface="Calibri" pitchFamily="34" charset="0"/>
                <a:ea typeface="Calibri" pitchFamily="34" charset="-122"/>
                <a:cs typeface="Calibri" pitchFamily="34" charset="-120"/>
              </a:rPr>
              <a:t>I am presenting as Apple TV+’s Digital Transformation Consultant.</a:t>
            </a:r>
            <a:endParaRPr lang="en-US" sz="1600" dirty="0"/>
          </a:p>
          <a:p>
            <a:pPr algn="ctr" indent="0" marL="0">
              <a:spcAft>
                <a:spcPts val="800"/>
              </a:spcAft>
              <a:buNone/>
            </a:pPr>
            <a:r>
              <a:rPr lang="en-US" sz="1600" dirty="0">
                <a:solidFill>
                  <a:srgbClr val="27314D"/>
                </a:solidFill>
                <a:latin typeface="Calibri" pitchFamily="34" charset="0"/>
                <a:ea typeface="Calibri" pitchFamily="34" charset="-122"/>
                <a:cs typeface="Calibri" pitchFamily="34" charset="-120"/>
              </a:rPr>
              <a:t>Purpose: to analyse how a machine-learning recommendation engine could help Apple TV+ use data without limiting creativity.</a:t>
            </a:r>
            <a:endParaRPr lang="en-US" sz="1600" dirty="0"/>
          </a:p>
          <a:p>
            <a:pPr algn="ctr" indent="0" marL="0">
              <a:spcAft>
                <a:spcPts val="800"/>
              </a:spcAft>
              <a:buNone/>
            </a:pPr>
            <a:r>
              <a:rPr lang="en-US" sz="1600" dirty="0">
                <a:solidFill>
                  <a:srgbClr val="27314D"/>
                </a:solidFill>
                <a:latin typeface="Calibri" pitchFamily="34" charset="0"/>
                <a:ea typeface="Calibri" pitchFamily="34" charset="-122"/>
                <a:cs typeface="Calibri" pitchFamily="34" charset="-120"/>
              </a:rPr>
              <a:t>Structure: technology (Task 1), impact on creative teams (Task 2), and strategy, ethics and recommendations (Task 3).</a:t>
            </a:r>
            <a:endParaRPr lang="en-US" sz="1600" dirty="0"/>
          </a:p>
        </p:txBody>
      </p:sp>
      <p:sp>
        <p:nvSpPr>
          <p:cNvPr id="6" name="Text 4"/>
          <p:cNvSpPr txBox="1"/>
          <p:nvPr/>
        </p:nvSpPr>
        <p:spPr>
          <a:xfrm>
            <a:off x="914400" y="5669280"/>
            <a:ext cx="10332720" cy="365760"/>
          </a:xfrm>
          <a:prstGeom prst="rect">
            <a:avLst/>
          </a:prstGeom>
          <a:noFill/>
          <a:ln/>
        </p:spPr>
        <p:txBody>
          <a:bodyPr wrap="square" lIns="0" tIns="0" rIns="0" bIns="0" rtlCol="0" anchor="t"/>
          <a:lstStyle/>
          <a:p>
            <a:pPr algn="ctr" indent="0" marL="0">
              <a:buNone/>
            </a:pPr>
            <a:r>
              <a:rPr lang="en-US" sz="1600" b="1" dirty="0">
                <a:solidFill>
                  <a:srgbClr val="1E2761"/>
                </a:solidFill>
                <a:latin typeface="Calibri" pitchFamily="34" charset="0"/>
                <a:ea typeface="Calibri" pitchFamily="34" charset="-122"/>
                <a:cs typeface="Calibri" pitchFamily="34" charset="-120"/>
              </a:rPr>
              <a:t>SRN: [enter your SRN]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Apple TV+ and the Challenge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Intro</a:t>
            </a:r>
            <a:endParaRPr lang="en-US" sz="1100" dirty="0"/>
          </a:p>
        </p:txBody>
      </p:sp>
      <p:sp>
        <p:nvSpPr>
          <p:cNvPr id="4" name="Text 2"/>
          <p:cNvSpPr txBox="1"/>
          <p:nvPr/>
        </p:nvSpPr>
        <p:spPr>
          <a:xfrm>
            <a:off x="548640" y="137160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What it is</a:t>
            </a:r>
            <a:endParaRPr lang="en-US" sz="1500" dirty="0"/>
          </a:p>
        </p:txBody>
      </p:sp>
      <p:sp>
        <p:nvSpPr>
          <p:cNvPr id="5" name="Text 3"/>
          <p:cNvSpPr txBox="1"/>
          <p:nvPr/>
        </p:nvSpPr>
        <p:spPr>
          <a:xfrm>
            <a:off x="2286000" y="137160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Apple TV+ is an original-content subscription service. It competes on the quality of its programmes rather than the size of its library, so each title carries more weight.</a:t>
            </a:r>
            <a:endParaRPr lang="en-US" sz="1400" dirty="0"/>
          </a:p>
        </p:txBody>
      </p:sp>
      <p:sp>
        <p:nvSpPr>
          <p:cNvPr id="6" name="Text 4"/>
          <p:cNvSpPr txBox="1"/>
          <p:nvPr/>
        </p:nvSpPr>
        <p:spPr>
          <a:xfrm>
            <a:off x="548640" y="256032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Ecosystem</a:t>
            </a:r>
            <a:endParaRPr lang="en-US" sz="1500" dirty="0"/>
          </a:p>
        </p:txBody>
      </p:sp>
      <p:sp>
        <p:nvSpPr>
          <p:cNvPr id="7" name="Text 5"/>
          <p:cNvSpPr txBox="1"/>
          <p:nvPr/>
        </p:nvSpPr>
        <p:spPr>
          <a:xfrm>
            <a:off x="2286000" y="256032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Content is integrated across iPhone, iPad and other Apple devices, so the viewing experience follows the subscriber from screen to screen.</a:t>
            </a:r>
            <a:endParaRPr lang="en-US" sz="1400" dirty="0"/>
          </a:p>
        </p:txBody>
      </p:sp>
      <p:sp>
        <p:nvSpPr>
          <p:cNvPr id="8" name="Text 6"/>
          <p:cNvSpPr txBox="1"/>
          <p:nvPr/>
        </p:nvSpPr>
        <p:spPr>
          <a:xfrm>
            <a:off x="548640" y="374904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The challenge</a:t>
            </a:r>
            <a:endParaRPr lang="en-US" sz="1500" dirty="0"/>
          </a:p>
        </p:txBody>
      </p:sp>
      <p:sp>
        <p:nvSpPr>
          <p:cNvPr id="9" name="Text 7"/>
          <p:cNvSpPr txBox="1"/>
          <p:nvPr/>
        </p:nvSpPr>
        <p:spPr>
          <a:xfrm>
            <a:off x="2286000" y="374904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Using data to improve recommendations without limiting creativity.</a:t>
            </a:r>
            <a:endParaRPr lang="en-US" sz="1400" dirty="0"/>
          </a:p>
        </p:txBody>
      </p:sp>
      <p:sp>
        <p:nvSpPr>
          <p:cNvPr id="10" name="Text 8"/>
          <p:cNvSpPr txBox="1"/>
          <p:nvPr/>
        </p:nvSpPr>
        <p:spPr>
          <a:xfrm>
            <a:off x="548640" y="4937760"/>
            <a:ext cx="1737360" cy="9144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Why it matters</a:t>
            </a:r>
            <a:endParaRPr lang="en-US" sz="1500" dirty="0"/>
          </a:p>
        </p:txBody>
      </p:sp>
      <p:sp>
        <p:nvSpPr>
          <p:cNvPr id="11" name="Text 9"/>
          <p:cNvSpPr txBox="1"/>
          <p:nvPr/>
        </p:nvSpPr>
        <p:spPr>
          <a:xfrm>
            <a:off x="2286000" y="4937760"/>
            <a:ext cx="4937760" cy="105156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Retention, competition with Netflix, Prime Video and Disney+, and the tension between creative and data-driven decisions inside the organisation.</a:t>
            </a:r>
            <a:endParaRPr lang="en-US" sz="1400" dirty="0"/>
          </a:p>
        </p:txBody>
      </p:sp>
      <p:sp>
        <p:nvSpPr>
          <p:cNvPr id="12" name="Shape 10"/>
          <p:cNvSpPr/>
          <p:nvPr/>
        </p:nvSpPr>
        <p:spPr>
          <a:xfrm>
            <a:off x="7772400" y="1371600"/>
            <a:ext cx="3840480" cy="4480560"/>
          </a:xfrm>
          <a:prstGeom prst="roundRect">
            <a:avLst>
              <a:gd name="adj" fmla="val 1905"/>
            </a:avLst>
          </a:prstGeom>
          <a:solidFill>
            <a:srgbClr val="F2F5FB"/>
          </a:solidFill>
          <a:ln w="12700">
            <a:solidFill>
              <a:srgbClr val="CADCFC"/>
            </a:solidFill>
            <a:prstDash val="solid"/>
          </a:ln>
        </p:spPr>
      </p:sp>
      <p:sp>
        <p:nvSpPr>
          <p:cNvPr id="13" name="Text 11"/>
          <p:cNvSpPr txBox="1"/>
          <p:nvPr/>
        </p:nvSpPr>
        <p:spPr>
          <a:xfrm>
            <a:off x="7955280" y="1645920"/>
            <a:ext cx="3474720" cy="1097280"/>
          </a:xfrm>
          <a:prstGeom prst="rect">
            <a:avLst/>
          </a:prstGeom>
          <a:noFill/>
          <a:ln/>
        </p:spPr>
        <p:txBody>
          <a:bodyPr wrap="square" lIns="0" tIns="0" rIns="0" bIns="0" rtlCol="0" anchor="ctr"/>
          <a:lstStyle/>
          <a:p>
            <a:pPr algn="ctr" indent="0" marL="0">
              <a:buNone/>
            </a:pPr>
            <a:r>
              <a:rPr lang="en-US" sz="6000" b="1" dirty="0">
                <a:solidFill>
                  <a:srgbClr val="1E2761"/>
                </a:solidFill>
                <a:latin typeface="Cambria" pitchFamily="34" charset="0"/>
                <a:ea typeface="Cambria" pitchFamily="34" charset="-122"/>
                <a:cs typeface="Cambria" pitchFamily="34" charset="-120"/>
              </a:rPr>
              <a:t>37.2%</a:t>
            </a:r>
            <a:endParaRPr lang="en-US" sz="6000" dirty="0"/>
          </a:p>
        </p:txBody>
      </p:sp>
      <p:sp>
        <p:nvSpPr>
          <p:cNvPr id="14" name="Text 12"/>
          <p:cNvSpPr txBox="1"/>
          <p:nvPr/>
        </p:nvSpPr>
        <p:spPr>
          <a:xfrm>
            <a:off x="8046720" y="2743200"/>
            <a:ext cx="3291840" cy="1554480"/>
          </a:xfrm>
          <a:prstGeom prst="rect">
            <a:avLst/>
          </a:prstGeom>
          <a:noFill/>
          <a:ln/>
        </p:spPr>
        <p:txBody>
          <a:bodyPr wrap="square" lIns="0" tIns="0" rIns="0" bIns="0" rtlCol="0" anchor="t"/>
          <a:lstStyle/>
          <a:p>
            <a:pPr algn="ctr" indent="0" marL="0">
              <a:buNone/>
            </a:pPr>
            <a:r>
              <a:rPr lang="en-US" sz="1400" dirty="0">
                <a:solidFill>
                  <a:srgbClr val="27314D"/>
                </a:solidFill>
                <a:latin typeface="Calibri" pitchFamily="34" charset="0"/>
                <a:ea typeface="Calibri" pitchFamily="34" charset="-122"/>
                <a:cs typeface="Calibri" pitchFamily="34" charset="-120"/>
              </a:rPr>
              <a:t>of Apple TV+ gross subscriber additions were returning subscribers who had cancelled within the prior 12 months, the highest serial-churn rate in the industry (Antenna, 2024)</a:t>
            </a:r>
            <a:endParaRPr lang="en-US" sz="1400" dirty="0"/>
          </a:p>
        </p:txBody>
      </p:sp>
      <p:sp>
        <p:nvSpPr>
          <p:cNvPr id="15" name="Text 13"/>
          <p:cNvSpPr txBox="1"/>
          <p:nvPr/>
        </p:nvSpPr>
        <p:spPr>
          <a:xfrm>
            <a:off x="8046720" y="4343400"/>
            <a:ext cx="3291840" cy="1371600"/>
          </a:xfrm>
          <a:prstGeom prst="rect">
            <a:avLst/>
          </a:prstGeom>
          <a:noFill/>
          <a:ln/>
        </p:spPr>
        <p:txBody>
          <a:bodyPr wrap="square" lIns="0" tIns="0" rIns="0" bIns="0" rtlCol="0" anchor="t"/>
          <a:lstStyle/>
          <a:p>
            <a:pPr algn="ctr" indent="0" marL="0">
              <a:buNone/>
            </a:pPr>
            <a:r>
              <a:rPr lang="en-US" sz="1200" i="1" dirty="0">
                <a:solidFill>
                  <a:srgbClr val="6B7590"/>
                </a:solidFill>
                <a:latin typeface="Calibri" pitchFamily="34" charset="0"/>
                <a:ea typeface="Calibri" pitchFamily="34" charset="-122"/>
                <a:cs typeface="Calibri" pitchFamily="34" charset="-120"/>
              </a:rPr>
              <a:t>Industry context: monthly churn across major US streaming services rose from 5.1% to 6.3% (Nov 2022 to Nov 2023). Retaining a subscriber costs less than acquiring one (Reichheld, 2003).</a:t>
            </a:r>
            <a:endParaRPr lang="en-US" sz="1200" dirty="0"/>
          </a:p>
        </p:txBody>
      </p:sp>
      <p:sp>
        <p:nvSpPr>
          <p:cNvPr id="16" name="Text 14"/>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Source: Antenna (2024); industry churn as reported by ABC News.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Technology: A Recommendation Engine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Technology</a:t>
            </a:r>
            <a:endParaRPr lang="en-US" sz="1100" dirty="0"/>
          </a:p>
        </p:txBody>
      </p:sp>
      <p:sp>
        <p:nvSpPr>
          <p:cNvPr id="4" name="Text 2"/>
          <p:cNvSpPr txBox="1"/>
          <p:nvPr/>
        </p:nvSpPr>
        <p:spPr>
          <a:xfrm>
            <a:off x="548640" y="1280160"/>
            <a:ext cx="11064240" cy="914400"/>
          </a:xfrm>
          <a:prstGeom prst="rect">
            <a:avLst/>
          </a:prstGeom>
          <a:noFill/>
          <a:ln/>
        </p:spPr>
        <p:txBody>
          <a:bodyPr wrap="square" lIns="0" tIns="0" rIns="0" bIns="0" rtlCol="0" anchor="t"/>
          <a:lstStyle/>
          <a:p>
            <a:pPr indent="0" marL="0">
              <a:buNone/>
            </a:pPr>
            <a:r>
              <a:rPr lang="en-US" sz="1600" dirty="0">
                <a:solidFill>
                  <a:srgbClr val="27314D"/>
                </a:solidFill>
                <a:latin typeface="Calibri" pitchFamily="34" charset="0"/>
                <a:ea typeface="Calibri" pitchFamily="34" charset="-122"/>
                <a:cs typeface="Calibri" pitchFamily="34" charset="-120"/>
              </a:rPr>
              <a:t>A machine-learning recommendation engine learns from what viewers do and predicts what each viewer will want to watch next. Recommender systems help people choose among many options by drawing on patterns in collective behaviour (Resnick and Varian, 1997).</a:t>
            </a:r>
            <a:endParaRPr lang="en-US" sz="1600" dirty="0"/>
          </a:p>
        </p:txBody>
      </p:sp>
      <p:sp>
        <p:nvSpPr>
          <p:cNvPr id="5" name="Shape 3"/>
          <p:cNvSpPr/>
          <p:nvPr/>
        </p:nvSpPr>
        <p:spPr>
          <a:xfrm>
            <a:off x="548640" y="2377440"/>
            <a:ext cx="3108960" cy="2103120"/>
          </a:xfrm>
          <a:prstGeom prst="roundRect">
            <a:avLst>
              <a:gd name="adj" fmla="val 3478"/>
            </a:avLst>
          </a:prstGeom>
          <a:solidFill>
            <a:srgbClr val="F2F5FB"/>
          </a:solidFill>
          <a:ln w="12700">
            <a:solidFill>
              <a:srgbClr val="CADCFC"/>
            </a:solidFill>
            <a:prstDash val="solid"/>
          </a:ln>
        </p:spPr>
      </p:sp>
      <p:sp>
        <p:nvSpPr>
          <p:cNvPr id="6" name="Text 4"/>
          <p:cNvSpPr txBox="1"/>
          <p:nvPr/>
        </p:nvSpPr>
        <p:spPr>
          <a:xfrm>
            <a:off x="731520" y="2514600"/>
            <a:ext cx="2743200" cy="411480"/>
          </a:xfrm>
          <a:prstGeom prst="rect">
            <a:avLst/>
          </a:prstGeom>
          <a:noFill/>
          <a:ln/>
        </p:spPr>
        <p:txBody>
          <a:bodyPr wrap="square" lIns="0" tIns="0" rIns="0" bIns="0" rtlCol="0" anchor="t"/>
          <a:lstStyle/>
          <a:p>
            <a:pPr indent="0" marL="0">
              <a:buNone/>
            </a:pPr>
            <a:r>
              <a:rPr lang="en-US" sz="1800" b="1" dirty="0">
                <a:solidFill>
                  <a:srgbClr val="27314D"/>
                </a:solidFill>
                <a:latin typeface="Cambria" pitchFamily="34" charset="0"/>
                <a:ea typeface="Cambria" pitchFamily="34" charset="-122"/>
                <a:cs typeface="Cambria" pitchFamily="34" charset="-120"/>
              </a:rPr>
              <a:t>Input</a:t>
            </a:r>
            <a:endParaRPr lang="en-US" sz="1800" dirty="0"/>
          </a:p>
        </p:txBody>
      </p:sp>
      <p:sp>
        <p:nvSpPr>
          <p:cNvPr id="7" name="Text 5"/>
          <p:cNvSpPr txBox="1"/>
          <p:nvPr/>
        </p:nvSpPr>
        <p:spPr>
          <a:xfrm>
            <a:off x="731520" y="3017520"/>
            <a:ext cx="2743200" cy="1371600"/>
          </a:xfrm>
          <a:prstGeom prst="rect">
            <a:avLst/>
          </a:prstGeom>
          <a:noFill/>
          <a:ln/>
        </p:spPr>
        <p:txBody>
          <a:bodyPr wrap="square" lIns="0" tIns="0" rIns="0" bIns="0" rtlCol="0" anchor="t"/>
          <a:lstStyle/>
          <a:p>
            <a:pPr indent="0" marL="0">
              <a:buNone/>
            </a:pPr>
            <a:r>
              <a:rPr lang="en-US" sz="1500" dirty="0">
                <a:solidFill>
                  <a:srgbClr val="27314D"/>
                </a:solidFill>
                <a:latin typeface="Calibri" pitchFamily="34" charset="0"/>
                <a:ea typeface="Calibri" pitchFamily="34" charset="-122"/>
                <a:cs typeface="Calibri" pitchFamily="34" charset="-120"/>
              </a:rPr>
              <a:t>Viewing history, searches, and behaviour signals such as pauses and rewinds</a:t>
            </a:r>
            <a:endParaRPr lang="en-US" sz="1500" dirty="0"/>
          </a:p>
        </p:txBody>
      </p:sp>
      <p:sp>
        <p:nvSpPr>
          <p:cNvPr id="8" name="Shape 6"/>
          <p:cNvSpPr/>
          <p:nvPr/>
        </p:nvSpPr>
        <p:spPr>
          <a:xfrm>
            <a:off x="3794760" y="3246120"/>
            <a:ext cx="640080" cy="365760"/>
          </a:xfrm>
          <a:prstGeom prst="rightArrow">
            <a:avLst/>
          </a:prstGeom>
          <a:solidFill>
            <a:srgbClr val="1E56A0"/>
          </a:solidFill>
          <a:ln w="12700">
            <a:solidFill>
              <a:srgbClr val="1E56A0"/>
            </a:solidFill>
            <a:prstDash val="solid"/>
          </a:ln>
        </p:spPr>
      </p:sp>
      <p:sp>
        <p:nvSpPr>
          <p:cNvPr id="9" name="Shape 7"/>
          <p:cNvSpPr/>
          <p:nvPr/>
        </p:nvSpPr>
        <p:spPr>
          <a:xfrm>
            <a:off x="4526280" y="2377440"/>
            <a:ext cx="3108960" cy="2103120"/>
          </a:xfrm>
          <a:prstGeom prst="roundRect">
            <a:avLst>
              <a:gd name="adj" fmla="val 3478"/>
            </a:avLst>
          </a:prstGeom>
          <a:solidFill>
            <a:srgbClr val="1E2761"/>
          </a:solidFill>
          <a:ln w="12700">
            <a:solidFill>
              <a:srgbClr val="1E2761"/>
            </a:solidFill>
            <a:prstDash val="solid"/>
          </a:ln>
        </p:spPr>
      </p:sp>
      <p:sp>
        <p:nvSpPr>
          <p:cNvPr id="10" name="Text 8"/>
          <p:cNvSpPr txBox="1"/>
          <p:nvPr/>
        </p:nvSpPr>
        <p:spPr>
          <a:xfrm>
            <a:off x="4709160" y="2514600"/>
            <a:ext cx="2743200" cy="4114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Process</a:t>
            </a:r>
            <a:endParaRPr lang="en-US" sz="1800" dirty="0"/>
          </a:p>
        </p:txBody>
      </p:sp>
      <p:sp>
        <p:nvSpPr>
          <p:cNvPr id="11" name="Text 9"/>
          <p:cNvSpPr txBox="1"/>
          <p:nvPr/>
        </p:nvSpPr>
        <p:spPr>
          <a:xfrm>
            <a:off x="4709160" y="3017520"/>
            <a:ext cx="274320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Machine learning finds patterns and predicts what each viewer wants next</a:t>
            </a:r>
            <a:endParaRPr lang="en-US" sz="1500" dirty="0"/>
          </a:p>
        </p:txBody>
      </p:sp>
      <p:sp>
        <p:nvSpPr>
          <p:cNvPr id="12" name="Shape 10"/>
          <p:cNvSpPr/>
          <p:nvPr/>
        </p:nvSpPr>
        <p:spPr>
          <a:xfrm>
            <a:off x="7772400" y="3246120"/>
            <a:ext cx="640080" cy="365760"/>
          </a:xfrm>
          <a:prstGeom prst="rightArrow">
            <a:avLst/>
          </a:prstGeom>
          <a:solidFill>
            <a:srgbClr val="1E56A0"/>
          </a:solidFill>
          <a:ln w="12700">
            <a:solidFill>
              <a:srgbClr val="1E56A0"/>
            </a:solidFill>
            <a:prstDash val="solid"/>
          </a:ln>
        </p:spPr>
      </p:sp>
      <p:sp>
        <p:nvSpPr>
          <p:cNvPr id="13" name="Shape 11"/>
          <p:cNvSpPr/>
          <p:nvPr/>
        </p:nvSpPr>
        <p:spPr>
          <a:xfrm>
            <a:off x="8503920" y="2377440"/>
            <a:ext cx="3108960" cy="2103120"/>
          </a:xfrm>
          <a:prstGeom prst="roundRect">
            <a:avLst>
              <a:gd name="adj" fmla="val 3478"/>
            </a:avLst>
          </a:prstGeom>
          <a:solidFill>
            <a:srgbClr val="F2F5FB"/>
          </a:solidFill>
          <a:ln w="12700">
            <a:solidFill>
              <a:srgbClr val="CADCFC"/>
            </a:solidFill>
            <a:prstDash val="solid"/>
          </a:ln>
        </p:spPr>
      </p:sp>
      <p:sp>
        <p:nvSpPr>
          <p:cNvPr id="14" name="Text 12"/>
          <p:cNvSpPr txBox="1"/>
          <p:nvPr/>
        </p:nvSpPr>
        <p:spPr>
          <a:xfrm>
            <a:off x="8686800" y="2514600"/>
            <a:ext cx="2743200" cy="411480"/>
          </a:xfrm>
          <a:prstGeom prst="rect">
            <a:avLst/>
          </a:prstGeom>
          <a:noFill/>
          <a:ln/>
        </p:spPr>
        <p:txBody>
          <a:bodyPr wrap="square" lIns="0" tIns="0" rIns="0" bIns="0" rtlCol="0" anchor="t"/>
          <a:lstStyle/>
          <a:p>
            <a:pPr indent="0" marL="0">
              <a:buNone/>
            </a:pPr>
            <a:r>
              <a:rPr lang="en-US" sz="1800" b="1" dirty="0">
                <a:solidFill>
                  <a:srgbClr val="27314D"/>
                </a:solidFill>
                <a:latin typeface="Cambria" pitchFamily="34" charset="0"/>
                <a:ea typeface="Cambria" pitchFamily="34" charset="-122"/>
                <a:cs typeface="Cambria" pitchFamily="34" charset="-120"/>
              </a:rPr>
              <a:t>Output</a:t>
            </a:r>
            <a:endParaRPr lang="en-US" sz="1800" dirty="0"/>
          </a:p>
        </p:txBody>
      </p:sp>
      <p:sp>
        <p:nvSpPr>
          <p:cNvPr id="15" name="Text 13"/>
          <p:cNvSpPr txBox="1"/>
          <p:nvPr/>
        </p:nvSpPr>
        <p:spPr>
          <a:xfrm>
            <a:off x="8686800" y="3017520"/>
            <a:ext cx="2743200" cy="1371600"/>
          </a:xfrm>
          <a:prstGeom prst="rect">
            <a:avLst/>
          </a:prstGeom>
          <a:noFill/>
          <a:ln/>
        </p:spPr>
        <p:txBody>
          <a:bodyPr wrap="square" lIns="0" tIns="0" rIns="0" bIns="0" rtlCol="0" anchor="t"/>
          <a:lstStyle/>
          <a:p>
            <a:pPr indent="0" marL="0">
              <a:buNone/>
            </a:pPr>
            <a:r>
              <a:rPr lang="en-US" sz="1500" dirty="0">
                <a:solidFill>
                  <a:srgbClr val="27314D"/>
                </a:solidFill>
                <a:latin typeface="Calibri" pitchFamily="34" charset="0"/>
                <a:ea typeface="Calibri" pitchFamily="34" charset="-122"/>
                <a:cs typeface="Calibri" pitchFamily="34" charset="-120"/>
              </a:rPr>
              <a:t>A personalised home screen and “what to watch next” suggestions</a:t>
            </a:r>
            <a:endParaRPr lang="en-US" sz="1500" dirty="0"/>
          </a:p>
        </p:txBody>
      </p:sp>
      <p:sp>
        <p:nvSpPr>
          <p:cNvPr id="16" name="Text 14"/>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1: Input, process and output of a recommendation engine. Adapted from Resnick and Varian (1997) and Gomez-Uribe and Hunt (2015).</a:t>
            </a:r>
            <a:endParaRPr lang="en-US" sz="1100" dirty="0"/>
          </a:p>
        </p:txBody>
      </p:sp>
      <p:sp>
        <p:nvSpPr>
          <p:cNvPr id="17" name="Text 15"/>
          <p:cNvSpPr txBox="1"/>
          <p:nvPr/>
        </p:nvSpPr>
        <p:spPr>
          <a:xfrm>
            <a:off x="548640" y="4846320"/>
            <a:ext cx="11064240" cy="1280160"/>
          </a:xfrm>
          <a:prstGeom prst="rect">
            <a:avLst/>
          </a:prstGeom>
          <a:noFill/>
          <a:ln/>
        </p:spPr>
        <p:txBody>
          <a:bodyPr wrap="square" lIns="0" tIns="0" rIns="0" bIns="0" rtlCol="0" anchor="t"/>
          <a:lstStyle/>
          <a:p>
            <a:pPr indent="0" marL="0">
              <a:spcAft>
                <a:spcPts val="800"/>
              </a:spcAft>
              <a:buNone/>
            </a:pPr>
            <a:r>
              <a:rPr lang="en-US" sz="1500" b="1" dirty="0">
                <a:solidFill>
                  <a:srgbClr val="1E2761"/>
                </a:solidFill>
                <a:latin typeface="Calibri" pitchFamily="34" charset="0"/>
                <a:ea typeface="Calibri" pitchFamily="34" charset="-122"/>
                <a:cs typeface="Calibri" pitchFamily="34" charset="-120"/>
              </a:rPr>
              <a:t>Example: </a:t>
            </a:r>
            <a:pPr indent="0" marL="0">
              <a:spcAft>
                <a:spcPts val="800"/>
              </a:spcAft>
              <a:buNone/>
            </a:pPr>
            <a:r>
              <a:rPr lang="en-US" sz="1500" dirty="0">
                <a:solidFill>
                  <a:srgbClr val="27314D"/>
                </a:solidFill>
                <a:latin typeface="Calibri" pitchFamily="34" charset="0"/>
                <a:ea typeface="Calibri" pitchFamily="34" charset="-122"/>
                <a:cs typeface="Calibri" pitchFamily="34" charset="-120"/>
              </a:rPr>
              <a:t>Netflix personalises rows and titles for each member, and estimates the system is worth over $1 billion a year in retained subscribers (Gomez-Uribe and Hunt, 2015).</a:t>
            </a:r>
            <a:endParaRPr lang="en-US" sz="1500" dirty="0"/>
          </a:p>
          <a:p>
            <a:pPr indent="0" marL="0">
              <a:spcAft>
                <a:spcPts val="800"/>
              </a:spcAft>
              <a:buNone/>
            </a:pPr>
            <a:r>
              <a:rPr lang="en-US" sz="1500" b="1" dirty="0">
                <a:solidFill>
                  <a:srgbClr val="1E2761"/>
                </a:solidFill>
                <a:latin typeface="Calibri" pitchFamily="34" charset="0"/>
                <a:ea typeface="Calibri" pitchFamily="34" charset="-122"/>
                <a:cs typeface="Calibri" pitchFamily="34" charset="-120"/>
              </a:rPr>
              <a:t>Apple’s disclosure: </a:t>
            </a:r>
            <a:pPr indent="0" marL="0">
              <a:spcAft>
                <a:spcPts val="800"/>
              </a:spcAft>
              <a:buNone/>
            </a:pPr>
            <a:r>
              <a:rPr lang="en-US" sz="1500" dirty="0">
                <a:solidFill>
                  <a:srgbClr val="27314D"/>
                </a:solidFill>
                <a:latin typeface="Calibri" pitchFamily="34" charset="0"/>
                <a:ea typeface="Calibri" pitchFamily="34" charset="-122"/>
                <a:cs typeface="Calibri" pitchFamily="34" charset="-120"/>
              </a:rPr>
              <a:t>viewing and activity data is collected “to tailor features and offer personalised recommendations” (Apple Inc., 2025).</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the Engine Addresses the Challenge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Technology</a:t>
            </a:r>
            <a:endParaRPr lang="en-US" sz="1100" dirty="0"/>
          </a:p>
        </p:txBody>
      </p:sp>
      <p:sp>
        <p:nvSpPr>
          <p:cNvPr id="4" name="Text 2"/>
          <p:cNvSpPr txBox="1"/>
          <p:nvPr/>
        </p:nvSpPr>
        <p:spPr>
          <a:xfrm>
            <a:off x="548640" y="1371600"/>
            <a:ext cx="6035040" cy="365760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Matching at scale</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The engine matches a small, high-quality catalogue to millions of different viewers, so good original content is found rather than buried.</a:t>
            </a:r>
            <a:endParaRPr lang="en-US" sz="1500" dirty="0"/>
          </a:p>
          <a:p>
            <a:pPr indent="0" marL="0">
              <a:buNone/>
            </a:pPr>
            <a:r>
              <a:rPr lang="en-US" sz="800" dirty="0">
                <a:solidFill>
                  <a:srgbClr val="27314D"/>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2761"/>
                </a:solidFill>
                <a:latin typeface="Calibri" pitchFamily="34" charset="0"/>
                <a:ea typeface="Calibri" pitchFamily="34" charset="-122"/>
                <a:cs typeface="Calibri" pitchFamily="34" charset="-120"/>
              </a:rPr>
              <a:t>Rivalry with Netflix, Prime Video and Disney+</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Better discovery raises the value of each subscription, but rivals run similar engines, so it protects position rather than creating a lead.</a:t>
            </a:r>
            <a:endParaRPr lang="en-US" sz="1500" dirty="0"/>
          </a:p>
          <a:p>
            <a:pPr indent="0" marL="0">
              <a:buNone/>
            </a:pPr>
            <a:r>
              <a:rPr lang="en-US" sz="800" dirty="0">
                <a:solidFill>
                  <a:srgbClr val="27314D"/>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2761"/>
                </a:solidFill>
                <a:latin typeface="Calibri" pitchFamily="34" charset="0"/>
                <a:ea typeface="Calibri" pitchFamily="34" charset="-122"/>
                <a:cs typeface="Calibri" pitchFamily="34" charset="-120"/>
              </a:rPr>
              <a:t>Buyer switching power</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Switching costs are low. A profile that has learned a viewer’s taste adds a small cost to leaving.</a:t>
            </a:r>
            <a:endParaRPr lang="en-US" sz="1500" dirty="0"/>
          </a:p>
          <a:p>
            <a:pPr indent="0" marL="0">
              <a:buNone/>
            </a:pPr>
            <a:r>
              <a:rPr lang="en-US" sz="800" dirty="0">
                <a:solidFill>
                  <a:srgbClr val="27314D"/>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F96167"/>
                </a:solidFill>
                <a:latin typeface="Calibri" pitchFamily="34" charset="0"/>
                <a:ea typeface="Calibri" pitchFamily="34" charset="-122"/>
                <a:cs typeface="Calibri" pitchFamily="34" charset="-120"/>
              </a:rPr>
              <a:t>The creativity side</a:t>
            </a:r>
            <a:endParaRPr lang="en-US" sz="1500" dirty="0"/>
          </a:p>
          <a:p>
            <a:pPr indent="0" marL="0">
              <a:buNone/>
            </a:pPr>
            <a:r>
              <a:rPr lang="en-US" sz="1500" dirty="0">
                <a:solidFill>
                  <a:srgbClr val="27314D"/>
                </a:solidFill>
                <a:latin typeface="Calibri" pitchFamily="34" charset="0"/>
                <a:ea typeface="Calibri" pitchFamily="34" charset="-122"/>
                <a:cs typeface="Calibri" pitchFamily="34" charset="-120"/>
              </a:rPr>
              <a:t>The engine can steer which content is promoted. This is where creative teams’ concern comes from.</a:t>
            </a:r>
            <a:endParaRPr lang="en-US" sz="1500" dirty="0"/>
          </a:p>
        </p:txBody>
      </p:sp>
      <p:sp>
        <p:nvSpPr>
          <p:cNvPr id="5" name="Shape 3"/>
          <p:cNvSpPr/>
          <p:nvPr/>
        </p:nvSpPr>
        <p:spPr>
          <a:xfrm>
            <a:off x="548640" y="5120640"/>
            <a:ext cx="1508760" cy="731520"/>
          </a:xfrm>
          <a:prstGeom prst="homePlate">
            <a:avLst/>
          </a:prstGeom>
          <a:solidFill>
            <a:srgbClr val="1E56A0"/>
          </a:solidFill>
          <a:ln w="12700">
            <a:solidFill>
              <a:srgbClr val="FFFFFF"/>
            </a:solidFill>
            <a:prstDash val="solid"/>
          </a:ln>
        </p:spPr>
      </p:sp>
      <p:sp>
        <p:nvSpPr>
          <p:cNvPr id="6" name="Text 4"/>
          <p:cNvSpPr txBox="1"/>
          <p:nvPr/>
        </p:nvSpPr>
        <p:spPr>
          <a:xfrm>
            <a:off x="621792"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Viewing data</a:t>
            </a:r>
            <a:endParaRPr lang="en-US" sz="1200" dirty="0"/>
          </a:p>
        </p:txBody>
      </p:sp>
      <p:sp>
        <p:nvSpPr>
          <p:cNvPr id="7" name="Shape 5"/>
          <p:cNvSpPr/>
          <p:nvPr/>
        </p:nvSpPr>
        <p:spPr>
          <a:xfrm>
            <a:off x="2084832" y="5120640"/>
            <a:ext cx="1508760" cy="731520"/>
          </a:xfrm>
          <a:prstGeom prst="homePlate">
            <a:avLst/>
          </a:prstGeom>
          <a:solidFill>
            <a:srgbClr val="1E2761"/>
          </a:solidFill>
          <a:ln w="12700">
            <a:solidFill>
              <a:srgbClr val="FFFFFF"/>
            </a:solidFill>
            <a:prstDash val="solid"/>
          </a:ln>
        </p:spPr>
      </p:sp>
      <p:sp>
        <p:nvSpPr>
          <p:cNvPr id="8" name="Text 6"/>
          <p:cNvSpPr txBox="1"/>
          <p:nvPr/>
        </p:nvSpPr>
        <p:spPr>
          <a:xfrm>
            <a:off x="2157984"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engine</a:t>
            </a:r>
            <a:endParaRPr lang="en-US" sz="1200" dirty="0"/>
          </a:p>
        </p:txBody>
      </p:sp>
      <p:sp>
        <p:nvSpPr>
          <p:cNvPr id="9" name="Shape 7"/>
          <p:cNvSpPr/>
          <p:nvPr/>
        </p:nvSpPr>
        <p:spPr>
          <a:xfrm>
            <a:off x="3621024" y="5120640"/>
            <a:ext cx="1508760" cy="731520"/>
          </a:xfrm>
          <a:prstGeom prst="homePlate">
            <a:avLst/>
          </a:prstGeom>
          <a:solidFill>
            <a:srgbClr val="1E56A0"/>
          </a:solidFill>
          <a:ln w="12700">
            <a:solidFill>
              <a:srgbClr val="FFFFFF"/>
            </a:solidFill>
            <a:prstDash val="solid"/>
          </a:ln>
        </p:spPr>
      </p:sp>
      <p:sp>
        <p:nvSpPr>
          <p:cNvPr id="10" name="Text 8"/>
          <p:cNvSpPr txBox="1"/>
          <p:nvPr/>
        </p:nvSpPr>
        <p:spPr>
          <a:xfrm>
            <a:off x="3694176"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Tailored home screen</a:t>
            </a:r>
            <a:endParaRPr lang="en-US" sz="1200" dirty="0"/>
          </a:p>
        </p:txBody>
      </p:sp>
      <p:sp>
        <p:nvSpPr>
          <p:cNvPr id="11" name="Shape 9"/>
          <p:cNvSpPr/>
          <p:nvPr/>
        </p:nvSpPr>
        <p:spPr>
          <a:xfrm>
            <a:off x="5157216" y="5120640"/>
            <a:ext cx="1508760" cy="731520"/>
          </a:xfrm>
          <a:prstGeom prst="homePlate">
            <a:avLst/>
          </a:prstGeom>
          <a:solidFill>
            <a:srgbClr val="1E56A0"/>
          </a:solidFill>
          <a:ln w="12700">
            <a:solidFill>
              <a:srgbClr val="FFFFFF"/>
            </a:solidFill>
            <a:prstDash val="solid"/>
          </a:ln>
        </p:spPr>
      </p:sp>
      <p:sp>
        <p:nvSpPr>
          <p:cNvPr id="12" name="Text 10"/>
          <p:cNvSpPr txBox="1"/>
          <p:nvPr/>
        </p:nvSpPr>
        <p:spPr>
          <a:xfrm>
            <a:off x="5230368" y="5120640"/>
            <a:ext cx="1188720" cy="7315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Retention vs rivals</a:t>
            </a:r>
            <a:endParaRPr lang="en-US" sz="1200" dirty="0"/>
          </a:p>
        </p:txBody>
      </p:sp>
      <p:sp>
        <p:nvSpPr>
          <p:cNvPr id="13" name="Shape 11"/>
          <p:cNvSpPr/>
          <p:nvPr/>
        </p:nvSpPr>
        <p:spPr>
          <a:xfrm>
            <a:off x="6949440" y="1371600"/>
            <a:ext cx="4663440" cy="4572000"/>
          </a:xfrm>
          <a:prstGeom prst="roundRect">
            <a:avLst>
              <a:gd name="adj" fmla="val 1600"/>
            </a:avLst>
          </a:prstGeom>
          <a:solidFill>
            <a:srgbClr val="F2F5FB"/>
          </a:solidFill>
          <a:ln w="12700">
            <a:solidFill>
              <a:srgbClr val="CADCFC"/>
            </a:solidFill>
            <a:prstDash val="solid"/>
          </a:ln>
        </p:spPr>
      </p:sp>
      <p:sp>
        <p:nvSpPr>
          <p:cNvPr id="14" name="Text 12"/>
          <p:cNvSpPr txBox="1"/>
          <p:nvPr/>
        </p:nvSpPr>
        <p:spPr>
          <a:xfrm>
            <a:off x="7132320" y="1463040"/>
            <a:ext cx="4297680" cy="365760"/>
          </a:xfrm>
          <a:prstGeom prst="rect">
            <a:avLst/>
          </a:prstGeom>
          <a:noFill/>
          <a:ln/>
        </p:spPr>
        <p:txBody>
          <a:bodyPr wrap="square" lIns="0" tIns="0" rIns="0" bIns="0" rtlCol="0" anchor="t"/>
          <a:lstStyle/>
          <a:p>
            <a:pPr algn="ctr" indent="0" marL="0">
              <a:buNone/>
            </a:pPr>
            <a:r>
              <a:rPr lang="en-US" sz="1500" b="1" dirty="0">
                <a:solidFill>
                  <a:srgbClr val="1E2761"/>
                </a:solidFill>
                <a:latin typeface="Calibri" pitchFamily="34" charset="0"/>
                <a:ea typeface="Calibri" pitchFamily="34" charset="-122"/>
                <a:cs typeface="Calibri" pitchFamily="34" charset="-120"/>
              </a:rPr>
              <a:t>Porter’s Five Forces</a:t>
            </a:r>
            <a:endParaRPr lang="en-US" sz="1500" dirty="0"/>
          </a:p>
        </p:txBody>
      </p:sp>
      <p:sp>
        <p:nvSpPr>
          <p:cNvPr id="15" name="Shape 13"/>
          <p:cNvSpPr/>
          <p:nvPr/>
        </p:nvSpPr>
        <p:spPr>
          <a:xfrm>
            <a:off x="8595360" y="2011680"/>
            <a:ext cx="1371600" cy="914400"/>
          </a:xfrm>
          <a:prstGeom prst="roundRect">
            <a:avLst>
              <a:gd name="adj" fmla="val 8000"/>
            </a:avLst>
          </a:prstGeom>
          <a:solidFill>
            <a:srgbClr val="FFFFFF"/>
          </a:solidFill>
          <a:ln w="12700">
            <a:solidFill>
              <a:srgbClr val="CADCFC"/>
            </a:solidFill>
            <a:prstDash val="solid"/>
          </a:ln>
        </p:spPr>
      </p:sp>
      <p:sp>
        <p:nvSpPr>
          <p:cNvPr id="16" name="Text 14"/>
          <p:cNvSpPr txBox="1"/>
          <p:nvPr/>
        </p:nvSpPr>
        <p:spPr>
          <a:xfrm>
            <a:off x="8641080" y="2011680"/>
            <a:ext cx="1280160" cy="914400"/>
          </a:xfrm>
          <a:prstGeom prst="rect">
            <a:avLst/>
          </a:prstGeom>
          <a:noFill/>
          <a:ln/>
        </p:spPr>
        <p:txBody>
          <a:bodyPr wrap="square" lIns="0" tIns="0" rIns="0" bIns="0" rtlCol="0" anchor="ctr"/>
          <a:lstStyle/>
          <a:p>
            <a:pPr algn="ctr" indent="0" marL="0">
              <a:buNone/>
            </a:pPr>
            <a:r>
              <a:rPr lang="en-US" sz="1200" dirty="0">
                <a:solidFill>
                  <a:srgbClr val="6B7590"/>
                </a:solidFill>
                <a:latin typeface="Calibri" pitchFamily="34" charset="0"/>
                <a:ea typeface="Calibri" pitchFamily="34" charset="-122"/>
                <a:cs typeface="Calibri" pitchFamily="34" charset="-120"/>
              </a:rPr>
              <a:t>New entrants</a:t>
            </a:r>
            <a:endParaRPr lang="en-US" sz="1200" dirty="0"/>
          </a:p>
        </p:txBody>
      </p:sp>
      <p:sp>
        <p:nvSpPr>
          <p:cNvPr id="17" name="Shape 15"/>
          <p:cNvSpPr/>
          <p:nvPr/>
        </p:nvSpPr>
        <p:spPr>
          <a:xfrm>
            <a:off x="7086600" y="3246120"/>
            <a:ext cx="1371600" cy="914400"/>
          </a:xfrm>
          <a:prstGeom prst="roundRect">
            <a:avLst>
              <a:gd name="adj" fmla="val 8000"/>
            </a:avLst>
          </a:prstGeom>
          <a:solidFill>
            <a:srgbClr val="FFFFFF"/>
          </a:solidFill>
          <a:ln w="12700">
            <a:solidFill>
              <a:srgbClr val="CADCFC"/>
            </a:solidFill>
            <a:prstDash val="solid"/>
          </a:ln>
        </p:spPr>
      </p:sp>
      <p:sp>
        <p:nvSpPr>
          <p:cNvPr id="18" name="Text 16"/>
          <p:cNvSpPr txBox="1"/>
          <p:nvPr/>
        </p:nvSpPr>
        <p:spPr>
          <a:xfrm>
            <a:off x="7132320" y="3246120"/>
            <a:ext cx="1280160" cy="914400"/>
          </a:xfrm>
          <a:prstGeom prst="rect">
            <a:avLst/>
          </a:prstGeom>
          <a:noFill/>
          <a:ln/>
        </p:spPr>
        <p:txBody>
          <a:bodyPr wrap="square" lIns="0" tIns="0" rIns="0" bIns="0" rtlCol="0" anchor="ctr"/>
          <a:lstStyle/>
          <a:p>
            <a:pPr algn="ctr" indent="0" marL="0">
              <a:buNone/>
            </a:pPr>
            <a:r>
              <a:rPr lang="en-US" sz="1200" dirty="0">
                <a:solidFill>
                  <a:srgbClr val="6B7590"/>
                </a:solidFill>
                <a:latin typeface="Calibri" pitchFamily="34" charset="0"/>
                <a:ea typeface="Calibri" pitchFamily="34" charset="-122"/>
                <a:cs typeface="Calibri" pitchFamily="34" charset="-120"/>
              </a:rPr>
              <a:t>Supplier power</a:t>
            </a:r>
            <a:endParaRPr lang="en-US" sz="1200" dirty="0"/>
          </a:p>
        </p:txBody>
      </p:sp>
      <p:sp>
        <p:nvSpPr>
          <p:cNvPr id="19" name="Shape 17"/>
          <p:cNvSpPr/>
          <p:nvPr/>
        </p:nvSpPr>
        <p:spPr>
          <a:xfrm>
            <a:off x="8595360" y="3246120"/>
            <a:ext cx="1371600" cy="914400"/>
          </a:xfrm>
          <a:prstGeom prst="roundRect">
            <a:avLst>
              <a:gd name="adj" fmla="val 8000"/>
            </a:avLst>
          </a:prstGeom>
          <a:solidFill>
            <a:srgbClr val="1E2761"/>
          </a:solidFill>
          <a:ln w="12700">
            <a:solidFill>
              <a:srgbClr val="1E2761"/>
            </a:solidFill>
            <a:prstDash val="solid"/>
          </a:ln>
        </p:spPr>
      </p:sp>
      <p:sp>
        <p:nvSpPr>
          <p:cNvPr id="20" name="Text 18"/>
          <p:cNvSpPr txBox="1"/>
          <p:nvPr/>
        </p:nvSpPr>
        <p:spPr>
          <a:xfrm>
            <a:off x="8641080" y="3246120"/>
            <a:ext cx="12801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Rivalry with Netflix, Prime, Disney+</a:t>
            </a:r>
            <a:endParaRPr lang="en-US" sz="1200" dirty="0"/>
          </a:p>
        </p:txBody>
      </p:sp>
      <p:sp>
        <p:nvSpPr>
          <p:cNvPr id="21" name="Shape 19"/>
          <p:cNvSpPr/>
          <p:nvPr/>
        </p:nvSpPr>
        <p:spPr>
          <a:xfrm>
            <a:off x="10104120" y="3246120"/>
            <a:ext cx="1371600" cy="914400"/>
          </a:xfrm>
          <a:prstGeom prst="roundRect">
            <a:avLst>
              <a:gd name="adj" fmla="val 8000"/>
            </a:avLst>
          </a:prstGeom>
          <a:solidFill>
            <a:srgbClr val="1E2761"/>
          </a:solidFill>
          <a:ln w="12700">
            <a:solidFill>
              <a:srgbClr val="1E2761"/>
            </a:solidFill>
            <a:prstDash val="solid"/>
          </a:ln>
        </p:spPr>
      </p:sp>
      <p:sp>
        <p:nvSpPr>
          <p:cNvPr id="22" name="Text 20"/>
          <p:cNvSpPr txBox="1"/>
          <p:nvPr/>
        </p:nvSpPr>
        <p:spPr>
          <a:xfrm>
            <a:off x="10149840" y="3246120"/>
            <a:ext cx="12801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Buyer power (switching)</a:t>
            </a:r>
            <a:endParaRPr lang="en-US" sz="1200" dirty="0"/>
          </a:p>
        </p:txBody>
      </p:sp>
      <p:sp>
        <p:nvSpPr>
          <p:cNvPr id="23" name="Shape 21"/>
          <p:cNvSpPr/>
          <p:nvPr/>
        </p:nvSpPr>
        <p:spPr>
          <a:xfrm>
            <a:off x="8595360" y="4480560"/>
            <a:ext cx="1371600" cy="914400"/>
          </a:xfrm>
          <a:prstGeom prst="roundRect">
            <a:avLst>
              <a:gd name="adj" fmla="val 8000"/>
            </a:avLst>
          </a:prstGeom>
          <a:solidFill>
            <a:srgbClr val="FFFFFF"/>
          </a:solidFill>
          <a:ln w="12700">
            <a:solidFill>
              <a:srgbClr val="CADCFC"/>
            </a:solidFill>
            <a:prstDash val="solid"/>
          </a:ln>
        </p:spPr>
      </p:sp>
      <p:sp>
        <p:nvSpPr>
          <p:cNvPr id="24" name="Text 22"/>
          <p:cNvSpPr txBox="1"/>
          <p:nvPr/>
        </p:nvSpPr>
        <p:spPr>
          <a:xfrm>
            <a:off x="8641080" y="4480560"/>
            <a:ext cx="1280160" cy="914400"/>
          </a:xfrm>
          <a:prstGeom prst="rect">
            <a:avLst/>
          </a:prstGeom>
          <a:noFill/>
          <a:ln/>
        </p:spPr>
        <p:txBody>
          <a:bodyPr wrap="square" lIns="0" tIns="0" rIns="0" bIns="0" rtlCol="0" anchor="ctr"/>
          <a:lstStyle/>
          <a:p>
            <a:pPr algn="ctr" indent="0" marL="0">
              <a:buNone/>
            </a:pPr>
            <a:r>
              <a:rPr lang="en-US" sz="1200" dirty="0">
                <a:solidFill>
                  <a:srgbClr val="6B7590"/>
                </a:solidFill>
                <a:latin typeface="Calibri" pitchFamily="34" charset="0"/>
                <a:ea typeface="Calibri" pitchFamily="34" charset="-122"/>
                <a:cs typeface="Calibri" pitchFamily="34" charset="-120"/>
              </a:rPr>
              <a:t>Substitutes</a:t>
            </a:r>
            <a:endParaRPr lang="en-US" sz="1200" dirty="0"/>
          </a:p>
        </p:txBody>
      </p:sp>
      <p:sp>
        <p:nvSpPr>
          <p:cNvPr id="25" name="Text 23"/>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2: Porter’s Five Forces (adapted from Porter, 2008). Highlighted forces are the two the recommender changes most.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Benefits and Limitations of Personalisation</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Technology</a:t>
            </a:r>
            <a:endParaRPr lang="en-US" sz="1100" dirty="0"/>
          </a:p>
        </p:txBody>
      </p:sp>
      <p:sp>
        <p:nvSpPr>
          <p:cNvPr id="4" name="Shape 2"/>
          <p:cNvSpPr/>
          <p:nvPr/>
        </p:nvSpPr>
        <p:spPr>
          <a:xfrm>
            <a:off x="548640" y="1371600"/>
            <a:ext cx="5394960" cy="411480"/>
          </a:xfrm>
          <a:prstGeom prst="rect">
            <a:avLst/>
          </a:prstGeom>
          <a:solidFill>
            <a:srgbClr val="1E56A0"/>
          </a:solidFill>
          <a:ln w="12700">
            <a:solidFill>
              <a:srgbClr val="1E56A0"/>
            </a:solidFill>
            <a:prstDash val="solid"/>
          </a:ln>
        </p:spPr>
      </p:sp>
      <p:sp>
        <p:nvSpPr>
          <p:cNvPr id="5" name="Text 3"/>
          <p:cNvSpPr txBox="1"/>
          <p:nvPr/>
        </p:nvSpPr>
        <p:spPr>
          <a:xfrm>
            <a:off x="685800" y="1371600"/>
            <a:ext cx="5120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Benefits</a:t>
            </a:r>
            <a:endParaRPr lang="en-US" sz="1500" dirty="0"/>
          </a:p>
        </p:txBody>
      </p:sp>
      <p:sp>
        <p:nvSpPr>
          <p:cNvPr id="6" name="Shape 4"/>
          <p:cNvSpPr/>
          <p:nvPr/>
        </p:nvSpPr>
        <p:spPr>
          <a:xfrm>
            <a:off x="548640" y="1828800"/>
            <a:ext cx="5394960" cy="914400"/>
          </a:xfrm>
          <a:prstGeom prst="rect">
            <a:avLst/>
          </a:prstGeom>
          <a:solidFill>
            <a:srgbClr val="F2F5FB"/>
          </a:solidFill>
          <a:ln w="9525">
            <a:solidFill>
              <a:srgbClr val="CADCFC"/>
            </a:solidFill>
            <a:prstDash val="solid"/>
          </a:ln>
        </p:spPr>
      </p:sp>
      <p:sp>
        <p:nvSpPr>
          <p:cNvPr id="7" name="Text 5"/>
          <p:cNvSpPr txBox="1"/>
          <p:nvPr/>
        </p:nvSpPr>
        <p:spPr>
          <a:xfrm>
            <a:off x="685800" y="1874520"/>
            <a:ext cx="5120640" cy="8229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Discovery. </a:t>
            </a:r>
            <a:pPr indent="0" marL="0">
              <a:buNone/>
            </a:pPr>
            <a:r>
              <a:rPr lang="en-US" sz="1250" dirty="0">
                <a:solidFill>
                  <a:srgbClr val="27314D"/>
                </a:solidFill>
                <a:latin typeface="Calibri" pitchFamily="34" charset="0"/>
                <a:ea typeface="Calibri" pitchFamily="34" charset="-122"/>
                <a:cs typeface="Calibri" pitchFamily="34" charset="-120"/>
              </a:rPr>
              <a:t>Poor discovery costs subscribers: 49% of viewers say they are likely to cancel if they cannot find something to watch (Gracenote, 2025).</a:t>
            </a:r>
            <a:endParaRPr lang="en-US" sz="1250" dirty="0"/>
          </a:p>
        </p:txBody>
      </p:sp>
      <p:sp>
        <p:nvSpPr>
          <p:cNvPr id="8" name="Shape 6"/>
          <p:cNvSpPr/>
          <p:nvPr/>
        </p:nvSpPr>
        <p:spPr>
          <a:xfrm>
            <a:off x="548640" y="2743200"/>
            <a:ext cx="5394960" cy="914400"/>
          </a:xfrm>
          <a:prstGeom prst="rect">
            <a:avLst/>
          </a:prstGeom>
          <a:solidFill>
            <a:srgbClr val="FFFFFF"/>
          </a:solidFill>
          <a:ln w="9525">
            <a:solidFill>
              <a:srgbClr val="CADCFC"/>
            </a:solidFill>
            <a:prstDash val="solid"/>
          </a:ln>
        </p:spPr>
      </p:sp>
      <p:sp>
        <p:nvSpPr>
          <p:cNvPr id="9" name="Text 7"/>
          <p:cNvSpPr txBox="1"/>
          <p:nvPr/>
        </p:nvSpPr>
        <p:spPr>
          <a:xfrm>
            <a:off x="685800" y="2788920"/>
            <a:ext cx="5120640" cy="82296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Engagement. </a:t>
            </a:r>
            <a:pPr indent="0" marL="0">
              <a:buNone/>
            </a:pPr>
            <a:r>
              <a:rPr lang="en-US" sz="1250" dirty="0">
                <a:solidFill>
                  <a:srgbClr val="27314D"/>
                </a:solidFill>
                <a:latin typeface="Calibri" pitchFamily="34" charset="0"/>
                <a:ea typeface="Calibri" pitchFamily="34" charset="-122"/>
                <a:cs typeface="Calibri" pitchFamily="34" charset="-120"/>
              </a:rPr>
              <a:t>Personalised rows and titles increase viewing and use of the service (Gomez-Uribe and Hunt, 2015).</a:t>
            </a:r>
            <a:endParaRPr lang="en-US" sz="1250" dirty="0"/>
          </a:p>
        </p:txBody>
      </p:sp>
      <p:sp>
        <p:nvSpPr>
          <p:cNvPr id="10" name="Shape 8"/>
          <p:cNvSpPr/>
          <p:nvPr/>
        </p:nvSpPr>
        <p:spPr>
          <a:xfrm>
            <a:off x="548640" y="3657600"/>
            <a:ext cx="5394960" cy="1097280"/>
          </a:xfrm>
          <a:prstGeom prst="rect">
            <a:avLst/>
          </a:prstGeom>
          <a:solidFill>
            <a:srgbClr val="F2F5FB"/>
          </a:solidFill>
          <a:ln w="9525">
            <a:solidFill>
              <a:srgbClr val="CADCFC"/>
            </a:solidFill>
            <a:prstDash val="solid"/>
          </a:ln>
        </p:spPr>
      </p:sp>
      <p:sp>
        <p:nvSpPr>
          <p:cNvPr id="11" name="Text 9"/>
          <p:cNvSpPr txBox="1"/>
          <p:nvPr/>
        </p:nvSpPr>
        <p:spPr>
          <a:xfrm>
            <a:off x="685800" y="3703320"/>
            <a:ext cx="5120640" cy="10058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Retention. </a:t>
            </a:r>
            <a:pPr indent="0" marL="0">
              <a:buNone/>
            </a:pPr>
            <a:r>
              <a:rPr lang="en-US" sz="1250" dirty="0">
                <a:solidFill>
                  <a:srgbClr val="27314D"/>
                </a:solidFill>
                <a:latin typeface="Calibri" pitchFamily="34" charset="0"/>
                <a:ea typeface="Calibri" pitchFamily="34" charset="-122"/>
                <a:cs typeface="Calibri" pitchFamily="34" charset="-120"/>
              </a:rPr>
              <a:t>Better discovery reduces cancellations; Netflix values its recommender at over $1bn a year (Gomez-Uribe and Hunt, 2015; Reichheld, 2003).</a:t>
            </a:r>
            <a:endParaRPr lang="en-US" sz="1250" dirty="0"/>
          </a:p>
        </p:txBody>
      </p:sp>
      <p:sp>
        <p:nvSpPr>
          <p:cNvPr id="12" name="Shape 10"/>
          <p:cNvSpPr/>
          <p:nvPr/>
        </p:nvSpPr>
        <p:spPr>
          <a:xfrm>
            <a:off x="6217920" y="1371600"/>
            <a:ext cx="5394960" cy="411480"/>
          </a:xfrm>
          <a:prstGeom prst="rect">
            <a:avLst/>
          </a:prstGeom>
          <a:solidFill>
            <a:srgbClr val="F96167"/>
          </a:solidFill>
          <a:ln w="12700">
            <a:solidFill>
              <a:srgbClr val="F96167"/>
            </a:solidFill>
            <a:prstDash val="solid"/>
          </a:ln>
        </p:spPr>
      </p:sp>
      <p:sp>
        <p:nvSpPr>
          <p:cNvPr id="13" name="Text 11"/>
          <p:cNvSpPr txBox="1"/>
          <p:nvPr/>
        </p:nvSpPr>
        <p:spPr>
          <a:xfrm>
            <a:off x="6355080" y="1371600"/>
            <a:ext cx="51206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4" name="Shape 12"/>
          <p:cNvSpPr/>
          <p:nvPr/>
        </p:nvSpPr>
        <p:spPr>
          <a:xfrm>
            <a:off x="6217920" y="1828800"/>
            <a:ext cx="5394960" cy="676656"/>
          </a:xfrm>
          <a:prstGeom prst="rect">
            <a:avLst/>
          </a:prstGeom>
          <a:solidFill>
            <a:srgbClr val="F2F5FB"/>
          </a:solidFill>
          <a:ln w="9525">
            <a:solidFill>
              <a:srgbClr val="CADCFC"/>
            </a:solidFill>
            <a:prstDash val="solid"/>
          </a:ln>
        </p:spPr>
      </p:sp>
      <p:sp>
        <p:nvSpPr>
          <p:cNvPr id="15" name="Text 13"/>
          <p:cNvSpPr txBox="1"/>
          <p:nvPr/>
        </p:nvSpPr>
        <p:spPr>
          <a:xfrm>
            <a:off x="6355080" y="1874520"/>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Narrowing. </a:t>
            </a:r>
            <a:pPr indent="0" marL="0">
              <a:buNone/>
            </a:pPr>
            <a:r>
              <a:rPr lang="en-US" sz="1250" dirty="0">
                <a:solidFill>
                  <a:srgbClr val="27314D"/>
                </a:solidFill>
                <a:latin typeface="Calibri" pitchFamily="34" charset="0"/>
                <a:ea typeface="Calibri" pitchFamily="34" charset="-122"/>
                <a:cs typeface="Calibri" pitchFamily="34" charset="-120"/>
              </a:rPr>
              <a:t>Models reinforce past viewing and narrow what is shown (Ricci, Rokach and Shapira, 2015).</a:t>
            </a:r>
            <a:endParaRPr lang="en-US" sz="1250" dirty="0"/>
          </a:p>
        </p:txBody>
      </p:sp>
      <p:sp>
        <p:nvSpPr>
          <p:cNvPr id="16" name="Shape 14"/>
          <p:cNvSpPr/>
          <p:nvPr/>
        </p:nvSpPr>
        <p:spPr>
          <a:xfrm>
            <a:off x="6217920" y="2505456"/>
            <a:ext cx="5394960" cy="676656"/>
          </a:xfrm>
          <a:prstGeom prst="rect">
            <a:avLst/>
          </a:prstGeom>
          <a:solidFill>
            <a:srgbClr val="FFFFFF"/>
          </a:solidFill>
          <a:ln w="9525">
            <a:solidFill>
              <a:srgbClr val="CADCFC"/>
            </a:solidFill>
            <a:prstDash val="solid"/>
          </a:ln>
        </p:spPr>
      </p:sp>
      <p:sp>
        <p:nvSpPr>
          <p:cNvPr id="17" name="Text 15"/>
          <p:cNvSpPr txBox="1"/>
          <p:nvPr/>
        </p:nvSpPr>
        <p:spPr>
          <a:xfrm>
            <a:off x="6355080" y="2551176"/>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Less diversity. </a:t>
            </a:r>
            <a:pPr indent="0" marL="0">
              <a:buNone/>
            </a:pPr>
            <a:r>
              <a:rPr lang="en-US" sz="1250" dirty="0">
                <a:solidFill>
                  <a:srgbClr val="27314D"/>
                </a:solidFill>
                <a:latin typeface="Calibri" pitchFamily="34" charset="0"/>
                <a:ea typeface="Calibri" pitchFamily="34" charset="-122"/>
                <a:cs typeface="Calibri" pitchFamily="34" charset="-120"/>
              </a:rPr>
              <a:t>Personalised feeds can reduce exposure to varied content (Helberger, 2019).</a:t>
            </a:r>
            <a:endParaRPr lang="en-US" sz="1250" dirty="0"/>
          </a:p>
        </p:txBody>
      </p:sp>
      <p:sp>
        <p:nvSpPr>
          <p:cNvPr id="18" name="Shape 16"/>
          <p:cNvSpPr/>
          <p:nvPr/>
        </p:nvSpPr>
        <p:spPr>
          <a:xfrm>
            <a:off x="6217920" y="3182112"/>
            <a:ext cx="5394960" cy="676656"/>
          </a:xfrm>
          <a:prstGeom prst="rect">
            <a:avLst/>
          </a:prstGeom>
          <a:solidFill>
            <a:srgbClr val="F2F5FB"/>
          </a:solidFill>
          <a:ln w="9525">
            <a:solidFill>
              <a:srgbClr val="CADCFC"/>
            </a:solidFill>
            <a:prstDash val="solid"/>
          </a:ln>
        </p:spPr>
      </p:sp>
      <p:sp>
        <p:nvSpPr>
          <p:cNvPr id="19" name="Text 17"/>
          <p:cNvSpPr txBox="1"/>
          <p:nvPr/>
        </p:nvSpPr>
        <p:spPr>
          <a:xfrm>
            <a:off x="6355080" y="3227832"/>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Creative originality. </a:t>
            </a:r>
            <a:pPr indent="0" marL="0">
              <a:buNone/>
            </a:pPr>
            <a:r>
              <a:rPr lang="en-US" sz="1250" dirty="0">
                <a:solidFill>
                  <a:srgbClr val="27314D"/>
                </a:solidFill>
                <a:latin typeface="Calibri" pitchFamily="34" charset="0"/>
                <a:ea typeface="Calibri" pitchFamily="34" charset="-122"/>
                <a:cs typeface="Calibri" pitchFamily="34" charset="-120"/>
              </a:rPr>
              <a:t>Data-led promotion can favour familiar formats over new ideas (Napoli, 2014).</a:t>
            </a:r>
            <a:endParaRPr lang="en-US" sz="1250" dirty="0"/>
          </a:p>
        </p:txBody>
      </p:sp>
      <p:sp>
        <p:nvSpPr>
          <p:cNvPr id="20" name="Shape 18"/>
          <p:cNvSpPr/>
          <p:nvPr/>
        </p:nvSpPr>
        <p:spPr>
          <a:xfrm>
            <a:off x="6217920" y="3858768"/>
            <a:ext cx="5394960" cy="676656"/>
          </a:xfrm>
          <a:prstGeom prst="rect">
            <a:avLst/>
          </a:prstGeom>
          <a:solidFill>
            <a:srgbClr val="FFFFFF"/>
          </a:solidFill>
          <a:ln w="9525">
            <a:solidFill>
              <a:srgbClr val="CADCFC"/>
            </a:solidFill>
            <a:prstDash val="solid"/>
          </a:ln>
        </p:spPr>
      </p:sp>
      <p:sp>
        <p:nvSpPr>
          <p:cNvPr id="21" name="Text 19"/>
          <p:cNvSpPr txBox="1"/>
          <p:nvPr/>
        </p:nvSpPr>
        <p:spPr>
          <a:xfrm>
            <a:off x="6355080" y="3904488"/>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Data quality. </a:t>
            </a:r>
            <a:pPr indent="0" marL="0">
              <a:buNone/>
            </a:pPr>
            <a:r>
              <a:rPr lang="en-US" sz="1250" dirty="0">
                <a:solidFill>
                  <a:srgbClr val="27314D"/>
                </a:solidFill>
                <a:latin typeface="Calibri" pitchFamily="34" charset="0"/>
                <a:ea typeface="Calibri" pitchFamily="34" charset="-122"/>
                <a:cs typeface="Calibri" pitchFamily="34" charset="-120"/>
              </a:rPr>
              <a:t>Output is only as good as the data and signals behind it (Ricci et al., 2015).</a:t>
            </a:r>
            <a:endParaRPr lang="en-US" sz="1250" dirty="0"/>
          </a:p>
        </p:txBody>
      </p:sp>
      <p:sp>
        <p:nvSpPr>
          <p:cNvPr id="22" name="Shape 20"/>
          <p:cNvSpPr/>
          <p:nvPr/>
        </p:nvSpPr>
        <p:spPr>
          <a:xfrm>
            <a:off x="6217920" y="4535424"/>
            <a:ext cx="5394960" cy="676656"/>
          </a:xfrm>
          <a:prstGeom prst="rect">
            <a:avLst/>
          </a:prstGeom>
          <a:solidFill>
            <a:srgbClr val="F2F5FB"/>
          </a:solidFill>
          <a:ln w="9525">
            <a:solidFill>
              <a:srgbClr val="CADCFC"/>
            </a:solidFill>
            <a:prstDash val="solid"/>
          </a:ln>
        </p:spPr>
      </p:sp>
      <p:sp>
        <p:nvSpPr>
          <p:cNvPr id="23" name="Text 21"/>
          <p:cNvSpPr txBox="1"/>
          <p:nvPr/>
        </p:nvSpPr>
        <p:spPr>
          <a:xfrm>
            <a:off x="6355080" y="4581144"/>
            <a:ext cx="5120640" cy="585216"/>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Privacy and governance. </a:t>
            </a:r>
            <a:pPr indent="0" marL="0">
              <a:buNone/>
            </a:pPr>
            <a:r>
              <a:rPr lang="en-US" sz="1250" dirty="0">
                <a:solidFill>
                  <a:srgbClr val="27314D"/>
                </a:solidFill>
                <a:latin typeface="Calibri" pitchFamily="34" charset="0"/>
                <a:ea typeface="Calibri" pitchFamily="34" charset="-122"/>
                <a:cs typeface="Calibri" pitchFamily="34" charset="-120"/>
              </a:rPr>
              <a:t>Scaling AI adds privacy risk, governance demands and algorithmic bias that limits content diversity (Mokoena and Obagbuwa, 2025).</a:t>
            </a:r>
            <a:endParaRPr lang="en-US" sz="1250" dirty="0"/>
          </a:p>
        </p:txBody>
      </p:sp>
      <p:sp>
        <p:nvSpPr>
          <p:cNvPr id="24" name="Text 22"/>
          <p:cNvSpPr txBox="1"/>
          <p:nvPr/>
        </p:nvSpPr>
        <p:spPr>
          <a:xfrm>
            <a:off x="548640" y="5349240"/>
            <a:ext cx="11064240" cy="868680"/>
          </a:xfrm>
          <a:prstGeom prst="rect">
            <a:avLst/>
          </a:prstGeom>
          <a:noFill/>
          <a:ln/>
        </p:spPr>
        <p:txBody>
          <a:bodyPr wrap="square" lIns="0" tIns="0" rIns="0" bIns="0" rtlCol="0" anchor="t"/>
          <a:lstStyle/>
          <a:p>
            <a:pPr indent="0" marL="0">
              <a:spcAft>
                <a:spcPts val="400"/>
              </a:spcAft>
              <a:buNone/>
            </a:pPr>
            <a:r>
              <a:rPr lang="en-US" sz="1300" b="1" dirty="0">
                <a:solidFill>
                  <a:srgbClr val="1E2761"/>
                </a:solidFill>
                <a:latin typeface="Calibri" pitchFamily="34" charset="0"/>
                <a:ea typeface="Calibri" pitchFamily="34" charset="-122"/>
                <a:cs typeface="Calibri" pitchFamily="34" charset="-120"/>
              </a:rPr>
              <a:t>Matters most for Apple TV+: </a:t>
            </a:r>
            <a:pPr indent="0" marL="0">
              <a:spcAft>
                <a:spcPts val="400"/>
              </a:spcAft>
              <a:buNone/>
            </a:pPr>
            <a:r>
              <a:rPr lang="en-US" sz="1300" dirty="0">
                <a:solidFill>
                  <a:srgbClr val="27314D"/>
                </a:solidFill>
                <a:latin typeface="Calibri" pitchFamily="34" charset="0"/>
                <a:ea typeface="Calibri" pitchFamily="34" charset="-122"/>
                <a:cs typeface="Calibri" pitchFamily="34" charset="-120"/>
              </a:rPr>
              <a:t>discovery (benefit), because a small catalogue of original shows only pays off if each is found; and creative originality (limitation), because Apple competes on quality. Personalisation is necessary but not sufficient: its benefits depend on managing these limits.</a:t>
            </a:r>
            <a:endParaRPr lang="en-US" sz="1300" dirty="0"/>
          </a:p>
        </p:txBody>
      </p:sp>
      <p:sp>
        <p:nvSpPr>
          <p:cNvPr id="25" name="Text 23"/>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Table 1: Benefits and limitations of personalisation. Sources as cited in each row.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Impact on Creative Teams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People and change</a:t>
            </a:r>
            <a:endParaRPr lang="en-US" sz="1100" dirty="0"/>
          </a:p>
        </p:txBody>
      </p:sp>
      <p:sp>
        <p:nvSpPr>
          <p:cNvPr id="4" name="Text 2"/>
          <p:cNvSpPr txBox="1"/>
          <p:nvPr/>
        </p:nvSpPr>
        <p:spPr>
          <a:xfrm>
            <a:off x="548640" y="1097280"/>
            <a:ext cx="11064240" cy="320040"/>
          </a:xfrm>
          <a:prstGeom prst="rect">
            <a:avLst/>
          </a:prstGeom>
          <a:noFill/>
          <a:ln/>
        </p:spPr>
        <p:txBody>
          <a:bodyPr wrap="square" lIns="0" tIns="0" rIns="0" bIns="0" rtlCol="0" anchor="t"/>
          <a:lstStyle/>
          <a:p>
            <a:pPr indent="0" marL="0">
              <a:buNone/>
            </a:pPr>
            <a:r>
              <a:rPr lang="en-US" sz="1400" i="1" dirty="0">
                <a:solidFill>
                  <a:srgbClr val="1E56A0"/>
                </a:solidFill>
                <a:latin typeface="Calibri" pitchFamily="34" charset="0"/>
                <a:ea typeface="Calibri" pitchFamily="34" charset="-122"/>
                <a:cs typeface="Calibri" pitchFamily="34" charset="-120"/>
              </a:rPr>
              <a:t>Personalisation at this scale does not only change what customers see; it also changes how creative teams decide what gets made.</a:t>
            </a:r>
            <a:endParaRPr lang="en-US" sz="1400" dirty="0"/>
          </a:p>
        </p:txBody>
      </p:sp>
      <p:sp>
        <p:nvSpPr>
          <p:cNvPr id="5" name="Shape 3"/>
          <p:cNvSpPr/>
          <p:nvPr/>
        </p:nvSpPr>
        <p:spPr>
          <a:xfrm>
            <a:off x="548640" y="1600200"/>
            <a:ext cx="3291840" cy="3611880"/>
          </a:xfrm>
          <a:prstGeom prst="roundRect">
            <a:avLst>
              <a:gd name="adj" fmla="val 2222"/>
            </a:avLst>
          </a:prstGeom>
          <a:solidFill>
            <a:srgbClr val="1E2761"/>
          </a:solidFill>
          <a:ln w="12700">
            <a:solidFill>
              <a:srgbClr val="1E2761"/>
            </a:solidFill>
            <a:prstDash val="solid"/>
          </a:ln>
        </p:spPr>
      </p:sp>
      <p:sp>
        <p:nvSpPr>
          <p:cNvPr id="6" name="Text 4"/>
          <p:cNvSpPr txBox="1"/>
          <p:nvPr/>
        </p:nvSpPr>
        <p:spPr>
          <a:xfrm>
            <a:off x="731520" y="1737360"/>
            <a:ext cx="292608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Creative teams</a:t>
            </a:r>
            <a:endParaRPr lang="en-US" sz="2000" dirty="0"/>
          </a:p>
        </p:txBody>
      </p:sp>
      <p:sp>
        <p:nvSpPr>
          <p:cNvPr id="7" name="Text 5"/>
          <p:cNvSpPr txBox="1"/>
          <p:nvPr/>
        </p:nvSpPr>
        <p:spPr>
          <a:xfrm>
            <a:off x="731520" y="2286000"/>
            <a:ext cx="2926080" cy="27432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Writers, producers and content developers</a:t>
            </a:r>
            <a:endParaRPr lang="en-US" sz="15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Concern: too much reliance on data could affect originality.</a:t>
            </a:r>
            <a:endParaRPr lang="en-US" sz="1500" dirty="0"/>
          </a:p>
        </p:txBody>
      </p:sp>
      <p:sp>
        <p:nvSpPr>
          <p:cNvPr id="8" name="Shape 6"/>
          <p:cNvSpPr/>
          <p:nvPr/>
        </p:nvSpPr>
        <p:spPr>
          <a:xfrm>
            <a:off x="4114800" y="1600200"/>
            <a:ext cx="2423160" cy="3611880"/>
          </a:xfrm>
          <a:prstGeom prst="roundRect">
            <a:avLst>
              <a:gd name="adj" fmla="val 3019"/>
            </a:avLst>
          </a:prstGeom>
          <a:solidFill>
            <a:srgbClr val="F2F5FB"/>
          </a:solidFill>
          <a:ln w="12700">
            <a:solidFill>
              <a:srgbClr val="CADCFC"/>
            </a:solidFill>
            <a:prstDash val="solid"/>
          </a:ln>
        </p:spPr>
      </p:sp>
      <p:sp>
        <p:nvSpPr>
          <p:cNvPr id="9" name="Text 7"/>
          <p:cNvSpPr txBox="1"/>
          <p:nvPr/>
        </p:nvSpPr>
        <p:spPr>
          <a:xfrm>
            <a:off x="4251960" y="1737360"/>
            <a:ext cx="2148840" cy="41148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Structure</a:t>
            </a:r>
            <a:endParaRPr lang="en-US" sz="1800" dirty="0"/>
          </a:p>
        </p:txBody>
      </p:sp>
      <p:sp>
        <p:nvSpPr>
          <p:cNvPr id="10" name="Text 8"/>
          <p:cNvSpPr txBox="1"/>
          <p:nvPr/>
        </p:nvSpPr>
        <p:spPr>
          <a:xfrm>
            <a:off x="4251960" y="2240280"/>
            <a:ext cx="2148840" cy="283464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Who decides what gets made. Data insight must inform, not replace, the commissioning executives’ and creators’ judgement.</a:t>
            </a:r>
            <a:endParaRPr lang="en-US" sz="1400" dirty="0"/>
          </a:p>
        </p:txBody>
      </p:sp>
      <p:sp>
        <p:nvSpPr>
          <p:cNvPr id="11" name="Shape 9"/>
          <p:cNvSpPr/>
          <p:nvPr/>
        </p:nvSpPr>
        <p:spPr>
          <a:xfrm>
            <a:off x="6675120" y="1600200"/>
            <a:ext cx="2423160" cy="3611880"/>
          </a:xfrm>
          <a:prstGeom prst="roundRect">
            <a:avLst>
              <a:gd name="adj" fmla="val 3019"/>
            </a:avLst>
          </a:prstGeom>
          <a:solidFill>
            <a:srgbClr val="F2F5FB"/>
          </a:solidFill>
          <a:ln w="12700">
            <a:solidFill>
              <a:srgbClr val="CADCFC"/>
            </a:solidFill>
            <a:prstDash val="solid"/>
          </a:ln>
        </p:spPr>
      </p:sp>
      <p:sp>
        <p:nvSpPr>
          <p:cNvPr id="12" name="Text 10"/>
          <p:cNvSpPr txBox="1"/>
          <p:nvPr/>
        </p:nvSpPr>
        <p:spPr>
          <a:xfrm>
            <a:off x="6812280" y="1737360"/>
            <a:ext cx="2148840" cy="41148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Culture</a:t>
            </a:r>
            <a:endParaRPr lang="en-US" sz="1800" dirty="0"/>
          </a:p>
        </p:txBody>
      </p:sp>
      <p:sp>
        <p:nvSpPr>
          <p:cNvPr id="13" name="Text 11"/>
          <p:cNvSpPr txBox="1"/>
          <p:nvPr/>
        </p:nvSpPr>
        <p:spPr>
          <a:xfrm>
            <a:off x="6812280" y="2240280"/>
            <a:ext cx="2148840" cy="283464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Creative autonomy versus data-driven decisions. Teams need to see data as a tool, not a verdict (Napoli, 2014).</a:t>
            </a:r>
            <a:endParaRPr lang="en-US" sz="1400" dirty="0"/>
          </a:p>
        </p:txBody>
      </p:sp>
      <p:sp>
        <p:nvSpPr>
          <p:cNvPr id="14" name="Shape 12"/>
          <p:cNvSpPr/>
          <p:nvPr/>
        </p:nvSpPr>
        <p:spPr>
          <a:xfrm>
            <a:off x="9235440" y="1600200"/>
            <a:ext cx="2423160" cy="3611880"/>
          </a:xfrm>
          <a:prstGeom prst="roundRect">
            <a:avLst>
              <a:gd name="adj" fmla="val 3019"/>
            </a:avLst>
          </a:prstGeom>
          <a:solidFill>
            <a:srgbClr val="F2F5FB"/>
          </a:solidFill>
          <a:ln w="12700">
            <a:solidFill>
              <a:srgbClr val="CADCFC"/>
            </a:solidFill>
            <a:prstDash val="solid"/>
          </a:ln>
        </p:spPr>
      </p:sp>
      <p:sp>
        <p:nvSpPr>
          <p:cNvPr id="15" name="Text 13"/>
          <p:cNvSpPr txBox="1"/>
          <p:nvPr/>
        </p:nvSpPr>
        <p:spPr>
          <a:xfrm>
            <a:off x="9372600" y="1737360"/>
            <a:ext cx="2148840" cy="41148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Process</a:t>
            </a:r>
            <a:endParaRPr lang="en-US" sz="1800" dirty="0"/>
          </a:p>
        </p:txBody>
      </p:sp>
      <p:sp>
        <p:nvSpPr>
          <p:cNvPr id="16" name="Text 14"/>
          <p:cNvSpPr txBox="1"/>
          <p:nvPr/>
        </p:nvSpPr>
        <p:spPr>
          <a:xfrm>
            <a:off x="9372600" y="2240280"/>
            <a:ext cx="2148840" cy="2834640"/>
          </a:xfrm>
          <a:prstGeom prst="rect">
            <a:avLst/>
          </a:prstGeom>
          <a:noFill/>
          <a:ln/>
        </p:spPr>
        <p:txBody>
          <a:bodyPr wrap="square" lIns="0" tIns="0" rIns="0" bIns="0" rtlCol="0" anchor="t"/>
          <a:lstStyle/>
          <a:p>
            <a:pPr indent="0" marL="0">
              <a:buNone/>
            </a:pPr>
            <a:r>
              <a:rPr lang="en-US" sz="1400" dirty="0">
                <a:solidFill>
                  <a:srgbClr val="27314D"/>
                </a:solidFill>
                <a:latin typeface="Calibri" pitchFamily="34" charset="0"/>
                <a:ea typeface="Calibri" pitchFamily="34" charset="-122"/>
                <a:cs typeface="Calibri" pitchFamily="34" charset="-120"/>
              </a:rPr>
              <a:t>Green-lighting and content pitches. Add a data check to pitches, with creative sign-off kept at the final step.</a:t>
            </a:r>
            <a:endParaRPr lang="en-US" sz="1400" dirty="0"/>
          </a:p>
        </p:txBody>
      </p:sp>
      <p:sp>
        <p:nvSpPr>
          <p:cNvPr id="17" name="Text 15"/>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3: Impact on creative teams (adapted from Davis, 1989; Napoli, 2014).</a:t>
            </a:r>
            <a:endParaRPr lang="en-US" sz="1100" dirty="0"/>
          </a:p>
        </p:txBody>
      </p:sp>
      <p:sp>
        <p:nvSpPr>
          <p:cNvPr id="18" name="Text 16"/>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TAM view (Davis, 1989): </a:t>
            </a:r>
            <a:pPr indent="0" marL="0">
              <a:buNone/>
            </a:pPr>
            <a:r>
              <a:rPr lang="en-US" sz="1400" dirty="0">
                <a:solidFill>
                  <a:srgbClr val="27314D"/>
                </a:solidFill>
                <a:latin typeface="Calibri" pitchFamily="34" charset="0"/>
                <a:ea typeface="Calibri" pitchFamily="34" charset="-122"/>
                <a:cs typeface="Calibri" pitchFamily="34" charset="-120"/>
              </a:rPr>
              <a:t>Useful? Yes if it shows which audiences a pitch could reach. Easy to use? Only if insights are plain-language and built into the pitch workflow.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Barriers, Change Management and Digital Confidence</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People and change</a:t>
            </a:r>
            <a:endParaRPr lang="en-US" sz="1100" dirty="0"/>
          </a:p>
        </p:txBody>
      </p:sp>
      <p:sp>
        <p:nvSpPr>
          <p:cNvPr id="4" name="Shape 2"/>
          <p:cNvSpPr/>
          <p:nvPr/>
        </p:nvSpPr>
        <p:spPr>
          <a:xfrm>
            <a:off x="548640" y="1325880"/>
            <a:ext cx="1828800" cy="502920"/>
          </a:xfrm>
          <a:prstGeom prst="homePlate">
            <a:avLst/>
          </a:prstGeom>
          <a:solidFill>
            <a:srgbClr val="1E2761"/>
          </a:solidFill>
          <a:ln w="12700">
            <a:solidFill>
              <a:srgbClr val="FFFFFF"/>
            </a:solidFill>
            <a:prstDash val="solid"/>
          </a:ln>
        </p:spPr>
      </p:sp>
      <p:sp>
        <p:nvSpPr>
          <p:cNvPr id="5" name="Text 3"/>
          <p:cNvSpPr txBox="1"/>
          <p:nvPr/>
        </p:nvSpPr>
        <p:spPr>
          <a:xfrm>
            <a:off x="64008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Urgency</a:t>
            </a:r>
            <a:endParaRPr lang="en-US" sz="1300" dirty="0"/>
          </a:p>
        </p:txBody>
      </p:sp>
      <p:sp>
        <p:nvSpPr>
          <p:cNvPr id="6" name="Text 4"/>
          <p:cNvSpPr txBox="1"/>
          <p:nvPr/>
        </p:nvSpPr>
        <p:spPr>
          <a:xfrm>
            <a:off x="54864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Churn and rivals make better discovery pressing</a:t>
            </a:r>
            <a:endParaRPr lang="en-US" sz="1200" dirty="0"/>
          </a:p>
        </p:txBody>
      </p:sp>
      <p:sp>
        <p:nvSpPr>
          <p:cNvPr id="7" name="Shape 5"/>
          <p:cNvSpPr/>
          <p:nvPr/>
        </p:nvSpPr>
        <p:spPr>
          <a:xfrm>
            <a:off x="2423160" y="1325880"/>
            <a:ext cx="1828800" cy="502920"/>
          </a:xfrm>
          <a:prstGeom prst="homePlate">
            <a:avLst/>
          </a:prstGeom>
          <a:solidFill>
            <a:srgbClr val="1E2761"/>
          </a:solidFill>
          <a:ln w="12700">
            <a:solidFill>
              <a:srgbClr val="FFFFFF"/>
            </a:solidFill>
            <a:prstDash val="solid"/>
          </a:ln>
        </p:spPr>
      </p:sp>
      <p:sp>
        <p:nvSpPr>
          <p:cNvPr id="8" name="Text 6"/>
          <p:cNvSpPr txBox="1"/>
          <p:nvPr/>
        </p:nvSpPr>
        <p:spPr>
          <a:xfrm>
            <a:off x="251460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 Coalition</a:t>
            </a:r>
            <a:endParaRPr lang="en-US" sz="1300" dirty="0"/>
          </a:p>
        </p:txBody>
      </p:sp>
      <p:sp>
        <p:nvSpPr>
          <p:cNvPr id="9" name="Text 7"/>
          <p:cNvSpPr txBox="1"/>
          <p:nvPr/>
        </p:nvSpPr>
        <p:spPr>
          <a:xfrm>
            <a:off x="242316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Creative champions plus data leads</a:t>
            </a:r>
            <a:endParaRPr lang="en-US" sz="1200" dirty="0"/>
          </a:p>
        </p:txBody>
      </p:sp>
      <p:sp>
        <p:nvSpPr>
          <p:cNvPr id="10" name="Shape 8"/>
          <p:cNvSpPr/>
          <p:nvPr/>
        </p:nvSpPr>
        <p:spPr>
          <a:xfrm>
            <a:off x="4297680" y="1325880"/>
            <a:ext cx="1828800" cy="502920"/>
          </a:xfrm>
          <a:prstGeom prst="homePlate">
            <a:avLst/>
          </a:prstGeom>
          <a:solidFill>
            <a:srgbClr val="1E2761"/>
          </a:solidFill>
          <a:ln w="12700">
            <a:solidFill>
              <a:srgbClr val="FFFFFF"/>
            </a:solidFill>
            <a:prstDash val="solid"/>
          </a:ln>
        </p:spPr>
      </p:sp>
      <p:sp>
        <p:nvSpPr>
          <p:cNvPr id="11" name="Text 9"/>
          <p:cNvSpPr txBox="1"/>
          <p:nvPr/>
        </p:nvSpPr>
        <p:spPr>
          <a:xfrm>
            <a:off x="438912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Vision</a:t>
            </a:r>
            <a:endParaRPr lang="en-US" sz="1300" dirty="0"/>
          </a:p>
        </p:txBody>
      </p:sp>
      <p:sp>
        <p:nvSpPr>
          <p:cNvPr id="12" name="Text 10"/>
          <p:cNvSpPr txBox="1"/>
          <p:nvPr/>
        </p:nvSpPr>
        <p:spPr>
          <a:xfrm>
            <a:off x="429768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Data informs; creatives decide</a:t>
            </a:r>
            <a:endParaRPr lang="en-US" sz="1200" dirty="0"/>
          </a:p>
        </p:txBody>
      </p:sp>
      <p:sp>
        <p:nvSpPr>
          <p:cNvPr id="13" name="Shape 11"/>
          <p:cNvSpPr/>
          <p:nvPr/>
        </p:nvSpPr>
        <p:spPr>
          <a:xfrm>
            <a:off x="6172200" y="1325880"/>
            <a:ext cx="1828800" cy="502920"/>
          </a:xfrm>
          <a:prstGeom prst="homePlate">
            <a:avLst/>
          </a:prstGeom>
          <a:solidFill>
            <a:srgbClr val="1E56A0"/>
          </a:solidFill>
          <a:ln w="12700">
            <a:solidFill>
              <a:srgbClr val="FFFFFF"/>
            </a:solidFill>
            <a:prstDash val="solid"/>
          </a:ln>
        </p:spPr>
      </p:sp>
      <p:sp>
        <p:nvSpPr>
          <p:cNvPr id="14" name="Text 12"/>
          <p:cNvSpPr txBox="1"/>
          <p:nvPr/>
        </p:nvSpPr>
        <p:spPr>
          <a:xfrm>
            <a:off x="626364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 Pilot</a:t>
            </a:r>
            <a:endParaRPr lang="en-US" sz="1300" dirty="0"/>
          </a:p>
        </p:txBody>
      </p:sp>
      <p:sp>
        <p:nvSpPr>
          <p:cNvPr id="15" name="Text 13"/>
          <p:cNvSpPr txBox="1"/>
          <p:nvPr/>
        </p:nvSpPr>
        <p:spPr>
          <a:xfrm>
            <a:off x="617220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One slate of originals; share early wins</a:t>
            </a:r>
            <a:endParaRPr lang="en-US" sz="1200" dirty="0"/>
          </a:p>
        </p:txBody>
      </p:sp>
      <p:sp>
        <p:nvSpPr>
          <p:cNvPr id="16" name="Shape 14"/>
          <p:cNvSpPr/>
          <p:nvPr/>
        </p:nvSpPr>
        <p:spPr>
          <a:xfrm>
            <a:off x="8046720" y="1325880"/>
            <a:ext cx="1828800" cy="502920"/>
          </a:xfrm>
          <a:prstGeom prst="homePlate">
            <a:avLst/>
          </a:prstGeom>
          <a:solidFill>
            <a:srgbClr val="1E56A0"/>
          </a:solidFill>
          <a:ln w="12700">
            <a:solidFill>
              <a:srgbClr val="FFFFFF"/>
            </a:solidFill>
            <a:prstDash val="solid"/>
          </a:ln>
        </p:spPr>
      </p:sp>
      <p:sp>
        <p:nvSpPr>
          <p:cNvPr id="17" name="Text 15"/>
          <p:cNvSpPr txBox="1"/>
          <p:nvPr/>
        </p:nvSpPr>
        <p:spPr>
          <a:xfrm>
            <a:off x="813816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Extend</a:t>
            </a:r>
            <a:endParaRPr lang="en-US" sz="1300" dirty="0"/>
          </a:p>
        </p:txBody>
      </p:sp>
      <p:sp>
        <p:nvSpPr>
          <p:cNvPr id="18" name="Text 16"/>
          <p:cNvSpPr txBox="1"/>
          <p:nvPr/>
        </p:nvSpPr>
        <p:spPr>
          <a:xfrm>
            <a:off x="804672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Roll into pitches and green-lighting</a:t>
            </a:r>
            <a:endParaRPr lang="en-US" sz="1200" dirty="0"/>
          </a:p>
        </p:txBody>
      </p:sp>
      <p:sp>
        <p:nvSpPr>
          <p:cNvPr id="19" name="Shape 17"/>
          <p:cNvSpPr/>
          <p:nvPr/>
        </p:nvSpPr>
        <p:spPr>
          <a:xfrm>
            <a:off x="9921240" y="1325880"/>
            <a:ext cx="1828800" cy="502920"/>
          </a:xfrm>
          <a:prstGeom prst="homePlate">
            <a:avLst/>
          </a:prstGeom>
          <a:solidFill>
            <a:srgbClr val="1E56A0"/>
          </a:solidFill>
          <a:ln w="12700">
            <a:solidFill>
              <a:srgbClr val="FFFFFF"/>
            </a:solidFill>
            <a:prstDash val="solid"/>
          </a:ln>
        </p:spPr>
      </p:sp>
      <p:sp>
        <p:nvSpPr>
          <p:cNvPr id="20" name="Text 18"/>
          <p:cNvSpPr txBox="1"/>
          <p:nvPr/>
        </p:nvSpPr>
        <p:spPr>
          <a:xfrm>
            <a:off x="10012680" y="1325880"/>
            <a:ext cx="155448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 Embed</a:t>
            </a:r>
            <a:endParaRPr lang="en-US" sz="1300" dirty="0"/>
          </a:p>
        </p:txBody>
      </p:sp>
      <p:sp>
        <p:nvSpPr>
          <p:cNvPr id="21" name="Text 19"/>
          <p:cNvSpPr txBox="1"/>
          <p:nvPr/>
        </p:nvSpPr>
        <p:spPr>
          <a:xfrm>
            <a:off x="9921240" y="1901952"/>
            <a:ext cx="1783080" cy="822960"/>
          </a:xfrm>
          <a:prstGeom prst="rect">
            <a:avLst/>
          </a:prstGeom>
          <a:noFill/>
          <a:ln/>
        </p:spPr>
        <p:txBody>
          <a:bodyPr wrap="square" lIns="0" tIns="0" rIns="0" bIns="0" rtlCol="0" anchor="t"/>
          <a:lstStyle/>
          <a:p>
            <a:pPr indent="0" marL="0">
              <a:buNone/>
            </a:pPr>
            <a:r>
              <a:rPr lang="en-US" sz="1200" dirty="0">
                <a:solidFill>
                  <a:srgbClr val="27314D"/>
                </a:solidFill>
                <a:latin typeface="Calibri" pitchFamily="34" charset="0"/>
                <a:ea typeface="Calibri" pitchFamily="34" charset="-122"/>
                <a:cs typeface="Calibri" pitchFamily="34" charset="-120"/>
              </a:rPr>
              <a:t>Make it part of how Apple TV+ commissions</a:t>
            </a:r>
            <a:endParaRPr lang="en-US" sz="1200" dirty="0"/>
          </a:p>
        </p:txBody>
      </p:sp>
      <p:sp>
        <p:nvSpPr>
          <p:cNvPr id="22" name="Text 20"/>
          <p:cNvSpPr txBox="1"/>
          <p:nvPr/>
        </p:nvSpPr>
        <p:spPr>
          <a:xfrm>
            <a:off x="548640" y="2743200"/>
            <a:ext cx="11064240" cy="27432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Figure 4: Kotter (1995) change model, tailored to Apple TV+. Digital skills and confidence: Vial (2019).</a:t>
            </a:r>
            <a:endParaRPr lang="en-US" sz="1100" dirty="0"/>
          </a:p>
        </p:txBody>
      </p:sp>
      <p:sp>
        <p:nvSpPr>
          <p:cNvPr id="23" name="Text 21"/>
          <p:cNvSpPr txBox="1"/>
          <p:nvPr/>
        </p:nvSpPr>
        <p:spPr>
          <a:xfrm>
            <a:off x="548640" y="3154680"/>
            <a:ext cx="6400800" cy="32004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Barriers and responses</a:t>
            </a:r>
            <a:endParaRPr lang="en-US" sz="1600" dirty="0"/>
          </a:p>
        </p:txBody>
      </p:sp>
      <p:sp>
        <p:nvSpPr>
          <p:cNvPr id="24" name="Shape 22"/>
          <p:cNvSpPr/>
          <p:nvPr/>
        </p:nvSpPr>
        <p:spPr>
          <a:xfrm>
            <a:off x="548640" y="3520440"/>
            <a:ext cx="6766560" cy="777240"/>
          </a:xfrm>
          <a:prstGeom prst="roundRect">
            <a:avLst>
              <a:gd name="adj" fmla="val 9412"/>
            </a:avLst>
          </a:prstGeom>
          <a:solidFill>
            <a:srgbClr val="F2F5FB"/>
          </a:solidFill>
          <a:ln w="12700">
            <a:solidFill>
              <a:srgbClr val="CADCFC"/>
            </a:solidFill>
            <a:prstDash val="solid"/>
          </a:ln>
        </p:spPr>
      </p:sp>
      <p:sp>
        <p:nvSpPr>
          <p:cNvPr id="25" name="Text 23"/>
          <p:cNvSpPr txBox="1"/>
          <p:nvPr/>
        </p:nvSpPr>
        <p:spPr>
          <a:xfrm>
            <a:off x="731520" y="3520440"/>
            <a:ext cx="6400800"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Fear of losing creative control: </a:t>
            </a:r>
            <a:pPr indent="0" marL="0">
              <a:buNone/>
            </a:pPr>
            <a:r>
              <a:rPr lang="en-US" sz="1300" dirty="0">
                <a:solidFill>
                  <a:srgbClr val="27314D"/>
                </a:solidFill>
                <a:latin typeface="Calibri" pitchFamily="34" charset="0"/>
                <a:ea typeface="Calibri" pitchFamily="34" charset="-122"/>
                <a:cs typeface="Calibri" pitchFamily="34" charset="-120"/>
              </a:rPr>
              <a:t>Keep creative sign-off final; publish rules for how data is used.</a:t>
            </a:r>
            <a:endParaRPr lang="en-US" sz="1300" dirty="0"/>
          </a:p>
        </p:txBody>
      </p:sp>
      <p:sp>
        <p:nvSpPr>
          <p:cNvPr id="26" name="Shape 24"/>
          <p:cNvSpPr/>
          <p:nvPr/>
        </p:nvSpPr>
        <p:spPr>
          <a:xfrm>
            <a:off x="548640" y="4389120"/>
            <a:ext cx="6766560" cy="777240"/>
          </a:xfrm>
          <a:prstGeom prst="roundRect">
            <a:avLst>
              <a:gd name="adj" fmla="val 9412"/>
            </a:avLst>
          </a:prstGeom>
          <a:solidFill>
            <a:srgbClr val="F2F5FB"/>
          </a:solidFill>
          <a:ln w="12700">
            <a:solidFill>
              <a:srgbClr val="CADCFC"/>
            </a:solidFill>
            <a:prstDash val="solid"/>
          </a:ln>
        </p:spPr>
      </p:sp>
      <p:sp>
        <p:nvSpPr>
          <p:cNvPr id="27" name="Text 25"/>
          <p:cNvSpPr txBox="1"/>
          <p:nvPr/>
        </p:nvSpPr>
        <p:spPr>
          <a:xfrm>
            <a:off x="731520" y="4389120"/>
            <a:ext cx="6400800"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Distrust of algorithms: </a:t>
            </a:r>
            <a:pPr indent="0" marL="0">
              <a:buNone/>
            </a:pPr>
            <a:r>
              <a:rPr lang="en-US" sz="1300" dirty="0">
                <a:solidFill>
                  <a:srgbClr val="27314D"/>
                </a:solidFill>
                <a:latin typeface="Calibri" pitchFamily="34" charset="0"/>
                <a:ea typeface="Calibri" pitchFamily="34" charset="-122"/>
                <a:cs typeface="Calibri" pitchFamily="34" charset="-120"/>
              </a:rPr>
              <a:t>Show why content is promoted, so creatives can see how data influences decisions.</a:t>
            </a:r>
            <a:endParaRPr lang="en-US" sz="1300" dirty="0"/>
          </a:p>
        </p:txBody>
      </p:sp>
      <p:sp>
        <p:nvSpPr>
          <p:cNvPr id="28" name="Shape 26"/>
          <p:cNvSpPr/>
          <p:nvPr/>
        </p:nvSpPr>
        <p:spPr>
          <a:xfrm>
            <a:off x="548640" y="5257800"/>
            <a:ext cx="6766560" cy="777240"/>
          </a:xfrm>
          <a:prstGeom prst="roundRect">
            <a:avLst>
              <a:gd name="adj" fmla="val 9412"/>
            </a:avLst>
          </a:prstGeom>
          <a:solidFill>
            <a:srgbClr val="F2F5FB"/>
          </a:solidFill>
          <a:ln w="12700">
            <a:solidFill>
              <a:srgbClr val="CADCFC"/>
            </a:solidFill>
            <a:prstDash val="solid"/>
          </a:ln>
        </p:spPr>
      </p:sp>
      <p:sp>
        <p:nvSpPr>
          <p:cNvPr id="29" name="Text 27"/>
          <p:cNvSpPr txBox="1"/>
          <p:nvPr/>
        </p:nvSpPr>
        <p:spPr>
          <a:xfrm>
            <a:off x="731520" y="5257800"/>
            <a:ext cx="6400800"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Skills gaps: </a:t>
            </a:r>
            <a:pPr indent="0" marL="0">
              <a:buNone/>
            </a:pPr>
            <a:r>
              <a:rPr lang="en-US" sz="1300" dirty="0">
                <a:solidFill>
                  <a:srgbClr val="27314D"/>
                </a:solidFill>
                <a:latin typeface="Calibri" pitchFamily="34" charset="0"/>
                <a:ea typeface="Calibri" pitchFamily="34" charset="-122"/>
                <a:cs typeface="Calibri" pitchFamily="34" charset="-120"/>
              </a:rPr>
              <a:t>Training in reading audience data, built around real projects (Vial, 2019).</a:t>
            </a:r>
            <a:endParaRPr lang="en-US" sz="1300" dirty="0"/>
          </a:p>
        </p:txBody>
      </p:sp>
      <p:sp>
        <p:nvSpPr>
          <p:cNvPr id="30" name="Shape 28"/>
          <p:cNvSpPr/>
          <p:nvPr/>
        </p:nvSpPr>
        <p:spPr>
          <a:xfrm>
            <a:off x="7589520" y="3154680"/>
            <a:ext cx="4023360" cy="3017520"/>
          </a:xfrm>
          <a:prstGeom prst="roundRect">
            <a:avLst>
              <a:gd name="adj" fmla="val 2424"/>
            </a:avLst>
          </a:prstGeom>
          <a:solidFill>
            <a:srgbClr val="1E2761"/>
          </a:solidFill>
          <a:ln w="12700">
            <a:solidFill>
              <a:srgbClr val="1E2761"/>
            </a:solidFill>
            <a:prstDash val="solid"/>
          </a:ln>
        </p:spPr>
      </p:sp>
      <p:sp>
        <p:nvSpPr>
          <p:cNvPr id="31" name="Text 29"/>
          <p:cNvSpPr txBox="1"/>
          <p:nvPr/>
        </p:nvSpPr>
        <p:spPr>
          <a:xfrm>
            <a:off x="7772400" y="3246120"/>
            <a:ext cx="36576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Digital confidence actions</a:t>
            </a:r>
            <a:endParaRPr lang="en-US" sz="1600" dirty="0"/>
          </a:p>
        </p:txBody>
      </p:sp>
      <p:sp>
        <p:nvSpPr>
          <p:cNvPr id="32" name="Text 30"/>
          <p:cNvSpPr txBox="1"/>
          <p:nvPr/>
        </p:nvSpPr>
        <p:spPr>
          <a:xfrm>
            <a:off x="7772400" y="3749040"/>
            <a:ext cx="365760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Training for writers and producers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Pilots on a small slate of originals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Creative champions on each team</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Feedback channels into the model team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Sustained Competitive Advantage: VRIO</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Strategy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1280160"/>
                <a:gridCol w="75895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68580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Valuable?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1E56A0"/>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Better discovery supports retention and engagement (Gomez-Uribe and Hunt, 2015). But scaling it brings privacy, governance and bias risks (Mokoena and Obagbuwa, 2025).</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59436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Rare?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C00000"/>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Streaming rivals already run recommenders; the technique is widely documented (Ricci, Rokach and Shapira, 2015).</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59436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Hard to imitate?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B8860B"/>
                          </a:solidFill>
                          <a:latin typeface="Calibri" pitchFamily="34" charset="0"/>
                          <a:ea typeface="Calibri" pitchFamily="34" charset="-122"/>
                          <a:cs typeface="Calibri" pitchFamily="34" charset="-120"/>
                        </a:rPr>
                        <a:t>Partly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Models are copyable. Apple’s ecosystem data and quality-focused catalogue are harder to copy.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594360">
                <a:tc>
                  <a:txBody>
                    <a:bodyPr/>
                    <a:lstStyle/>
                    <a:p>
                      <a:pPr indent="0" marL="0">
                        <a:buNone/>
                      </a:pPr>
                      <a:r>
                        <a:rPr lang="en-US" sz="1250" b="1" dirty="0">
                          <a:solidFill>
                            <a:srgbClr val="27314D"/>
                          </a:solidFill>
                          <a:latin typeface="Calibri" pitchFamily="34" charset="0"/>
                          <a:ea typeface="Calibri" pitchFamily="34" charset="-122"/>
                          <a:cs typeface="Calibri" pitchFamily="34" charset="-120"/>
                        </a:rPr>
                        <a:t>Organised to exploit?</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algn="ctr" indent="0" marL="0">
                        <a:buNone/>
                      </a:pPr>
                      <a:r>
                        <a:rPr lang="en-US" sz="1250" b="1" dirty="0">
                          <a:solidFill>
                            <a:srgbClr val="B8860B"/>
                          </a:solidFill>
                          <a:latin typeface="Calibri" pitchFamily="34" charset="0"/>
                          <a:ea typeface="Calibri" pitchFamily="34" charset="-122"/>
                          <a:cs typeface="Calibri" pitchFamily="34" charset="-120"/>
                        </a:rPr>
                        <a:t>Not yet</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50" dirty="0">
                          <a:solidFill>
                            <a:srgbClr val="27314D"/>
                          </a:solidFill>
                          <a:latin typeface="Calibri" pitchFamily="34" charset="0"/>
                          <a:ea typeface="Calibri" pitchFamily="34" charset="-122"/>
                          <a:cs typeface="Calibri" pitchFamily="34" charset="-120"/>
                        </a:rPr>
                        <a:t>Creative and data teams are not yet aligned; no shared rules for how data shapes commissioning.</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bl>
          </a:graphicData>
        </a:graphic>
      </p:graphicFrame>
      <p:sp>
        <p:nvSpPr>
          <p:cNvPr id="5" name="Text 2"/>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Table 2: VRIO analysis of the recommendation engine (framework from Barney, 1991).</a:t>
            </a:r>
            <a:endParaRPr lang="en-US" sz="1100" dirty="0"/>
          </a:p>
        </p:txBody>
      </p:sp>
      <p:sp>
        <p:nvSpPr>
          <p:cNvPr id="6" name="Text 3"/>
          <p:cNvSpPr txBox="1"/>
          <p:nvPr/>
        </p:nvSpPr>
        <p:spPr>
          <a:xfrm>
            <a:off x="548640" y="4297680"/>
            <a:ext cx="11064240" cy="640080"/>
          </a:xfrm>
          <a:prstGeom prst="rect">
            <a:avLst/>
          </a:prstGeom>
          <a:noFill/>
          <a:ln/>
        </p:spPr>
        <p:txBody>
          <a:bodyPr wrap="square" lIns="0" tIns="0" rIns="0" bIns="0"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Verdict: </a:t>
            </a:r>
            <a:pPr indent="0" marL="0">
              <a:buNone/>
            </a:pPr>
            <a:r>
              <a:rPr lang="en-US" sz="1400" dirty="0">
                <a:solidFill>
                  <a:srgbClr val="27314D"/>
                </a:solidFill>
                <a:latin typeface="Calibri" pitchFamily="34" charset="0"/>
                <a:ea typeface="Calibri" pitchFamily="34" charset="-122"/>
                <a:cs typeface="Calibri" pitchFamily="34" charset="-120"/>
              </a:rPr>
              <a:t>competitive parity, not sustained advantage. The recommender supports retention and agility but is only a baseline; advantage comes from pairing it with Apple’s ecosystem and creative judgement.</a:t>
            </a:r>
            <a:endParaRPr lang="en-US" sz="1400" dirty="0"/>
          </a:p>
        </p:txBody>
      </p:sp>
      <p:sp>
        <p:nvSpPr>
          <p:cNvPr id="7" name="Text 4"/>
          <p:cNvSpPr txBox="1"/>
          <p:nvPr/>
        </p:nvSpPr>
        <p:spPr>
          <a:xfrm>
            <a:off x="548640" y="4983480"/>
            <a:ext cx="10972800" cy="32004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Continuous improvement actions</a:t>
            </a:r>
            <a:endParaRPr lang="en-US" sz="1600" dirty="0"/>
          </a:p>
        </p:txBody>
      </p:sp>
      <p:sp>
        <p:nvSpPr>
          <p:cNvPr id="8" name="Shape 5"/>
          <p:cNvSpPr/>
          <p:nvPr/>
        </p:nvSpPr>
        <p:spPr>
          <a:xfrm>
            <a:off x="548640" y="5349240"/>
            <a:ext cx="2697480" cy="822960"/>
          </a:xfrm>
          <a:prstGeom prst="roundRect">
            <a:avLst>
              <a:gd name="adj" fmla="val 8889"/>
            </a:avLst>
          </a:prstGeom>
          <a:solidFill>
            <a:srgbClr val="F2F5FB"/>
          </a:solidFill>
          <a:ln w="12700">
            <a:solidFill>
              <a:srgbClr val="CADCFC"/>
            </a:solidFill>
            <a:prstDash val="solid"/>
          </a:ln>
        </p:spPr>
      </p:sp>
      <p:sp>
        <p:nvSpPr>
          <p:cNvPr id="9" name="Text 6"/>
          <p:cNvSpPr txBox="1"/>
          <p:nvPr/>
        </p:nvSpPr>
        <p:spPr>
          <a:xfrm>
            <a:off x="658368"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Test (agility): </a:t>
            </a:r>
            <a:pPr indent="0" marL="0">
              <a:buNone/>
            </a:pPr>
            <a:r>
              <a:rPr lang="en-US" sz="1200" dirty="0">
                <a:solidFill>
                  <a:srgbClr val="27314D"/>
                </a:solidFill>
                <a:latin typeface="Calibri" pitchFamily="34" charset="0"/>
                <a:ea typeface="Calibri" pitchFamily="34" charset="-122"/>
                <a:cs typeface="Calibri" pitchFamily="34" charset="-120"/>
              </a:rPr>
              <a:t>A/B test changes against retention</a:t>
            </a:r>
            <a:endParaRPr lang="en-US" sz="1200" dirty="0"/>
          </a:p>
        </p:txBody>
      </p:sp>
      <p:sp>
        <p:nvSpPr>
          <p:cNvPr id="10" name="Shape 7"/>
          <p:cNvSpPr/>
          <p:nvPr/>
        </p:nvSpPr>
        <p:spPr>
          <a:xfrm>
            <a:off x="3355848" y="5349240"/>
            <a:ext cx="2697480" cy="822960"/>
          </a:xfrm>
          <a:prstGeom prst="roundRect">
            <a:avLst>
              <a:gd name="adj" fmla="val 8889"/>
            </a:avLst>
          </a:prstGeom>
          <a:solidFill>
            <a:srgbClr val="F2F5FB"/>
          </a:solidFill>
          <a:ln w="12700">
            <a:solidFill>
              <a:srgbClr val="CADCFC"/>
            </a:solidFill>
            <a:prstDash val="solid"/>
          </a:ln>
        </p:spPr>
      </p:sp>
      <p:sp>
        <p:nvSpPr>
          <p:cNvPr id="11" name="Text 8"/>
          <p:cNvSpPr txBox="1"/>
          <p:nvPr/>
        </p:nvSpPr>
        <p:spPr>
          <a:xfrm>
            <a:off x="3465576"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Creative input (innovation): </a:t>
            </a:r>
            <a:pPr indent="0" marL="0">
              <a:buNone/>
            </a:pPr>
            <a:r>
              <a:rPr lang="en-US" sz="1200" dirty="0">
                <a:solidFill>
                  <a:srgbClr val="27314D"/>
                </a:solidFill>
                <a:latin typeface="Calibri" pitchFamily="34" charset="0"/>
                <a:ea typeface="Calibri" pitchFamily="34" charset="-122"/>
                <a:cs typeface="Calibri" pitchFamily="34" charset="-120"/>
              </a:rPr>
              <a:t>Creatives help set the goals the model optimises</a:t>
            </a:r>
            <a:endParaRPr lang="en-US" sz="1200" dirty="0"/>
          </a:p>
        </p:txBody>
      </p:sp>
      <p:sp>
        <p:nvSpPr>
          <p:cNvPr id="12" name="Shape 9"/>
          <p:cNvSpPr/>
          <p:nvPr/>
        </p:nvSpPr>
        <p:spPr>
          <a:xfrm>
            <a:off x="6163056" y="5349240"/>
            <a:ext cx="2697480" cy="822960"/>
          </a:xfrm>
          <a:prstGeom prst="roundRect">
            <a:avLst>
              <a:gd name="adj" fmla="val 8889"/>
            </a:avLst>
          </a:prstGeom>
          <a:solidFill>
            <a:srgbClr val="F2F5FB"/>
          </a:solidFill>
          <a:ln w="12700">
            <a:solidFill>
              <a:srgbClr val="CADCFC"/>
            </a:solidFill>
            <a:prstDash val="solid"/>
          </a:ln>
        </p:spPr>
      </p:sp>
      <p:sp>
        <p:nvSpPr>
          <p:cNvPr id="13" name="Text 10"/>
          <p:cNvSpPr txBox="1"/>
          <p:nvPr/>
        </p:nvSpPr>
        <p:spPr>
          <a:xfrm>
            <a:off x="6272784"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Refresh: </a:t>
            </a:r>
            <a:pPr indent="0" marL="0">
              <a:buNone/>
            </a:pPr>
            <a:r>
              <a:rPr lang="en-US" sz="1200" dirty="0">
                <a:solidFill>
                  <a:srgbClr val="27314D"/>
                </a:solidFill>
                <a:latin typeface="Calibri" pitchFamily="34" charset="0"/>
                <a:ea typeface="Calibri" pitchFamily="34" charset="-122"/>
                <a:cs typeface="Calibri" pitchFamily="34" charset="-120"/>
              </a:rPr>
              <a:t>Update data and models regularly</a:t>
            </a:r>
            <a:endParaRPr lang="en-US" sz="1200" dirty="0"/>
          </a:p>
        </p:txBody>
      </p:sp>
      <p:sp>
        <p:nvSpPr>
          <p:cNvPr id="14" name="Shape 11"/>
          <p:cNvSpPr/>
          <p:nvPr/>
        </p:nvSpPr>
        <p:spPr>
          <a:xfrm>
            <a:off x="8970264" y="5349240"/>
            <a:ext cx="2697480" cy="822960"/>
          </a:xfrm>
          <a:prstGeom prst="roundRect">
            <a:avLst>
              <a:gd name="adj" fmla="val 8889"/>
            </a:avLst>
          </a:prstGeom>
          <a:solidFill>
            <a:srgbClr val="F2F5FB"/>
          </a:solidFill>
          <a:ln w="12700">
            <a:solidFill>
              <a:srgbClr val="CADCFC"/>
            </a:solidFill>
            <a:prstDash val="solid"/>
          </a:ln>
        </p:spPr>
      </p:sp>
      <p:sp>
        <p:nvSpPr>
          <p:cNvPr id="15" name="Text 12"/>
          <p:cNvSpPr txBox="1"/>
          <p:nvPr/>
        </p:nvSpPr>
        <p:spPr>
          <a:xfrm>
            <a:off x="9079992" y="5349240"/>
            <a:ext cx="2478024" cy="8229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Ansoff: </a:t>
            </a:r>
            <a:pPr indent="0" marL="0">
              <a:buNone/>
            </a:pPr>
            <a:r>
              <a:rPr lang="en-US" sz="1200" dirty="0">
                <a:solidFill>
                  <a:srgbClr val="27314D"/>
                </a:solidFill>
                <a:latin typeface="Calibri" pitchFamily="34" charset="0"/>
                <a:ea typeface="Calibri" pitchFamily="34" charset="-122"/>
                <a:cs typeface="Calibri" pitchFamily="34" charset="-120"/>
              </a:rPr>
              <a:t>Market penetration: deeper retention in existing markets (Ansoff, 1957)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Ethical, Social and Risk Issues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Strategy</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3931920"/>
                <a:gridCol w="1371600"/>
                <a:gridCol w="39319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Issue</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Principle</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91440" marR="91440" marT="45720" marB="45720">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2761"/>
                    </a:solidFill>
                  </a:tcPr>
                </a:tc>
              </a:tr>
              <a:tr h="91440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Privacy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Data collected for recommendations could be reused for other purposes; GDPR Article 5 requires specified, explicit purposes (European Parliament and Council, 2016).</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Privacy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Document purpose limitation and review it regularly.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Bias and fairness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Models trained on past viewing narrow what is shown (Ricci et al., 2015).</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Fairness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Run regular diversity-of-recommendation audits.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Transparency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Viewers and creatives cannot see why content is promoted.</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Transparency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Add “why am I seeing this” explanations for viewers and creatives.</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Creators’ autonomy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Algorithms can steer which projects are promoted and made (Napoli, 2014).</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Autonomy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Keep creative sign-off; use data to inform, not decide.</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r h="7315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Social: cultural diversity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Filter bubbles can reduce exposure to varied content (Pariser, 2011; Helberger, 2019).</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b="1" dirty="0">
                          <a:solidFill>
                            <a:srgbClr val="1E56A0"/>
                          </a:solidFill>
                          <a:latin typeface="Calibri" pitchFamily="34" charset="0"/>
                          <a:ea typeface="Calibri" pitchFamily="34" charset="-122"/>
                          <a:cs typeface="Calibri" pitchFamily="34" charset="-120"/>
                        </a:rPr>
                        <a:t>Diversity</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c>
                  <a:txBody>
                    <a:bodyPr/>
                    <a:lstStyle/>
                    <a:p>
                      <a:pPr indent="0" marL="0">
                        <a:buNone/>
                      </a:pPr>
                      <a:r>
                        <a:rPr lang="en-US" sz="1200" dirty="0">
                          <a:solidFill>
                            <a:srgbClr val="27314D"/>
                          </a:solidFill>
                          <a:latin typeface="Calibri" pitchFamily="34" charset="0"/>
                          <a:ea typeface="Calibri" pitchFamily="34" charset="-122"/>
                          <a:cs typeface="Calibri" pitchFamily="34" charset="-120"/>
                        </a:rPr>
                        <a:t>Set minimum exposure for varied and local content.</a:t>
                      </a:r>
                      <a:endParaRPr lang="en-US" sz="12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2F5FB"/>
                    </a:solidFill>
                  </a:tcPr>
                </a:tc>
              </a:tr>
            </a:tbl>
          </a:graphicData>
        </a:graphic>
      </p:graphicFrame>
      <p:sp>
        <p:nvSpPr>
          <p:cNvPr id="5" name="Text 2"/>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100" i="1" dirty="0">
                <a:solidFill>
                  <a:srgbClr val="6B7590"/>
                </a:solidFill>
                <a:latin typeface="Calibri" pitchFamily="34" charset="0"/>
                <a:ea typeface="Calibri" pitchFamily="34" charset="-122"/>
                <a:cs typeface="Calibri" pitchFamily="34" charset="-120"/>
              </a:rPr>
              <a:t>Table 3: Ethical, social and risk issues. Sources: European Parliament and Council (2016); Ricci et al. (2015); Floridi et al. (2018); Napoli (2014); Pariser (2011); Helberger (2019).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Recommendations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Strategy</a:t>
            </a:r>
            <a:endParaRPr lang="en-US" sz="1100" dirty="0"/>
          </a:p>
        </p:txBody>
      </p:sp>
      <p:sp>
        <p:nvSpPr>
          <p:cNvPr id="4" name="Shape 2"/>
          <p:cNvSpPr/>
          <p:nvPr/>
        </p:nvSpPr>
        <p:spPr>
          <a:xfrm>
            <a:off x="548640" y="1371600"/>
            <a:ext cx="3611880" cy="4023360"/>
          </a:xfrm>
          <a:prstGeom prst="roundRect">
            <a:avLst>
              <a:gd name="adj" fmla="val 2025"/>
            </a:avLst>
          </a:prstGeom>
          <a:solidFill>
            <a:srgbClr val="F2F5FB"/>
          </a:solidFill>
          <a:ln w="12700">
            <a:solidFill>
              <a:srgbClr val="CADCFC"/>
            </a:solidFill>
            <a:prstDash val="solid"/>
          </a:ln>
        </p:spPr>
      </p:sp>
      <p:sp>
        <p:nvSpPr>
          <p:cNvPr id="5" name="Shape 3"/>
          <p:cNvSpPr/>
          <p:nvPr/>
        </p:nvSpPr>
        <p:spPr>
          <a:xfrm>
            <a:off x="731520" y="1554480"/>
            <a:ext cx="548640" cy="548640"/>
          </a:xfrm>
          <a:prstGeom prst="ellipse">
            <a:avLst/>
          </a:prstGeom>
          <a:solidFill>
            <a:srgbClr val="1E2761"/>
          </a:solidFill>
          <a:ln w="12700">
            <a:solidFill>
              <a:srgbClr val="1E2761"/>
            </a:solidFill>
            <a:prstDash val="solid"/>
          </a:ln>
        </p:spPr>
      </p:sp>
      <p:sp>
        <p:nvSpPr>
          <p:cNvPr id="6" name="Text 4"/>
          <p:cNvSpPr txBox="1"/>
          <p:nvPr/>
        </p:nvSpPr>
        <p:spPr>
          <a:xfrm>
            <a:off x="73152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731520" y="2240280"/>
            <a:ext cx="3246120" cy="109728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Run a creative-team pilot in Kotter-style steps</a:t>
            </a:r>
            <a:endParaRPr lang="en-US" sz="1700" dirty="0"/>
          </a:p>
        </p:txBody>
      </p:sp>
      <p:sp>
        <p:nvSpPr>
          <p:cNvPr id="8" name="Text 6"/>
          <p:cNvSpPr txBox="1"/>
          <p:nvPr/>
        </p:nvSpPr>
        <p:spPr>
          <a:xfrm>
            <a:off x="731520" y="3383280"/>
            <a:ext cx="3246120" cy="1920240"/>
          </a:xfrm>
          <a:prstGeom prst="rect">
            <a:avLst/>
          </a:prstGeom>
          <a:noFill/>
          <a:ln/>
        </p:spPr>
        <p:txBody>
          <a:bodyPr wrap="square" lIns="0" tIns="0" rIns="0" bIns="0" rtlCol="0" anchor="t"/>
          <a:lstStyle/>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Owner: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Creative leadership (writers, producers, content developers), supported by the data team</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Evidence: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Kotter (1995); Napoli (2014)</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From: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Slides 6 and 7</a:t>
            </a:r>
            <a:endParaRPr lang="en-US" sz="1300" dirty="0"/>
          </a:p>
        </p:txBody>
      </p:sp>
      <p:sp>
        <p:nvSpPr>
          <p:cNvPr id="9" name="Shape 7"/>
          <p:cNvSpPr/>
          <p:nvPr/>
        </p:nvSpPr>
        <p:spPr>
          <a:xfrm>
            <a:off x="4297680" y="1371600"/>
            <a:ext cx="3611880" cy="4023360"/>
          </a:xfrm>
          <a:prstGeom prst="roundRect">
            <a:avLst>
              <a:gd name="adj" fmla="val 2025"/>
            </a:avLst>
          </a:prstGeom>
          <a:solidFill>
            <a:srgbClr val="F2F5FB"/>
          </a:solidFill>
          <a:ln w="12700">
            <a:solidFill>
              <a:srgbClr val="CADCFC"/>
            </a:solidFill>
            <a:prstDash val="solid"/>
          </a:ln>
        </p:spPr>
      </p:sp>
      <p:sp>
        <p:nvSpPr>
          <p:cNvPr id="10" name="Shape 8"/>
          <p:cNvSpPr/>
          <p:nvPr/>
        </p:nvSpPr>
        <p:spPr>
          <a:xfrm>
            <a:off x="4480560" y="1554480"/>
            <a:ext cx="548640" cy="548640"/>
          </a:xfrm>
          <a:prstGeom prst="ellipse">
            <a:avLst/>
          </a:prstGeom>
          <a:solidFill>
            <a:srgbClr val="1E2761"/>
          </a:solidFill>
          <a:ln w="12700">
            <a:solidFill>
              <a:srgbClr val="1E2761"/>
            </a:solidFill>
            <a:prstDash val="solid"/>
          </a:ln>
        </p:spPr>
      </p:sp>
      <p:sp>
        <p:nvSpPr>
          <p:cNvPr id="11" name="Text 9"/>
          <p:cNvSpPr txBox="1"/>
          <p:nvPr/>
        </p:nvSpPr>
        <p:spPr>
          <a:xfrm>
            <a:off x="448056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480560" y="2240280"/>
            <a:ext cx="3246120" cy="109728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Add an explanation feature for recommendations</a:t>
            </a:r>
            <a:endParaRPr lang="en-US" sz="1700" dirty="0"/>
          </a:p>
        </p:txBody>
      </p:sp>
      <p:sp>
        <p:nvSpPr>
          <p:cNvPr id="13" name="Text 11"/>
          <p:cNvSpPr txBox="1"/>
          <p:nvPr/>
        </p:nvSpPr>
        <p:spPr>
          <a:xfrm>
            <a:off x="4480560" y="3383280"/>
            <a:ext cx="3246120" cy="1920240"/>
          </a:xfrm>
          <a:prstGeom prst="rect">
            <a:avLst/>
          </a:prstGeom>
          <a:noFill/>
          <a:ln/>
        </p:spPr>
        <p:txBody>
          <a:bodyPr wrap="square" lIns="0" tIns="0" rIns="0" bIns="0" rtlCol="0" anchor="t"/>
          <a:lstStyle/>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Owner: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Marketing, with the product and technology teams</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Evidence: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Floridi et al. (2018); Apple Inc. (2025)</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From: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Slides 4 and 9</a:t>
            </a:r>
            <a:endParaRPr lang="en-US" sz="1300" dirty="0"/>
          </a:p>
        </p:txBody>
      </p:sp>
      <p:sp>
        <p:nvSpPr>
          <p:cNvPr id="14" name="Shape 12"/>
          <p:cNvSpPr/>
          <p:nvPr/>
        </p:nvSpPr>
        <p:spPr>
          <a:xfrm>
            <a:off x="8046720" y="1371600"/>
            <a:ext cx="3611880" cy="4023360"/>
          </a:xfrm>
          <a:prstGeom prst="roundRect">
            <a:avLst>
              <a:gd name="adj" fmla="val 2025"/>
            </a:avLst>
          </a:prstGeom>
          <a:solidFill>
            <a:srgbClr val="F2F5FB"/>
          </a:solidFill>
          <a:ln w="12700">
            <a:solidFill>
              <a:srgbClr val="CADCFC"/>
            </a:solidFill>
            <a:prstDash val="solid"/>
          </a:ln>
        </p:spPr>
      </p:sp>
      <p:sp>
        <p:nvSpPr>
          <p:cNvPr id="15" name="Shape 13"/>
          <p:cNvSpPr/>
          <p:nvPr/>
        </p:nvSpPr>
        <p:spPr>
          <a:xfrm>
            <a:off x="8229600" y="1554480"/>
            <a:ext cx="548640" cy="548640"/>
          </a:xfrm>
          <a:prstGeom prst="ellipse">
            <a:avLst/>
          </a:prstGeom>
          <a:solidFill>
            <a:srgbClr val="1E2761"/>
          </a:solidFill>
          <a:ln w="12700">
            <a:solidFill>
              <a:srgbClr val="1E2761"/>
            </a:solidFill>
            <a:prstDash val="solid"/>
          </a:ln>
        </p:spPr>
      </p:sp>
      <p:sp>
        <p:nvSpPr>
          <p:cNvPr id="16" name="Text 14"/>
          <p:cNvSpPr txBox="1"/>
          <p:nvPr/>
        </p:nvSpPr>
        <p:spPr>
          <a:xfrm>
            <a:off x="8229600" y="1554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229600" y="2240280"/>
            <a:ext cx="3246120" cy="109728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Set up a governance review for purpose limitation and diversity auditing</a:t>
            </a:r>
            <a:endParaRPr lang="en-US" sz="1700" dirty="0"/>
          </a:p>
        </p:txBody>
      </p:sp>
      <p:sp>
        <p:nvSpPr>
          <p:cNvPr id="18" name="Text 16"/>
          <p:cNvSpPr txBox="1"/>
          <p:nvPr/>
        </p:nvSpPr>
        <p:spPr>
          <a:xfrm>
            <a:off x="8229600" y="3383280"/>
            <a:ext cx="3246120" cy="1920240"/>
          </a:xfrm>
          <a:prstGeom prst="rect">
            <a:avLst/>
          </a:prstGeom>
          <a:noFill/>
          <a:ln/>
        </p:spPr>
        <p:txBody>
          <a:bodyPr wrap="square" lIns="0" tIns="0" rIns="0" bIns="0" rtlCol="0" anchor="t"/>
          <a:lstStyle/>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Owner: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Operations (legal, compliance and employee support)</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Evidence: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GDPR Art. 5 (European Parliament and Council, 2016); Ricci et al. (2015)</a:t>
            </a:r>
            <a:endParaRPr lang="en-US" sz="1300" dirty="0"/>
          </a:p>
          <a:p>
            <a:pPr indent="0" marL="0">
              <a:spcAft>
                <a:spcPts val="600"/>
              </a:spcAft>
              <a:buNone/>
            </a:pPr>
            <a:r>
              <a:rPr lang="en-US" sz="1300" b="1" dirty="0">
                <a:solidFill>
                  <a:srgbClr val="1E2761"/>
                </a:solidFill>
                <a:latin typeface="Calibri" pitchFamily="34" charset="0"/>
                <a:ea typeface="Calibri" pitchFamily="34" charset="-122"/>
                <a:cs typeface="Calibri" pitchFamily="34" charset="-120"/>
              </a:rPr>
              <a:t>From: </a:t>
            </a:r>
            <a:pPr indent="0" marL="0">
              <a:spcAft>
                <a:spcPts val="600"/>
              </a:spcAft>
              <a:buNone/>
            </a:pPr>
            <a:r>
              <a:rPr lang="en-US" sz="1300" dirty="0">
                <a:solidFill>
                  <a:srgbClr val="27314D"/>
                </a:solidFill>
                <a:latin typeface="Calibri" pitchFamily="34" charset="0"/>
                <a:ea typeface="Calibri" pitchFamily="34" charset="-122"/>
                <a:cs typeface="Calibri" pitchFamily="34" charset="-120"/>
              </a:rPr>
              <a:t>Slides 5 and 9</a:t>
            </a:r>
            <a:endParaRPr lang="en-US" sz="1300" dirty="0"/>
          </a:p>
        </p:txBody>
      </p:sp>
      <p:sp>
        <p:nvSpPr>
          <p:cNvPr id="19" name="Text 17"/>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500" b="1" dirty="0">
                <a:solidFill>
                  <a:srgbClr val="1E2761"/>
                </a:solidFill>
                <a:latin typeface="Calibri" pitchFamily="34" charset="0"/>
                <a:ea typeface="Calibri" pitchFamily="34" charset="-122"/>
                <a:cs typeface="Calibri" pitchFamily="34" charset="-120"/>
              </a:rPr>
              <a:t>Do first: </a:t>
            </a:r>
            <a:pPr indent="0" marL="0">
              <a:buNone/>
            </a:pPr>
            <a:r>
              <a:rPr lang="en-US" sz="1500" dirty="0">
                <a:solidFill>
                  <a:srgbClr val="27314D"/>
                </a:solidFill>
                <a:latin typeface="Calibri" pitchFamily="34" charset="0"/>
                <a:ea typeface="Calibri" pitchFamily="34" charset="-122"/>
                <a:cs typeface="Calibri" pitchFamily="34" charset="-120"/>
              </a:rPr>
              <a:t>the creative-team pilot, because it tackles the central challenge and builds the evidence the other two depend 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Conclusion</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548640" y="1325880"/>
            <a:ext cx="1097280" cy="6858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Technology</a:t>
            </a:r>
            <a:endParaRPr lang="en-US" sz="1500" dirty="0"/>
          </a:p>
        </p:txBody>
      </p:sp>
      <p:sp>
        <p:nvSpPr>
          <p:cNvPr id="5" name="Text 3"/>
          <p:cNvSpPr txBox="1"/>
          <p:nvPr/>
        </p:nvSpPr>
        <p:spPr>
          <a:xfrm>
            <a:off x="1645920" y="1325880"/>
            <a:ext cx="9966960" cy="685800"/>
          </a:xfrm>
          <a:prstGeom prst="rect">
            <a:avLst/>
          </a:prstGeom>
          <a:noFill/>
          <a:ln/>
        </p:spPr>
        <p:txBody>
          <a:bodyPr wrap="square" lIns="0" tIns="0" rIns="0" bIns="0" rtlCol="0" anchor="ctr"/>
          <a:lstStyle/>
          <a:p>
            <a:pPr indent="0" marL="0">
              <a:buNone/>
            </a:pPr>
            <a:r>
              <a:rPr lang="en-US" sz="1400" dirty="0">
                <a:solidFill>
                  <a:srgbClr val="27314D"/>
                </a:solidFill>
                <a:latin typeface="Calibri" pitchFamily="34" charset="0"/>
                <a:ea typeface="Calibri" pitchFamily="34" charset="-122"/>
                <a:cs typeface="Calibri" pitchFamily="34" charset="-120"/>
              </a:rPr>
              <a:t>A machine-learning recommendation engine helps match a small catalogue to many viewers, but it protects Apple TV+’s position rather than creating a lead.</a:t>
            </a:r>
            <a:endParaRPr lang="en-US" sz="1400" dirty="0"/>
          </a:p>
        </p:txBody>
      </p:sp>
      <p:sp>
        <p:nvSpPr>
          <p:cNvPr id="6" name="Text 4"/>
          <p:cNvSpPr txBox="1"/>
          <p:nvPr/>
        </p:nvSpPr>
        <p:spPr>
          <a:xfrm>
            <a:off x="548640" y="2103120"/>
            <a:ext cx="1097280" cy="6858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2</a:t>
            </a:r>
            <a:endParaRPr lang="en-US" sz="1500" dirty="0"/>
          </a:p>
        </p:txBody>
      </p:sp>
      <p:sp>
        <p:nvSpPr>
          <p:cNvPr id="7" name="Text 5"/>
          <p:cNvSpPr txBox="1"/>
          <p:nvPr/>
        </p:nvSpPr>
        <p:spPr>
          <a:xfrm>
            <a:off x="1645920" y="2103120"/>
            <a:ext cx="9966960" cy="685800"/>
          </a:xfrm>
          <a:prstGeom prst="rect">
            <a:avLst/>
          </a:prstGeom>
          <a:noFill/>
          <a:ln/>
        </p:spPr>
        <p:txBody>
          <a:bodyPr wrap="square" lIns="0" tIns="0" rIns="0" bIns="0" rtlCol="0" anchor="ctr"/>
          <a:lstStyle/>
          <a:p>
            <a:pPr indent="0" marL="0">
              <a:buNone/>
            </a:pPr>
            <a:r>
              <a:rPr lang="en-US" sz="1400" dirty="0">
                <a:solidFill>
                  <a:srgbClr val="27314D"/>
                </a:solidFill>
                <a:latin typeface="Calibri" pitchFamily="34" charset="0"/>
                <a:ea typeface="Calibri" pitchFamily="34" charset="-122"/>
                <a:cs typeface="Calibri" pitchFamily="34" charset="-120"/>
              </a:rPr>
              <a:t>Creative teams, the group analysed, can protect originality while adopting data if a Kotter-style change plan is used.</a:t>
            </a:r>
            <a:endParaRPr lang="en-US" sz="1400" dirty="0"/>
          </a:p>
        </p:txBody>
      </p:sp>
      <p:sp>
        <p:nvSpPr>
          <p:cNvPr id="8" name="Text 6"/>
          <p:cNvSpPr txBox="1"/>
          <p:nvPr/>
        </p:nvSpPr>
        <p:spPr>
          <a:xfrm>
            <a:off x="548640" y="2880360"/>
            <a:ext cx="1097280" cy="6858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Task 3</a:t>
            </a:r>
            <a:endParaRPr lang="en-US" sz="1500" dirty="0"/>
          </a:p>
        </p:txBody>
      </p:sp>
      <p:sp>
        <p:nvSpPr>
          <p:cNvPr id="9" name="Text 7"/>
          <p:cNvSpPr txBox="1"/>
          <p:nvPr/>
        </p:nvSpPr>
        <p:spPr>
          <a:xfrm>
            <a:off x="1645920" y="2880360"/>
            <a:ext cx="9966960" cy="685800"/>
          </a:xfrm>
          <a:prstGeom prst="rect">
            <a:avLst/>
          </a:prstGeom>
          <a:noFill/>
          <a:ln/>
        </p:spPr>
        <p:txBody>
          <a:bodyPr wrap="square" lIns="0" tIns="0" rIns="0" bIns="0" rtlCol="0" anchor="ctr"/>
          <a:lstStyle/>
          <a:p>
            <a:pPr indent="0" marL="0">
              <a:buNone/>
            </a:pPr>
            <a:r>
              <a:rPr lang="en-US" sz="1400" dirty="0">
                <a:solidFill>
                  <a:srgbClr val="27314D"/>
                </a:solidFill>
                <a:latin typeface="Calibri" pitchFamily="34" charset="0"/>
                <a:ea typeface="Calibri" pitchFamily="34" charset="-122"/>
                <a:cs typeface="Calibri" pitchFamily="34" charset="-120"/>
              </a:rPr>
              <a:t>Rivals can copy the technology, so advantage depends on ecosystem, creative judgement and ethical safeguards.</a:t>
            </a:r>
            <a:endParaRPr lang="en-US" sz="1400" dirty="0"/>
          </a:p>
        </p:txBody>
      </p:sp>
      <p:sp>
        <p:nvSpPr>
          <p:cNvPr id="10" name="Text 8"/>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800" b="1" dirty="0">
                <a:solidFill>
                  <a:srgbClr val="1E2761"/>
                </a:solidFill>
                <a:latin typeface="Cambria" pitchFamily="34" charset="0"/>
                <a:ea typeface="Cambria" pitchFamily="34" charset="-122"/>
                <a:cs typeface="Cambria" pitchFamily="34" charset="-120"/>
              </a:rPr>
              <a:t>Recommendations</a:t>
            </a:r>
            <a:endParaRPr lang="en-US" sz="1800" dirty="0"/>
          </a:p>
        </p:txBody>
      </p:sp>
      <p:sp>
        <p:nvSpPr>
          <p:cNvPr id="11" name="Text 9"/>
          <p:cNvSpPr txBox="1"/>
          <p:nvPr/>
        </p:nvSpPr>
        <p:spPr>
          <a:xfrm>
            <a:off x="548640" y="4160520"/>
            <a:ext cx="11064240" cy="11887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500" dirty="0">
                <a:solidFill>
                  <a:srgbClr val="27314D"/>
                </a:solidFill>
                <a:latin typeface="Calibri" pitchFamily="34" charset="0"/>
                <a:ea typeface="Calibri" pitchFamily="34" charset="-122"/>
                <a:cs typeface="Calibri" pitchFamily="34" charset="-120"/>
              </a:rPr>
              <a:t>Pilot with creative teams, using Kotter-style steps.</a:t>
            </a:r>
            <a:endParaRPr lang="en-US" sz="1500" dirty="0"/>
          </a:p>
          <a:p>
            <a:pPr marL="342900" indent="-342900">
              <a:spcAft>
                <a:spcPts val="400"/>
              </a:spcAft>
              <a:buSzPct val="100000"/>
              <a:buFont typeface="+mj-lt"/>
              <a:buAutoNum type="arabicPeriod" startAt="1"/>
            </a:pPr>
            <a:r>
              <a:rPr lang="en-US" sz="1500" dirty="0">
                <a:solidFill>
                  <a:srgbClr val="27314D"/>
                </a:solidFill>
                <a:latin typeface="Calibri" pitchFamily="34" charset="0"/>
                <a:ea typeface="Calibri" pitchFamily="34" charset="-122"/>
                <a:cs typeface="Calibri" pitchFamily="34" charset="-120"/>
              </a:rPr>
              <a:t>Add explanations for why content is recommended.</a:t>
            </a:r>
            <a:endParaRPr lang="en-US" sz="1500" dirty="0"/>
          </a:p>
          <a:p>
            <a:pPr marL="342900" indent="-342900">
              <a:spcAft>
                <a:spcPts val="400"/>
              </a:spcAft>
              <a:buSzPct val="100000"/>
              <a:buFont typeface="+mj-lt"/>
              <a:buAutoNum type="arabicPeriod" startAt="1"/>
            </a:pPr>
            <a:r>
              <a:rPr lang="en-US" sz="1500" dirty="0">
                <a:solidFill>
                  <a:srgbClr val="27314D"/>
                </a:solidFill>
                <a:latin typeface="Calibri" pitchFamily="34" charset="0"/>
                <a:ea typeface="Calibri" pitchFamily="34" charset="-122"/>
                <a:cs typeface="Calibri" pitchFamily="34" charset="-120"/>
              </a:rPr>
              <a:t>Review purpose limitation and diversity audits regularly.</a:t>
            </a:r>
            <a:endParaRPr lang="en-US" sz="1500" dirty="0"/>
          </a:p>
        </p:txBody>
      </p:sp>
      <p:sp>
        <p:nvSpPr>
          <p:cNvPr id="12" name="Shape 10"/>
          <p:cNvSpPr/>
          <p:nvPr/>
        </p:nvSpPr>
        <p:spPr>
          <a:xfrm>
            <a:off x="548640" y="5440680"/>
            <a:ext cx="11064240" cy="777240"/>
          </a:xfrm>
          <a:prstGeom prst="roundRect">
            <a:avLst>
              <a:gd name="adj" fmla="val 9412"/>
            </a:avLst>
          </a:prstGeom>
          <a:solidFill>
            <a:srgbClr val="1E2761"/>
          </a:solidFill>
          <a:ln w="12700">
            <a:solidFill>
              <a:srgbClr val="1E2761"/>
            </a:solidFill>
            <a:prstDash val="solid"/>
          </a:ln>
        </p:spPr>
      </p:sp>
      <p:sp>
        <p:nvSpPr>
          <p:cNvPr id="13" name="Text 11"/>
          <p:cNvSpPr txBox="1"/>
          <p:nvPr/>
        </p:nvSpPr>
        <p:spPr>
          <a:xfrm>
            <a:off x="731520" y="5440680"/>
            <a:ext cx="1069848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Used with creative teams at its side, the recommendation engine can help Apple TV+ keep subscribers without giving up the originality it is known for.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692640" cy="82296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References</a:t>
            </a:r>
            <a:endParaRPr lang="en-US" sz="3000" dirty="0"/>
          </a:p>
        </p:txBody>
      </p:sp>
      <p:sp>
        <p:nvSpPr>
          <p:cNvPr id="3" name="Text 1"/>
          <p:cNvSpPr txBox="1"/>
          <p:nvPr/>
        </p:nvSpPr>
        <p:spPr>
          <a:xfrm>
            <a:off x="10332720" y="137160"/>
            <a:ext cx="1463040" cy="274320"/>
          </a:xfrm>
          <a:prstGeom prst="rect">
            <a:avLst/>
          </a:prstGeom>
          <a:noFill/>
          <a:ln/>
        </p:spPr>
        <p:txBody>
          <a:bodyPr wrap="square" lIns="0" tIns="0" rIns="0" bIns="0" rtlCol="0" anchor="t"/>
          <a:lstStyle/>
          <a:p>
            <a:pPr algn="r" indent="0" marL="0">
              <a:buNone/>
            </a:pPr>
            <a:r>
              <a:rPr lang="en-US" sz="1100" dirty="0">
                <a:solidFill>
                  <a:srgbClr val="6B7590"/>
                </a:solidFill>
                <a:latin typeface="Calibri" pitchFamily="34" charset="0"/>
                <a:ea typeface="Calibri" pitchFamily="34" charset="-122"/>
                <a:cs typeface="Calibri" pitchFamily="34" charset="-120"/>
              </a:rPr>
              <a:t>References</a:t>
            </a:r>
            <a:endParaRPr lang="en-US" sz="1100" dirty="0"/>
          </a:p>
        </p:txBody>
      </p:sp>
      <p:sp>
        <p:nvSpPr>
          <p:cNvPr id="4" name="Text 2"/>
          <p:cNvSpPr txBox="1"/>
          <p:nvPr/>
        </p:nvSpPr>
        <p:spPr>
          <a:xfrm>
            <a:off x="548640" y="1234440"/>
            <a:ext cx="11064240" cy="5303520"/>
          </a:xfrm>
          <a:prstGeom prst="rect">
            <a:avLst/>
          </a:prstGeom>
          <a:noFill/>
          <a:ln/>
        </p:spPr>
        <p:txBody>
          <a:bodyPr wrap="square" lIns="0" tIns="0" rIns="0" bIns="0" rtlCol="0" anchor="t"/>
          <a:lstStyle/>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Antenna (2024) Domestic SVOD market data. Industry churn figures as reported in ‘Streaming services see rising churn as serial cancelers seek value for money’, ABC News.</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Ansoff, H.I. (1957) ‘Strategies for diversification’, Harvard Business Review, 35(5), pp.113–124.</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Apple Inc. (2025) Apple TV App &amp; Privacy. Cupertino: Apple Inc.</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Barney, J. (1991) ‘Firm resources and sustained competitive advantage’, Journal of Management, 17(1), pp.99–120.</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Davis, F.D. (1989) ‘Perceived usefulness, perceived ease of use, and user acceptance of information technology’, MIS Quarterly, 13(3), pp.319–340.</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European Parliament and Council (2016) Regulation (EU) 2016/679 (GDPR).</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Floridi, L. et al. (2018) ‘AI4People—an ethical framework for a good AI society’, Minds and Machines, 28(4), pp.689–707.</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Gomez-Uribe, C.A. and Hunt, N. (2015) ‘The Netflix recommender system’, ACM Transactions on Management Information Systems, 6(4), Article 13.</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Gracenote (2025) State of Play 2025. Gracenote, a Nielsen company. Released 5 November 2025.</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Helberger, N. (2019) ‘On the democratic role of news recommenders’, Digital Journalism, 7(8), pp.993–1012.</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Kotter, J.P. (1995) ‘Leading change: why transformation efforts fail’, Harvard Business Review, 73(2), pp.59–67.</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Mokoena, N. and Obagbuwa, I.C. (2025) ‘An analysis of artificial intelligence automation in digital music streaming platforms for improving consumer subscription responses: a review’, Frontiers in Artificial Intelligence, 7, Article 1515716.</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Napoli, P.M. (2014) ‘Automated media: an institutional theory perspective on algorithmic media production and consumption’, Communication Theory, 24(3), pp.340–360.</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Pariser, E. (2011) The Filter Bubble. New York: Penguin Press.</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Porter, M.E. (2008) ‘The five competitive forces that shape strategy’, Harvard Business Review, 86(1), pp.78–93.</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Reichheld, F.F. (2003) ‘The one number you need to grow’, Harvard Business Review, 81(12), pp.46–54.</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Resnick, P. and Varian, H.R. (1997) ‘Recommender systems’, Communications of the ACM, 40(3), pp.56–58.</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Ricci, F., Rokach, L. and Shapira, B. (2015) Recommender Systems Handbook. 2nd edn. New York: Springer.</a:t>
            </a:r>
            <a:endParaRPr lang="en-US" sz="1200" dirty="0"/>
          </a:p>
          <a:p>
            <a:pPr indent="0" marL="0">
              <a:spcAft>
                <a:spcPts val="400"/>
              </a:spcAft>
              <a:buNone/>
            </a:pPr>
            <a:r>
              <a:rPr lang="en-US" sz="1200" dirty="0">
                <a:solidFill>
                  <a:srgbClr val="27314D"/>
                </a:solidFill>
                <a:latin typeface="Calibri" pitchFamily="34" charset="0"/>
                <a:ea typeface="Calibri" pitchFamily="34" charset="-122"/>
                <a:cs typeface="Calibri" pitchFamily="34" charset="-120"/>
              </a:rPr>
              <a:t>Vial, G. (2019) ‘Understanding digital transformation: a review and a research agenda’, Journal of Strategic Information Systems, 28(2), pp.118–144.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2026-10-25T02:07:53Z</dcterms:created>
  <dcterms:modified xsi:type="dcterms:W3CDTF">2026-10-25T02:07:53Z</dcterms:modified>
</cp:coreProperties>
</file>