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your time. I am your Digital Transformation Consultant, and today I will set out how a machine-learning recommendation engine could help Apple TV+ use data to improve what your subscribers watch, without limiting the creativity that defines the service. [SRN: add SRN.]
The presentation has three parts. First, the technology: how it works, how it addresses your challenge, and its benefits and limitations. Second, the impact on your creative teams, and how to manage the change. Third, the strategic implications, including whether it can give you lasting advantage, the ethical and risk issues, and three recommendations.
I use established frameworks where each one answers a specific question. Porter's Five Forces tests the competitive effect. The Technology Acceptance Model tests whether creative teams will adopt the tool. Kotter's change model structures the change. VRIO tests whether the advantage lasts. Ansoff places the move strategically, and the ethical framework in Floridi and colleagues tests the risks.
Everything I present draws on published research and industry sources, which are listed on the final slide. Where a point is my own judgement and not a measured finding, I will say so.
At the end I will ask you to approve three actions, and I will tell you which should come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where Apple TV+ stands. You offer original films, series and documentaries to a global audience, and you compete on the quality of that content, not on library size. That makes every title count for more. When a service has fewer titles, a programme that viewers never find is a bigger loss.
Quality-led positioning also raises the stakes for how that content is surfaced. A subscriber who opens the app and sees nothing of interest will not blame the catalogue size. They will simply conclude that the service has little for them, and that is a retention risk.
Your wider strategy places Apple TV+ inside the Apple ecosystem, with content integrated across iPhone, iPad and other Apple products. This matters for the analysis because the technology operates within your organisation and across your products and devices. Subscribers expect a seamless experience, and a viewer who starts a series on one device expects the service to remember them on the next.
I find it useful to read this through the lens of digital transformation. Vial (2019) describes digital transformation as a process in which digital technologies create disruption that prompts organisations to respond strategically. Streaming competition and subscriber volatility are that disruption, and a recommendation engine is one strategic response.
The challenge I have chosen to address is using data to improve recommendations without limiting creativity. It matters for three reasons. First, retention. Second, competition with Netflix, Prime Video and Disney+. Third, a tension inside the organisation: your creative teams are concerned that too much reliance on data could affect originality, while marketing supports data-driven insight but knows that customers can be sensitive to pricing and content changes.
The data on this slide shows why retention is urgent. Antenna (2024) reports that 37.2% of Apple TV+'s gross subscriber additions were returning subscribers who had cancelled within the prior 12 months, the highest serial-churn rate in the industry. For wider context, monthly churn across major US streaming services rose from 5.1% in November 2022 to 6.3% in November 2023, as reported by ABC News using Antenna data. That industry figure is background and is not specific to Apple TV+.
A critical point on how to read this. Serial churn tells us that subscribers move in and out easily. It does not tell us why. My reading, which is an inference and not a finding, is that with a quality-led, smaller catalogue, many subscribers may join for a particular series and leave once they finish it. If that is right, better recommendations help, but they cannot fully replace a steady flow of new content that gives people a reason to stay.
The cost is real. Reichheld (2003) links customer loyalty to growth, and keeping existing customers is generally cheaper than winning new ones, so churn is a financial problem for you, not only a marketing metric.
Next, the technology I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I recommend is a machine-learning recommendation engine. In plain terms, it is software that learns from what your subscribers do and predicts what each will want to watch next. Resnick and Varian (1997) describe recommender systems as helping people choose among many options by drawing on the patterns in other people's choices.
Figure 1 shows the flow. On the input side, the engine takes in viewing history, search queries and behavioural signals such as pauses and rewinds. In the process stage, machine learning finds patterns in that data and predicts what a viewer is likely to want. The output is a personalised home screen and "what to watch next" suggestions.
In practice, recommender systems usually combine approaches: learning from the behaviour of similar viewers, and learning from the characteristics of the content itself (Ricci, Rokach and Shapira, 2015). That distinction matters for Apple TV+, and I will return to it as a limitation.
I chose this technology for two reasons. It speaks directly to your challenge, and it fits your ecosystem strategy. Your subscribers move between devices, so the more consistently the service understands them, the more seamless the experience becomes. I also considered where your challenge actually sits. It sits in the link between your content and each viewer, and that is the point where a recommendation engine operates. Technologies that change how content is produced would not address it. This one works on data you already collect, which makes it practical to start with.
The best-documented example is Netflix. Gomez-Uribe and Hunt (2015) describe how Netflix personalises rows and titles for each member and estimate that its recommender is worth over a billion dollars a year in retained subscribers. I want to be careful with that. It is evidence about Netflix, not Apple TV+, so it shows what is possible, not what you will achieve. Netflix has a much larger catalogue and a much larger volume of viewing data, so the same method may behave differently with a smaller library.
That leads to a critical point specific to your situation. Recommenders learn from viewing history, but a new original has little or none when it launches. This is the well-known cold-start problem in recommender research (Ricci, Rokach and Shapira, 2015). Because your strategy depends on a steady flow of high-quality originals, the cold-start issue could affect you more than a service with a large back catalogue. This is my application of the research to your case, and it is one reason creative input into the system matters.
You are already open about this use of data. Apple's privacy documentation says viewing and activity data is collected "to tailor features and offer personalised recommendations" (Apple Inc., 2025). So this technology builds on a stated practice and does not introduce a hidden one.
Machine-learning recommendation is now an established technology, but it is still developing, particularly in how it handles context and explanation. That is why the way you deploy it matters more than the fact that you deploy it.
Next, how it helps with your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helps by matching content to viewers at scale. You have a small, high-quality catalogue. The engine can match it to millions of different subscribers, so good originals are found and not buried. The flow on the left shows the chain: viewing data feeds the engine, the engine builds a tailored home screen, and that supports retention against rivals.
The ecosystem strengthens this. Because your subscribers use several Apple devices, the engine has more signals to learn from and more places to put a relevant suggestion in front of them. Marketing also benefits, because it can see which content is resonating, although I recommend that this insight informs promotion without replacing editorial judgement.
To test the strategic effect, I used Porter's Five Forces (Porter, 2008), shown in Figure 2. Porter's argument is that industry structure, meaning the combination of the five forces, determines how much profit is available to firms. So the right question is not whether the technology is impressive, but whether it changes any of those forces in your favour.
The first force I highlight is rivalry with Netflix, Prime Video and Disney+. Better discovery raises the value of each subscription, which helps you. But rivalry is most intense where competitors offer similar things, and those rivals run similar engines. So the technology protects your position rather than giving you a lead.
The second is buyer power, meaning how easily subscribers can switch. Porter notes that buyers have more power when switching costs are low. They are low here, and the serial-churn figure on slide 2 shows subscribers leaving and returning easily (Antenna, 2024). A profile that has learned someone's taste adds a small cost to leaving, so the engine nudges switching costs up, but it does not solve the problem.
I have focused on these two forces because they are where the engine has the clearest effect. I do not claim it changes the threat of new entrants, supplier power or substitutes in any major way. For example, competition for viewers' time from other forms of entertainment is outside what a recommender can influence.
Now the creativity side, which I know is your leadership's main concern. The same engine that matches content can also steer which content is promoted. If it mainly promotes what is already popular or familiar, it could crowd out new and unusual ideas, and over time influence what gets commissioned. That is where your creative teams' concern comes from, and I take it seriously.
My message is that the technology is worth using, but the creative concern needs to be managed deliberately. I come back to how in the next section.
Next, the benefits and limitations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 sets out three benefits and five limitations, each with a source.
The benefits. First, discovery: Gracenote (2025) found that 49% of viewers say they are likely to cancel a streaming service if they cannot find something to watch. Second, engagement: Gomez-Uribe and Hunt (2015) describe how personalised rows and titles increase viewing. Third, retention: better discovery reduces cancellations, which connects to Reichheld (2003) on the link between loyalty and growth.
The limitations. Narrowing: models reinforce what viewers have already watched, so recommendations narrow over time (Ricci, Rokach and Shapira, 2015). Reduced diversity: personalised feeds can limit exposure to varied content (Helberger, 2019). Possible loss of creative originality: data-led promotion can favour familiar formats over new ideas (Napoli, 2014). Data quality: the output depends on the quality of the data and signals behind it (Ricci, Rokach and Shapira, 2015). And privacy and governance: scaling AI adds privacy risk, governance demands and algorithmic bias that can limit content diversity (Mokoena and Obagbuwa, 2025).
For Apple TV+, the benefit that matters most is discovery, because a small catalogue only pays off if each show is found. The limitation that matters most is creative originality, because quality is your point of difference.
I should be open about the strength of this evidence. The Gracenote figure is stated intent, not recorded cancellations, so it shows what viewers say they would do. Gomez-Uribe and Hunt (2015) describes Netflix. Helberger (2019) writes about news recommenders, so applying it to entertainment is my inference. The filter-bubble idea popularised by Pariser (2011) is a useful concept, but it is from a popular book and is debated, so I use it to frame the risk and not as proof of its size. And Mokoena and Obagbuwa (2025) is a review of AI in music streaming, so I use it for its findings on risks, not as proof about video services.
There is also an interaction between the two lists. Narrowing, if left unchecked, can undermine the very discovery benefit that justifies the investment, because viewers see more of the same and less of what is new. The limitations are not an afterthought. They are part of whether the benefit lasts.
My conclusion is that personalisation is necessary but not sufficient. Its benefits depend on managing these limits.
Next, what this means for the people who make your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Personalisation at this scale does not only change what subscribers see. It also changes how your creative teams decide what gets made.
I have focused on your creative teams: writers, producers and content developers. I chose them because they are the group most directly exposed to this technology, and because their concern is clear: too much reliance on data could affect originality.
I looked at four things that influence one another: structure, culture, processes, and how the technology is managed. That mutual influence is the key point.
Structure is about who decides what gets made. Data should inform commissioning, not replace the judgement of your commissioning executives and creators.
Culture is about creative autonomy versus data-driven decisions. Napoli (2014) takes an institutional theory perspective on algorithmic media production. The insight is that algorithms do not only support decisions, they can reshape the norms and routines in which decisions are made. For creative teams, that is the real worry: not one recommendation, but a gradual change in what counts as a good idea. If teams see data as a verdict on their ideas, they will resist it. If they see it as a tool, they are more likely to use it.
Process covers green-lighting and content pitches. I propose adding a data check to pitches while keeping creative sign-off at the final step.
Management ties these together through governance: clear rules on how data is used and who can override the model.
The four are linked. If the process keeps creative sign-off final, the culture is more likely to accept the tool. If the culture accepts it, the structure can use data without conflict. If decisions drift towards data, culture suffers and resistance grows. So any change to one has to take account of the others.
I also looked at adoption through the Technology Acceptance Model (Davis, 1989), which holds that people's intention to use a technology depends on perceived usefulness and perceived ease of use, with usefulness the stronger influence. Your creative teams would find it useful if it shows which audiences a pitch could reach. They would find it easy to use only if insights come in plain language and fit the existing pitch workflow. Because usefulness matters most, the first step is to show creatives value in their own terms, not to train them on a dashboard.
Here is a critical limit of that model. TAM focuses on individual perceptions of usefulness and ease of use. It says less about professional identity, power and trust. If creatives resist because they feel their craft is being second-guessed, a simpler interface will not fix it. That is why I pair TAM with a change model and governance that protect creative sign-off.
So their concern is addressed by design: creative sign-off stays final, data is input and not instruction, and the tool fits how they already work.
I recognise that marketing and operations also have views on this change. Marketing supports data-driven insight, and operations focus on service reliability, legal requirements and supporting employees. I have focused on creative teams because their concern goes to the heart of your challenge, but the governance review in my third recommendation also addresses the operations perspective.
Next, the barriers and how to manage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barriers, how to manage them, and the change plan.
I see three main barriers. The first is fear of losing creative control. The response is to keep creative sign-off final and publish clear rules for how data is used. The second is distrust of algorithms. The core issue is visibility: creative teams cannot see how data influences decisions. The response is to show why content is promoted, so creatives can follow the reasoning. The third is skills gaps. The response is training built around real projects.
These barriers are typical of digital transformation. Vial (2019) identifies structural changes and organisational barriers, including resistance and capability gaps, as central parts of how organisations transform. So I treat the barriers as a design problem to plan for, not a surprise.
For the change plan I recommend Kotter (1995), condensed from eight steps to six for Apple TV+ and shown in Figure 4. Kotter argues that transformations fail when organisations skip steps or declare victory too early. Step one, urgency: churn and rivals make better discovery pressing. Step two, a coalition of creative champions and data leads. Step three, a vision that data informs and creatives decide. Step four, a pilot on one slate of originals, with early wins shared. Step five, extending the approach into pitches and green-lighting. Step six, embedding it in how you commission.
A critical note on the model. Kotter's steps are sequential and fairly top-down, which can sit awkwardly with creative organisations that value autonomy. I address this by putting creative champions in the coalition and building feedback channels into the plan, so the change is shaped with creatives and not only delivered to them.
To build digital confidence, I recommend four actions: training for writers and producers, pilots on a small slate of originals, creative champions on each team, and feedback channels into the model team. The feedback channels let creatives shape the system and not just receive it.
To know whether it is working, I suggest three pilot measures: a creative-team survey on trust in the tool, the number of pitches using the data check, and whether discovery of original titles improves. Because Apple TV+ is a global platform, I would extend it region by region once the pilot has shown results.
Some resistance is natural and should be expected. Treating it as useful feedback and not as an obstacle is part of what makes change last. Kotter (1995) stresses the value of early visible wins, which is why the pilot is small and focused. A successful first slate gives sceptical colleagues evidence in place of assurances.
Next, whether it gives you lasting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strategic question is whether this technology gives you a sustained competitive advantage. I applied the VRIO framework, which builds on the resource-based view developed by Barney (1991), as shown in Table 2. The idea is that a resource gives lasting advantage only if it is valuable, rare, difficult to imitate, and the organisation is set up to exploit it. I have tried to be direct about where it falls short.
Valuable: yes. Better discovery supports retention and agility, meaning the ability to test and adjust quickly. But scaling AI brings privacy, governance and bias risks (Mokoena and Obagbuwa, 2025).
Rare: no. Your rivals already run recommendation engines, and the technique is widely documented (Ricci, Rokach and Shapira, 2015).
Hard to imitate: partly. The models can be copied. Your ecosystem data and quality-focused catalogue are harder to copy. That is my judgement and not a measured finding.
Organised to exploit: not yet. From what I understand, creative, marketing and operations teams hold different views, and there are no shared rules yet for how data shapes commissioning. That is my assessment of where you are today.
My verdict is competitive parity, not sustained advantage. In resource-based terms, a resource that is valuable but not rare gives parity. As machine-learning capabilities converge across the market, accuracy alone differentiates very little. The recommender is a necessary baseline, and advantage comes from pairing it with your ecosystem and your creative judgement.
I would also add that engagement does not automatically produce retention. A subscriber can watch a lot and still cancel if the service does not feel worth the price. That is my own reasoning, and it is another reason accuracy alone will not win.
This links back to your goals of agility, innovation and customer retention. Retention is the direct benefit. Agility comes from being able to test and adjust quickly. Innovation comes from giving creatives a role in shaping what the model optimises for, so it supports new ideas and not only familiar ones.
To keep improving, I recommend four things. First, A/B test changes against retention, which supports agility. Second, bring creatives into the model, helping to set the goals it optimises, which supports innovation. Third, refresh data and models regularly so the system does not go stale. Fourth, in Ansoff's terms (Ansoff, 1957), this is market penetration: deepening retention in your existing markets, not launching a new product. Ansoff's matrix treats penetration as the lowest-risk growth direction, which suits a first step. Its limit is that it depends on how much room your existing markets have to grow, so later moves such as new personalised features across the ecosystem could be product development.
In practice, the continuous improvement actions should run on a regular cycle, with results reported to leadership. If testing shows a change improves retention but reduces the variety of what is promoted, creative leadership should have the right to adjust the model's goals. That keeps agility and originality working together.
Technology alone will not win. The organisation has to be ready to use it.
Next, the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 sets out five issues. For each I show why it matters, the ethical principle involved, and a mitigation. I have ordered them by likely impact on Apple TV+.
I use the AI4People framework from Floridi et al. (2018) to anchor the principles. It proposes five principles for a good AI society: beneficence, non-maleficence, autonomy, justice and explicability. I map each issue to the closest one.
Privacy comes first. Data collected for recommendations could be reused for other purposes. GDPR Article 5 sets out principles including lawfulness, fairness and transparency, purpose limitation, and data minimisation (European Parliament and Council, 2016), and it applies to your subscribers in the EU. The mitigation is to document the purpose and review it regularly. This also protects your brand. In Floridi's terms, this is about avoiding harm.
Bias and fairness. Models trained on past viewing narrow what subscribers are shown (Ricci, Rokach and Shapira, 2015). The principle is fairness, in Floridi's terms justice, and the mitigation is regular diversity-of-recommendation audits.
Transparency. Viewers and creatives cannot see why content is promoted. The principle is transparency, which Floridi calls explicability, and the mitigation is "why am I seeing this" explanations for both groups.
Creators' autonomy. Algorithms can steer which projects are promoted and made (Napoli, 2014). The principle is autonomy, and the mitigation is to keep creative sign-off, using data to inform and not to decide.
Finally, the social issue of cultural diversity and filter bubbles. Personalised feeds can reduce exposure to varied content (Pariser, 2011; Helberger, 2019). The principle is diversity, which sits within beneficence and justice, and the mitigation is to set minimum exposure for varied and local content.
I want to be critical about the mitigations, because they involve trade-offs. Data minimisation protects privacy but can reduce the data that makes recommendations accurate. Minimum exposure rules protect diversity, but they could be seen as limiting viewer choice. And explanations build trust, but complex machine-learning models are hard to explain simply, so an explanation may be a useful approximation and not the full reason. These tensions are why I recommend governance and review, not a one-off fix.
I have put privacy first because it carries legal exposure and could affect trust in your brand. Bias, transparency and autonomy are closely linked to the creative concern at the heart of this challenge. The social issue of diversity is longer term, but it affects the kind of content culture the service helps to shape.
These risks are manageable, but only if the controls are built in from the start.
Next, my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three actions. Each has an owner, evidence, and a link back to the analysis, and each is a practical response to a specific finding.
Recommendation one: run a creative-team pilot, using Kotter-style steps. The owner would be your creative leadership, supported by the data team. The evidence is Kotter (1995) on managing change and Napoli (2014) on how algorithms can reshape media production. It follows from the analysis on slides 6 and 7. It responds to the barrier of fear of losing control and to the finding that usefulness drives adoption (Davis, 1989). Success means creative-team trust in the tool, and use of the data check in pitches, after one slate.
Recommendation two: add an explanation feature for recommendations. The owner would be marketing, working with product and technology teams. The evidence is Floridi et al. (2018) on explicability, and your own privacy documentation (Apple Inc., 2025). It follows from slides 4 and 9. It responds to distrust of algorithms and to the transparency risk. Success means how many viewers use the feature. I would be open about its limits: an explanation is a simplified account of a complex model.
Recommendation three: set up a governance review of purpose limitation and diversity auditing. The owner would be operations, covering legal and compliance. The evidence is GDPR Article 5 (European Parliament and Council, 2016) and Ricci, Rokach and Shapira (2015) on narrowing. It follows from slides 5 and 9. It responds to the privacy and bias risks, and it also supports the VRIO finding that you are not yet organised to exploit the technology. Success means audit results each quarter.
What should come first? The creative-team pilot. It tackles your central challenge of using data without limiting creativity, and it builds the evidence the other two depend on. The governance review should run alongside it, because the pilot will use viewer data and the rules need to be in place.
As a suggested sequence, the pilot design and the governance review would begin together, with the pilot running on one slate before any wider roll-out. The explanation feature would follow, informed by what the pilot teaches you about how viewers and creatives respond to seeing the reasoning behind a recommendation. Each stage reports back to leadership, so you can decide at each point whether to extend, adjust or pause.
There are risks to implementation itself. A pilot on one slate may not generalise to every region, and creative teams may see the pilot as a first step towards control. That is why the pilot's rules, including creative sign-off, should be published at the start.
That is what I am asking you to approve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bring this together.
On technology, a machine-learning recommendation engine helps match your small catalogue to many viewers. Through Porter's lens, it protects your position against Netflix, Prime Video and Disney+ rather than creating a lead. The benefits are real, but so are the limits, especially narrowing and the risk to originality.
On people, your creative teams can protect originality while adopting data. Technology acceptance depends first on usefulness (Davis, 1989), and change lasts when it follows a structured plan like Kotter's (1995), with creative sign-off kept final.
On strategy, rivals can copy the technology, so under VRIO it gives parity, and lasting advantage depends on your ecosystem, your creative judgement and strong ethical safeguards (Barney, 1991; Floridi et al., 2018).
My three recommendations, in one line each: run a pilot with your creative teams, add explanations for why content is recommended, and review purpose limitation and diversity audits regularly.
The central point is that data and creativity do not have to be opposed. With the right governance, a clear change plan and creative teams involved from the start, the technology can support your strategy and not cut across it.
Used with creative teams at its side, the recommendation engine can help Apple TV+ keep its subscribers without giving up the originality that sets you apart.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in alphabetical Harvard style. Provided for information;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4"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5"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6"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7"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8"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The challenge</a:t>
            </a:r>
            <a:endParaRPr lang="en-US" sz="1500" dirty="0"/>
          </a:p>
        </p:txBody>
      </p:sp>
      <p:sp>
        <p:nvSpPr>
          <p:cNvPr id="9"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0"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1"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2"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3"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4"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5"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Technology</a:t>
            </a:r>
            <a:endParaRPr lang="en-US" sz="1100" dirty="0"/>
          </a:p>
        </p:txBody>
      </p:sp>
      <p:sp>
        <p:nvSpPr>
          <p:cNvPr id="4"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6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600" dirty="0"/>
          </a:p>
        </p:txBody>
      </p:sp>
      <p:sp>
        <p:nvSpPr>
          <p:cNvPr id="5" name="Shape 3"/>
          <p:cNvSpPr/>
          <p:nvPr/>
        </p:nvSpPr>
        <p:spPr>
          <a:xfrm>
            <a:off x="548640" y="2377440"/>
            <a:ext cx="3108960" cy="2103120"/>
          </a:xfrm>
          <a:prstGeom prst="roundRect">
            <a:avLst>
              <a:gd name="adj" fmla="val 3478"/>
            </a:avLst>
          </a:prstGeom>
          <a:solidFill>
            <a:srgbClr val="F2F5FB"/>
          </a:solidFill>
          <a:ln w="12700">
            <a:solidFill>
              <a:srgbClr val="CADCFC"/>
            </a:solidFill>
            <a:prstDash val="solid"/>
          </a:ln>
        </p:spPr>
      </p:sp>
      <p:sp>
        <p:nvSpPr>
          <p:cNvPr id="6" name="Text 4"/>
          <p:cNvSpPr txBox="1"/>
          <p:nvPr/>
        </p:nvSpPr>
        <p:spPr>
          <a:xfrm>
            <a:off x="731520" y="2514600"/>
            <a:ext cx="2743200" cy="411480"/>
          </a:xfrm>
          <a:prstGeom prst="rect">
            <a:avLst/>
          </a:prstGeom>
          <a:noFill/>
          <a:ln/>
        </p:spPr>
        <p:txBody>
          <a:bodyPr wrap="square" lIns="0" tIns="0" rIns="0" bIns="0" rtlCol="0" anchor="t"/>
          <a:lstStyle/>
          <a:p>
            <a:pPr indent="0" marL="0">
              <a:buNone/>
            </a:pPr>
            <a:r>
              <a:rPr lang="en-US" sz="1800" b="1" dirty="0">
                <a:solidFill>
                  <a:srgbClr val="27314D"/>
                </a:solidFill>
                <a:latin typeface="Cambria" pitchFamily="34" charset="0"/>
                <a:ea typeface="Cambria" pitchFamily="34" charset="-122"/>
                <a:cs typeface="Cambria" pitchFamily="34" charset="-120"/>
              </a:rPr>
              <a:t>Input</a:t>
            </a:r>
            <a:endParaRPr lang="en-US" sz="1800" dirty="0"/>
          </a:p>
        </p:txBody>
      </p:sp>
      <p:sp>
        <p:nvSpPr>
          <p:cNvPr id="7" name="Text 5"/>
          <p:cNvSpPr txBox="1"/>
          <p:nvPr/>
        </p:nvSpPr>
        <p:spPr>
          <a:xfrm>
            <a:off x="731520" y="3017520"/>
            <a:ext cx="2743200" cy="13716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500" dirty="0"/>
          </a:p>
        </p:txBody>
      </p:sp>
      <p:sp>
        <p:nvSpPr>
          <p:cNvPr id="8" name="Shape 6"/>
          <p:cNvSpPr/>
          <p:nvPr/>
        </p:nvSpPr>
        <p:spPr>
          <a:xfrm>
            <a:off x="3794760" y="3246120"/>
            <a:ext cx="640080" cy="365760"/>
          </a:xfrm>
          <a:prstGeom prst="rightArrow">
            <a:avLst/>
          </a:prstGeom>
          <a:solidFill>
            <a:srgbClr val="1E56A0"/>
          </a:solidFill>
          <a:ln w="12700">
            <a:solidFill>
              <a:srgbClr val="1E56A0"/>
            </a:solidFill>
            <a:prstDash val="solid"/>
          </a:ln>
        </p:spPr>
      </p:sp>
      <p:sp>
        <p:nvSpPr>
          <p:cNvPr id="9" name="Shape 7"/>
          <p:cNvSpPr/>
          <p:nvPr/>
        </p:nvSpPr>
        <p:spPr>
          <a:xfrm>
            <a:off x="4526280" y="2377440"/>
            <a:ext cx="3108960" cy="2103120"/>
          </a:xfrm>
          <a:prstGeom prst="roundRect">
            <a:avLst>
              <a:gd name="adj" fmla="val 3478"/>
            </a:avLst>
          </a:prstGeom>
          <a:solidFill>
            <a:srgbClr val="1E2761"/>
          </a:solidFill>
          <a:ln w="12700">
            <a:solidFill>
              <a:srgbClr val="1E2761"/>
            </a:solidFill>
            <a:prstDash val="solid"/>
          </a:ln>
        </p:spPr>
      </p:sp>
      <p:sp>
        <p:nvSpPr>
          <p:cNvPr id="10" name="Text 8"/>
          <p:cNvSpPr txBox="1"/>
          <p:nvPr/>
        </p:nvSpPr>
        <p:spPr>
          <a:xfrm>
            <a:off x="4709160" y="2514600"/>
            <a:ext cx="2743200" cy="41148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Process</a:t>
            </a:r>
            <a:endParaRPr lang="en-US" sz="1800" dirty="0"/>
          </a:p>
        </p:txBody>
      </p:sp>
      <p:sp>
        <p:nvSpPr>
          <p:cNvPr id="11" name="Text 9"/>
          <p:cNvSpPr txBox="1"/>
          <p:nvPr/>
        </p:nvSpPr>
        <p:spPr>
          <a:xfrm>
            <a:off x="4709160" y="3017520"/>
            <a:ext cx="274320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500" dirty="0"/>
          </a:p>
        </p:txBody>
      </p:sp>
      <p:sp>
        <p:nvSpPr>
          <p:cNvPr id="12" name="Shape 10"/>
          <p:cNvSpPr/>
          <p:nvPr/>
        </p:nvSpPr>
        <p:spPr>
          <a:xfrm>
            <a:off x="7772400" y="3246120"/>
            <a:ext cx="640080" cy="365760"/>
          </a:xfrm>
          <a:prstGeom prst="rightArrow">
            <a:avLst/>
          </a:prstGeom>
          <a:solidFill>
            <a:srgbClr val="1E56A0"/>
          </a:solidFill>
          <a:ln w="12700">
            <a:solidFill>
              <a:srgbClr val="1E56A0"/>
            </a:solidFill>
            <a:prstDash val="solid"/>
          </a:ln>
        </p:spPr>
      </p:sp>
      <p:sp>
        <p:nvSpPr>
          <p:cNvPr id="13" name="Shape 11"/>
          <p:cNvSpPr/>
          <p:nvPr/>
        </p:nvSpPr>
        <p:spPr>
          <a:xfrm>
            <a:off x="8503920" y="2377440"/>
            <a:ext cx="3108960" cy="2103120"/>
          </a:xfrm>
          <a:prstGeom prst="roundRect">
            <a:avLst>
              <a:gd name="adj" fmla="val 3478"/>
            </a:avLst>
          </a:prstGeom>
          <a:solidFill>
            <a:srgbClr val="F2F5FB"/>
          </a:solidFill>
          <a:ln w="12700">
            <a:solidFill>
              <a:srgbClr val="CADCFC"/>
            </a:solidFill>
            <a:prstDash val="solid"/>
          </a:ln>
        </p:spPr>
      </p:sp>
      <p:sp>
        <p:nvSpPr>
          <p:cNvPr id="14" name="Text 12"/>
          <p:cNvSpPr txBox="1"/>
          <p:nvPr/>
        </p:nvSpPr>
        <p:spPr>
          <a:xfrm>
            <a:off x="8686800" y="2514600"/>
            <a:ext cx="2743200" cy="411480"/>
          </a:xfrm>
          <a:prstGeom prst="rect">
            <a:avLst/>
          </a:prstGeom>
          <a:noFill/>
          <a:ln/>
        </p:spPr>
        <p:txBody>
          <a:bodyPr wrap="square" lIns="0" tIns="0" rIns="0" bIns="0" rtlCol="0" anchor="t"/>
          <a:lstStyle/>
          <a:p>
            <a:pPr indent="0" marL="0">
              <a:buNone/>
            </a:pPr>
            <a:r>
              <a:rPr lang="en-US" sz="1800" b="1" dirty="0">
                <a:solidFill>
                  <a:srgbClr val="27314D"/>
                </a:solidFill>
                <a:latin typeface="Cambria" pitchFamily="34" charset="0"/>
                <a:ea typeface="Cambria" pitchFamily="34" charset="-122"/>
                <a:cs typeface="Cambria" pitchFamily="34" charset="-120"/>
              </a:rPr>
              <a:t>Output</a:t>
            </a:r>
            <a:endParaRPr lang="en-US" sz="1800" dirty="0"/>
          </a:p>
        </p:txBody>
      </p:sp>
      <p:sp>
        <p:nvSpPr>
          <p:cNvPr id="15" name="Text 13"/>
          <p:cNvSpPr txBox="1"/>
          <p:nvPr/>
        </p:nvSpPr>
        <p:spPr>
          <a:xfrm>
            <a:off x="8686800" y="3017520"/>
            <a:ext cx="2743200" cy="13716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5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7" name="Text 15"/>
          <p:cNvSpPr txBox="1"/>
          <p:nvPr/>
        </p:nvSpPr>
        <p:spPr>
          <a:xfrm>
            <a:off x="548640" y="4846320"/>
            <a:ext cx="11064240" cy="1280160"/>
          </a:xfrm>
          <a:prstGeom prst="rect">
            <a:avLst/>
          </a:prstGeom>
          <a:noFill/>
          <a:ln/>
        </p:spPr>
        <p:txBody>
          <a:bodyPr wrap="square" lIns="0" tIns="0" rIns="0" bIns="0" rtlCol="0" anchor="t"/>
          <a:lstStyle/>
          <a:p>
            <a:pPr indent="0" marL="0">
              <a:spcAft>
                <a:spcPts val="800"/>
              </a:spcAft>
              <a:buNone/>
            </a:pPr>
            <a:r>
              <a:rPr lang="en-US" sz="1500" b="1" dirty="0">
                <a:solidFill>
                  <a:srgbClr val="1E2761"/>
                </a:solidFill>
                <a:latin typeface="Calibri" pitchFamily="34" charset="0"/>
                <a:ea typeface="Calibri" pitchFamily="34" charset="-122"/>
                <a:cs typeface="Calibri" pitchFamily="34" charset="-120"/>
              </a:rPr>
              <a:t>Example: </a:t>
            </a:r>
            <a:pPr indent="0" marL="0">
              <a:spcAft>
                <a:spcPts val="800"/>
              </a:spcAft>
              <a:buNone/>
            </a:pPr>
            <a:r>
              <a:rPr lang="en-US" sz="15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500" dirty="0"/>
          </a:p>
          <a:p>
            <a:pPr indent="0" marL="0">
              <a:spcAft>
                <a:spcPts val="800"/>
              </a:spcAft>
              <a:buNone/>
            </a:pPr>
            <a:r>
              <a:rPr lang="en-US" sz="1500" b="1" dirty="0">
                <a:solidFill>
                  <a:srgbClr val="1E2761"/>
                </a:solidFill>
                <a:latin typeface="Calibri" pitchFamily="34" charset="0"/>
                <a:ea typeface="Calibri" pitchFamily="34" charset="-122"/>
                <a:cs typeface="Calibri" pitchFamily="34" charset="-120"/>
              </a:rPr>
              <a:t>Apple’s disclosure: </a:t>
            </a:r>
            <a:pPr indent="0" marL="0">
              <a:spcAft>
                <a:spcPts val="800"/>
              </a:spcAft>
              <a:buNone/>
            </a:pPr>
            <a:r>
              <a:rPr lang="en-US" sz="15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Technology</a:t>
            </a:r>
            <a:endParaRPr lang="en-US" sz="1100" dirty="0"/>
          </a:p>
        </p:txBody>
      </p:sp>
      <p:sp>
        <p:nvSpPr>
          <p:cNvPr id="4" name="Text 2"/>
          <p:cNvSpPr txBox="1"/>
          <p:nvPr/>
        </p:nvSpPr>
        <p:spPr>
          <a:xfrm>
            <a:off x="548640" y="1371600"/>
            <a:ext cx="6035040" cy="36576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Matching at scale</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2761"/>
                </a:solidFill>
                <a:latin typeface="Calibri" pitchFamily="34" charset="0"/>
                <a:ea typeface="Calibri" pitchFamily="34" charset="-122"/>
                <a:cs typeface="Calibri" pitchFamily="34" charset="-120"/>
              </a:rPr>
              <a:t>Rivalry with Netflix, Prime Video and Disney+</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2761"/>
                </a:solidFill>
                <a:latin typeface="Calibri" pitchFamily="34" charset="0"/>
                <a:ea typeface="Calibri" pitchFamily="34" charset="-122"/>
                <a:cs typeface="Calibri" pitchFamily="34" charset="-120"/>
              </a:rPr>
              <a:t>Buyer switching power</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96167"/>
                </a:solidFill>
                <a:latin typeface="Calibri" pitchFamily="34" charset="0"/>
                <a:ea typeface="Calibri" pitchFamily="34" charset="-122"/>
                <a:cs typeface="Calibri" pitchFamily="34" charset="-120"/>
              </a:rPr>
              <a:t>The creativity side</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500" dirty="0"/>
          </a:p>
        </p:txBody>
      </p:sp>
      <p:sp>
        <p:nvSpPr>
          <p:cNvPr id="5"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6"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7"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8"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9"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0"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1"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2"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3"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4"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5"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6"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7"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8"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9"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0"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1"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2"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3"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4"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Technology</a:t>
            </a:r>
            <a:endParaRPr lang="en-US" sz="1100" dirty="0"/>
          </a:p>
        </p:txBody>
      </p:sp>
      <p:sp>
        <p:nvSpPr>
          <p:cNvPr id="4"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5"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6"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7"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8"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9"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0"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1"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2"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3"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4" name="Shape 12"/>
          <p:cNvSpPr/>
          <p:nvPr/>
        </p:nvSpPr>
        <p:spPr>
          <a:xfrm>
            <a:off x="6217920" y="1828800"/>
            <a:ext cx="5394960" cy="676656"/>
          </a:xfrm>
          <a:prstGeom prst="rect">
            <a:avLst/>
          </a:prstGeom>
          <a:solidFill>
            <a:srgbClr val="F2F5FB"/>
          </a:solidFill>
          <a:ln w="9525">
            <a:solidFill>
              <a:srgbClr val="CADCFC"/>
            </a:solidFill>
            <a:prstDash val="solid"/>
          </a:ln>
        </p:spPr>
      </p:sp>
      <p:sp>
        <p:nvSpPr>
          <p:cNvPr id="15" name="Text 13"/>
          <p:cNvSpPr txBox="1"/>
          <p:nvPr/>
        </p:nvSpPr>
        <p:spPr>
          <a:xfrm>
            <a:off x="6355080" y="1874520"/>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6" name="Shape 14"/>
          <p:cNvSpPr/>
          <p:nvPr/>
        </p:nvSpPr>
        <p:spPr>
          <a:xfrm>
            <a:off x="6217920" y="2505456"/>
            <a:ext cx="5394960" cy="676656"/>
          </a:xfrm>
          <a:prstGeom prst="rect">
            <a:avLst/>
          </a:prstGeom>
          <a:solidFill>
            <a:srgbClr val="FFFFFF"/>
          </a:solidFill>
          <a:ln w="9525">
            <a:solidFill>
              <a:srgbClr val="CADCFC"/>
            </a:solidFill>
            <a:prstDash val="solid"/>
          </a:ln>
        </p:spPr>
      </p:sp>
      <p:sp>
        <p:nvSpPr>
          <p:cNvPr id="17" name="Text 15"/>
          <p:cNvSpPr txBox="1"/>
          <p:nvPr/>
        </p:nvSpPr>
        <p:spPr>
          <a:xfrm>
            <a:off x="6355080" y="2551176"/>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8" name="Shape 16"/>
          <p:cNvSpPr/>
          <p:nvPr/>
        </p:nvSpPr>
        <p:spPr>
          <a:xfrm>
            <a:off x="6217920" y="3182112"/>
            <a:ext cx="5394960" cy="676656"/>
          </a:xfrm>
          <a:prstGeom prst="rect">
            <a:avLst/>
          </a:prstGeom>
          <a:solidFill>
            <a:srgbClr val="F2F5FB"/>
          </a:solidFill>
          <a:ln w="9525">
            <a:solidFill>
              <a:srgbClr val="CADCFC"/>
            </a:solidFill>
            <a:prstDash val="solid"/>
          </a:ln>
        </p:spPr>
      </p:sp>
      <p:sp>
        <p:nvSpPr>
          <p:cNvPr id="19" name="Text 17"/>
          <p:cNvSpPr txBox="1"/>
          <p:nvPr/>
        </p:nvSpPr>
        <p:spPr>
          <a:xfrm>
            <a:off x="6355080" y="3227832"/>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0" name="Shape 18"/>
          <p:cNvSpPr/>
          <p:nvPr/>
        </p:nvSpPr>
        <p:spPr>
          <a:xfrm>
            <a:off x="6217920" y="3858768"/>
            <a:ext cx="5394960" cy="676656"/>
          </a:xfrm>
          <a:prstGeom prst="rect">
            <a:avLst/>
          </a:prstGeom>
          <a:solidFill>
            <a:srgbClr val="FFFFFF"/>
          </a:solidFill>
          <a:ln w="9525">
            <a:solidFill>
              <a:srgbClr val="CADCFC"/>
            </a:solidFill>
            <a:prstDash val="solid"/>
          </a:ln>
        </p:spPr>
      </p:sp>
      <p:sp>
        <p:nvSpPr>
          <p:cNvPr id="21" name="Text 19"/>
          <p:cNvSpPr txBox="1"/>
          <p:nvPr/>
        </p:nvSpPr>
        <p:spPr>
          <a:xfrm>
            <a:off x="6355080" y="3904488"/>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2" name="Shape 20"/>
          <p:cNvSpPr/>
          <p:nvPr/>
        </p:nvSpPr>
        <p:spPr>
          <a:xfrm>
            <a:off x="6217920" y="4535424"/>
            <a:ext cx="5394960" cy="676656"/>
          </a:xfrm>
          <a:prstGeom prst="rect">
            <a:avLst/>
          </a:prstGeom>
          <a:solidFill>
            <a:srgbClr val="F2F5FB"/>
          </a:solidFill>
          <a:ln w="9525">
            <a:solidFill>
              <a:srgbClr val="CADCFC"/>
            </a:solidFill>
            <a:prstDash val="solid"/>
          </a:ln>
        </p:spPr>
      </p:sp>
      <p:sp>
        <p:nvSpPr>
          <p:cNvPr id="23" name="Text 21"/>
          <p:cNvSpPr txBox="1"/>
          <p:nvPr/>
        </p:nvSpPr>
        <p:spPr>
          <a:xfrm>
            <a:off x="6355080" y="4581144"/>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4" name="Text 22"/>
          <p:cNvSpPr txBox="1"/>
          <p:nvPr/>
        </p:nvSpPr>
        <p:spPr>
          <a:xfrm>
            <a:off x="548640" y="5349240"/>
            <a:ext cx="11064240" cy="868680"/>
          </a:xfrm>
          <a:prstGeom prst="rect">
            <a:avLst/>
          </a:prstGeom>
          <a:noFill/>
          <a:ln/>
        </p:spPr>
        <p:txBody>
          <a:bodyPr wrap="square" lIns="0" tIns="0" rIns="0" bIns="0" rtlCol="0" anchor="t"/>
          <a:lstStyle/>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People and change</a:t>
            </a:r>
            <a:endParaRPr lang="en-US" sz="1100" dirty="0"/>
          </a:p>
        </p:txBody>
      </p:sp>
      <p:sp>
        <p:nvSpPr>
          <p:cNvPr id="4"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5"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6"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7"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8"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9"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0"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1"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2"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3"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4"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5"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6"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7"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8"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People and change</a:t>
            </a:r>
            <a:endParaRPr lang="en-US" sz="1100" dirty="0"/>
          </a:p>
        </p:txBody>
      </p:sp>
      <p:sp>
        <p:nvSpPr>
          <p:cNvPr id="4"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5"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6"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7"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8"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9"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0"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1"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2"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3"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4"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5"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6"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7"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8"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19"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0"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1"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2"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3"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4"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5"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6"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7"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8"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29"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0"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1"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2"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Strategy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6"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supports retention and agility but is only a baseline; advantage comes from pairing it with Apple’s ecosystem and creative judgement.</a:t>
            </a:r>
            <a:endParaRPr lang="en-US" sz="1400" dirty="0"/>
          </a:p>
        </p:txBody>
      </p:sp>
      <p:sp>
        <p:nvSpPr>
          <p:cNvPr id="7"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9"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(agility):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0"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1"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(innovation):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2"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3"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4"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5"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Strategy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Strategy</a:t>
            </a:r>
            <a:endParaRPr lang="en-US" sz="1100" dirty="0"/>
          </a:p>
        </p:txBody>
      </p:sp>
      <p:sp>
        <p:nvSpPr>
          <p:cNvPr id="4"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5"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6"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8"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9"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0"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1"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3"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4"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5"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6"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8"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19"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Technology</a:t>
            </a:r>
            <a:endParaRPr lang="en-US" sz="1500" dirty="0"/>
          </a:p>
        </p:txBody>
      </p:sp>
      <p:sp>
        <p:nvSpPr>
          <p:cNvPr id="5"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6"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7"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the group analysed, can protect originality while adopting data if a Kotter-style change plan is used.</a:t>
            </a:r>
            <a:endParaRPr lang="en-US" sz="1400" dirty="0"/>
          </a:p>
        </p:txBody>
      </p:sp>
      <p:sp>
        <p:nvSpPr>
          <p:cNvPr id="8"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9"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0"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1"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2"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3"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4"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2026-10-25T02:10:01Z</dcterms:created>
  <dcterms:modified xsi:type="dcterms:W3CDTF">2026-10-25T02:10:01Z</dcterms:modified>
</cp:coreProperties>
</file>