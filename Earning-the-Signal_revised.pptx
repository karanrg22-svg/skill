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Apple TV+'s Digital Transformation Consultant and give your SRN.
Purpose: show how a machine-learning recommendation engine could help Apple TV+ use data without limiting creativity.
Structure: Task 1 is the technology, Task 2 is the impact on creative teams, Task 3 is strategy, ethics and recommendations.
Aim for about 30 seconds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It competes on the quality of its programmes, not the size of its library, so every title matters more.
Its strategy is the Apple ecosystem: content sits across iPhone, iPad and other Apple devices.
Our challenge, taken from the brief: using data to improve recommendations without limiting creativity.
Why it matters: retention, competition with Netflix, Prime Video and Disney+, and the tension between creative teams and data-driven teams inside the organisation.
Stat: Antenna (2024) reports 37.2% of Apple TV+ gross additions were returning subscribers who had cancelled within the prior 12 months, the highest serial-churn rate in the industry. Industry churn across major US services also rose from 5.1% to 6.3% between November 2022 and November 2023.
Link to cost: Reichheld (2003) shows keeping a customer is cheaper than winning a new one, so churn matters financially.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definition: a machine-learning recommendation engine learns from what viewers do and predicts what each viewer will want next.
Resnick and Varian (1997) describe recommender systems as helping people choose among many options by using the patterns of other people's choices.
Walk the diagram left to right. Input: viewing history, searches and behaviour signals such as pauses and rewinds. Process: machine learning finds patterns. Output: a personalised home screen.
Example: Netflix is the best-documented case. Gomez-Uribe and Hunt (2015) describe personalised rows and titles and estimate the system is worth over $1 billion a year in retained subscribers.
Apple's own privacy documentation says data is collected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at scale: Apple TV+ has a small, high-quality catalogue. The engine matches it to millions of different viewers so good originals are found, not buried. This is how the engine helps with the challenge.
Porter's Five Forces (Porter, 2008): two forces change most.
Rivalry: better discovery raises the value of each subscription, but Netflix, Prime Video and Disney+ run similar engines, so it protects our position rather than creating a lead.
Buyer power: switching costs are low. A profile that has learned a viewer's taste adds a small cost to leaving.
Creativity side: the engine can steer which content is promoted. This is where creative teams' concern comes from, and it leads into Task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each sourced: discovery (Gracenote, 2025: 49% of viewers say they are likely to cancel if they cannot find something to watch), engagement and retention (Gomez-Uribe and Hunt, 2015; Reichheld, 2003).
Limitations: narrowing recommendations and data quality (Ricci, Rokach and Shapira, 2015), reduced diversity (Helberger, 2019), possible loss of creative originality (Napoli, 2014), and privacy, governance and bias risks when AI is scaled (Mokoena and Obagbuwa, 2025, a review of AI in music streaming).
Most important for Apple TV+: discovery on the benefit side, because a small catalogue only pays off if each show is found; creative originality on the limitation side, because Apple competes on quality.
Conclusion: personalisation is necessary but not sufficient. Its benefits depend on managing these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Chosen stakeholder group: creative teams, meaning writers, producers and content developers.
Their concern, from the brief: too much reliance on data could affect originality.
Structure: who decides what gets made. Data should inform commissioning, not replace it.
Culture: creative autonomy versus data-driven decisions. Teams need to see data as a tool, not a verdict (Napoli, 2014).
Process: green-lighting and pitches. Add a data check to pitches but keep creative sign-off at the final step.
TAM (Davis, 1989): would they find it useful and easy to use? Useful if it shows which audiences a pitch could reach; easy only if insights are in plain language and built into the pitch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Barriers: fear of losing creative control, distrust of algorithms, and skills gaps. Responses: keep creative sign-off final and publish rules for data use; show why content is promoted so creatives can see how data influences decisions; train people on real projects (Vial, 2019).
Change model: Kotter (1995), condensed to six steps for Apple TV+. Urgency (churn and rivals), coalition (creative champions plus data leads), vision (data informs, creatives decide), pilot on one slate of originals and share early wins, extend into pitches and green-lighting, embed in how Apple TV+ commissions.
Digital confidence actions: training, pilots, creative champions and feedback channels into the model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(Barney, 1991) applied honestly.
Valuable: yes. Better discovery supports retention and engagement, but scaling AI brings privacy, governance and bias risks.
Rare: no. Streaming rivals already run recommenders and the technique is widely documented.
Hard to imitate: partly. Models are copyable; Apple's ecosystem data and quality-focused catalogue are harder to copy.
Organised: not yet. Creative and data teams are not aligned and there are no shared rules for how data shapes commissioning.
Verdict: competitive parity, not sustained advantage. As models converge, accuracy alone differentiates little.
Continuous improvement: A/B testing, creative input into the goals the model optimises, and regular data and model refresh. Ansoff (1957): this is market penetration, deepening retention in existing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issues, each with a principle and mitigation.
Privacy: data collected for recommendations could be reused for other purposes. GDPR Article 5 requires specified, explicit purposes (European Parliament and Council, 2016). Mitigation: document and review purpose limitation.
Bias and fairness: models trained on past viewing narrow what is shown (Ricci et al., 2015). Mitigation: regular diversity audits.
Transparency: viewers and creatives cannot see why content is promoted. Mitigation: 'why am I seeing this' explanations.
Creators' autonomy: algorithms can steer which projects are promoted and made (Napoli, 2014). Mitigation: creative sign-off.
Social: filter bubbles and cultural diversity (Pariser, 2011; Helberger, 2019). Principles draw on Floridi et al.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recommendations, each with action, owner, evidence and the slide it comes from.
1. Creative-team pilot in Kotter-style steps. Owner: creative leadership with the data team. Evidence: Kotter (1995), Napoli (2014). From slides 6 and 7.
2. Explanation feature for recommendations. Owner: marketing with product and technology. Evidence: Floridi et al. (2018), Apple Inc. (2025). From slides 4 and 9.
3. Governance review of purpose limitation and diversity auditing. Owner: operations (legal and compliance). Evidence: GDPR Article 5, Ricci et al. (2015). From slides 5 and 9.
Do first: the pilot. It tackles the central challenge and builds the evidence the other two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machine-learning recommendation engine helps match a small catalogue to many viewers, but it protects Apple TV+'s position rather than creating a lead.
Task 2: creative teams are most affected. A Kotter-style change plan can protect originality while they adopt data.
Task 3: rivals can copy the technology, so advantage depends on ecosystem, creative judgement and ethical safeguards.
Restate the three recommendations in one line each, then close: used with creative teams at its side, the engine can help Apple TV+ keep subscribers without giving up its originality.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in alphabetical Harvard style. Not presented; provided for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4"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5"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6"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7"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8"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9"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0"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1"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2"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3"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4"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5"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4"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5"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6"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7"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8"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9"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0"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1"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2"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3"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4"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5"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7" name="Text 15"/>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4"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5"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6"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7"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8"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9"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0"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1"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2"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3"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4"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5"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6"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7"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8"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9"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0"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1"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2"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3"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4"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4"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5"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6"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7"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8"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9"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0"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1"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2"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3"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4" name="Shape 12"/>
          <p:cNvSpPr/>
          <p:nvPr/>
        </p:nvSpPr>
        <p:spPr>
          <a:xfrm>
            <a:off x="6217920" y="1828800"/>
            <a:ext cx="5394960" cy="676656"/>
          </a:xfrm>
          <a:prstGeom prst="rect">
            <a:avLst/>
          </a:prstGeom>
          <a:solidFill>
            <a:srgbClr val="F2F5FB"/>
          </a:solidFill>
          <a:ln w="9525">
            <a:solidFill>
              <a:srgbClr val="CADCFC"/>
            </a:solidFill>
            <a:prstDash val="solid"/>
          </a:ln>
        </p:spPr>
      </p:sp>
      <p:sp>
        <p:nvSpPr>
          <p:cNvPr id="15" name="Text 13"/>
          <p:cNvSpPr txBox="1"/>
          <p:nvPr/>
        </p:nvSpPr>
        <p:spPr>
          <a:xfrm>
            <a:off x="6355080" y="1874520"/>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6" name="Shape 14"/>
          <p:cNvSpPr/>
          <p:nvPr/>
        </p:nvSpPr>
        <p:spPr>
          <a:xfrm>
            <a:off x="6217920" y="2505456"/>
            <a:ext cx="5394960" cy="676656"/>
          </a:xfrm>
          <a:prstGeom prst="rect">
            <a:avLst/>
          </a:prstGeom>
          <a:solidFill>
            <a:srgbClr val="FFFFFF"/>
          </a:solidFill>
          <a:ln w="9525">
            <a:solidFill>
              <a:srgbClr val="CADCFC"/>
            </a:solidFill>
            <a:prstDash val="solid"/>
          </a:ln>
        </p:spPr>
      </p:sp>
      <p:sp>
        <p:nvSpPr>
          <p:cNvPr id="17" name="Text 15"/>
          <p:cNvSpPr txBox="1"/>
          <p:nvPr/>
        </p:nvSpPr>
        <p:spPr>
          <a:xfrm>
            <a:off x="6355080" y="2551176"/>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8" name="Shape 16"/>
          <p:cNvSpPr/>
          <p:nvPr/>
        </p:nvSpPr>
        <p:spPr>
          <a:xfrm>
            <a:off x="6217920" y="3182112"/>
            <a:ext cx="5394960" cy="676656"/>
          </a:xfrm>
          <a:prstGeom prst="rect">
            <a:avLst/>
          </a:prstGeom>
          <a:solidFill>
            <a:srgbClr val="F2F5FB"/>
          </a:solidFill>
          <a:ln w="9525">
            <a:solidFill>
              <a:srgbClr val="CADCFC"/>
            </a:solidFill>
            <a:prstDash val="solid"/>
          </a:ln>
        </p:spPr>
      </p:sp>
      <p:sp>
        <p:nvSpPr>
          <p:cNvPr id="19" name="Text 17"/>
          <p:cNvSpPr txBox="1"/>
          <p:nvPr/>
        </p:nvSpPr>
        <p:spPr>
          <a:xfrm>
            <a:off x="6355080" y="3227832"/>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0" name="Shape 18"/>
          <p:cNvSpPr/>
          <p:nvPr/>
        </p:nvSpPr>
        <p:spPr>
          <a:xfrm>
            <a:off x="6217920" y="3858768"/>
            <a:ext cx="5394960" cy="676656"/>
          </a:xfrm>
          <a:prstGeom prst="rect">
            <a:avLst/>
          </a:prstGeom>
          <a:solidFill>
            <a:srgbClr val="FFFFFF"/>
          </a:solidFill>
          <a:ln w="9525">
            <a:solidFill>
              <a:srgbClr val="CADCFC"/>
            </a:solidFill>
            <a:prstDash val="solid"/>
          </a:ln>
        </p:spPr>
      </p:sp>
      <p:sp>
        <p:nvSpPr>
          <p:cNvPr id="21" name="Text 19"/>
          <p:cNvSpPr txBox="1"/>
          <p:nvPr/>
        </p:nvSpPr>
        <p:spPr>
          <a:xfrm>
            <a:off x="6355080" y="3904488"/>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2" name="Shape 20"/>
          <p:cNvSpPr/>
          <p:nvPr/>
        </p:nvSpPr>
        <p:spPr>
          <a:xfrm>
            <a:off x="6217920" y="4535424"/>
            <a:ext cx="5394960" cy="676656"/>
          </a:xfrm>
          <a:prstGeom prst="rect">
            <a:avLst/>
          </a:prstGeom>
          <a:solidFill>
            <a:srgbClr val="F2F5FB"/>
          </a:solidFill>
          <a:ln w="9525">
            <a:solidFill>
              <a:srgbClr val="CADCFC"/>
            </a:solidFill>
            <a:prstDash val="solid"/>
          </a:ln>
        </p:spPr>
      </p:sp>
      <p:sp>
        <p:nvSpPr>
          <p:cNvPr id="23" name="Text 21"/>
          <p:cNvSpPr txBox="1"/>
          <p:nvPr/>
        </p:nvSpPr>
        <p:spPr>
          <a:xfrm>
            <a:off x="6355080" y="4581144"/>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4" name="Text 22"/>
          <p:cNvSpPr txBox="1"/>
          <p:nvPr/>
        </p:nvSpPr>
        <p:spPr>
          <a:xfrm>
            <a:off x="548640" y="5349240"/>
            <a:ext cx="11064240" cy="868680"/>
          </a:xfrm>
          <a:prstGeom prst="rect">
            <a:avLst/>
          </a:prstGeom>
          <a:noFill/>
          <a:ln/>
        </p:spPr>
        <p:txBody>
          <a:bodyPr wrap="square" lIns="0" tIns="0" rIns="0" bIns="0" rtlCol="0" anchor="t"/>
          <a:lstStyle/>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4"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5"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6"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7"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8"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9"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0"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1"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2"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3"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4"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5"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6"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7"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8"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4"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5"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6"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7"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8"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9"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0"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1"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2"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3"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4"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5"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6"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7"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8"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19"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0"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1"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2"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3"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4"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5"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6"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7"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8"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29"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0"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1"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2"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6"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7"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9"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0"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1"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2"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3"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4"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5"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4"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5"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6"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8"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9"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0"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1"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3"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4"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5"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6"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8"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19"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5"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6"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7"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8"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9"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0"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1"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2"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3"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4"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2026-10-25T01:50:50Z</dcterms:created>
  <dcterms:modified xsi:type="dcterms:W3CDTF">2026-10-25T01:50:50Z</dcterms:modified>
</cp:coreProperties>
</file>