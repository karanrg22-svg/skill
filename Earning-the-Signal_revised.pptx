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(2024) serial-churn figure for Apple TV+; industry churn via ABC News. Confirm both against the Antenna report before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49% likely to cancel over poor discovery (State of Play 2025, released 5 Nov 2025). Mokoena and Obagbuwa (2025) is a review of AI in music streaming, used here for its privacy, governance and bias risks. Conclusion: personalisation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Scaling AI brings privacy, governance and bias risks (Mokoena and Obagbuwa, 2025). Ansoff placement: market penetration (Ansoff, 1957).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the Antenna/ABC News figure against the original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5"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6"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8" name="Text 15"/>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548640" y="5120640"/>
            <a:ext cx="1508760" cy="731520"/>
          </a:xfrm>
          <a:prstGeom prst="homePlate">
            <a:avLst/>
          </a:prstGeom>
          <a:solidFill>
            <a:srgbClr val="1E56A0"/>
          </a:solidFill>
          <a:ln w="12700">
            <a:solidFill>
              <a:srgbClr val="FFFFFF"/>
            </a:solidFill>
            <a:prstDash val="solid"/>
          </a:ln>
        </p:spPr>
      </p:sp>
      <p:sp>
        <p:nvSpPr>
          <p:cNvPr id="7" name="Text 4"/>
          <p:cNvSpPr txBox="1"/>
          <p:nvPr/>
        </p:nvSpPr>
        <p:spPr>
          <a:xfrm>
            <a:off x="621792"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Viewing data</a:t>
            </a:r>
            <a:endParaRPr lang="en-US" sz="1200" dirty="0"/>
          </a:p>
        </p:txBody>
      </p:sp>
      <p:sp>
        <p:nvSpPr>
          <p:cNvPr id="8" name="Shape 5"/>
          <p:cNvSpPr/>
          <p:nvPr/>
        </p:nvSpPr>
        <p:spPr>
          <a:xfrm>
            <a:off x="2084832" y="5120640"/>
            <a:ext cx="1508760" cy="731520"/>
          </a:xfrm>
          <a:prstGeom prst="homePlate">
            <a:avLst/>
          </a:prstGeom>
          <a:solidFill>
            <a:srgbClr val="1E2761"/>
          </a:solidFill>
          <a:ln w="12700">
            <a:solidFill>
              <a:srgbClr val="FFFFFF"/>
            </a:solidFill>
            <a:prstDash val="solid"/>
          </a:ln>
        </p:spPr>
      </p:sp>
      <p:sp>
        <p:nvSpPr>
          <p:cNvPr id="9" name="Text 6"/>
          <p:cNvSpPr txBox="1"/>
          <p:nvPr/>
        </p:nvSpPr>
        <p:spPr>
          <a:xfrm>
            <a:off x="2157984"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engine</a:t>
            </a:r>
            <a:endParaRPr lang="en-US" sz="1200" dirty="0"/>
          </a:p>
        </p:txBody>
      </p:sp>
      <p:sp>
        <p:nvSpPr>
          <p:cNvPr id="10" name="Shape 7"/>
          <p:cNvSpPr/>
          <p:nvPr/>
        </p:nvSpPr>
        <p:spPr>
          <a:xfrm>
            <a:off x="3621024" y="5120640"/>
            <a:ext cx="1508760" cy="731520"/>
          </a:xfrm>
          <a:prstGeom prst="homePlate">
            <a:avLst/>
          </a:prstGeom>
          <a:solidFill>
            <a:srgbClr val="1E56A0"/>
          </a:solidFill>
          <a:ln w="12700">
            <a:solidFill>
              <a:srgbClr val="FFFFFF"/>
            </a:solidFill>
            <a:prstDash val="solid"/>
          </a:ln>
        </p:spPr>
      </p:sp>
      <p:sp>
        <p:nvSpPr>
          <p:cNvPr id="11" name="Text 8"/>
          <p:cNvSpPr txBox="1"/>
          <p:nvPr/>
        </p:nvSpPr>
        <p:spPr>
          <a:xfrm>
            <a:off x="3694176"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Tailored home screen</a:t>
            </a:r>
            <a:endParaRPr lang="en-US" sz="1200" dirty="0"/>
          </a:p>
        </p:txBody>
      </p:sp>
      <p:sp>
        <p:nvSpPr>
          <p:cNvPr id="12" name="Shape 9"/>
          <p:cNvSpPr/>
          <p:nvPr/>
        </p:nvSpPr>
        <p:spPr>
          <a:xfrm>
            <a:off x="5157216" y="5120640"/>
            <a:ext cx="1508760" cy="731520"/>
          </a:xfrm>
          <a:prstGeom prst="homePlate">
            <a:avLst/>
          </a:prstGeom>
          <a:solidFill>
            <a:srgbClr val="1E56A0"/>
          </a:solidFill>
          <a:ln w="12700">
            <a:solidFill>
              <a:srgbClr val="FFFFFF"/>
            </a:solidFill>
            <a:prstDash val="solid"/>
          </a:ln>
        </p:spPr>
      </p:sp>
      <p:sp>
        <p:nvSpPr>
          <p:cNvPr id="13" name="Text 10"/>
          <p:cNvSpPr txBox="1"/>
          <p:nvPr/>
        </p:nvSpPr>
        <p:spPr>
          <a:xfrm>
            <a:off x="5230368"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Retention vs rivals</a:t>
            </a:r>
            <a:endParaRPr lang="en-US" sz="1200" dirty="0"/>
          </a:p>
        </p:txBody>
      </p:sp>
      <p:sp>
        <p:nvSpPr>
          <p:cNvPr id="14" name="Shape 11"/>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15" name="Text 12"/>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16" name="Shape 13"/>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8" name="Shape 15"/>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9" name="Text 16"/>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20" name="Shape 17"/>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21" name="Text 18"/>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22" name="Shape 19"/>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23" name="Text 20"/>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24" name="Shape 21"/>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25" name="Text 22"/>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676656"/>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05456"/>
            <a:ext cx="5394960" cy="676656"/>
          </a:xfrm>
          <a:prstGeom prst="rect">
            <a:avLst/>
          </a:prstGeom>
          <a:solidFill>
            <a:srgbClr val="FFFFFF"/>
          </a:solidFill>
          <a:ln w="9525">
            <a:solidFill>
              <a:srgbClr val="CADCFC"/>
            </a:solidFill>
            <a:prstDash val="solid"/>
          </a:ln>
        </p:spPr>
      </p:sp>
      <p:sp>
        <p:nvSpPr>
          <p:cNvPr id="18" name="Text 15"/>
          <p:cNvSpPr txBox="1"/>
          <p:nvPr/>
        </p:nvSpPr>
        <p:spPr>
          <a:xfrm>
            <a:off x="6355080" y="2551176"/>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182112"/>
            <a:ext cx="5394960" cy="676656"/>
          </a:xfrm>
          <a:prstGeom prst="rect">
            <a:avLst/>
          </a:prstGeom>
          <a:solidFill>
            <a:srgbClr val="F2F5FB"/>
          </a:solidFill>
          <a:ln w="9525">
            <a:solidFill>
              <a:srgbClr val="CADCFC"/>
            </a:solidFill>
            <a:prstDash val="solid"/>
          </a:ln>
        </p:spPr>
      </p:sp>
      <p:sp>
        <p:nvSpPr>
          <p:cNvPr id="20" name="Text 17"/>
          <p:cNvSpPr txBox="1"/>
          <p:nvPr/>
        </p:nvSpPr>
        <p:spPr>
          <a:xfrm>
            <a:off x="6355080" y="3227832"/>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3858768"/>
            <a:ext cx="5394960" cy="676656"/>
          </a:xfrm>
          <a:prstGeom prst="rect">
            <a:avLst/>
          </a:prstGeom>
          <a:solidFill>
            <a:srgbClr val="FFFFFF"/>
          </a:solidFill>
          <a:ln w="9525">
            <a:solidFill>
              <a:srgbClr val="CADCFC"/>
            </a:solidFill>
            <a:prstDash val="solid"/>
          </a:ln>
        </p:spPr>
      </p:sp>
      <p:sp>
        <p:nvSpPr>
          <p:cNvPr id="22" name="Text 19"/>
          <p:cNvSpPr txBox="1"/>
          <p:nvPr/>
        </p:nvSpPr>
        <p:spPr>
          <a:xfrm>
            <a:off x="6355080" y="3904488"/>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535424"/>
            <a:ext cx="5394960" cy="676656"/>
          </a:xfrm>
          <a:prstGeom prst="rect">
            <a:avLst/>
          </a:prstGeom>
          <a:solidFill>
            <a:srgbClr val="F2F5FB"/>
          </a:solidFill>
          <a:ln w="9525">
            <a:solidFill>
              <a:srgbClr val="CADCFC"/>
            </a:solidFill>
            <a:prstDash val="solid"/>
          </a:ln>
        </p:spPr>
      </p:sp>
      <p:sp>
        <p:nvSpPr>
          <p:cNvPr id="24" name="Text 21"/>
          <p:cNvSpPr txBox="1"/>
          <p:nvPr/>
        </p:nvSpPr>
        <p:spPr>
          <a:xfrm>
            <a:off x="6355080" y="4581144"/>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5" name="Text 22"/>
          <p:cNvSpPr txBox="1"/>
          <p:nvPr/>
        </p:nvSpPr>
        <p:spPr>
          <a:xfrm>
            <a:off x="548640" y="5349240"/>
            <a:ext cx="11064240" cy="868680"/>
          </a:xfrm>
          <a:prstGeom prst="rect">
            <a:avLst/>
          </a:prstGeom>
          <a:noFill/>
          <a:ln/>
        </p:spPr>
        <p:txBody>
          <a:bodyPr wrap="square" lIns="0" tIns="0" rIns="0" bIns="0" rtlCol="0" anchor="t"/>
          <a:lstStyle/>
          <a:p>
            <a:pPr indent="0" marL="0">
              <a:spcAft>
                <a:spcPts val="400"/>
              </a:spcAft>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spcAft>
                <a:spcPts val="400"/>
              </a:spcAft>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6"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7"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8"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9"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10"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1"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2"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3"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4"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5"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6"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7"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9"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7"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8"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9" name="Shape 5"/>
          <p:cNvSpPr/>
          <p:nvPr/>
        </p:nvSpPr>
        <p:spPr>
          <a:xfrm>
            <a:off x="548640" y="5349240"/>
            <a:ext cx="2697480" cy="822960"/>
          </a:xfrm>
          <a:prstGeom prst="roundRect">
            <a:avLst>
              <a:gd name="adj" fmla="val 8889"/>
            </a:avLst>
          </a:prstGeom>
          <a:solidFill>
            <a:srgbClr val="F2F5FB"/>
          </a:solidFill>
          <a:ln w="12700">
            <a:solidFill>
              <a:srgbClr val="CADCFC"/>
            </a:solidFill>
            <a:prstDash val="solid"/>
          </a:ln>
        </p:spPr>
      </p:sp>
      <p:sp>
        <p:nvSpPr>
          <p:cNvPr id="10" name="Text 6"/>
          <p:cNvSpPr txBox="1"/>
          <p:nvPr/>
        </p:nvSpPr>
        <p:spPr>
          <a:xfrm>
            <a:off x="658368"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Test: </a:t>
            </a:r>
            <a:pPr indent="0" marL="0">
              <a:buNone/>
            </a:pPr>
            <a:r>
              <a:rPr lang="en-US" sz="1200" dirty="0">
                <a:solidFill>
                  <a:srgbClr val="27314D"/>
                </a:solidFill>
                <a:latin typeface="Calibri" pitchFamily="34" charset="0"/>
                <a:ea typeface="Calibri" pitchFamily="34" charset="-122"/>
                <a:cs typeface="Calibri" pitchFamily="34" charset="-120"/>
              </a:rPr>
              <a:t>A/B test changes against retention</a:t>
            </a:r>
            <a:endParaRPr lang="en-US" sz="1200" dirty="0"/>
          </a:p>
        </p:txBody>
      </p:sp>
      <p:sp>
        <p:nvSpPr>
          <p:cNvPr id="11" name="Shape 7"/>
          <p:cNvSpPr/>
          <p:nvPr/>
        </p:nvSpPr>
        <p:spPr>
          <a:xfrm>
            <a:off x="3355848" y="5349240"/>
            <a:ext cx="2697480" cy="822960"/>
          </a:xfrm>
          <a:prstGeom prst="roundRect">
            <a:avLst>
              <a:gd name="adj" fmla="val 8889"/>
            </a:avLst>
          </a:prstGeom>
          <a:solidFill>
            <a:srgbClr val="F2F5FB"/>
          </a:solidFill>
          <a:ln w="12700">
            <a:solidFill>
              <a:srgbClr val="CADCFC"/>
            </a:solidFill>
            <a:prstDash val="solid"/>
          </a:ln>
        </p:spPr>
      </p:sp>
      <p:sp>
        <p:nvSpPr>
          <p:cNvPr id="12" name="Text 8"/>
          <p:cNvSpPr txBox="1"/>
          <p:nvPr/>
        </p:nvSpPr>
        <p:spPr>
          <a:xfrm>
            <a:off x="3465576"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Creative input: </a:t>
            </a:r>
            <a:pPr indent="0" marL="0">
              <a:buNone/>
            </a:pPr>
            <a:r>
              <a:rPr lang="en-US" sz="1200" dirty="0">
                <a:solidFill>
                  <a:srgbClr val="27314D"/>
                </a:solidFill>
                <a:latin typeface="Calibri" pitchFamily="34" charset="0"/>
                <a:ea typeface="Calibri" pitchFamily="34" charset="-122"/>
                <a:cs typeface="Calibri" pitchFamily="34" charset="-120"/>
              </a:rPr>
              <a:t>Creatives help set the goals the model optimises</a:t>
            </a:r>
            <a:endParaRPr lang="en-US" sz="1200" dirty="0"/>
          </a:p>
        </p:txBody>
      </p:sp>
      <p:sp>
        <p:nvSpPr>
          <p:cNvPr id="13" name="Shape 9"/>
          <p:cNvSpPr/>
          <p:nvPr/>
        </p:nvSpPr>
        <p:spPr>
          <a:xfrm>
            <a:off x="6163056" y="5349240"/>
            <a:ext cx="2697480" cy="822960"/>
          </a:xfrm>
          <a:prstGeom prst="roundRect">
            <a:avLst>
              <a:gd name="adj" fmla="val 8889"/>
            </a:avLst>
          </a:prstGeom>
          <a:solidFill>
            <a:srgbClr val="F2F5FB"/>
          </a:solidFill>
          <a:ln w="12700">
            <a:solidFill>
              <a:srgbClr val="CADCFC"/>
            </a:solidFill>
            <a:prstDash val="solid"/>
          </a:ln>
        </p:spPr>
      </p:sp>
      <p:sp>
        <p:nvSpPr>
          <p:cNvPr id="14" name="Text 10"/>
          <p:cNvSpPr txBox="1"/>
          <p:nvPr/>
        </p:nvSpPr>
        <p:spPr>
          <a:xfrm>
            <a:off x="6272784"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Refresh: </a:t>
            </a:r>
            <a:pPr indent="0" marL="0">
              <a:buNone/>
            </a:pPr>
            <a:r>
              <a:rPr lang="en-US" sz="1200" dirty="0">
                <a:solidFill>
                  <a:srgbClr val="27314D"/>
                </a:solidFill>
                <a:latin typeface="Calibri" pitchFamily="34" charset="0"/>
                <a:ea typeface="Calibri" pitchFamily="34" charset="-122"/>
                <a:cs typeface="Calibri" pitchFamily="34" charset="-120"/>
              </a:rPr>
              <a:t>Update data and models regularly</a:t>
            </a:r>
            <a:endParaRPr lang="en-US" sz="1200" dirty="0"/>
          </a:p>
        </p:txBody>
      </p:sp>
      <p:sp>
        <p:nvSpPr>
          <p:cNvPr id="15" name="Shape 11"/>
          <p:cNvSpPr/>
          <p:nvPr/>
        </p:nvSpPr>
        <p:spPr>
          <a:xfrm>
            <a:off x="8970264" y="5349240"/>
            <a:ext cx="2697480" cy="822960"/>
          </a:xfrm>
          <a:prstGeom prst="roundRect">
            <a:avLst>
              <a:gd name="adj" fmla="val 8889"/>
            </a:avLst>
          </a:prstGeom>
          <a:solidFill>
            <a:srgbClr val="F2F5FB"/>
          </a:solidFill>
          <a:ln w="12700">
            <a:solidFill>
              <a:srgbClr val="CADCFC"/>
            </a:solidFill>
            <a:prstDash val="solid"/>
          </a:ln>
        </p:spPr>
      </p:sp>
      <p:sp>
        <p:nvSpPr>
          <p:cNvPr id="16" name="Text 12"/>
          <p:cNvSpPr txBox="1"/>
          <p:nvPr/>
        </p:nvSpPr>
        <p:spPr>
          <a:xfrm>
            <a:off x="9079992"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Ansoff: </a:t>
            </a:r>
            <a:pPr indent="0" marL="0">
              <a:buNone/>
            </a:pPr>
            <a:r>
              <a:rPr lang="en-US" sz="1200" dirty="0">
                <a:solidFill>
                  <a:srgbClr val="27314D"/>
                </a:solidFill>
                <a:latin typeface="Calibri" pitchFamily="34" charset="0"/>
                <a:ea typeface="Calibri" pitchFamily="34" charset="-122"/>
                <a:cs typeface="Calibri" pitchFamily="34" charset="-120"/>
              </a:rPr>
              <a:t>Market penetration: deeper retention in existing markets (Ansoff, 1957)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Ansoff, H.I. (1957) ‘Strategies for diversification’, Harvard Business Review, 35(5), pp.113–124.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2026-10-25T01:40:44Z</dcterms:created>
  <dcterms:modified xsi:type="dcterms:W3CDTF">2026-10-25T01:40:44Z</dcterms:modified>
</cp:coreProperties>
</file>