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and thank you for your time. I am your Digital Transformation Consultant, and today I will set out how a machine-learning recommendation engine could help Apple TV+ use data to improve what your subscribers watch, without limiting the creativity that defines the service. [SRN: add SRN.]
The presentation has three parts. First, the technology: how it works, how it addresses your challenge, and its benefits and limitations. Second, the impact on your creative teams and how to manage the change. Third, the strategic implications, including whether it can give you lasting advantage, the ethical and risk issues, and three recommendations.
I use established frameworks where each answers a specific question: Porter's Five Forces for competitive effect, the Technology Acceptance Model for adoption, Kotter for change, VRIO for lasting advantage, and the ethical framework in Floridi et al. for risk. All sources are listed on the final slide. Where a point is my own judgement, I will say so.
At the end I will ask you to approve three actions and tell you which should come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start with where Apple TV+ stands. You offer original films, series and documentaries to a global audience, and you compete on the quality of that content, not on library size. That makes every title count for more. A programme that viewers never find is a bigger loss when the catalogue is small, and a subscriber who sees nothing of interest will conclude the service has little for them. That is a retention risk.
Your strategy places Apple TV+ inside the Apple ecosystem, with content integrated across iPhone, iPad and other Apple products. So the technology operates within your organisation and across your devices, and subscribers expect the service to remember them as they move between screens.
Vial (2019) describes digital transformation as a process where digital technologies create disruption that prompts a strategic response. Streaming competition and subscriber volatility are that disruption, and a recommendation engine is one response.
The challenge I have chosen is using data to improve recommendations without limiting creativity. It matters for three reasons: retention, competition with Netflix, Prime Video and Disney+, and a tension inside the organisation. Your creative teams worry that too much reliance on data could affect originality, while marketing supports data-driven insight but knows customers can be sensitive to pricing and content changes.
The evidence shows why retention is urgent. Antenna (2024) reports that 37.2% of Apple TV+'s gross subscriber additions were returning subscribers who had cancelled within the prior 12 months, the highest serial-churn rate in the industry. As background, monthly churn across major US streaming services rose from 5.1% in November 2022 to 6.3% in November 2023, as reported by ABC News using Antenna data. That industry figure is not specific to Apple TV+.
A critical point: serial churn shows that subscribers move in and out easily, but not why. My inference is that with a smaller, quality-led catalogue, many subscribers join for one series and leave when it ends. If so, better recommendations help but cannot replace a steady flow of new content.
Reichheld (2003) links customer loyalty to growth, and keeping customers is generally cheaper than winning new ones, so churn is a financial issue for you and not only a marketing metric.
Next, the technology I recommend.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technology I recommend is a machine-learning recommendation engine. In plain terms, it is software that learns from what your subscribers do and predicts what each will want to watch next. Resnick and Varian (1997) describe recommender systems as helping people choose among many options by drawing on the patterns in other people's choices.
Figure 1 shows the flow. The inputs are viewing history, search queries and behavioural signals such as pauses and rewinds. Machine learning finds patterns in that data and predicts what a viewer is likely to want. The output is a personalised home screen and "what to watch next" suggestions. In practice, such systems often combine learning from similar viewers with learning from the characteristics of the content itself (Ricci, Rokach and Shapira, 2015).
I chose this technology because it speaks directly to your challenge, which sits in the link between your content and each viewer, and because it fits your ecosystem strategy. 
The best-documented example is Netflix. Gomez-Uribe and Hunt (2015) describe personalised rows and titles for each member and estimate that its recommender is worth over a billion dollars a year in retained subscribers. I want to be careful here. That is evidence about Netflix, so it shows what is possible and not what you will achieve.
A critical point specific to you: recommenders learn from viewing history, but a new original has little or none at launch. This is the cold-start problem in recommender research (Ricci, Rokach and Shapira, 2015). Because your strategy relies on a steady flow of high-quality originals, it could affect you more than a service with a large back catalogue. That is my application of the research to your case, and it is one reason creative input into the system matters.
You are already open about this use of data. Apple's privacy documentation says viewing and activity data is collected "to tailor features and offer personalised recommendations" (Apple Inc., 2025).
Next, how it helps with your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engine helps by matching content to viewers at scale. You have a small, high-quality catalogue, and the engine can match it to millions of different subscribers so good originals are found and not buried.
To test the strategic effect, I used Porter's Five Forces (Porter, 2008), shown in Figure 2. Porter's argument is that industry structure determines how much profit is available, so the question is whether the technology changes any of the forces in your favour.
First, rivalry with Netflix, Prime Video and Disney+. Better discovery raises the value of each subscription. But rivalry is most intense where competitors offer similar things, and those rivals run similar engines. So the technology protects your position rather than giving you a lead.
Second, buyer power. Porter notes that buyers have more power when switching costs are low. They are low here, and the serial-churn figure on slide 2 shows subscribers leaving and returning easily (Antenna, 2024). A profile that has learned someone's taste adds a small cost to leaving, but it does not solve the problem.
Now the creativity side, which I know is your leadership's main concern. The same engine that matches content can steer which content is promoted. If it mainly promotes what is already popular or familiar, it could crowd out new ideas and, over time, influence what gets commissioned. That is where your creative teams' concern comes from, and I take it seriously.
My message is that the technology is worth using, but the creative concern needs to be managed deliberately. I address how in the next section.
Next, the benefits and limitations.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1 sets out three benefits and five limitations, each with a source.
The benefits. Discovery: Gracenote (2025) found that 49% of viewers say they are likely to cancel a streaming service if they cannot find something to watch. Engagement: Gomez-Uribe and Hunt (2015) describe how personalised rows and titles increase viewing. Retention: better discovery reduces cancellations, which connects to Reichheld (2003) on loyalty and growth.
The limitations. Narrowing: models reinforce what viewers have already watched (Ricci, Rokach and Shapira, 2015). Reduced diversity: personalised feeds can limit exposure to varied content (Helberger, 2019). Possible loss of creative originality: data-led promotion can favour familiar formats (Napoli, 2014). Data quality: the output depends on the data behind it (Ricci, Rokach and Shapira, 2015). And privacy and governance: scaling AI adds privacy risk, governance demands and bias that can limit content diversity (Mokoena and Obagbuwa, 2025).
For Apple TV+, the benefit that matters most is discovery, because a small catalogue only pays off if each show is found. The limitation that matters most is creative originality, because quality is your point of difference.
I should be open about the strength of the evidence. The Gracenote figure is stated intent and not recorded cancellations. Gomez-Uribe and Hunt (2015) describes Netflix. Helberger (2019) writes about news recommenders, so applying it to entertainment is my inference. Pariser's filter-bubble idea (2011) is a useful concept but comes from a popular book and is debated, so I use it to frame the risk and not to size it. And Mokoena and Obagbuwa (2025) reviews AI in music streaming, so I use it for its findings on risk.
The two lists also interact. Narrowing, left unchecked, undermines the discovery benefit that justifies the investment. My conclusion is that personalisation is necessary but not sufficient. Its benefits depend on managing these limits.
Next, the people who make your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Personalisation at this scale does not only change what subscribers see. It also changes how your creative teams decide what gets made.
I have focused on your creative teams: writers, producers and content developers. They are the group most directly exposed to this technology, and their concern is clear: too much reliance on data could affect originality.
I looked at four things that influence one another: structure, culture, processes and management.
Structure is about who decides what gets made. Data should inform commissioning, not replace the judgement of your executives and creators.
Culture is creative autonomy versus data-driven decisions. Napoli (2014) takes an institutional theory perspective on algorithmic media production. The insight is that algorithms do not only support decisions, they can reshape the norms in which decisions are made. For creatives, the real worry is not one recommendation but a gradual shift in what counts as a good idea.
Process covers green-lighting and pitches. I propose a data check on pitches, with creative sign-off kept at the final step. Management ties these together through governance: clear rules on how data is used and who can override the model.
The four are linked. If the process keeps creative sign-off final, the culture is more likely to accept the tool, and the structure can use data without conflict. If decisions drift towards data, culture suffers and resistance grows. So a change to one has to take account of the others.
For adoption I used the Technology Acceptance Model (Davis, 1989). It holds that intention to use a technology depends on perceived usefulness and perceived ease of use, with usefulness the stronger influence. Creatives will find the tool useful if it shows which audiences a pitch could reach, and easy to use only if insights come in plain language and fit the pitch workflow. So the first step is to show value in their own terms.
A critical limit: TAM focuses on individual perceptions. It says less about professional identity, power and trust. If creatives resist because they feel their craft is being second-guessed, a simpler interface will not fix it. That is why I pair TAM with a change model and governance that protect creative sign-off.
Next, the barriers and how to manage the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covers the barriers, how to manage them, and the change plan.
I see three main barriers. Fear of losing creative control: keep creative sign-off final and publish clear rules for how data is used. Distrust of algorithms: the core issue is visibility, because creative teams cannot see how data influences decisions, so show why content is promoted. And skills gaps: training built around real projects. Vial (2019) identifies structural changes and organisational barriers, including resistance and capability gaps, as central to how organisations transform, so I treat these as a design problem, not a surprise.
For the change plan I recommend Kotter (1995), condensed from eight steps to six, as shown in Figure 4. Kotter argues that transformations fail when organisations skip steps or declare victory too early. Urgency: churn and rivals make better discovery pressing. A coalition of creative champions and data leads. A vision that data informs and creatives decide. A pilot on one slate of originals, with early wins shared. Extension into pitches and green-lighting. And embedding in how you commission.
A critical note: Kotter's steps are sequential and fairly top-down, which can sit awkwardly with creative organisations that value autonomy. I address this by putting creative champions in the coalition and building feedback channels into the plan, so the change is shaped with creatives and not only delivered to them.
To build digital confidence, I recommend training for writers and producers, pilots on a small slate of originals, creative champions on each team, and feedback channels into the model team.
To know whether it is working, I suggest three pilot measures: a creative-team survey on trust in the tool, the number of pitches using the data check, and whether discovery of original titles improves. Because Apple TV+ is a global platform, I would extend region by region once the pilot has shown results.
Next, whether it gives you lasting advantage.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strategic question is whether this technology gives you a sustained competitive advantage. I applied the VRIO framework, which builds on the resource-based view developed by Barney (1991) and is shown in Table 2. A resource gives lasting advantage only if it is valuable, rare, difficult to imitate, and the organisation is set up to exploit it.
Valuable: yes. Better discovery supports retention and agility, but scaling AI brings privacy, governance and bias risks (Mokoena and Obagbuwa, 2025).
Rare: no. Your rivals already run recommendation engines, and the technique is widely documented (Ricci, Rokach and Shapira, 2015).
Hard to imitate: partly. The models can be copied. Your ecosystem data and quality-focused catalogue are harder to copy. That is my judgement and not a measured finding.
Organised to exploit: not yet. From what I understand, creative, marketing and operations teams hold different views, and there are no shared rules for how data shapes commissioning. That is my assessment of where you are today.
My verdict is competitive parity, not sustained advantage. In resource-based terms, a valuable but not rare resource gives parity. As machine-learning capabilities converge, accuracy alone differentiates very little. I would add that engagement does not automatically produce retention, since a subscriber can watch a lot and still cancel if the service does not feel worth the price. That is my own reasoning. Advantage comes from pairing the recommender with your ecosystem and creative judgement.
This links to your goals. Retention is the direct benefit. Agility comes from being able to test and adjust quickly. Innovation comes from giving creatives a role in what the model optimises, so it supports new ideas as well as familiar ones.
To keep improving, I recommend four things. A/B test changes against retention. Bring creatives into setting the model's goals. Refresh data and models regularly. And note that in Ansoff's terms (1957) this is market penetration, deepening retention in your existing markets. Ansoff treats penetration as the lowest-risk growth direction, which suits a first step, but it depends on how much room your markets have to grow, so later personalised features across the ecosystem could be product development.
Next, the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3 sets out five issues, each with why it matters, the ethical principle and a mitigation, ordered by likely impact on Apple TV+. I anchor the principles in the AI4People framework from Floridi et al. (2018): beneficence, non-maleficence, autonomy, justice and explicability.
Privacy comes first. Data collected for recommendations could be reused for other purposes. GDPR Article 5 sets out principles including lawfulness, fairness and transparency, purpose limitation and data minimisation (European Parliament and Council, 2016), and it applies to your subscribers in the EU. The mitigation is to document the purpose and review it regularly. This also protects your brand.
Bias and fairness. Models trained on past viewing narrow what subscribers are shown (Ricci, Rokach and Shapira, 2015). The principle is fairness, which Floridi calls justice, and the mitigation is regular diversity-of-recommendation audits.
Transparency. Viewers and creatives cannot see why content is promoted. Floridi calls this principle explicability, and the mitigation is "why am I seeing this" explanations for both groups.
Creators' autonomy. Algorithms can steer which projects are promoted and made (Napoli, 2014). The mitigation is to keep creative sign-off, using data to inform and not to decide.
Finally, the social issue of cultural diversity and filter bubbles. Personalised feeds can reduce exposure to varied content (Pariser, 2011; Helberger, 2019). The mitigation is minimum exposure for varied and local content.
I want to be critical about the mitigations, because they involve trade-offs. Data minimisation protects privacy but can reduce the data that makes recommendations accurate. Minimum exposure rules protect diversity but could be seen as limiting viewer choice. And explanations build trust, but complex models are hard to explain, so an explanation may be a useful approximation and not the full reason. These tensions are why I recommend governance and review, not a one-off fix.
Next, my recommendations.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recommend three actions. Each has an owner, evidence and a link back to the analysis, and each responds to a specific finding.
One: run a creative-team pilot in Kotter-style steps. The owner would be your creative leadership, supported by the data team. The evidence is Kotter (1995) on managing change and Napoli (2014) on how algorithms can reshape media production. It follows from slides 6 and 7, and responds to fear of losing control and to the finding that usefulness drives adoption (Davis, 1989). Success means creative-team trust in the tool, and use of the data check in pitches, after one slate.
Two: add an explanation feature for recommendations. The owner would be marketing, with product and technology teams. The evidence is Floridi et al. (2018) on explicability and your own privacy documentation (Apple Inc., 2025). It follows from slides 4 and 9, and responds to distrust of algorithms and the transparency risk. Success means how many viewers use it.
Three: set up a governance review of purpose limitation and diversity auditing. The owner would be operations, covering legal and compliance. The evidence is GDPR Article 5 (European Parliament and Council, 2016) and Ricci, Rokach and Shapira (2015) on narrowing. It follows from slides 5 and 9, and also supports the VRIO finding that you are not yet organised to exploit the technology. Success means quarterly audit results.
What comes first? The creative-team pilot. It tackles your central challenge of using data without limiting creativity, and it builds the evidence the other two depend on. The governance review should run alongside it, because the pilot will use viewer data. The explanation feature follows, informed by what the pilot shows. Each stage reports back to leadership, so you can extend, adjust or pause.
There are risks in implementation itself. A pilot on one slate may not generalise to every region, and creatives may see it as a first step towards control, so the pilot's rules, including creative sign-off, should be published at the start.
That is what I am asking you to approve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bring this together.
On technology, a machine-learning recommendation engine helps match your small catalogue to many viewers. Through Porter's lens, it protects your position against Netflix, Prime Video and Disney+ rather than creating a lead. The benefits are real, but so are the limits, especially narrowing and the risk to originality.
On people, your creative teams can protect originality while adopting data. Adoption depends first on usefulness (Davis, 1989), and change lasts when it follows a structured plan like Kotter's (1995), with creative sign-off kept final.
On strategy, rivals can copy the technology, so under VRIO it gives parity. Lasting advantage depends on your ecosystem, your creative judgement and strong ethical safeguards (Barney, 1991; Floridi et al., 2018).
My three recommendations: run a pilot with your creative teams, add explanations for why content is recommended, and review purpose limitation and diversity audits regularly.
Data and creativity do not have to be opposed. Used with creative teams at its side, the recommendation engine can help Apple TV+ keep its subscribers without giving up the originality that sets you apart.
Thank you. I am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list in alphabetical Harvard style. Provided for information; not presented.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2F5FB"/>
        </a:solidFill>
      </p:bgPr>
    </p:bg>
    <p:spTree>
      <p:nvGrpSpPr>
        <p:cNvPr id="1" name=""/>
        <p:cNvGrpSpPr/>
        <p:nvPr/>
      </p:nvGrpSpPr>
      <p:grpSpPr>
        <a:xfrm>
          <a:off x="0" y="0"/>
          <a:ext cx="0" cy="0"/>
          <a:chOff x="0" y="0"/>
          <a:chExt cx="0" cy="0"/>
        </a:xfrm>
      </p:grpSpPr>
      <p:sp>
        <p:nvSpPr>
          <p:cNvPr id="2" name="Text 0"/>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Intro</a:t>
            </a:r>
            <a:endParaRPr lang="en-US" sz="1100" dirty="0"/>
          </a:p>
        </p:txBody>
      </p:sp>
      <p:sp>
        <p:nvSpPr>
          <p:cNvPr id="3" name="Text 1"/>
          <p:cNvSpPr txBox="1"/>
          <p:nvPr/>
        </p:nvSpPr>
        <p:spPr>
          <a:xfrm>
            <a:off x="914400" y="1371600"/>
            <a:ext cx="10332720" cy="1005840"/>
          </a:xfrm>
          <a:prstGeom prst="rect">
            <a:avLst/>
          </a:prstGeom>
          <a:noFill/>
          <a:ln/>
        </p:spPr>
        <p:txBody>
          <a:bodyPr wrap="square" lIns="0" tIns="0" rIns="0" bIns="0" rtlCol="0" anchor="ctr"/>
          <a:lstStyle/>
          <a:p>
            <a:pPr algn="ctr" indent="0" marL="0">
              <a:buNone/>
            </a:pPr>
            <a:r>
              <a:rPr lang="en-US" sz="4000" b="1" dirty="0">
                <a:solidFill>
                  <a:srgbClr val="1E2761"/>
                </a:solidFill>
                <a:latin typeface="Cambria" pitchFamily="34" charset="0"/>
                <a:ea typeface="Cambria" pitchFamily="34" charset="-122"/>
                <a:cs typeface="Cambria" pitchFamily="34" charset="-120"/>
              </a:rPr>
              <a:t>Using a Recommendation Engine at Apple TV+</a:t>
            </a:r>
            <a:endParaRPr lang="en-US" sz="4000" dirty="0"/>
          </a:p>
        </p:txBody>
      </p:sp>
      <p:sp>
        <p:nvSpPr>
          <p:cNvPr id="4" name="Text 2"/>
          <p:cNvSpPr txBox="1"/>
          <p:nvPr/>
        </p:nvSpPr>
        <p:spPr>
          <a:xfrm>
            <a:off x="914400" y="2468880"/>
            <a:ext cx="10332720" cy="548640"/>
          </a:xfrm>
          <a:prstGeom prst="rect">
            <a:avLst/>
          </a:prstGeom>
          <a:noFill/>
          <a:ln/>
        </p:spPr>
        <p:txBody>
          <a:bodyPr wrap="square" lIns="0" tIns="0" rIns="0" bIns="0" rtlCol="0" anchor="t"/>
          <a:lstStyle/>
          <a:p>
            <a:pPr algn="ctr" indent="0" marL="0">
              <a:buNone/>
            </a:pPr>
            <a:r>
              <a:rPr lang="en-US" sz="2200" dirty="0">
                <a:solidFill>
                  <a:srgbClr val="1E56A0"/>
                </a:solidFill>
                <a:latin typeface="Calibri" pitchFamily="34" charset="0"/>
                <a:ea typeface="Calibri" pitchFamily="34" charset="-122"/>
                <a:cs typeface="Calibri" pitchFamily="34" charset="-120"/>
              </a:rPr>
              <a:t>Personalisation without limiting creativity</a:t>
            </a:r>
            <a:endParaRPr lang="en-US" sz="2200" dirty="0"/>
          </a:p>
        </p:txBody>
      </p:sp>
      <p:sp>
        <p:nvSpPr>
          <p:cNvPr id="5" name="Text 3"/>
          <p:cNvSpPr txBox="1"/>
          <p:nvPr/>
        </p:nvSpPr>
        <p:spPr>
          <a:xfrm>
            <a:off x="1828800" y="3383280"/>
            <a:ext cx="8503920" cy="1920240"/>
          </a:xfrm>
          <a:prstGeom prst="rect">
            <a:avLst/>
          </a:prstGeom>
          <a:noFill/>
          <a:ln/>
        </p:spPr>
        <p:txBody>
          <a:bodyPr wrap="square" lIns="0" tIns="0" rIns="0" bIns="0" rtlCol="0" anchor="t"/>
          <a:lstStyle/>
          <a:p>
            <a:pPr algn="ctr" indent="0" marL="0">
              <a:spcAft>
                <a:spcPts val="800"/>
              </a:spcAft>
              <a:buNone/>
            </a:pPr>
            <a:r>
              <a:rPr lang="en-US" sz="1600" dirty="0">
                <a:solidFill>
                  <a:srgbClr val="27314D"/>
                </a:solidFill>
                <a:latin typeface="Calibri" pitchFamily="34" charset="0"/>
                <a:ea typeface="Calibri" pitchFamily="34" charset="-122"/>
                <a:cs typeface="Calibri" pitchFamily="34" charset="-120"/>
              </a:rPr>
              <a:t>I am presenting as Apple TV+’s Digital Transformation Consultant.</a:t>
            </a:r>
            <a:endParaRPr lang="en-US" sz="1600" dirty="0"/>
          </a:p>
          <a:p>
            <a:pPr algn="ctr" indent="0" marL="0">
              <a:spcAft>
                <a:spcPts val="800"/>
              </a:spcAft>
              <a:buNone/>
            </a:pPr>
            <a:r>
              <a:rPr lang="en-US" sz="1600" dirty="0">
                <a:solidFill>
                  <a:srgbClr val="27314D"/>
                </a:solidFill>
                <a:latin typeface="Calibri" pitchFamily="34" charset="0"/>
                <a:ea typeface="Calibri" pitchFamily="34" charset="-122"/>
                <a:cs typeface="Calibri" pitchFamily="34" charset="-120"/>
              </a:rPr>
              <a:t>Purpose: to analyse how a machine-learning recommendation engine could help Apple TV+ use data without limiting creativity.</a:t>
            </a:r>
            <a:endParaRPr lang="en-US" sz="1600" dirty="0"/>
          </a:p>
          <a:p>
            <a:pPr algn="ctr" indent="0" marL="0">
              <a:spcAft>
                <a:spcPts val="800"/>
              </a:spcAft>
              <a:buNone/>
            </a:pPr>
            <a:r>
              <a:rPr lang="en-US" sz="1600" dirty="0">
                <a:solidFill>
                  <a:srgbClr val="27314D"/>
                </a:solidFill>
                <a:latin typeface="Calibri" pitchFamily="34" charset="0"/>
                <a:ea typeface="Calibri" pitchFamily="34" charset="-122"/>
                <a:cs typeface="Calibri" pitchFamily="34" charset="-120"/>
              </a:rPr>
              <a:t>Structure: technology (Task 1), impact on creative teams (Task 2), and strategy, ethics and recommendations (Task 3).</a:t>
            </a:r>
            <a:endParaRPr lang="en-US" sz="1600" dirty="0"/>
          </a:p>
        </p:txBody>
      </p:sp>
      <p:sp>
        <p:nvSpPr>
          <p:cNvPr id="6" name="Text 4"/>
          <p:cNvSpPr txBox="1"/>
          <p:nvPr/>
        </p:nvSpPr>
        <p:spPr>
          <a:xfrm>
            <a:off x="914400" y="5669280"/>
            <a:ext cx="10332720" cy="365760"/>
          </a:xfrm>
          <a:prstGeom prst="rect">
            <a:avLst/>
          </a:prstGeom>
          <a:noFill/>
          <a:ln/>
        </p:spPr>
        <p:txBody>
          <a:bodyPr wrap="square" lIns="0" tIns="0" rIns="0" bIns="0" rtlCol="0" anchor="t"/>
          <a:lstStyle/>
          <a:p>
            <a:pPr algn="ctr" indent="0" marL="0">
              <a:buNone/>
            </a:pPr>
            <a:r>
              <a:rPr lang="en-US" sz="1600" b="1" dirty="0">
                <a:solidFill>
                  <a:srgbClr val="1E2761"/>
                </a:solidFill>
                <a:latin typeface="Calibri" pitchFamily="34" charset="0"/>
                <a:ea typeface="Calibri" pitchFamily="34" charset="-122"/>
                <a:cs typeface="Calibri" pitchFamily="34" charset="-120"/>
              </a:rPr>
              <a:t>SRN: [enter your SRN]</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Apple TV+ and the Challenge</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Intro</a:t>
            </a:r>
            <a:endParaRPr lang="en-US" sz="1100" dirty="0"/>
          </a:p>
        </p:txBody>
      </p:sp>
      <p:sp>
        <p:nvSpPr>
          <p:cNvPr id="4" name="Text 2"/>
          <p:cNvSpPr txBox="1"/>
          <p:nvPr/>
        </p:nvSpPr>
        <p:spPr>
          <a:xfrm>
            <a:off x="548640" y="1371600"/>
            <a:ext cx="1737360" cy="91440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What it is</a:t>
            </a:r>
            <a:endParaRPr lang="en-US" sz="1500" dirty="0"/>
          </a:p>
        </p:txBody>
      </p:sp>
      <p:sp>
        <p:nvSpPr>
          <p:cNvPr id="5" name="Text 3"/>
          <p:cNvSpPr txBox="1"/>
          <p:nvPr/>
        </p:nvSpPr>
        <p:spPr>
          <a:xfrm>
            <a:off x="2286000" y="1371600"/>
            <a:ext cx="4937760" cy="105156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Apple TV+ is an original-content subscription service. It competes on the quality of its programmes rather than the size of its library, so each title carries more weight.</a:t>
            </a:r>
            <a:endParaRPr lang="en-US" sz="1400" dirty="0"/>
          </a:p>
        </p:txBody>
      </p:sp>
      <p:sp>
        <p:nvSpPr>
          <p:cNvPr id="6" name="Text 4"/>
          <p:cNvSpPr txBox="1"/>
          <p:nvPr/>
        </p:nvSpPr>
        <p:spPr>
          <a:xfrm>
            <a:off x="548640" y="2560320"/>
            <a:ext cx="1737360" cy="91440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Ecosystem</a:t>
            </a:r>
            <a:endParaRPr lang="en-US" sz="1500" dirty="0"/>
          </a:p>
        </p:txBody>
      </p:sp>
      <p:sp>
        <p:nvSpPr>
          <p:cNvPr id="7" name="Text 5"/>
          <p:cNvSpPr txBox="1"/>
          <p:nvPr/>
        </p:nvSpPr>
        <p:spPr>
          <a:xfrm>
            <a:off x="2286000" y="2560320"/>
            <a:ext cx="4937760" cy="105156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Content is integrated across iPhone, iPad and other Apple devices, so the viewing experience follows the subscriber from screen to screen.</a:t>
            </a:r>
            <a:endParaRPr lang="en-US" sz="1400" dirty="0"/>
          </a:p>
        </p:txBody>
      </p:sp>
      <p:sp>
        <p:nvSpPr>
          <p:cNvPr id="8" name="Text 6"/>
          <p:cNvSpPr txBox="1"/>
          <p:nvPr/>
        </p:nvSpPr>
        <p:spPr>
          <a:xfrm>
            <a:off x="548640" y="3749040"/>
            <a:ext cx="1737360" cy="91440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The challenge</a:t>
            </a:r>
            <a:endParaRPr lang="en-US" sz="1500" dirty="0"/>
          </a:p>
        </p:txBody>
      </p:sp>
      <p:sp>
        <p:nvSpPr>
          <p:cNvPr id="9" name="Text 7"/>
          <p:cNvSpPr txBox="1"/>
          <p:nvPr/>
        </p:nvSpPr>
        <p:spPr>
          <a:xfrm>
            <a:off x="2286000" y="3749040"/>
            <a:ext cx="4937760" cy="105156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Using data to improve recommendations without limiting creativity.</a:t>
            </a:r>
            <a:endParaRPr lang="en-US" sz="1400" dirty="0"/>
          </a:p>
        </p:txBody>
      </p:sp>
      <p:sp>
        <p:nvSpPr>
          <p:cNvPr id="10" name="Text 8"/>
          <p:cNvSpPr txBox="1"/>
          <p:nvPr/>
        </p:nvSpPr>
        <p:spPr>
          <a:xfrm>
            <a:off x="548640" y="4937760"/>
            <a:ext cx="1737360" cy="91440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Why it matters</a:t>
            </a:r>
            <a:endParaRPr lang="en-US" sz="1500" dirty="0"/>
          </a:p>
        </p:txBody>
      </p:sp>
      <p:sp>
        <p:nvSpPr>
          <p:cNvPr id="11" name="Text 9"/>
          <p:cNvSpPr txBox="1"/>
          <p:nvPr/>
        </p:nvSpPr>
        <p:spPr>
          <a:xfrm>
            <a:off x="2286000" y="4937760"/>
            <a:ext cx="4937760" cy="105156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Retention, competition with Netflix, Prime Video and Disney+, and the tension between creative and data-driven decisions inside the organisation.</a:t>
            </a:r>
            <a:endParaRPr lang="en-US" sz="1400" dirty="0"/>
          </a:p>
        </p:txBody>
      </p:sp>
      <p:sp>
        <p:nvSpPr>
          <p:cNvPr id="12" name="Shape 10"/>
          <p:cNvSpPr/>
          <p:nvPr/>
        </p:nvSpPr>
        <p:spPr>
          <a:xfrm>
            <a:off x="7772400" y="1371600"/>
            <a:ext cx="3840480" cy="4480560"/>
          </a:xfrm>
          <a:prstGeom prst="roundRect">
            <a:avLst>
              <a:gd name="adj" fmla="val 1905"/>
            </a:avLst>
          </a:prstGeom>
          <a:solidFill>
            <a:srgbClr val="F2F5FB"/>
          </a:solidFill>
          <a:ln w="12700">
            <a:solidFill>
              <a:srgbClr val="CADCFC"/>
            </a:solidFill>
            <a:prstDash val="solid"/>
          </a:ln>
        </p:spPr>
      </p:sp>
      <p:sp>
        <p:nvSpPr>
          <p:cNvPr id="13" name="Text 11"/>
          <p:cNvSpPr txBox="1"/>
          <p:nvPr/>
        </p:nvSpPr>
        <p:spPr>
          <a:xfrm>
            <a:off x="7955280" y="1645920"/>
            <a:ext cx="3474720" cy="1097280"/>
          </a:xfrm>
          <a:prstGeom prst="rect">
            <a:avLst/>
          </a:prstGeom>
          <a:noFill/>
          <a:ln/>
        </p:spPr>
        <p:txBody>
          <a:bodyPr wrap="square" lIns="0" tIns="0" rIns="0" bIns="0" rtlCol="0" anchor="ctr"/>
          <a:lstStyle/>
          <a:p>
            <a:pPr algn="ctr" indent="0" marL="0">
              <a:buNone/>
            </a:pPr>
            <a:r>
              <a:rPr lang="en-US" sz="6000" b="1" dirty="0">
                <a:solidFill>
                  <a:srgbClr val="1E2761"/>
                </a:solidFill>
                <a:latin typeface="Cambria" pitchFamily="34" charset="0"/>
                <a:ea typeface="Cambria" pitchFamily="34" charset="-122"/>
                <a:cs typeface="Cambria" pitchFamily="34" charset="-120"/>
              </a:rPr>
              <a:t>37.2%</a:t>
            </a:r>
            <a:endParaRPr lang="en-US" sz="6000" dirty="0"/>
          </a:p>
        </p:txBody>
      </p:sp>
      <p:sp>
        <p:nvSpPr>
          <p:cNvPr id="14" name="Text 12"/>
          <p:cNvSpPr txBox="1"/>
          <p:nvPr/>
        </p:nvSpPr>
        <p:spPr>
          <a:xfrm>
            <a:off x="8046720" y="2743200"/>
            <a:ext cx="3291840" cy="1554480"/>
          </a:xfrm>
          <a:prstGeom prst="rect">
            <a:avLst/>
          </a:prstGeom>
          <a:noFill/>
          <a:ln/>
        </p:spPr>
        <p:txBody>
          <a:bodyPr wrap="square" lIns="0" tIns="0" rIns="0" bIns="0" rtlCol="0" anchor="t"/>
          <a:lstStyle/>
          <a:p>
            <a:pPr algn="ctr" indent="0" marL="0">
              <a:buNone/>
            </a:pPr>
            <a:r>
              <a:rPr lang="en-US" sz="1400" dirty="0">
                <a:solidFill>
                  <a:srgbClr val="27314D"/>
                </a:solidFill>
                <a:latin typeface="Calibri" pitchFamily="34" charset="0"/>
                <a:ea typeface="Calibri" pitchFamily="34" charset="-122"/>
                <a:cs typeface="Calibri" pitchFamily="34" charset="-120"/>
              </a:rPr>
              <a:t>of Apple TV+ gross subscriber additions were returning subscribers who had cancelled within the prior 12 months, the highest serial-churn rate in the industry (Antenna, 2024)</a:t>
            </a:r>
            <a:endParaRPr lang="en-US" sz="1400" dirty="0"/>
          </a:p>
        </p:txBody>
      </p:sp>
      <p:sp>
        <p:nvSpPr>
          <p:cNvPr id="15" name="Text 13"/>
          <p:cNvSpPr txBox="1"/>
          <p:nvPr/>
        </p:nvSpPr>
        <p:spPr>
          <a:xfrm>
            <a:off x="8046720" y="4343400"/>
            <a:ext cx="3291840" cy="1371600"/>
          </a:xfrm>
          <a:prstGeom prst="rect">
            <a:avLst/>
          </a:prstGeom>
          <a:noFill/>
          <a:ln/>
        </p:spPr>
        <p:txBody>
          <a:bodyPr wrap="square" lIns="0" tIns="0" rIns="0" bIns="0" rtlCol="0" anchor="t"/>
          <a:lstStyle/>
          <a:p>
            <a:pPr algn="ctr" indent="0" marL="0">
              <a:buNone/>
            </a:pPr>
            <a:r>
              <a:rPr lang="en-US" sz="1200" i="1" dirty="0">
                <a:solidFill>
                  <a:srgbClr val="6B7590"/>
                </a:solidFill>
                <a:latin typeface="Calibri" pitchFamily="34" charset="0"/>
                <a:ea typeface="Calibri" pitchFamily="34" charset="-122"/>
                <a:cs typeface="Calibri" pitchFamily="34" charset="-120"/>
              </a:rPr>
              <a:t>Industry context: monthly churn across major US streaming services rose from 5.1% to 6.3% (Nov 2022 to Nov 2023). Retaining a subscriber costs less than acquiring one (Reichheld, 2003).</a:t>
            </a:r>
            <a:endParaRPr lang="en-US" sz="1200" dirty="0"/>
          </a:p>
        </p:txBody>
      </p:sp>
      <p:sp>
        <p:nvSpPr>
          <p:cNvPr id="16" name="Text 14"/>
          <p:cNvSpPr txBox="1"/>
          <p:nvPr/>
        </p:nvSpPr>
        <p:spPr>
          <a:xfrm>
            <a:off x="548640" y="6263640"/>
            <a:ext cx="11064240" cy="36576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Source: Antenna (2024); industry churn as reported by ABC News.</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The Technology: A Recommendation Engine</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Technology</a:t>
            </a:r>
            <a:endParaRPr lang="en-US" sz="1100" dirty="0"/>
          </a:p>
        </p:txBody>
      </p:sp>
      <p:sp>
        <p:nvSpPr>
          <p:cNvPr id="4" name="Text 2"/>
          <p:cNvSpPr txBox="1"/>
          <p:nvPr/>
        </p:nvSpPr>
        <p:spPr>
          <a:xfrm>
            <a:off x="548640" y="1280160"/>
            <a:ext cx="11064240" cy="914400"/>
          </a:xfrm>
          <a:prstGeom prst="rect">
            <a:avLst/>
          </a:prstGeom>
          <a:noFill/>
          <a:ln/>
        </p:spPr>
        <p:txBody>
          <a:bodyPr wrap="square" lIns="0" tIns="0" rIns="0" bIns="0" rtlCol="0" anchor="t"/>
          <a:lstStyle/>
          <a:p>
            <a:pPr indent="0" marL="0">
              <a:buNone/>
            </a:pPr>
            <a:r>
              <a:rPr lang="en-US" sz="1600" dirty="0">
                <a:solidFill>
                  <a:srgbClr val="27314D"/>
                </a:solidFill>
                <a:latin typeface="Calibri" pitchFamily="34" charset="0"/>
                <a:ea typeface="Calibri" pitchFamily="34" charset="-122"/>
                <a:cs typeface="Calibri" pitchFamily="34" charset="-120"/>
              </a:rPr>
              <a:t>A machine-learning recommendation engine learns from what viewers do and predicts what each viewer will want to watch next. Recommender systems help people choose among many options by drawing on patterns in collective behaviour (Resnick and Varian, 1997).</a:t>
            </a:r>
            <a:endParaRPr lang="en-US" sz="1600" dirty="0"/>
          </a:p>
        </p:txBody>
      </p:sp>
      <p:sp>
        <p:nvSpPr>
          <p:cNvPr id="5" name="Shape 3"/>
          <p:cNvSpPr/>
          <p:nvPr/>
        </p:nvSpPr>
        <p:spPr>
          <a:xfrm>
            <a:off x="548640" y="2377440"/>
            <a:ext cx="3108960" cy="2103120"/>
          </a:xfrm>
          <a:prstGeom prst="roundRect">
            <a:avLst>
              <a:gd name="adj" fmla="val 3478"/>
            </a:avLst>
          </a:prstGeom>
          <a:solidFill>
            <a:srgbClr val="F2F5FB"/>
          </a:solidFill>
          <a:ln w="12700">
            <a:solidFill>
              <a:srgbClr val="CADCFC"/>
            </a:solidFill>
            <a:prstDash val="solid"/>
          </a:ln>
        </p:spPr>
      </p:sp>
      <p:sp>
        <p:nvSpPr>
          <p:cNvPr id="6" name="Text 4"/>
          <p:cNvSpPr txBox="1"/>
          <p:nvPr/>
        </p:nvSpPr>
        <p:spPr>
          <a:xfrm>
            <a:off x="731520" y="2514600"/>
            <a:ext cx="2743200" cy="411480"/>
          </a:xfrm>
          <a:prstGeom prst="rect">
            <a:avLst/>
          </a:prstGeom>
          <a:noFill/>
          <a:ln/>
        </p:spPr>
        <p:txBody>
          <a:bodyPr wrap="square" lIns="0" tIns="0" rIns="0" bIns="0" rtlCol="0" anchor="t"/>
          <a:lstStyle/>
          <a:p>
            <a:pPr indent="0" marL="0">
              <a:buNone/>
            </a:pPr>
            <a:r>
              <a:rPr lang="en-US" sz="1800" b="1" dirty="0">
                <a:solidFill>
                  <a:srgbClr val="27314D"/>
                </a:solidFill>
                <a:latin typeface="Cambria" pitchFamily="34" charset="0"/>
                <a:ea typeface="Cambria" pitchFamily="34" charset="-122"/>
                <a:cs typeface="Cambria" pitchFamily="34" charset="-120"/>
              </a:rPr>
              <a:t>Input</a:t>
            </a:r>
            <a:endParaRPr lang="en-US" sz="1800" dirty="0"/>
          </a:p>
        </p:txBody>
      </p:sp>
      <p:sp>
        <p:nvSpPr>
          <p:cNvPr id="7" name="Text 5"/>
          <p:cNvSpPr txBox="1"/>
          <p:nvPr/>
        </p:nvSpPr>
        <p:spPr>
          <a:xfrm>
            <a:off x="731520" y="3017520"/>
            <a:ext cx="2743200" cy="1371600"/>
          </a:xfrm>
          <a:prstGeom prst="rect">
            <a:avLst/>
          </a:prstGeom>
          <a:noFill/>
          <a:ln/>
        </p:spPr>
        <p:txBody>
          <a:bodyPr wrap="square" lIns="0" tIns="0" rIns="0" bIns="0" rtlCol="0" anchor="t"/>
          <a:lstStyle/>
          <a:p>
            <a:pPr indent="0" marL="0">
              <a:buNone/>
            </a:pPr>
            <a:r>
              <a:rPr lang="en-US" sz="1500" dirty="0">
                <a:solidFill>
                  <a:srgbClr val="27314D"/>
                </a:solidFill>
                <a:latin typeface="Calibri" pitchFamily="34" charset="0"/>
                <a:ea typeface="Calibri" pitchFamily="34" charset="-122"/>
                <a:cs typeface="Calibri" pitchFamily="34" charset="-120"/>
              </a:rPr>
              <a:t>Viewing history, searches, and behaviour signals such as pauses and rewinds</a:t>
            </a:r>
            <a:endParaRPr lang="en-US" sz="1500" dirty="0"/>
          </a:p>
        </p:txBody>
      </p:sp>
      <p:sp>
        <p:nvSpPr>
          <p:cNvPr id="8" name="Shape 6"/>
          <p:cNvSpPr/>
          <p:nvPr/>
        </p:nvSpPr>
        <p:spPr>
          <a:xfrm>
            <a:off x="3794760" y="3246120"/>
            <a:ext cx="640080" cy="365760"/>
          </a:xfrm>
          <a:prstGeom prst="rightArrow">
            <a:avLst/>
          </a:prstGeom>
          <a:solidFill>
            <a:srgbClr val="1E56A0"/>
          </a:solidFill>
          <a:ln w="12700">
            <a:solidFill>
              <a:srgbClr val="1E56A0"/>
            </a:solidFill>
            <a:prstDash val="solid"/>
          </a:ln>
        </p:spPr>
      </p:sp>
      <p:sp>
        <p:nvSpPr>
          <p:cNvPr id="9" name="Shape 7"/>
          <p:cNvSpPr/>
          <p:nvPr/>
        </p:nvSpPr>
        <p:spPr>
          <a:xfrm>
            <a:off x="4526280" y="2377440"/>
            <a:ext cx="3108960" cy="2103120"/>
          </a:xfrm>
          <a:prstGeom prst="roundRect">
            <a:avLst>
              <a:gd name="adj" fmla="val 3478"/>
            </a:avLst>
          </a:prstGeom>
          <a:solidFill>
            <a:srgbClr val="1E2761"/>
          </a:solidFill>
          <a:ln w="12700">
            <a:solidFill>
              <a:srgbClr val="1E2761"/>
            </a:solidFill>
            <a:prstDash val="solid"/>
          </a:ln>
        </p:spPr>
      </p:sp>
      <p:sp>
        <p:nvSpPr>
          <p:cNvPr id="10" name="Text 8"/>
          <p:cNvSpPr txBox="1"/>
          <p:nvPr/>
        </p:nvSpPr>
        <p:spPr>
          <a:xfrm>
            <a:off x="4709160" y="2514600"/>
            <a:ext cx="2743200" cy="41148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Process</a:t>
            </a:r>
            <a:endParaRPr lang="en-US" sz="1800" dirty="0"/>
          </a:p>
        </p:txBody>
      </p:sp>
      <p:sp>
        <p:nvSpPr>
          <p:cNvPr id="11" name="Text 9"/>
          <p:cNvSpPr txBox="1"/>
          <p:nvPr/>
        </p:nvSpPr>
        <p:spPr>
          <a:xfrm>
            <a:off x="4709160" y="3017520"/>
            <a:ext cx="2743200" cy="137160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Machine learning finds patterns and predicts what each viewer wants next</a:t>
            </a:r>
            <a:endParaRPr lang="en-US" sz="1500" dirty="0"/>
          </a:p>
        </p:txBody>
      </p:sp>
      <p:sp>
        <p:nvSpPr>
          <p:cNvPr id="12" name="Shape 10"/>
          <p:cNvSpPr/>
          <p:nvPr/>
        </p:nvSpPr>
        <p:spPr>
          <a:xfrm>
            <a:off x="7772400" y="3246120"/>
            <a:ext cx="640080" cy="365760"/>
          </a:xfrm>
          <a:prstGeom prst="rightArrow">
            <a:avLst/>
          </a:prstGeom>
          <a:solidFill>
            <a:srgbClr val="1E56A0"/>
          </a:solidFill>
          <a:ln w="12700">
            <a:solidFill>
              <a:srgbClr val="1E56A0"/>
            </a:solidFill>
            <a:prstDash val="solid"/>
          </a:ln>
        </p:spPr>
      </p:sp>
      <p:sp>
        <p:nvSpPr>
          <p:cNvPr id="13" name="Shape 11"/>
          <p:cNvSpPr/>
          <p:nvPr/>
        </p:nvSpPr>
        <p:spPr>
          <a:xfrm>
            <a:off x="8503920" y="2377440"/>
            <a:ext cx="3108960" cy="2103120"/>
          </a:xfrm>
          <a:prstGeom prst="roundRect">
            <a:avLst>
              <a:gd name="adj" fmla="val 3478"/>
            </a:avLst>
          </a:prstGeom>
          <a:solidFill>
            <a:srgbClr val="F2F5FB"/>
          </a:solidFill>
          <a:ln w="12700">
            <a:solidFill>
              <a:srgbClr val="CADCFC"/>
            </a:solidFill>
            <a:prstDash val="solid"/>
          </a:ln>
        </p:spPr>
      </p:sp>
      <p:sp>
        <p:nvSpPr>
          <p:cNvPr id="14" name="Text 12"/>
          <p:cNvSpPr txBox="1"/>
          <p:nvPr/>
        </p:nvSpPr>
        <p:spPr>
          <a:xfrm>
            <a:off x="8686800" y="2514600"/>
            <a:ext cx="2743200" cy="411480"/>
          </a:xfrm>
          <a:prstGeom prst="rect">
            <a:avLst/>
          </a:prstGeom>
          <a:noFill/>
          <a:ln/>
        </p:spPr>
        <p:txBody>
          <a:bodyPr wrap="square" lIns="0" tIns="0" rIns="0" bIns="0" rtlCol="0" anchor="t"/>
          <a:lstStyle/>
          <a:p>
            <a:pPr indent="0" marL="0">
              <a:buNone/>
            </a:pPr>
            <a:r>
              <a:rPr lang="en-US" sz="1800" b="1" dirty="0">
                <a:solidFill>
                  <a:srgbClr val="27314D"/>
                </a:solidFill>
                <a:latin typeface="Cambria" pitchFamily="34" charset="0"/>
                <a:ea typeface="Cambria" pitchFamily="34" charset="-122"/>
                <a:cs typeface="Cambria" pitchFamily="34" charset="-120"/>
              </a:rPr>
              <a:t>Output</a:t>
            </a:r>
            <a:endParaRPr lang="en-US" sz="1800" dirty="0"/>
          </a:p>
        </p:txBody>
      </p:sp>
      <p:sp>
        <p:nvSpPr>
          <p:cNvPr id="15" name="Text 13"/>
          <p:cNvSpPr txBox="1"/>
          <p:nvPr/>
        </p:nvSpPr>
        <p:spPr>
          <a:xfrm>
            <a:off x="8686800" y="3017520"/>
            <a:ext cx="2743200" cy="1371600"/>
          </a:xfrm>
          <a:prstGeom prst="rect">
            <a:avLst/>
          </a:prstGeom>
          <a:noFill/>
          <a:ln/>
        </p:spPr>
        <p:txBody>
          <a:bodyPr wrap="square" lIns="0" tIns="0" rIns="0" bIns="0" rtlCol="0" anchor="t"/>
          <a:lstStyle/>
          <a:p>
            <a:pPr indent="0" marL="0">
              <a:buNone/>
            </a:pPr>
            <a:r>
              <a:rPr lang="en-US" sz="1500" dirty="0">
                <a:solidFill>
                  <a:srgbClr val="27314D"/>
                </a:solidFill>
                <a:latin typeface="Calibri" pitchFamily="34" charset="0"/>
                <a:ea typeface="Calibri" pitchFamily="34" charset="-122"/>
                <a:cs typeface="Calibri" pitchFamily="34" charset="-120"/>
              </a:rPr>
              <a:t>A personalised home screen and “what to watch next” suggestions</a:t>
            </a:r>
            <a:endParaRPr lang="en-US" sz="1500" dirty="0"/>
          </a:p>
        </p:txBody>
      </p:sp>
      <p:sp>
        <p:nvSpPr>
          <p:cNvPr id="16" name="Text 14"/>
          <p:cNvSpPr txBox="1"/>
          <p:nvPr/>
        </p:nvSpPr>
        <p:spPr>
          <a:xfrm>
            <a:off x="548640" y="6263640"/>
            <a:ext cx="11064240" cy="36576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Figure 1: Input, process and output of a recommendation engine. Adapted from Resnick and Varian (1997) and Gomez-Uribe and Hunt (2015).</a:t>
            </a:r>
            <a:endParaRPr lang="en-US" sz="1100" dirty="0"/>
          </a:p>
        </p:txBody>
      </p:sp>
      <p:sp>
        <p:nvSpPr>
          <p:cNvPr id="17" name="Text 15"/>
          <p:cNvSpPr txBox="1"/>
          <p:nvPr/>
        </p:nvSpPr>
        <p:spPr>
          <a:xfrm>
            <a:off x="548640" y="4846320"/>
            <a:ext cx="11064240" cy="1280160"/>
          </a:xfrm>
          <a:prstGeom prst="rect">
            <a:avLst/>
          </a:prstGeom>
          <a:noFill/>
          <a:ln/>
        </p:spPr>
        <p:txBody>
          <a:bodyPr wrap="square" lIns="0" tIns="0" rIns="0" bIns="0" rtlCol="0" anchor="t"/>
          <a:lstStyle/>
          <a:p>
            <a:pPr indent="0" marL="0">
              <a:spcAft>
                <a:spcPts val="800"/>
              </a:spcAft>
              <a:buNone/>
            </a:pPr>
            <a:r>
              <a:rPr lang="en-US" sz="1500" b="1" dirty="0">
                <a:solidFill>
                  <a:srgbClr val="1E2761"/>
                </a:solidFill>
                <a:latin typeface="Calibri" pitchFamily="34" charset="0"/>
                <a:ea typeface="Calibri" pitchFamily="34" charset="-122"/>
                <a:cs typeface="Calibri" pitchFamily="34" charset="-120"/>
              </a:rPr>
              <a:t>Example: </a:t>
            </a:r>
            <a:pPr indent="0" marL="0">
              <a:spcAft>
                <a:spcPts val="800"/>
              </a:spcAft>
              <a:buNone/>
            </a:pPr>
            <a:r>
              <a:rPr lang="en-US" sz="1500" dirty="0">
                <a:solidFill>
                  <a:srgbClr val="27314D"/>
                </a:solidFill>
                <a:latin typeface="Calibri" pitchFamily="34" charset="0"/>
                <a:ea typeface="Calibri" pitchFamily="34" charset="-122"/>
                <a:cs typeface="Calibri" pitchFamily="34" charset="-120"/>
              </a:rPr>
              <a:t>Netflix personalises rows and titles for each member, and estimates the system is worth over $1 billion a year in retained subscribers (Gomez-Uribe and Hunt, 2015).</a:t>
            </a:r>
            <a:endParaRPr lang="en-US" sz="1500" dirty="0"/>
          </a:p>
          <a:p>
            <a:pPr indent="0" marL="0">
              <a:spcAft>
                <a:spcPts val="800"/>
              </a:spcAft>
              <a:buNone/>
            </a:pPr>
            <a:r>
              <a:rPr lang="en-US" sz="1500" b="1" dirty="0">
                <a:solidFill>
                  <a:srgbClr val="1E2761"/>
                </a:solidFill>
                <a:latin typeface="Calibri" pitchFamily="34" charset="0"/>
                <a:ea typeface="Calibri" pitchFamily="34" charset="-122"/>
                <a:cs typeface="Calibri" pitchFamily="34" charset="-120"/>
              </a:rPr>
              <a:t>Apple’s disclosure: </a:t>
            </a:r>
            <a:pPr indent="0" marL="0">
              <a:spcAft>
                <a:spcPts val="800"/>
              </a:spcAft>
              <a:buNone/>
            </a:pPr>
            <a:r>
              <a:rPr lang="en-US" sz="1500" dirty="0">
                <a:solidFill>
                  <a:srgbClr val="27314D"/>
                </a:solidFill>
                <a:latin typeface="Calibri" pitchFamily="34" charset="0"/>
                <a:ea typeface="Calibri" pitchFamily="34" charset="-122"/>
                <a:cs typeface="Calibri" pitchFamily="34" charset="-120"/>
              </a:rPr>
              <a:t>viewing and activity data is collected “to tailor features and offer personalised recommendations” (Apple Inc., 2025).</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How the Engine Addresses the Challenge</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Technology</a:t>
            </a:r>
            <a:endParaRPr lang="en-US" sz="1100" dirty="0"/>
          </a:p>
        </p:txBody>
      </p:sp>
      <p:sp>
        <p:nvSpPr>
          <p:cNvPr id="4" name="Text 2"/>
          <p:cNvSpPr txBox="1"/>
          <p:nvPr/>
        </p:nvSpPr>
        <p:spPr>
          <a:xfrm>
            <a:off x="548640" y="1371600"/>
            <a:ext cx="6035040" cy="365760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Matching at scale</a:t>
            </a:r>
            <a:endParaRPr lang="en-US" sz="1500" dirty="0"/>
          </a:p>
          <a:p>
            <a:pPr indent="0" marL="0">
              <a:buNone/>
            </a:pPr>
            <a:r>
              <a:rPr lang="en-US" sz="1500" dirty="0">
                <a:solidFill>
                  <a:srgbClr val="27314D"/>
                </a:solidFill>
                <a:latin typeface="Calibri" pitchFamily="34" charset="0"/>
                <a:ea typeface="Calibri" pitchFamily="34" charset="-122"/>
                <a:cs typeface="Calibri" pitchFamily="34" charset="-120"/>
              </a:rPr>
              <a:t>The engine matches a small, high-quality catalogue to millions of different viewers, so good original content is found rather than buried.</a:t>
            </a:r>
            <a:endParaRPr lang="en-US" sz="1500" dirty="0"/>
          </a:p>
          <a:p>
            <a:pPr indent="0" marL="0">
              <a:buNone/>
            </a:pPr>
            <a:r>
              <a:rPr lang="en-US" sz="800" dirty="0">
                <a:solidFill>
                  <a:srgbClr val="27314D"/>
                </a:solidFill>
                <a:latin typeface="Calibri" pitchFamily="34" charset="0"/>
                <a:ea typeface="Calibri" pitchFamily="34" charset="-122"/>
                <a:cs typeface="Calibri" pitchFamily="34" charset="-120"/>
              </a:rPr>
              <a:t> </a:t>
            </a:r>
            <a:endParaRPr lang="en-US" sz="1500" dirty="0"/>
          </a:p>
          <a:p>
            <a:pPr indent="0" marL="0">
              <a:buNone/>
            </a:pPr>
            <a:r>
              <a:rPr lang="en-US" sz="1500" b="1" dirty="0">
                <a:solidFill>
                  <a:srgbClr val="1E2761"/>
                </a:solidFill>
                <a:latin typeface="Calibri" pitchFamily="34" charset="0"/>
                <a:ea typeface="Calibri" pitchFamily="34" charset="-122"/>
                <a:cs typeface="Calibri" pitchFamily="34" charset="-120"/>
              </a:rPr>
              <a:t>Rivalry with Netflix, Prime Video and Disney+</a:t>
            </a:r>
            <a:endParaRPr lang="en-US" sz="1500" dirty="0"/>
          </a:p>
          <a:p>
            <a:pPr indent="0" marL="0">
              <a:buNone/>
            </a:pPr>
            <a:r>
              <a:rPr lang="en-US" sz="1500" dirty="0">
                <a:solidFill>
                  <a:srgbClr val="27314D"/>
                </a:solidFill>
                <a:latin typeface="Calibri" pitchFamily="34" charset="0"/>
                <a:ea typeface="Calibri" pitchFamily="34" charset="-122"/>
                <a:cs typeface="Calibri" pitchFamily="34" charset="-120"/>
              </a:rPr>
              <a:t>Better discovery raises the value of each subscription, but rivals run similar engines, so it protects position rather than creating a lead.</a:t>
            </a:r>
            <a:endParaRPr lang="en-US" sz="1500" dirty="0"/>
          </a:p>
          <a:p>
            <a:pPr indent="0" marL="0">
              <a:buNone/>
            </a:pPr>
            <a:r>
              <a:rPr lang="en-US" sz="800" dirty="0">
                <a:solidFill>
                  <a:srgbClr val="27314D"/>
                </a:solidFill>
                <a:latin typeface="Calibri" pitchFamily="34" charset="0"/>
                <a:ea typeface="Calibri" pitchFamily="34" charset="-122"/>
                <a:cs typeface="Calibri" pitchFamily="34" charset="-120"/>
              </a:rPr>
              <a:t> </a:t>
            </a:r>
            <a:endParaRPr lang="en-US" sz="1500" dirty="0"/>
          </a:p>
          <a:p>
            <a:pPr indent="0" marL="0">
              <a:buNone/>
            </a:pPr>
            <a:r>
              <a:rPr lang="en-US" sz="1500" b="1" dirty="0">
                <a:solidFill>
                  <a:srgbClr val="1E2761"/>
                </a:solidFill>
                <a:latin typeface="Calibri" pitchFamily="34" charset="0"/>
                <a:ea typeface="Calibri" pitchFamily="34" charset="-122"/>
                <a:cs typeface="Calibri" pitchFamily="34" charset="-120"/>
              </a:rPr>
              <a:t>Buyer switching power</a:t>
            </a:r>
            <a:endParaRPr lang="en-US" sz="1500" dirty="0"/>
          </a:p>
          <a:p>
            <a:pPr indent="0" marL="0">
              <a:buNone/>
            </a:pPr>
            <a:r>
              <a:rPr lang="en-US" sz="1500" dirty="0">
                <a:solidFill>
                  <a:srgbClr val="27314D"/>
                </a:solidFill>
                <a:latin typeface="Calibri" pitchFamily="34" charset="0"/>
                <a:ea typeface="Calibri" pitchFamily="34" charset="-122"/>
                <a:cs typeface="Calibri" pitchFamily="34" charset="-120"/>
              </a:rPr>
              <a:t>Switching costs are low. A profile that has learned a viewer’s taste adds a small cost to leaving.</a:t>
            </a:r>
            <a:endParaRPr lang="en-US" sz="1500" dirty="0"/>
          </a:p>
          <a:p>
            <a:pPr indent="0" marL="0">
              <a:buNone/>
            </a:pPr>
            <a:r>
              <a:rPr lang="en-US" sz="800" dirty="0">
                <a:solidFill>
                  <a:srgbClr val="27314D"/>
                </a:solidFill>
                <a:latin typeface="Calibri" pitchFamily="34" charset="0"/>
                <a:ea typeface="Calibri" pitchFamily="34" charset="-122"/>
                <a:cs typeface="Calibri" pitchFamily="34" charset="-120"/>
              </a:rPr>
              <a:t> </a:t>
            </a:r>
            <a:endParaRPr lang="en-US" sz="1500" dirty="0"/>
          </a:p>
          <a:p>
            <a:pPr indent="0" marL="0">
              <a:buNone/>
            </a:pPr>
            <a:r>
              <a:rPr lang="en-US" sz="1500" b="1" dirty="0">
                <a:solidFill>
                  <a:srgbClr val="F96167"/>
                </a:solidFill>
                <a:latin typeface="Calibri" pitchFamily="34" charset="0"/>
                <a:ea typeface="Calibri" pitchFamily="34" charset="-122"/>
                <a:cs typeface="Calibri" pitchFamily="34" charset="-120"/>
              </a:rPr>
              <a:t>The creativity side</a:t>
            </a:r>
            <a:endParaRPr lang="en-US" sz="1500" dirty="0"/>
          </a:p>
          <a:p>
            <a:pPr indent="0" marL="0">
              <a:buNone/>
            </a:pPr>
            <a:r>
              <a:rPr lang="en-US" sz="1500" dirty="0">
                <a:solidFill>
                  <a:srgbClr val="27314D"/>
                </a:solidFill>
                <a:latin typeface="Calibri" pitchFamily="34" charset="0"/>
                <a:ea typeface="Calibri" pitchFamily="34" charset="-122"/>
                <a:cs typeface="Calibri" pitchFamily="34" charset="-120"/>
              </a:rPr>
              <a:t>The engine can steer which content is promoted. This is where creative teams’ concern comes from.</a:t>
            </a:r>
            <a:endParaRPr lang="en-US" sz="1500" dirty="0"/>
          </a:p>
        </p:txBody>
      </p:sp>
      <p:sp>
        <p:nvSpPr>
          <p:cNvPr id="5" name="Shape 3"/>
          <p:cNvSpPr/>
          <p:nvPr/>
        </p:nvSpPr>
        <p:spPr>
          <a:xfrm>
            <a:off x="548640" y="5120640"/>
            <a:ext cx="1508760" cy="731520"/>
          </a:xfrm>
          <a:prstGeom prst="homePlate">
            <a:avLst/>
          </a:prstGeom>
          <a:solidFill>
            <a:srgbClr val="1E56A0"/>
          </a:solidFill>
          <a:ln w="12700">
            <a:solidFill>
              <a:srgbClr val="FFFFFF"/>
            </a:solidFill>
            <a:prstDash val="solid"/>
          </a:ln>
        </p:spPr>
      </p:sp>
      <p:sp>
        <p:nvSpPr>
          <p:cNvPr id="6" name="Text 4"/>
          <p:cNvSpPr txBox="1"/>
          <p:nvPr/>
        </p:nvSpPr>
        <p:spPr>
          <a:xfrm>
            <a:off x="621792" y="5120640"/>
            <a:ext cx="1188720" cy="7315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Viewing data</a:t>
            </a:r>
            <a:endParaRPr lang="en-US" sz="1200" dirty="0"/>
          </a:p>
        </p:txBody>
      </p:sp>
      <p:sp>
        <p:nvSpPr>
          <p:cNvPr id="7" name="Shape 5"/>
          <p:cNvSpPr/>
          <p:nvPr/>
        </p:nvSpPr>
        <p:spPr>
          <a:xfrm>
            <a:off x="2084832" y="5120640"/>
            <a:ext cx="1508760" cy="731520"/>
          </a:xfrm>
          <a:prstGeom prst="homePlate">
            <a:avLst/>
          </a:prstGeom>
          <a:solidFill>
            <a:srgbClr val="1E2761"/>
          </a:solidFill>
          <a:ln w="12700">
            <a:solidFill>
              <a:srgbClr val="FFFFFF"/>
            </a:solidFill>
            <a:prstDash val="solid"/>
          </a:ln>
        </p:spPr>
      </p:sp>
      <p:sp>
        <p:nvSpPr>
          <p:cNvPr id="8" name="Text 6"/>
          <p:cNvSpPr txBox="1"/>
          <p:nvPr/>
        </p:nvSpPr>
        <p:spPr>
          <a:xfrm>
            <a:off x="2157984" y="5120640"/>
            <a:ext cx="1188720" cy="7315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Recommendation engine</a:t>
            </a:r>
            <a:endParaRPr lang="en-US" sz="1200" dirty="0"/>
          </a:p>
        </p:txBody>
      </p:sp>
      <p:sp>
        <p:nvSpPr>
          <p:cNvPr id="9" name="Shape 7"/>
          <p:cNvSpPr/>
          <p:nvPr/>
        </p:nvSpPr>
        <p:spPr>
          <a:xfrm>
            <a:off x="3621024" y="5120640"/>
            <a:ext cx="1508760" cy="731520"/>
          </a:xfrm>
          <a:prstGeom prst="homePlate">
            <a:avLst/>
          </a:prstGeom>
          <a:solidFill>
            <a:srgbClr val="1E56A0"/>
          </a:solidFill>
          <a:ln w="12700">
            <a:solidFill>
              <a:srgbClr val="FFFFFF"/>
            </a:solidFill>
            <a:prstDash val="solid"/>
          </a:ln>
        </p:spPr>
      </p:sp>
      <p:sp>
        <p:nvSpPr>
          <p:cNvPr id="10" name="Text 8"/>
          <p:cNvSpPr txBox="1"/>
          <p:nvPr/>
        </p:nvSpPr>
        <p:spPr>
          <a:xfrm>
            <a:off x="3694176" y="5120640"/>
            <a:ext cx="1188720" cy="7315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Tailored home screen</a:t>
            </a:r>
            <a:endParaRPr lang="en-US" sz="1200" dirty="0"/>
          </a:p>
        </p:txBody>
      </p:sp>
      <p:sp>
        <p:nvSpPr>
          <p:cNvPr id="11" name="Shape 9"/>
          <p:cNvSpPr/>
          <p:nvPr/>
        </p:nvSpPr>
        <p:spPr>
          <a:xfrm>
            <a:off x="5157216" y="5120640"/>
            <a:ext cx="1508760" cy="731520"/>
          </a:xfrm>
          <a:prstGeom prst="homePlate">
            <a:avLst/>
          </a:prstGeom>
          <a:solidFill>
            <a:srgbClr val="1E56A0"/>
          </a:solidFill>
          <a:ln w="12700">
            <a:solidFill>
              <a:srgbClr val="FFFFFF"/>
            </a:solidFill>
            <a:prstDash val="solid"/>
          </a:ln>
        </p:spPr>
      </p:sp>
      <p:sp>
        <p:nvSpPr>
          <p:cNvPr id="12" name="Text 10"/>
          <p:cNvSpPr txBox="1"/>
          <p:nvPr/>
        </p:nvSpPr>
        <p:spPr>
          <a:xfrm>
            <a:off x="5230368" y="5120640"/>
            <a:ext cx="1188720" cy="7315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Retention vs rivals</a:t>
            </a:r>
            <a:endParaRPr lang="en-US" sz="1200" dirty="0"/>
          </a:p>
        </p:txBody>
      </p:sp>
      <p:sp>
        <p:nvSpPr>
          <p:cNvPr id="13" name="Shape 11"/>
          <p:cNvSpPr/>
          <p:nvPr/>
        </p:nvSpPr>
        <p:spPr>
          <a:xfrm>
            <a:off x="6949440" y="1371600"/>
            <a:ext cx="4663440" cy="4572000"/>
          </a:xfrm>
          <a:prstGeom prst="roundRect">
            <a:avLst>
              <a:gd name="adj" fmla="val 1600"/>
            </a:avLst>
          </a:prstGeom>
          <a:solidFill>
            <a:srgbClr val="F2F5FB"/>
          </a:solidFill>
          <a:ln w="12700">
            <a:solidFill>
              <a:srgbClr val="CADCFC"/>
            </a:solidFill>
            <a:prstDash val="solid"/>
          </a:ln>
        </p:spPr>
      </p:sp>
      <p:sp>
        <p:nvSpPr>
          <p:cNvPr id="14" name="Text 12"/>
          <p:cNvSpPr txBox="1"/>
          <p:nvPr/>
        </p:nvSpPr>
        <p:spPr>
          <a:xfrm>
            <a:off x="7132320" y="1463040"/>
            <a:ext cx="4297680" cy="365760"/>
          </a:xfrm>
          <a:prstGeom prst="rect">
            <a:avLst/>
          </a:prstGeom>
          <a:noFill/>
          <a:ln/>
        </p:spPr>
        <p:txBody>
          <a:bodyPr wrap="square" lIns="0" tIns="0" rIns="0" bIns="0" rtlCol="0" anchor="t"/>
          <a:lstStyle/>
          <a:p>
            <a:pPr algn="ctr" indent="0" marL="0">
              <a:buNone/>
            </a:pPr>
            <a:r>
              <a:rPr lang="en-US" sz="1500" b="1" dirty="0">
                <a:solidFill>
                  <a:srgbClr val="1E2761"/>
                </a:solidFill>
                <a:latin typeface="Calibri" pitchFamily="34" charset="0"/>
                <a:ea typeface="Calibri" pitchFamily="34" charset="-122"/>
                <a:cs typeface="Calibri" pitchFamily="34" charset="-120"/>
              </a:rPr>
              <a:t>Porter’s Five Forces</a:t>
            </a:r>
            <a:endParaRPr lang="en-US" sz="1500" dirty="0"/>
          </a:p>
        </p:txBody>
      </p:sp>
      <p:sp>
        <p:nvSpPr>
          <p:cNvPr id="15" name="Shape 13"/>
          <p:cNvSpPr/>
          <p:nvPr/>
        </p:nvSpPr>
        <p:spPr>
          <a:xfrm>
            <a:off x="8595360" y="2011680"/>
            <a:ext cx="1371600" cy="914400"/>
          </a:xfrm>
          <a:prstGeom prst="roundRect">
            <a:avLst>
              <a:gd name="adj" fmla="val 8000"/>
            </a:avLst>
          </a:prstGeom>
          <a:solidFill>
            <a:srgbClr val="FFFFFF"/>
          </a:solidFill>
          <a:ln w="12700">
            <a:solidFill>
              <a:srgbClr val="CADCFC"/>
            </a:solidFill>
            <a:prstDash val="solid"/>
          </a:ln>
        </p:spPr>
      </p:sp>
      <p:sp>
        <p:nvSpPr>
          <p:cNvPr id="16" name="Text 14"/>
          <p:cNvSpPr txBox="1"/>
          <p:nvPr/>
        </p:nvSpPr>
        <p:spPr>
          <a:xfrm>
            <a:off x="8641080" y="2011680"/>
            <a:ext cx="1280160" cy="914400"/>
          </a:xfrm>
          <a:prstGeom prst="rect">
            <a:avLst/>
          </a:prstGeom>
          <a:noFill/>
          <a:ln/>
        </p:spPr>
        <p:txBody>
          <a:bodyPr wrap="square" lIns="0" tIns="0" rIns="0" bIns="0" rtlCol="0" anchor="ctr"/>
          <a:lstStyle/>
          <a:p>
            <a:pPr algn="ctr" indent="0" marL="0">
              <a:buNone/>
            </a:pPr>
            <a:r>
              <a:rPr lang="en-US" sz="1200" dirty="0">
                <a:solidFill>
                  <a:srgbClr val="6B7590"/>
                </a:solidFill>
                <a:latin typeface="Calibri" pitchFamily="34" charset="0"/>
                <a:ea typeface="Calibri" pitchFamily="34" charset="-122"/>
                <a:cs typeface="Calibri" pitchFamily="34" charset="-120"/>
              </a:rPr>
              <a:t>New entrants</a:t>
            </a:r>
            <a:endParaRPr lang="en-US" sz="1200" dirty="0"/>
          </a:p>
        </p:txBody>
      </p:sp>
      <p:sp>
        <p:nvSpPr>
          <p:cNvPr id="17" name="Shape 15"/>
          <p:cNvSpPr/>
          <p:nvPr/>
        </p:nvSpPr>
        <p:spPr>
          <a:xfrm>
            <a:off x="7086600" y="3246120"/>
            <a:ext cx="1371600" cy="914400"/>
          </a:xfrm>
          <a:prstGeom prst="roundRect">
            <a:avLst>
              <a:gd name="adj" fmla="val 8000"/>
            </a:avLst>
          </a:prstGeom>
          <a:solidFill>
            <a:srgbClr val="FFFFFF"/>
          </a:solidFill>
          <a:ln w="12700">
            <a:solidFill>
              <a:srgbClr val="CADCFC"/>
            </a:solidFill>
            <a:prstDash val="solid"/>
          </a:ln>
        </p:spPr>
      </p:sp>
      <p:sp>
        <p:nvSpPr>
          <p:cNvPr id="18" name="Text 16"/>
          <p:cNvSpPr txBox="1"/>
          <p:nvPr/>
        </p:nvSpPr>
        <p:spPr>
          <a:xfrm>
            <a:off x="7132320" y="3246120"/>
            <a:ext cx="1280160" cy="914400"/>
          </a:xfrm>
          <a:prstGeom prst="rect">
            <a:avLst/>
          </a:prstGeom>
          <a:noFill/>
          <a:ln/>
        </p:spPr>
        <p:txBody>
          <a:bodyPr wrap="square" lIns="0" tIns="0" rIns="0" bIns="0" rtlCol="0" anchor="ctr"/>
          <a:lstStyle/>
          <a:p>
            <a:pPr algn="ctr" indent="0" marL="0">
              <a:buNone/>
            </a:pPr>
            <a:r>
              <a:rPr lang="en-US" sz="1200" dirty="0">
                <a:solidFill>
                  <a:srgbClr val="6B7590"/>
                </a:solidFill>
                <a:latin typeface="Calibri" pitchFamily="34" charset="0"/>
                <a:ea typeface="Calibri" pitchFamily="34" charset="-122"/>
                <a:cs typeface="Calibri" pitchFamily="34" charset="-120"/>
              </a:rPr>
              <a:t>Supplier power</a:t>
            </a:r>
            <a:endParaRPr lang="en-US" sz="1200" dirty="0"/>
          </a:p>
        </p:txBody>
      </p:sp>
      <p:sp>
        <p:nvSpPr>
          <p:cNvPr id="19" name="Shape 17"/>
          <p:cNvSpPr/>
          <p:nvPr/>
        </p:nvSpPr>
        <p:spPr>
          <a:xfrm>
            <a:off x="8595360" y="3246120"/>
            <a:ext cx="1371600" cy="914400"/>
          </a:xfrm>
          <a:prstGeom prst="roundRect">
            <a:avLst>
              <a:gd name="adj" fmla="val 8000"/>
            </a:avLst>
          </a:prstGeom>
          <a:solidFill>
            <a:srgbClr val="1E2761"/>
          </a:solidFill>
          <a:ln w="12700">
            <a:solidFill>
              <a:srgbClr val="1E2761"/>
            </a:solidFill>
            <a:prstDash val="solid"/>
          </a:ln>
        </p:spPr>
      </p:sp>
      <p:sp>
        <p:nvSpPr>
          <p:cNvPr id="20" name="Text 18"/>
          <p:cNvSpPr txBox="1"/>
          <p:nvPr/>
        </p:nvSpPr>
        <p:spPr>
          <a:xfrm>
            <a:off x="8641080" y="3246120"/>
            <a:ext cx="1280160" cy="9144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Rivalry with Netflix, Prime, Disney+</a:t>
            </a:r>
            <a:endParaRPr lang="en-US" sz="1200" dirty="0"/>
          </a:p>
        </p:txBody>
      </p:sp>
      <p:sp>
        <p:nvSpPr>
          <p:cNvPr id="21" name="Shape 19"/>
          <p:cNvSpPr/>
          <p:nvPr/>
        </p:nvSpPr>
        <p:spPr>
          <a:xfrm>
            <a:off x="10104120" y="3246120"/>
            <a:ext cx="1371600" cy="914400"/>
          </a:xfrm>
          <a:prstGeom prst="roundRect">
            <a:avLst>
              <a:gd name="adj" fmla="val 8000"/>
            </a:avLst>
          </a:prstGeom>
          <a:solidFill>
            <a:srgbClr val="1E2761"/>
          </a:solidFill>
          <a:ln w="12700">
            <a:solidFill>
              <a:srgbClr val="1E2761"/>
            </a:solidFill>
            <a:prstDash val="solid"/>
          </a:ln>
        </p:spPr>
      </p:sp>
      <p:sp>
        <p:nvSpPr>
          <p:cNvPr id="22" name="Text 20"/>
          <p:cNvSpPr txBox="1"/>
          <p:nvPr/>
        </p:nvSpPr>
        <p:spPr>
          <a:xfrm>
            <a:off x="10149840" y="3246120"/>
            <a:ext cx="1280160" cy="9144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Buyer power (switching)</a:t>
            </a:r>
            <a:endParaRPr lang="en-US" sz="1200" dirty="0"/>
          </a:p>
        </p:txBody>
      </p:sp>
      <p:sp>
        <p:nvSpPr>
          <p:cNvPr id="23" name="Shape 21"/>
          <p:cNvSpPr/>
          <p:nvPr/>
        </p:nvSpPr>
        <p:spPr>
          <a:xfrm>
            <a:off x="8595360" y="4480560"/>
            <a:ext cx="1371600" cy="914400"/>
          </a:xfrm>
          <a:prstGeom prst="roundRect">
            <a:avLst>
              <a:gd name="adj" fmla="val 8000"/>
            </a:avLst>
          </a:prstGeom>
          <a:solidFill>
            <a:srgbClr val="FFFFFF"/>
          </a:solidFill>
          <a:ln w="12700">
            <a:solidFill>
              <a:srgbClr val="CADCFC"/>
            </a:solidFill>
            <a:prstDash val="solid"/>
          </a:ln>
        </p:spPr>
      </p:sp>
      <p:sp>
        <p:nvSpPr>
          <p:cNvPr id="24" name="Text 22"/>
          <p:cNvSpPr txBox="1"/>
          <p:nvPr/>
        </p:nvSpPr>
        <p:spPr>
          <a:xfrm>
            <a:off x="8641080" y="4480560"/>
            <a:ext cx="1280160" cy="914400"/>
          </a:xfrm>
          <a:prstGeom prst="rect">
            <a:avLst/>
          </a:prstGeom>
          <a:noFill/>
          <a:ln/>
        </p:spPr>
        <p:txBody>
          <a:bodyPr wrap="square" lIns="0" tIns="0" rIns="0" bIns="0" rtlCol="0" anchor="ctr"/>
          <a:lstStyle/>
          <a:p>
            <a:pPr algn="ctr" indent="0" marL="0">
              <a:buNone/>
            </a:pPr>
            <a:r>
              <a:rPr lang="en-US" sz="1200" dirty="0">
                <a:solidFill>
                  <a:srgbClr val="6B7590"/>
                </a:solidFill>
                <a:latin typeface="Calibri" pitchFamily="34" charset="0"/>
                <a:ea typeface="Calibri" pitchFamily="34" charset="-122"/>
                <a:cs typeface="Calibri" pitchFamily="34" charset="-120"/>
              </a:rPr>
              <a:t>Substitutes</a:t>
            </a:r>
            <a:endParaRPr lang="en-US" sz="1200" dirty="0"/>
          </a:p>
        </p:txBody>
      </p:sp>
      <p:sp>
        <p:nvSpPr>
          <p:cNvPr id="25" name="Text 23"/>
          <p:cNvSpPr txBox="1"/>
          <p:nvPr/>
        </p:nvSpPr>
        <p:spPr>
          <a:xfrm>
            <a:off x="548640" y="6263640"/>
            <a:ext cx="11064240" cy="36576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Figure 2: Porter’s Five Forces (adapted from Porter, 2008). Highlighted forces are the two the recommender changes most.</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Benefits and Limitations of Personalisation</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Technology</a:t>
            </a:r>
            <a:endParaRPr lang="en-US" sz="1100" dirty="0"/>
          </a:p>
        </p:txBody>
      </p:sp>
      <p:sp>
        <p:nvSpPr>
          <p:cNvPr id="4" name="Shape 2"/>
          <p:cNvSpPr/>
          <p:nvPr/>
        </p:nvSpPr>
        <p:spPr>
          <a:xfrm>
            <a:off x="548640" y="1371600"/>
            <a:ext cx="5394960" cy="411480"/>
          </a:xfrm>
          <a:prstGeom prst="rect">
            <a:avLst/>
          </a:prstGeom>
          <a:solidFill>
            <a:srgbClr val="1E56A0"/>
          </a:solidFill>
          <a:ln w="12700">
            <a:solidFill>
              <a:srgbClr val="1E56A0"/>
            </a:solidFill>
            <a:prstDash val="solid"/>
          </a:ln>
        </p:spPr>
      </p:sp>
      <p:sp>
        <p:nvSpPr>
          <p:cNvPr id="5" name="Text 3"/>
          <p:cNvSpPr txBox="1"/>
          <p:nvPr/>
        </p:nvSpPr>
        <p:spPr>
          <a:xfrm>
            <a:off x="685800" y="1371600"/>
            <a:ext cx="5120640" cy="41148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Benefits</a:t>
            </a:r>
            <a:endParaRPr lang="en-US" sz="1500" dirty="0"/>
          </a:p>
        </p:txBody>
      </p:sp>
      <p:sp>
        <p:nvSpPr>
          <p:cNvPr id="6" name="Shape 4"/>
          <p:cNvSpPr/>
          <p:nvPr/>
        </p:nvSpPr>
        <p:spPr>
          <a:xfrm>
            <a:off x="548640" y="1828800"/>
            <a:ext cx="5394960" cy="914400"/>
          </a:xfrm>
          <a:prstGeom prst="rect">
            <a:avLst/>
          </a:prstGeom>
          <a:solidFill>
            <a:srgbClr val="F2F5FB"/>
          </a:solidFill>
          <a:ln w="9525">
            <a:solidFill>
              <a:srgbClr val="CADCFC"/>
            </a:solidFill>
            <a:prstDash val="solid"/>
          </a:ln>
        </p:spPr>
      </p:sp>
      <p:sp>
        <p:nvSpPr>
          <p:cNvPr id="7" name="Text 5"/>
          <p:cNvSpPr txBox="1"/>
          <p:nvPr/>
        </p:nvSpPr>
        <p:spPr>
          <a:xfrm>
            <a:off x="685800" y="1874520"/>
            <a:ext cx="5120640" cy="82296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Discovery. </a:t>
            </a:r>
            <a:pPr indent="0" marL="0">
              <a:buNone/>
            </a:pPr>
            <a:r>
              <a:rPr lang="en-US" sz="1250" dirty="0">
                <a:solidFill>
                  <a:srgbClr val="27314D"/>
                </a:solidFill>
                <a:latin typeface="Calibri" pitchFamily="34" charset="0"/>
                <a:ea typeface="Calibri" pitchFamily="34" charset="-122"/>
                <a:cs typeface="Calibri" pitchFamily="34" charset="-120"/>
              </a:rPr>
              <a:t>Poor discovery costs subscribers: 49% of viewers say they are likely to cancel if they cannot find something to watch (Gracenote, 2025).</a:t>
            </a:r>
            <a:endParaRPr lang="en-US" sz="1250" dirty="0"/>
          </a:p>
        </p:txBody>
      </p:sp>
      <p:sp>
        <p:nvSpPr>
          <p:cNvPr id="8" name="Shape 6"/>
          <p:cNvSpPr/>
          <p:nvPr/>
        </p:nvSpPr>
        <p:spPr>
          <a:xfrm>
            <a:off x="548640" y="2743200"/>
            <a:ext cx="5394960" cy="914400"/>
          </a:xfrm>
          <a:prstGeom prst="rect">
            <a:avLst/>
          </a:prstGeom>
          <a:solidFill>
            <a:srgbClr val="FFFFFF"/>
          </a:solidFill>
          <a:ln w="9525">
            <a:solidFill>
              <a:srgbClr val="CADCFC"/>
            </a:solidFill>
            <a:prstDash val="solid"/>
          </a:ln>
        </p:spPr>
      </p:sp>
      <p:sp>
        <p:nvSpPr>
          <p:cNvPr id="9" name="Text 7"/>
          <p:cNvSpPr txBox="1"/>
          <p:nvPr/>
        </p:nvSpPr>
        <p:spPr>
          <a:xfrm>
            <a:off x="685800" y="2788920"/>
            <a:ext cx="5120640" cy="82296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Engagement. </a:t>
            </a:r>
            <a:pPr indent="0" marL="0">
              <a:buNone/>
            </a:pPr>
            <a:r>
              <a:rPr lang="en-US" sz="1250" dirty="0">
                <a:solidFill>
                  <a:srgbClr val="27314D"/>
                </a:solidFill>
                <a:latin typeface="Calibri" pitchFamily="34" charset="0"/>
                <a:ea typeface="Calibri" pitchFamily="34" charset="-122"/>
                <a:cs typeface="Calibri" pitchFamily="34" charset="-120"/>
              </a:rPr>
              <a:t>Personalised rows and titles increase viewing and use of the service (Gomez-Uribe and Hunt, 2015).</a:t>
            </a:r>
            <a:endParaRPr lang="en-US" sz="1250" dirty="0"/>
          </a:p>
        </p:txBody>
      </p:sp>
      <p:sp>
        <p:nvSpPr>
          <p:cNvPr id="10" name="Shape 8"/>
          <p:cNvSpPr/>
          <p:nvPr/>
        </p:nvSpPr>
        <p:spPr>
          <a:xfrm>
            <a:off x="548640" y="3657600"/>
            <a:ext cx="5394960" cy="1097280"/>
          </a:xfrm>
          <a:prstGeom prst="rect">
            <a:avLst/>
          </a:prstGeom>
          <a:solidFill>
            <a:srgbClr val="F2F5FB"/>
          </a:solidFill>
          <a:ln w="9525">
            <a:solidFill>
              <a:srgbClr val="CADCFC"/>
            </a:solidFill>
            <a:prstDash val="solid"/>
          </a:ln>
        </p:spPr>
      </p:sp>
      <p:sp>
        <p:nvSpPr>
          <p:cNvPr id="11" name="Text 9"/>
          <p:cNvSpPr txBox="1"/>
          <p:nvPr/>
        </p:nvSpPr>
        <p:spPr>
          <a:xfrm>
            <a:off x="685800" y="3703320"/>
            <a:ext cx="5120640" cy="100584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Retention. </a:t>
            </a:r>
            <a:pPr indent="0" marL="0">
              <a:buNone/>
            </a:pPr>
            <a:r>
              <a:rPr lang="en-US" sz="1250" dirty="0">
                <a:solidFill>
                  <a:srgbClr val="27314D"/>
                </a:solidFill>
                <a:latin typeface="Calibri" pitchFamily="34" charset="0"/>
                <a:ea typeface="Calibri" pitchFamily="34" charset="-122"/>
                <a:cs typeface="Calibri" pitchFamily="34" charset="-120"/>
              </a:rPr>
              <a:t>Better discovery reduces cancellations; Netflix values its recommender at over $1bn a year (Gomez-Uribe and Hunt, 2015; Reichheld, 2003).</a:t>
            </a:r>
            <a:endParaRPr lang="en-US" sz="1250" dirty="0"/>
          </a:p>
        </p:txBody>
      </p:sp>
      <p:sp>
        <p:nvSpPr>
          <p:cNvPr id="12" name="Shape 10"/>
          <p:cNvSpPr/>
          <p:nvPr/>
        </p:nvSpPr>
        <p:spPr>
          <a:xfrm>
            <a:off x="6217920" y="1371600"/>
            <a:ext cx="5394960" cy="411480"/>
          </a:xfrm>
          <a:prstGeom prst="rect">
            <a:avLst/>
          </a:prstGeom>
          <a:solidFill>
            <a:srgbClr val="F96167"/>
          </a:solidFill>
          <a:ln w="12700">
            <a:solidFill>
              <a:srgbClr val="F96167"/>
            </a:solidFill>
            <a:prstDash val="solid"/>
          </a:ln>
        </p:spPr>
      </p:sp>
      <p:sp>
        <p:nvSpPr>
          <p:cNvPr id="13" name="Text 11"/>
          <p:cNvSpPr txBox="1"/>
          <p:nvPr/>
        </p:nvSpPr>
        <p:spPr>
          <a:xfrm>
            <a:off x="6355080" y="1371600"/>
            <a:ext cx="5120640" cy="41148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Limitations</a:t>
            </a:r>
            <a:endParaRPr lang="en-US" sz="1500" dirty="0"/>
          </a:p>
        </p:txBody>
      </p:sp>
      <p:sp>
        <p:nvSpPr>
          <p:cNvPr id="14" name="Shape 12"/>
          <p:cNvSpPr/>
          <p:nvPr/>
        </p:nvSpPr>
        <p:spPr>
          <a:xfrm>
            <a:off x="6217920" y="1828800"/>
            <a:ext cx="5394960" cy="676656"/>
          </a:xfrm>
          <a:prstGeom prst="rect">
            <a:avLst/>
          </a:prstGeom>
          <a:solidFill>
            <a:srgbClr val="F2F5FB"/>
          </a:solidFill>
          <a:ln w="9525">
            <a:solidFill>
              <a:srgbClr val="CADCFC"/>
            </a:solidFill>
            <a:prstDash val="solid"/>
          </a:ln>
        </p:spPr>
      </p:sp>
      <p:sp>
        <p:nvSpPr>
          <p:cNvPr id="15" name="Text 13"/>
          <p:cNvSpPr txBox="1"/>
          <p:nvPr/>
        </p:nvSpPr>
        <p:spPr>
          <a:xfrm>
            <a:off x="6355080" y="1874520"/>
            <a:ext cx="5120640" cy="585216"/>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Narrowing. </a:t>
            </a:r>
            <a:pPr indent="0" marL="0">
              <a:buNone/>
            </a:pPr>
            <a:r>
              <a:rPr lang="en-US" sz="1250" dirty="0">
                <a:solidFill>
                  <a:srgbClr val="27314D"/>
                </a:solidFill>
                <a:latin typeface="Calibri" pitchFamily="34" charset="0"/>
                <a:ea typeface="Calibri" pitchFamily="34" charset="-122"/>
                <a:cs typeface="Calibri" pitchFamily="34" charset="-120"/>
              </a:rPr>
              <a:t>Models reinforce past viewing and narrow what is shown (Ricci, Rokach and Shapira, 2015).</a:t>
            </a:r>
            <a:endParaRPr lang="en-US" sz="1250" dirty="0"/>
          </a:p>
        </p:txBody>
      </p:sp>
      <p:sp>
        <p:nvSpPr>
          <p:cNvPr id="16" name="Shape 14"/>
          <p:cNvSpPr/>
          <p:nvPr/>
        </p:nvSpPr>
        <p:spPr>
          <a:xfrm>
            <a:off x="6217920" y="2505456"/>
            <a:ext cx="5394960" cy="676656"/>
          </a:xfrm>
          <a:prstGeom prst="rect">
            <a:avLst/>
          </a:prstGeom>
          <a:solidFill>
            <a:srgbClr val="FFFFFF"/>
          </a:solidFill>
          <a:ln w="9525">
            <a:solidFill>
              <a:srgbClr val="CADCFC"/>
            </a:solidFill>
            <a:prstDash val="solid"/>
          </a:ln>
        </p:spPr>
      </p:sp>
      <p:sp>
        <p:nvSpPr>
          <p:cNvPr id="17" name="Text 15"/>
          <p:cNvSpPr txBox="1"/>
          <p:nvPr/>
        </p:nvSpPr>
        <p:spPr>
          <a:xfrm>
            <a:off x="6355080" y="2551176"/>
            <a:ext cx="5120640" cy="585216"/>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Less diversity. </a:t>
            </a:r>
            <a:pPr indent="0" marL="0">
              <a:buNone/>
            </a:pPr>
            <a:r>
              <a:rPr lang="en-US" sz="1250" dirty="0">
                <a:solidFill>
                  <a:srgbClr val="27314D"/>
                </a:solidFill>
                <a:latin typeface="Calibri" pitchFamily="34" charset="0"/>
                <a:ea typeface="Calibri" pitchFamily="34" charset="-122"/>
                <a:cs typeface="Calibri" pitchFamily="34" charset="-120"/>
              </a:rPr>
              <a:t>Personalised feeds can reduce exposure to varied content (Helberger, 2019).</a:t>
            </a:r>
            <a:endParaRPr lang="en-US" sz="1250" dirty="0"/>
          </a:p>
        </p:txBody>
      </p:sp>
      <p:sp>
        <p:nvSpPr>
          <p:cNvPr id="18" name="Shape 16"/>
          <p:cNvSpPr/>
          <p:nvPr/>
        </p:nvSpPr>
        <p:spPr>
          <a:xfrm>
            <a:off x="6217920" y="3182112"/>
            <a:ext cx="5394960" cy="676656"/>
          </a:xfrm>
          <a:prstGeom prst="rect">
            <a:avLst/>
          </a:prstGeom>
          <a:solidFill>
            <a:srgbClr val="F2F5FB"/>
          </a:solidFill>
          <a:ln w="9525">
            <a:solidFill>
              <a:srgbClr val="CADCFC"/>
            </a:solidFill>
            <a:prstDash val="solid"/>
          </a:ln>
        </p:spPr>
      </p:sp>
      <p:sp>
        <p:nvSpPr>
          <p:cNvPr id="19" name="Text 17"/>
          <p:cNvSpPr txBox="1"/>
          <p:nvPr/>
        </p:nvSpPr>
        <p:spPr>
          <a:xfrm>
            <a:off x="6355080" y="3227832"/>
            <a:ext cx="5120640" cy="585216"/>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Creative originality. </a:t>
            </a:r>
            <a:pPr indent="0" marL="0">
              <a:buNone/>
            </a:pPr>
            <a:r>
              <a:rPr lang="en-US" sz="1250" dirty="0">
                <a:solidFill>
                  <a:srgbClr val="27314D"/>
                </a:solidFill>
                <a:latin typeface="Calibri" pitchFamily="34" charset="0"/>
                <a:ea typeface="Calibri" pitchFamily="34" charset="-122"/>
                <a:cs typeface="Calibri" pitchFamily="34" charset="-120"/>
              </a:rPr>
              <a:t>Data-led promotion can favour familiar formats over new ideas (Napoli, 2014).</a:t>
            </a:r>
            <a:endParaRPr lang="en-US" sz="1250" dirty="0"/>
          </a:p>
        </p:txBody>
      </p:sp>
      <p:sp>
        <p:nvSpPr>
          <p:cNvPr id="20" name="Shape 18"/>
          <p:cNvSpPr/>
          <p:nvPr/>
        </p:nvSpPr>
        <p:spPr>
          <a:xfrm>
            <a:off x="6217920" y="3858768"/>
            <a:ext cx="5394960" cy="676656"/>
          </a:xfrm>
          <a:prstGeom prst="rect">
            <a:avLst/>
          </a:prstGeom>
          <a:solidFill>
            <a:srgbClr val="FFFFFF"/>
          </a:solidFill>
          <a:ln w="9525">
            <a:solidFill>
              <a:srgbClr val="CADCFC"/>
            </a:solidFill>
            <a:prstDash val="solid"/>
          </a:ln>
        </p:spPr>
      </p:sp>
      <p:sp>
        <p:nvSpPr>
          <p:cNvPr id="21" name="Text 19"/>
          <p:cNvSpPr txBox="1"/>
          <p:nvPr/>
        </p:nvSpPr>
        <p:spPr>
          <a:xfrm>
            <a:off x="6355080" y="3904488"/>
            <a:ext cx="5120640" cy="585216"/>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Data quality. </a:t>
            </a:r>
            <a:pPr indent="0" marL="0">
              <a:buNone/>
            </a:pPr>
            <a:r>
              <a:rPr lang="en-US" sz="1250" dirty="0">
                <a:solidFill>
                  <a:srgbClr val="27314D"/>
                </a:solidFill>
                <a:latin typeface="Calibri" pitchFamily="34" charset="0"/>
                <a:ea typeface="Calibri" pitchFamily="34" charset="-122"/>
                <a:cs typeface="Calibri" pitchFamily="34" charset="-120"/>
              </a:rPr>
              <a:t>Output is only as good as the data and signals behind it (Ricci et al., 2015).</a:t>
            </a:r>
            <a:endParaRPr lang="en-US" sz="1250" dirty="0"/>
          </a:p>
        </p:txBody>
      </p:sp>
      <p:sp>
        <p:nvSpPr>
          <p:cNvPr id="22" name="Shape 20"/>
          <p:cNvSpPr/>
          <p:nvPr/>
        </p:nvSpPr>
        <p:spPr>
          <a:xfrm>
            <a:off x="6217920" y="4535424"/>
            <a:ext cx="5394960" cy="676656"/>
          </a:xfrm>
          <a:prstGeom prst="rect">
            <a:avLst/>
          </a:prstGeom>
          <a:solidFill>
            <a:srgbClr val="F2F5FB"/>
          </a:solidFill>
          <a:ln w="9525">
            <a:solidFill>
              <a:srgbClr val="CADCFC"/>
            </a:solidFill>
            <a:prstDash val="solid"/>
          </a:ln>
        </p:spPr>
      </p:sp>
      <p:sp>
        <p:nvSpPr>
          <p:cNvPr id="23" name="Text 21"/>
          <p:cNvSpPr txBox="1"/>
          <p:nvPr/>
        </p:nvSpPr>
        <p:spPr>
          <a:xfrm>
            <a:off x="6355080" y="4581144"/>
            <a:ext cx="5120640" cy="585216"/>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Privacy and governance. </a:t>
            </a:r>
            <a:pPr indent="0" marL="0">
              <a:buNone/>
            </a:pPr>
            <a:r>
              <a:rPr lang="en-US" sz="1250" dirty="0">
                <a:solidFill>
                  <a:srgbClr val="27314D"/>
                </a:solidFill>
                <a:latin typeface="Calibri" pitchFamily="34" charset="0"/>
                <a:ea typeface="Calibri" pitchFamily="34" charset="-122"/>
                <a:cs typeface="Calibri" pitchFamily="34" charset="-120"/>
              </a:rPr>
              <a:t>Scaling AI adds privacy risk, governance demands and algorithmic bias that limits content diversity (Mokoena and Obagbuwa, 2025).</a:t>
            </a:r>
            <a:endParaRPr lang="en-US" sz="1250" dirty="0"/>
          </a:p>
        </p:txBody>
      </p:sp>
      <p:sp>
        <p:nvSpPr>
          <p:cNvPr id="24" name="Text 22"/>
          <p:cNvSpPr txBox="1"/>
          <p:nvPr/>
        </p:nvSpPr>
        <p:spPr>
          <a:xfrm>
            <a:off x="548640" y="5349240"/>
            <a:ext cx="11064240" cy="868680"/>
          </a:xfrm>
          <a:prstGeom prst="rect">
            <a:avLst/>
          </a:prstGeom>
          <a:noFill/>
          <a:ln/>
        </p:spPr>
        <p:txBody>
          <a:bodyPr wrap="square" lIns="0" tIns="0" rIns="0" bIns="0" rtlCol="0" anchor="t"/>
          <a:lstStyle/>
          <a:p>
            <a:pPr indent="0" marL="0">
              <a:spcAft>
                <a:spcPts val="400"/>
              </a:spcAft>
              <a:buNone/>
            </a:pPr>
            <a:r>
              <a:rPr lang="en-US" sz="1300" b="1" dirty="0">
                <a:solidFill>
                  <a:srgbClr val="1E2761"/>
                </a:solidFill>
                <a:latin typeface="Calibri" pitchFamily="34" charset="0"/>
                <a:ea typeface="Calibri" pitchFamily="34" charset="-122"/>
                <a:cs typeface="Calibri" pitchFamily="34" charset="-120"/>
              </a:rPr>
              <a:t>Matters most for Apple TV+: </a:t>
            </a:r>
            <a:pPr indent="0" marL="0">
              <a:spcAft>
                <a:spcPts val="400"/>
              </a:spcAft>
              <a:buNone/>
            </a:pPr>
            <a:r>
              <a:rPr lang="en-US" sz="1300" dirty="0">
                <a:solidFill>
                  <a:srgbClr val="27314D"/>
                </a:solidFill>
                <a:latin typeface="Calibri" pitchFamily="34" charset="0"/>
                <a:ea typeface="Calibri" pitchFamily="34" charset="-122"/>
                <a:cs typeface="Calibri" pitchFamily="34" charset="-120"/>
              </a:rPr>
              <a:t>discovery (benefit), because a small catalogue of original shows only pays off if each is found; and creative originality (limitation), because Apple competes on quality. Personalisation is necessary but not sufficient: its benefits depend on managing these limits.</a:t>
            </a:r>
            <a:endParaRPr lang="en-US" sz="1300" dirty="0"/>
          </a:p>
        </p:txBody>
      </p:sp>
      <p:sp>
        <p:nvSpPr>
          <p:cNvPr id="25" name="Text 23"/>
          <p:cNvSpPr txBox="1"/>
          <p:nvPr/>
        </p:nvSpPr>
        <p:spPr>
          <a:xfrm>
            <a:off x="548640" y="6263640"/>
            <a:ext cx="11064240" cy="36576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Table 1: Benefits and limitations of personalisation. Sources as cited in each row.</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Impact on Creative Teams</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People and change</a:t>
            </a:r>
            <a:endParaRPr lang="en-US" sz="1100" dirty="0"/>
          </a:p>
        </p:txBody>
      </p:sp>
      <p:sp>
        <p:nvSpPr>
          <p:cNvPr id="4" name="Text 2"/>
          <p:cNvSpPr txBox="1"/>
          <p:nvPr/>
        </p:nvSpPr>
        <p:spPr>
          <a:xfrm>
            <a:off x="548640" y="1097280"/>
            <a:ext cx="11064240" cy="320040"/>
          </a:xfrm>
          <a:prstGeom prst="rect">
            <a:avLst/>
          </a:prstGeom>
          <a:noFill/>
          <a:ln/>
        </p:spPr>
        <p:txBody>
          <a:bodyPr wrap="square" lIns="0" tIns="0" rIns="0" bIns="0" rtlCol="0" anchor="t"/>
          <a:lstStyle/>
          <a:p>
            <a:pPr indent="0" marL="0">
              <a:buNone/>
            </a:pPr>
            <a:r>
              <a:rPr lang="en-US" sz="1400" i="1" dirty="0">
                <a:solidFill>
                  <a:srgbClr val="1E56A0"/>
                </a:solidFill>
                <a:latin typeface="Calibri" pitchFamily="34" charset="0"/>
                <a:ea typeface="Calibri" pitchFamily="34" charset="-122"/>
                <a:cs typeface="Calibri" pitchFamily="34" charset="-120"/>
              </a:rPr>
              <a:t>Personalisation at this scale does not only change what customers see; it also changes how creative teams decide what gets made.</a:t>
            </a:r>
            <a:endParaRPr lang="en-US" sz="1400" dirty="0"/>
          </a:p>
        </p:txBody>
      </p:sp>
      <p:sp>
        <p:nvSpPr>
          <p:cNvPr id="5" name="Shape 3"/>
          <p:cNvSpPr/>
          <p:nvPr/>
        </p:nvSpPr>
        <p:spPr>
          <a:xfrm>
            <a:off x="548640" y="1600200"/>
            <a:ext cx="3291840" cy="3611880"/>
          </a:xfrm>
          <a:prstGeom prst="roundRect">
            <a:avLst>
              <a:gd name="adj" fmla="val 2222"/>
            </a:avLst>
          </a:prstGeom>
          <a:solidFill>
            <a:srgbClr val="1E2761"/>
          </a:solidFill>
          <a:ln w="12700">
            <a:solidFill>
              <a:srgbClr val="1E2761"/>
            </a:solidFill>
            <a:prstDash val="solid"/>
          </a:ln>
        </p:spPr>
      </p:sp>
      <p:sp>
        <p:nvSpPr>
          <p:cNvPr id="6" name="Text 4"/>
          <p:cNvSpPr txBox="1"/>
          <p:nvPr/>
        </p:nvSpPr>
        <p:spPr>
          <a:xfrm>
            <a:off x="731520" y="1737360"/>
            <a:ext cx="2926080" cy="457200"/>
          </a:xfrm>
          <a:prstGeom prst="rect">
            <a:avLst/>
          </a:prstGeom>
          <a:noFill/>
          <a:ln/>
        </p:spPr>
        <p:txBody>
          <a:bodyPr wrap="square" lIns="0" tIns="0" rIns="0" bIns="0" rtlCol="0" anchor="t"/>
          <a:lstStyle/>
          <a:p>
            <a:pPr indent="0" marL="0">
              <a:buNone/>
            </a:pPr>
            <a:r>
              <a:rPr lang="en-US" sz="2000" b="1" dirty="0">
                <a:solidFill>
                  <a:srgbClr val="FFFFFF"/>
                </a:solidFill>
                <a:latin typeface="Cambria" pitchFamily="34" charset="0"/>
                <a:ea typeface="Cambria" pitchFamily="34" charset="-122"/>
                <a:cs typeface="Cambria" pitchFamily="34" charset="-120"/>
              </a:rPr>
              <a:t>Creative teams</a:t>
            </a:r>
            <a:endParaRPr lang="en-US" sz="2000" dirty="0"/>
          </a:p>
        </p:txBody>
      </p:sp>
      <p:sp>
        <p:nvSpPr>
          <p:cNvPr id="7" name="Text 5"/>
          <p:cNvSpPr txBox="1"/>
          <p:nvPr/>
        </p:nvSpPr>
        <p:spPr>
          <a:xfrm>
            <a:off x="731520" y="2286000"/>
            <a:ext cx="2926080" cy="274320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Writers, producers and content developers</a:t>
            </a:r>
            <a:endParaRPr lang="en-US" sz="1500" dirty="0"/>
          </a:p>
          <a:p>
            <a:pPr indent="0" marL="0">
              <a:buNone/>
            </a:pPr>
            <a:r>
              <a:rPr lang="en-US" sz="800" dirty="0">
                <a:solidFill>
                  <a:srgbClr val="FFFFFF"/>
                </a:solidFill>
                <a:latin typeface="Calibri" pitchFamily="34" charset="0"/>
                <a:ea typeface="Calibri" pitchFamily="34" charset="-122"/>
                <a:cs typeface="Calibri" pitchFamily="34" charset="-120"/>
              </a:rPr>
              <a:t> </a:t>
            </a:r>
            <a:endParaRPr lang="en-US" sz="1500" dirty="0"/>
          </a:p>
          <a:p>
            <a:pPr indent="0" marL="0">
              <a:buNone/>
            </a:pPr>
            <a:r>
              <a:rPr lang="en-US" sz="1500" b="1" dirty="0">
                <a:solidFill>
                  <a:srgbClr val="FFFFFF"/>
                </a:solidFill>
                <a:latin typeface="Calibri" pitchFamily="34" charset="0"/>
                <a:ea typeface="Calibri" pitchFamily="34" charset="-122"/>
                <a:cs typeface="Calibri" pitchFamily="34" charset="-120"/>
              </a:rPr>
              <a:t>Concern: too much reliance on data could affect originality.</a:t>
            </a:r>
            <a:endParaRPr lang="en-US" sz="1500" dirty="0"/>
          </a:p>
        </p:txBody>
      </p:sp>
      <p:sp>
        <p:nvSpPr>
          <p:cNvPr id="8" name="Shape 6"/>
          <p:cNvSpPr/>
          <p:nvPr/>
        </p:nvSpPr>
        <p:spPr>
          <a:xfrm>
            <a:off x="4114800" y="1600200"/>
            <a:ext cx="2423160" cy="3611880"/>
          </a:xfrm>
          <a:prstGeom prst="roundRect">
            <a:avLst>
              <a:gd name="adj" fmla="val 3019"/>
            </a:avLst>
          </a:prstGeom>
          <a:solidFill>
            <a:srgbClr val="F2F5FB"/>
          </a:solidFill>
          <a:ln w="12700">
            <a:solidFill>
              <a:srgbClr val="CADCFC"/>
            </a:solidFill>
            <a:prstDash val="solid"/>
          </a:ln>
        </p:spPr>
      </p:sp>
      <p:sp>
        <p:nvSpPr>
          <p:cNvPr id="9" name="Text 7"/>
          <p:cNvSpPr txBox="1"/>
          <p:nvPr/>
        </p:nvSpPr>
        <p:spPr>
          <a:xfrm>
            <a:off x="4251960" y="1737360"/>
            <a:ext cx="2148840" cy="411480"/>
          </a:xfrm>
          <a:prstGeom prst="rect">
            <a:avLst/>
          </a:prstGeom>
          <a:noFill/>
          <a:ln/>
        </p:spPr>
        <p:txBody>
          <a:bodyPr wrap="square" lIns="0" tIns="0" rIns="0" bIns="0" rtlCol="0" anchor="t"/>
          <a:lstStyle/>
          <a:p>
            <a:pPr indent="0" marL="0">
              <a:buNone/>
            </a:pPr>
            <a:r>
              <a:rPr lang="en-US" sz="1800" b="1" dirty="0">
                <a:solidFill>
                  <a:srgbClr val="1E2761"/>
                </a:solidFill>
                <a:latin typeface="Cambria" pitchFamily="34" charset="0"/>
                <a:ea typeface="Cambria" pitchFamily="34" charset="-122"/>
                <a:cs typeface="Cambria" pitchFamily="34" charset="-120"/>
              </a:rPr>
              <a:t>Structure</a:t>
            </a:r>
            <a:endParaRPr lang="en-US" sz="1800" dirty="0"/>
          </a:p>
        </p:txBody>
      </p:sp>
      <p:sp>
        <p:nvSpPr>
          <p:cNvPr id="10" name="Text 8"/>
          <p:cNvSpPr txBox="1"/>
          <p:nvPr/>
        </p:nvSpPr>
        <p:spPr>
          <a:xfrm>
            <a:off x="4251960" y="2240280"/>
            <a:ext cx="2148840" cy="283464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Who decides what gets made. Data insight must inform, not replace, the commissioning executives’ and creators’ judgement.</a:t>
            </a:r>
            <a:endParaRPr lang="en-US" sz="1400" dirty="0"/>
          </a:p>
        </p:txBody>
      </p:sp>
      <p:sp>
        <p:nvSpPr>
          <p:cNvPr id="11" name="Shape 9"/>
          <p:cNvSpPr/>
          <p:nvPr/>
        </p:nvSpPr>
        <p:spPr>
          <a:xfrm>
            <a:off x="6675120" y="1600200"/>
            <a:ext cx="2423160" cy="3611880"/>
          </a:xfrm>
          <a:prstGeom prst="roundRect">
            <a:avLst>
              <a:gd name="adj" fmla="val 3019"/>
            </a:avLst>
          </a:prstGeom>
          <a:solidFill>
            <a:srgbClr val="F2F5FB"/>
          </a:solidFill>
          <a:ln w="12700">
            <a:solidFill>
              <a:srgbClr val="CADCFC"/>
            </a:solidFill>
            <a:prstDash val="solid"/>
          </a:ln>
        </p:spPr>
      </p:sp>
      <p:sp>
        <p:nvSpPr>
          <p:cNvPr id="12" name="Text 10"/>
          <p:cNvSpPr txBox="1"/>
          <p:nvPr/>
        </p:nvSpPr>
        <p:spPr>
          <a:xfrm>
            <a:off x="6812280" y="1737360"/>
            <a:ext cx="2148840" cy="411480"/>
          </a:xfrm>
          <a:prstGeom prst="rect">
            <a:avLst/>
          </a:prstGeom>
          <a:noFill/>
          <a:ln/>
        </p:spPr>
        <p:txBody>
          <a:bodyPr wrap="square" lIns="0" tIns="0" rIns="0" bIns="0" rtlCol="0" anchor="t"/>
          <a:lstStyle/>
          <a:p>
            <a:pPr indent="0" marL="0">
              <a:buNone/>
            </a:pPr>
            <a:r>
              <a:rPr lang="en-US" sz="1800" b="1" dirty="0">
                <a:solidFill>
                  <a:srgbClr val="1E2761"/>
                </a:solidFill>
                <a:latin typeface="Cambria" pitchFamily="34" charset="0"/>
                <a:ea typeface="Cambria" pitchFamily="34" charset="-122"/>
                <a:cs typeface="Cambria" pitchFamily="34" charset="-120"/>
              </a:rPr>
              <a:t>Culture</a:t>
            </a:r>
            <a:endParaRPr lang="en-US" sz="1800" dirty="0"/>
          </a:p>
        </p:txBody>
      </p:sp>
      <p:sp>
        <p:nvSpPr>
          <p:cNvPr id="13" name="Text 11"/>
          <p:cNvSpPr txBox="1"/>
          <p:nvPr/>
        </p:nvSpPr>
        <p:spPr>
          <a:xfrm>
            <a:off x="6812280" y="2240280"/>
            <a:ext cx="2148840" cy="283464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Creative autonomy versus data-driven decisions. Teams need to see data as a tool, not a verdict (Napoli, 2014).</a:t>
            </a:r>
            <a:endParaRPr lang="en-US" sz="1400" dirty="0"/>
          </a:p>
        </p:txBody>
      </p:sp>
      <p:sp>
        <p:nvSpPr>
          <p:cNvPr id="14" name="Shape 12"/>
          <p:cNvSpPr/>
          <p:nvPr/>
        </p:nvSpPr>
        <p:spPr>
          <a:xfrm>
            <a:off x="9235440" y="1600200"/>
            <a:ext cx="2423160" cy="3611880"/>
          </a:xfrm>
          <a:prstGeom prst="roundRect">
            <a:avLst>
              <a:gd name="adj" fmla="val 3019"/>
            </a:avLst>
          </a:prstGeom>
          <a:solidFill>
            <a:srgbClr val="F2F5FB"/>
          </a:solidFill>
          <a:ln w="12700">
            <a:solidFill>
              <a:srgbClr val="CADCFC"/>
            </a:solidFill>
            <a:prstDash val="solid"/>
          </a:ln>
        </p:spPr>
      </p:sp>
      <p:sp>
        <p:nvSpPr>
          <p:cNvPr id="15" name="Text 13"/>
          <p:cNvSpPr txBox="1"/>
          <p:nvPr/>
        </p:nvSpPr>
        <p:spPr>
          <a:xfrm>
            <a:off x="9372600" y="1737360"/>
            <a:ext cx="2148840" cy="411480"/>
          </a:xfrm>
          <a:prstGeom prst="rect">
            <a:avLst/>
          </a:prstGeom>
          <a:noFill/>
          <a:ln/>
        </p:spPr>
        <p:txBody>
          <a:bodyPr wrap="square" lIns="0" tIns="0" rIns="0" bIns="0" rtlCol="0" anchor="t"/>
          <a:lstStyle/>
          <a:p>
            <a:pPr indent="0" marL="0">
              <a:buNone/>
            </a:pPr>
            <a:r>
              <a:rPr lang="en-US" sz="1800" b="1" dirty="0">
                <a:solidFill>
                  <a:srgbClr val="1E2761"/>
                </a:solidFill>
                <a:latin typeface="Cambria" pitchFamily="34" charset="0"/>
                <a:ea typeface="Cambria" pitchFamily="34" charset="-122"/>
                <a:cs typeface="Cambria" pitchFamily="34" charset="-120"/>
              </a:rPr>
              <a:t>Process</a:t>
            </a:r>
            <a:endParaRPr lang="en-US" sz="1800" dirty="0"/>
          </a:p>
        </p:txBody>
      </p:sp>
      <p:sp>
        <p:nvSpPr>
          <p:cNvPr id="16" name="Text 14"/>
          <p:cNvSpPr txBox="1"/>
          <p:nvPr/>
        </p:nvSpPr>
        <p:spPr>
          <a:xfrm>
            <a:off x="9372600" y="2240280"/>
            <a:ext cx="2148840" cy="283464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Green-lighting and content pitches. Add a data check to pitches, with creative sign-off kept at the final step.</a:t>
            </a:r>
            <a:endParaRPr lang="en-US" sz="1400" dirty="0"/>
          </a:p>
        </p:txBody>
      </p:sp>
      <p:sp>
        <p:nvSpPr>
          <p:cNvPr id="17" name="Text 15"/>
          <p:cNvSpPr txBox="1"/>
          <p:nvPr/>
        </p:nvSpPr>
        <p:spPr>
          <a:xfrm>
            <a:off x="548640" y="6263640"/>
            <a:ext cx="11064240" cy="36576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Figure 3: Impact on creative teams (adapted from Davis, 1989; Napoli, 2014).</a:t>
            </a:r>
            <a:endParaRPr lang="en-US" sz="1100" dirty="0"/>
          </a:p>
        </p:txBody>
      </p:sp>
      <p:sp>
        <p:nvSpPr>
          <p:cNvPr id="18" name="Text 16"/>
          <p:cNvSpPr txBox="1"/>
          <p:nvPr/>
        </p:nvSpPr>
        <p:spPr>
          <a:xfrm>
            <a:off x="548640" y="5440680"/>
            <a:ext cx="11064240" cy="73152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TAM view (Davis, 1989): </a:t>
            </a:r>
            <a:pPr indent="0" marL="0">
              <a:buNone/>
            </a:pPr>
            <a:r>
              <a:rPr lang="en-US" sz="1400" dirty="0">
                <a:solidFill>
                  <a:srgbClr val="27314D"/>
                </a:solidFill>
                <a:latin typeface="Calibri" pitchFamily="34" charset="0"/>
                <a:ea typeface="Calibri" pitchFamily="34" charset="-122"/>
                <a:cs typeface="Calibri" pitchFamily="34" charset="-120"/>
              </a:rPr>
              <a:t>Useful? Yes if it shows which audiences a pitch could reach. Easy to use? Only if insights are plain-language and built into the pitch workflow.</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Barriers, Change Management and Digital Confidence</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People and change</a:t>
            </a:r>
            <a:endParaRPr lang="en-US" sz="1100" dirty="0"/>
          </a:p>
        </p:txBody>
      </p:sp>
      <p:sp>
        <p:nvSpPr>
          <p:cNvPr id="4" name="Shape 2"/>
          <p:cNvSpPr/>
          <p:nvPr/>
        </p:nvSpPr>
        <p:spPr>
          <a:xfrm>
            <a:off x="548640" y="1325880"/>
            <a:ext cx="1828800" cy="502920"/>
          </a:xfrm>
          <a:prstGeom prst="homePlate">
            <a:avLst/>
          </a:prstGeom>
          <a:solidFill>
            <a:srgbClr val="1E2761"/>
          </a:solidFill>
          <a:ln w="12700">
            <a:solidFill>
              <a:srgbClr val="FFFFFF"/>
            </a:solidFill>
            <a:prstDash val="solid"/>
          </a:ln>
        </p:spPr>
      </p:sp>
      <p:sp>
        <p:nvSpPr>
          <p:cNvPr id="5" name="Text 3"/>
          <p:cNvSpPr txBox="1"/>
          <p:nvPr/>
        </p:nvSpPr>
        <p:spPr>
          <a:xfrm>
            <a:off x="640080" y="1325880"/>
            <a:ext cx="1554480" cy="5029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1 Urgency</a:t>
            </a:r>
            <a:endParaRPr lang="en-US" sz="1300" dirty="0"/>
          </a:p>
        </p:txBody>
      </p:sp>
      <p:sp>
        <p:nvSpPr>
          <p:cNvPr id="6" name="Text 4"/>
          <p:cNvSpPr txBox="1"/>
          <p:nvPr/>
        </p:nvSpPr>
        <p:spPr>
          <a:xfrm>
            <a:off x="548640" y="1901952"/>
            <a:ext cx="1783080" cy="822960"/>
          </a:xfrm>
          <a:prstGeom prst="rect">
            <a:avLst/>
          </a:prstGeom>
          <a:noFill/>
          <a:ln/>
        </p:spPr>
        <p:txBody>
          <a:bodyPr wrap="square" lIns="0" tIns="0" rIns="0" bIns="0" rtlCol="0" anchor="t"/>
          <a:lstStyle/>
          <a:p>
            <a:pPr indent="0" marL="0">
              <a:buNone/>
            </a:pPr>
            <a:r>
              <a:rPr lang="en-US" sz="1200" dirty="0">
                <a:solidFill>
                  <a:srgbClr val="27314D"/>
                </a:solidFill>
                <a:latin typeface="Calibri" pitchFamily="34" charset="0"/>
                <a:ea typeface="Calibri" pitchFamily="34" charset="-122"/>
                <a:cs typeface="Calibri" pitchFamily="34" charset="-120"/>
              </a:rPr>
              <a:t>Churn and rivals make better discovery pressing</a:t>
            </a:r>
            <a:endParaRPr lang="en-US" sz="1200" dirty="0"/>
          </a:p>
        </p:txBody>
      </p:sp>
      <p:sp>
        <p:nvSpPr>
          <p:cNvPr id="7" name="Shape 5"/>
          <p:cNvSpPr/>
          <p:nvPr/>
        </p:nvSpPr>
        <p:spPr>
          <a:xfrm>
            <a:off x="2423160" y="1325880"/>
            <a:ext cx="1828800" cy="502920"/>
          </a:xfrm>
          <a:prstGeom prst="homePlate">
            <a:avLst/>
          </a:prstGeom>
          <a:solidFill>
            <a:srgbClr val="1E2761"/>
          </a:solidFill>
          <a:ln w="12700">
            <a:solidFill>
              <a:srgbClr val="FFFFFF"/>
            </a:solidFill>
            <a:prstDash val="solid"/>
          </a:ln>
        </p:spPr>
      </p:sp>
      <p:sp>
        <p:nvSpPr>
          <p:cNvPr id="8" name="Text 6"/>
          <p:cNvSpPr txBox="1"/>
          <p:nvPr/>
        </p:nvSpPr>
        <p:spPr>
          <a:xfrm>
            <a:off x="2514600" y="1325880"/>
            <a:ext cx="1554480" cy="5029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2 Coalition</a:t>
            </a:r>
            <a:endParaRPr lang="en-US" sz="1300" dirty="0"/>
          </a:p>
        </p:txBody>
      </p:sp>
      <p:sp>
        <p:nvSpPr>
          <p:cNvPr id="9" name="Text 7"/>
          <p:cNvSpPr txBox="1"/>
          <p:nvPr/>
        </p:nvSpPr>
        <p:spPr>
          <a:xfrm>
            <a:off x="2423160" y="1901952"/>
            <a:ext cx="1783080" cy="822960"/>
          </a:xfrm>
          <a:prstGeom prst="rect">
            <a:avLst/>
          </a:prstGeom>
          <a:noFill/>
          <a:ln/>
        </p:spPr>
        <p:txBody>
          <a:bodyPr wrap="square" lIns="0" tIns="0" rIns="0" bIns="0" rtlCol="0" anchor="t"/>
          <a:lstStyle/>
          <a:p>
            <a:pPr indent="0" marL="0">
              <a:buNone/>
            </a:pPr>
            <a:r>
              <a:rPr lang="en-US" sz="1200" dirty="0">
                <a:solidFill>
                  <a:srgbClr val="27314D"/>
                </a:solidFill>
                <a:latin typeface="Calibri" pitchFamily="34" charset="0"/>
                <a:ea typeface="Calibri" pitchFamily="34" charset="-122"/>
                <a:cs typeface="Calibri" pitchFamily="34" charset="-120"/>
              </a:rPr>
              <a:t>Creative champions plus data leads</a:t>
            </a:r>
            <a:endParaRPr lang="en-US" sz="1200" dirty="0"/>
          </a:p>
        </p:txBody>
      </p:sp>
      <p:sp>
        <p:nvSpPr>
          <p:cNvPr id="10" name="Shape 8"/>
          <p:cNvSpPr/>
          <p:nvPr/>
        </p:nvSpPr>
        <p:spPr>
          <a:xfrm>
            <a:off x="4297680" y="1325880"/>
            <a:ext cx="1828800" cy="502920"/>
          </a:xfrm>
          <a:prstGeom prst="homePlate">
            <a:avLst/>
          </a:prstGeom>
          <a:solidFill>
            <a:srgbClr val="1E2761"/>
          </a:solidFill>
          <a:ln w="12700">
            <a:solidFill>
              <a:srgbClr val="FFFFFF"/>
            </a:solidFill>
            <a:prstDash val="solid"/>
          </a:ln>
        </p:spPr>
      </p:sp>
      <p:sp>
        <p:nvSpPr>
          <p:cNvPr id="11" name="Text 9"/>
          <p:cNvSpPr txBox="1"/>
          <p:nvPr/>
        </p:nvSpPr>
        <p:spPr>
          <a:xfrm>
            <a:off x="4389120" y="1325880"/>
            <a:ext cx="1554480" cy="5029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3 Vision</a:t>
            </a:r>
            <a:endParaRPr lang="en-US" sz="1300" dirty="0"/>
          </a:p>
        </p:txBody>
      </p:sp>
      <p:sp>
        <p:nvSpPr>
          <p:cNvPr id="12" name="Text 10"/>
          <p:cNvSpPr txBox="1"/>
          <p:nvPr/>
        </p:nvSpPr>
        <p:spPr>
          <a:xfrm>
            <a:off x="4297680" y="1901952"/>
            <a:ext cx="1783080" cy="822960"/>
          </a:xfrm>
          <a:prstGeom prst="rect">
            <a:avLst/>
          </a:prstGeom>
          <a:noFill/>
          <a:ln/>
        </p:spPr>
        <p:txBody>
          <a:bodyPr wrap="square" lIns="0" tIns="0" rIns="0" bIns="0" rtlCol="0" anchor="t"/>
          <a:lstStyle/>
          <a:p>
            <a:pPr indent="0" marL="0">
              <a:buNone/>
            </a:pPr>
            <a:r>
              <a:rPr lang="en-US" sz="1200" dirty="0">
                <a:solidFill>
                  <a:srgbClr val="27314D"/>
                </a:solidFill>
                <a:latin typeface="Calibri" pitchFamily="34" charset="0"/>
                <a:ea typeface="Calibri" pitchFamily="34" charset="-122"/>
                <a:cs typeface="Calibri" pitchFamily="34" charset="-120"/>
              </a:rPr>
              <a:t>Data informs; creatives decide</a:t>
            </a:r>
            <a:endParaRPr lang="en-US" sz="1200" dirty="0"/>
          </a:p>
        </p:txBody>
      </p:sp>
      <p:sp>
        <p:nvSpPr>
          <p:cNvPr id="13" name="Shape 11"/>
          <p:cNvSpPr/>
          <p:nvPr/>
        </p:nvSpPr>
        <p:spPr>
          <a:xfrm>
            <a:off x="6172200" y="1325880"/>
            <a:ext cx="1828800" cy="502920"/>
          </a:xfrm>
          <a:prstGeom prst="homePlate">
            <a:avLst/>
          </a:prstGeom>
          <a:solidFill>
            <a:srgbClr val="1E56A0"/>
          </a:solidFill>
          <a:ln w="12700">
            <a:solidFill>
              <a:srgbClr val="FFFFFF"/>
            </a:solidFill>
            <a:prstDash val="solid"/>
          </a:ln>
        </p:spPr>
      </p:sp>
      <p:sp>
        <p:nvSpPr>
          <p:cNvPr id="14" name="Text 12"/>
          <p:cNvSpPr txBox="1"/>
          <p:nvPr/>
        </p:nvSpPr>
        <p:spPr>
          <a:xfrm>
            <a:off x="6263640" y="1325880"/>
            <a:ext cx="1554480" cy="5029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4 Pilot</a:t>
            </a:r>
            <a:endParaRPr lang="en-US" sz="1300" dirty="0"/>
          </a:p>
        </p:txBody>
      </p:sp>
      <p:sp>
        <p:nvSpPr>
          <p:cNvPr id="15" name="Text 13"/>
          <p:cNvSpPr txBox="1"/>
          <p:nvPr/>
        </p:nvSpPr>
        <p:spPr>
          <a:xfrm>
            <a:off x="6172200" y="1901952"/>
            <a:ext cx="1783080" cy="822960"/>
          </a:xfrm>
          <a:prstGeom prst="rect">
            <a:avLst/>
          </a:prstGeom>
          <a:noFill/>
          <a:ln/>
        </p:spPr>
        <p:txBody>
          <a:bodyPr wrap="square" lIns="0" tIns="0" rIns="0" bIns="0" rtlCol="0" anchor="t"/>
          <a:lstStyle/>
          <a:p>
            <a:pPr indent="0" marL="0">
              <a:buNone/>
            </a:pPr>
            <a:r>
              <a:rPr lang="en-US" sz="1200" dirty="0">
                <a:solidFill>
                  <a:srgbClr val="27314D"/>
                </a:solidFill>
                <a:latin typeface="Calibri" pitchFamily="34" charset="0"/>
                <a:ea typeface="Calibri" pitchFamily="34" charset="-122"/>
                <a:cs typeface="Calibri" pitchFamily="34" charset="-120"/>
              </a:rPr>
              <a:t>One slate of originals; share early wins</a:t>
            </a:r>
            <a:endParaRPr lang="en-US" sz="1200" dirty="0"/>
          </a:p>
        </p:txBody>
      </p:sp>
      <p:sp>
        <p:nvSpPr>
          <p:cNvPr id="16" name="Shape 14"/>
          <p:cNvSpPr/>
          <p:nvPr/>
        </p:nvSpPr>
        <p:spPr>
          <a:xfrm>
            <a:off x="8046720" y="1325880"/>
            <a:ext cx="1828800" cy="502920"/>
          </a:xfrm>
          <a:prstGeom prst="homePlate">
            <a:avLst/>
          </a:prstGeom>
          <a:solidFill>
            <a:srgbClr val="1E56A0"/>
          </a:solidFill>
          <a:ln w="12700">
            <a:solidFill>
              <a:srgbClr val="FFFFFF"/>
            </a:solidFill>
            <a:prstDash val="solid"/>
          </a:ln>
        </p:spPr>
      </p:sp>
      <p:sp>
        <p:nvSpPr>
          <p:cNvPr id="17" name="Text 15"/>
          <p:cNvSpPr txBox="1"/>
          <p:nvPr/>
        </p:nvSpPr>
        <p:spPr>
          <a:xfrm>
            <a:off x="8138160" y="1325880"/>
            <a:ext cx="1554480" cy="5029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5 Extend</a:t>
            </a:r>
            <a:endParaRPr lang="en-US" sz="1300" dirty="0"/>
          </a:p>
        </p:txBody>
      </p:sp>
      <p:sp>
        <p:nvSpPr>
          <p:cNvPr id="18" name="Text 16"/>
          <p:cNvSpPr txBox="1"/>
          <p:nvPr/>
        </p:nvSpPr>
        <p:spPr>
          <a:xfrm>
            <a:off x="8046720" y="1901952"/>
            <a:ext cx="1783080" cy="822960"/>
          </a:xfrm>
          <a:prstGeom prst="rect">
            <a:avLst/>
          </a:prstGeom>
          <a:noFill/>
          <a:ln/>
        </p:spPr>
        <p:txBody>
          <a:bodyPr wrap="square" lIns="0" tIns="0" rIns="0" bIns="0" rtlCol="0" anchor="t"/>
          <a:lstStyle/>
          <a:p>
            <a:pPr indent="0" marL="0">
              <a:buNone/>
            </a:pPr>
            <a:r>
              <a:rPr lang="en-US" sz="1200" dirty="0">
                <a:solidFill>
                  <a:srgbClr val="27314D"/>
                </a:solidFill>
                <a:latin typeface="Calibri" pitchFamily="34" charset="0"/>
                <a:ea typeface="Calibri" pitchFamily="34" charset="-122"/>
                <a:cs typeface="Calibri" pitchFamily="34" charset="-120"/>
              </a:rPr>
              <a:t>Roll into pitches and green-lighting</a:t>
            </a:r>
            <a:endParaRPr lang="en-US" sz="1200" dirty="0"/>
          </a:p>
        </p:txBody>
      </p:sp>
      <p:sp>
        <p:nvSpPr>
          <p:cNvPr id="19" name="Shape 17"/>
          <p:cNvSpPr/>
          <p:nvPr/>
        </p:nvSpPr>
        <p:spPr>
          <a:xfrm>
            <a:off x="9921240" y="1325880"/>
            <a:ext cx="1828800" cy="502920"/>
          </a:xfrm>
          <a:prstGeom prst="homePlate">
            <a:avLst/>
          </a:prstGeom>
          <a:solidFill>
            <a:srgbClr val="1E56A0"/>
          </a:solidFill>
          <a:ln w="12700">
            <a:solidFill>
              <a:srgbClr val="FFFFFF"/>
            </a:solidFill>
            <a:prstDash val="solid"/>
          </a:ln>
        </p:spPr>
      </p:sp>
      <p:sp>
        <p:nvSpPr>
          <p:cNvPr id="20" name="Text 18"/>
          <p:cNvSpPr txBox="1"/>
          <p:nvPr/>
        </p:nvSpPr>
        <p:spPr>
          <a:xfrm>
            <a:off x="10012680" y="1325880"/>
            <a:ext cx="1554480" cy="5029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6 Embed</a:t>
            </a:r>
            <a:endParaRPr lang="en-US" sz="1300" dirty="0"/>
          </a:p>
        </p:txBody>
      </p:sp>
      <p:sp>
        <p:nvSpPr>
          <p:cNvPr id="21" name="Text 19"/>
          <p:cNvSpPr txBox="1"/>
          <p:nvPr/>
        </p:nvSpPr>
        <p:spPr>
          <a:xfrm>
            <a:off x="9921240" y="1901952"/>
            <a:ext cx="1783080" cy="822960"/>
          </a:xfrm>
          <a:prstGeom prst="rect">
            <a:avLst/>
          </a:prstGeom>
          <a:noFill/>
          <a:ln/>
        </p:spPr>
        <p:txBody>
          <a:bodyPr wrap="square" lIns="0" tIns="0" rIns="0" bIns="0" rtlCol="0" anchor="t"/>
          <a:lstStyle/>
          <a:p>
            <a:pPr indent="0" marL="0">
              <a:buNone/>
            </a:pPr>
            <a:r>
              <a:rPr lang="en-US" sz="1200" dirty="0">
                <a:solidFill>
                  <a:srgbClr val="27314D"/>
                </a:solidFill>
                <a:latin typeface="Calibri" pitchFamily="34" charset="0"/>
                <a:ea typeface="Calibri" pitchFamily="34" charset="-122"/>
                <a:cs typeface="Calibri" pitchFamily="34" charset="-120"/>
              </a:rPr>
              <a:t>Make it part of how Apple TV+ commissions</a:t>
            </a:r>
            <a:endParaRPr lang="en-US" sz="1200" dirty="0"/>
          </a:p>
        </p:txBody>
      </p:sp>
      <p:sp>
        <p:nvSpPr>
          <p:cNvPr id="22" name="Text 20"/>
          <p:cNvSpPr txBox="1"/>
          <p:nvPr/>
        </p:nvSpPr>
        <p:spPr>
          <a:xfrm>
            <a:off x="548640" y="2743200"/>
            <a:ext cx="11064240" cy="27432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Figure 4: Kotter (1995) change model, tailored to Apple TV+. Digital skills and confidence: Vial (2019).</a:t>
            </a:r>
            <a:endParaRPr lang="en-US" sz="1100" dirty="0"/>
          </a:p>
        </p:txBody>
      </p:sp>
      <p:sp>
        <p:nvSpPr>
          <p:cNvPr id="23" name="Text 21"/>
          <p:cNvSpPr txBox="1"/>
          <p:nvPr/>
        </p:nvSpPr>
        <p:spPr>
          <a:xfrm>
            <a:off x="548640" y="3154680"/>
            <a:ext cx="6400800" cy="32004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Barriers and responses</a:t>
            </a:r>
            <a:endParaRPr lang="en-US" sz="1600" dirty="0"/>
          </a:p>
        </p:txBody>
      </p:sp>
      <p:sp>
        <p:nvSpPr>
          <p:cNvPr id="24" name="Shape 22"/>
          <p:cNvSpPr/>
          <p:nvPr/>
        </p:nvSpPr>
        <p:spPr>
          <a:xfrm>
            <a:off x="548640" y="3520440"/>
            <a:ext cx="6766560" cy="777240"/>
          </a:xfrm>
          <a:prstGeom prst="roundRect">
            <a:avLst>
              <a:gd name="adj" fmla="val 9412"/>
            </a:avLst>
          </a:prstGeom>
          <a:solidFill>
            <a:srgbClr val="F2F5FB"/>
          </a:solidFill>
          <a:ln w="12700">
            <a:solidFill>
              <a:srgbClr val="CADCFC"/>
            </a:solidFill>
            <a:prstDash val="solid"/>
          </a:ln>
        </p:spPr>
      </p:sp>
      <p:sp>
        <p:nvSpPr>
          <p:cNvPr id="25" name="Text 23"/>
          <p:cNvSpPr txBox="1"/>
          <p:nvPr/>
        </p:nvSpPr>
        <p:spPr>
          <a:xfrm>
            <a:off x="731520" y="3520440"/>
            <a:ext cx="6400800" cy="77724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Fear of losing creative control: </a:t>
            </a:r>
            <a:pPr indent="0" marL="0">
              <a:buNone/>
            </a:pPr>
            <a:r>
              <a:rPr lang="en-US" sz="1300" dirty="0">
                <a:solidFill>
                  <a:srgbClr val="27314D"/>
                </a:solidFill>
                <a:latin typeface="Calibri" pitchFamily="34" charset="0"/>
                <a:ea typeface="Calibri" pitchFamily="34" charset="-122"/>
                <a:cs typeface="Calibri" pitchFamily="34" charset="-120"/>
              </a:rPr>
              <a:t>Keep creative sign-off final; publish rules for how data is used.</a:t>
            </a:r>
            <a:endParaRPr lang="en-US" sz="1300" dirty="0"/>
          </a:p>
        </p:txBody>
      </p:sp>
      <p:sp>
        <p:nvSpPr>
          <p:cNvPr id="26" name="Shape 24"/>
          <p:cNvSpPr/>
          <p:nvPr/>
        </p:nvSpPr>
        <p:spPr>
          <a:xfrm>
            <a:off x="548640" y="4389120"/>
            <a:ext cx="6766560" cy="777240"/>
          </a:xfrm>
          <a:prstGeom prst="roundRect">
            <a:avLst>
              <a:gd name="adj" fmla="val 9412"/>
            </a:avLst>
          </a:prstGeom>
          <a:solidFill>
            <a:srgbClr val="F2F5FB"/>
          </a:solidFill>
          <a:ln w="12700">
            <a:solidFill>
              <a:srgbClr val="CADCFC"/>
            </a:solidFill>
            <a:prstDash val="solid"/>
          </a:ln>
        </p:spPr>
      </p:sp>
      <p:sp>
        <p:nvSpPr>
          <p:cNvPr id="27" name="Text 25"/>
          <p:cNvSpPr txBox="1"/>
          <p:nvPr/>
        </p:nvSpPr>
        <p:spPr>
          <a:xfrm>
            <a:off x="731520" y="4389120"/>
            <a:ext cx="6400800" cy="77724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Distrust of algorithms: </a:t>
            </a:r>
            <a:pPr indent="0" marL="0">
              <a:buNone/>
            </a:pPr>
            <a:r>
              <a:rPr lang="en-US" sz="1300" dirty="0">
                <a:solidFill>
                  <a:srgbClr val="27314D"/>
                </a:solidFill>
                <a:latin typeface="Calibri" pitchFamily="34" charset="0"/>
                <a:ea typeface="Calibri" pitchFamily="34" charset="-122"/>
                <a:cs typeface="Calibri" pitchFamily="34" charset="-120"/>
              </a:rPr>
              <a:t>Show why content is promoted, so creatives can see how data influences decisions.</a:t>
            </a:r>
            <a:endParaRPr lang="en-US" sz="1300" dirty="0"/>
          </a:p>
        </p:txBody>
      </p:sp>
      <p:sp>
        <p:nvSpPr>
          <p:cNvPr id="28" name="Shape 26"/>
          <p:cNvSpPr/>
          <p:nvPr/>
        </p:nvSpPr>
        <p:spPr>
          <a:xfrm>
            <a:off x="548640" y="5257800"/>
            <a:ext cx="6766560" cy="777240"/>
          </a:xfrm>
          <a:prstGeom prst="roundRect">
            <a:avLst>
              <a:gd name="adj" fmla="val 9412"/>
            </a:avLst>
          </a:prstGeom>
          <a:solidFill>
            <a:srgbClr val="F2F5FB"/>
          </a:solidFill>
          <a:ln w="12700">
            <a:solidFill>
              <a:srgbClr val="CADCFC"/>
            </a:solidFill>
            <a:prstDash val="solid"/>
          </a:ln>
        </p:spPr>
      </p:sp>
      <p:sp>
        <p:nvSpPr>
          <p:cNvPr id="29" name="Text 27"/>
          <p:cNvSpPr txBox="1"/>
          <p:nvPr/>
        </p:nvSpPr>
        <p:spPr>
          <a:xfrm>
            <a:off x="731520" y="5257800"/>
            <a:ext cx="6400800" cy="77724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Skills gaps: </a:t>
            </a:r>
            <a:pPr indent="0" marL="0">
              <a:buNone/>
            </a:pPr>
            <a:r>
              <a:rPr lang="en-US" sz="1300" dirty="0">
                <a:solidFill>
                  <a:srgbClr val="27314D"/>
                </a:solidFill>
                <a:latin typeface="Calibri" pitchFamily="34" charset="0"/>
                <a:ea typeface="Calibri" pitchFamily="34" charset="-122"/>
                <a:cs typeface="Calibri" pitchFamily="34" charset="-120"/>
              </a:rPr>
              <a:t>Training in reading audience data, built around real projects (Vial, 2019).</a:t>
            </a:r>
            <a:endParaRPr lang="en-US" sz="1300" dirty="0"/>
          </a:p>
        </p:txBody>
      </p:sp>
      <p:sp>
        <p:nvSpPr>
          <p:cNvPr id="30" name="Shape 28"/>
          <p:cNvSpPr/>
          <p:nvPr/>
        </p:nvSpPr>
        <p:spPr>
          <a:xfrm>
            <a:off x="7589520" y="3154680"/>
            <a:ext cx="4023360" cy="3017520"/>
          </a:xfrm>
          <a:prstGeom prst="roundRect">
            <a:avLst>
              <a:gd name="adj" fmla="val 2424"/>
            </a:avLst>
          </a:prstGeom>
          <a:solidFill>
            <a:srgbClr val="1E2761"/>
          </a:solidFill>
          <a:ln w="12700">
            <a:solidFill>
              <a:srgbClr val="1E2761"/>
            </a:solidFill>
            <a:prstDash val="solid"/>
          </a:ln>
        </p:spPr>
      </p:sp>
      <p:sp>
        <p:nvSpPr>
          <p:cNvPr id="31" name="Text 29"/>
          <p:cNvSpPr txBox="1"/>
          <p:nvPr/>
        </p:nvSpPr>
        <p:spPr>
          <a:xfrm>
            <a:off x="7772400" y="3246120"/>
            <a:ext cx="3657600" cy="365760"/>
          </a:xfrm>
          <a:prstGeom prst="rect">
            <a:avLst/>
          </a:prstGeom>
          <a:noFill/>
          <a:ln/>
        </p:spPr>
        <p:txBody>
          <a:bodyPr wrap="square" lIns="0" tIns="0" rIns="0" bIns="0" rtlCol="0" anchor="t"/>
          <a:lstStyle/>
          <a:p>
            <a:pPr indent="0" marL="0">
              <a:buNone/>
            </a:pPr>
            <a:r>
              <a:rPr lang="en-US" sz="1600" b="1" dirty="0">
                <a:solidFill>
                  <a:srgbClr val="FFFFFF"/>
                </a:solidFill>
                <a:latin typeface="Cambria" pitchFamily="34" charset="0"/>
                <a:ea typeface="Cambria" pitchFamily="34" charset="-122"/>
                <a:cs typeface="Cambria" pitchFamily="34" charset="-120"/>
              </a:rPr>
              <a:t>Digital confidence actions</a:t>
            </a:r>
            <a:endParaRPr lang="en-US" sz="1600" dirty="0"/>
          </a:p>
        </p:txBody>
      </p:sp>
      <p:sp>
        <p:nvSpPr>
          <p:cNvPr id="32" name="Text 30"/>
          <p:cNvSpPr txBox="1"/>
          <p:nvPr/>
        </p:nvSpPr>
        <p:spPr>
          <a:xfrm>
            <a:off x="7772400" y="3749040"/>
            <a:ext cx="3657600" cy="22860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Training for writers and producers</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Pilots on a small slate of originals</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Creative champions on each team</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Feedback channels into the model team</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Sustained Competitive Advantage: VRIO</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Strategy</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94560"/>
                <a:gridCol w="1280160"/>
                <a:gridCol w="7589520"/>
              </a:tblGrid>
              <a:tr h="36576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Question</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Verdict</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Evidence</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r>
              <a:tr h="685800">
                <a:tc>
                  <a:txBody>
                    <a:bodyPr/>
                    <a:lstStyle/>
                    <a:p>
                      <a:pPr indent="0" marL="0">
                        <a:buNone/>
                      </a:pPr>
                      <a:r>
                        <a:rPr lang="en-US" sz="1250" b="1" dirty="0">
                          <a:solidFill>
                            <a:srgbClr val="27314D"/>
                          </a:solidFill>
                          <a:latin typeface="Calibri" pitchFamily="34" charset="0"/>
                          <a:ea typeface="Calibri" pitchFamily="34" charset="-122"/>
                          <a:cs typeface="Calibri" pitchFamily="34" charset="-120"/>
                        </a:rPr>
                        <a:t>Valuable?</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algn="ctr" indent="0" marL="0">
                        <a:buNone/>
                      </a:pPr>
                      <a:r>
                        <a:rPr lang="en-US" sz="1250" b="1" dirty="0">
                          <a:solidFill>
                            <a:srgbClr val="1E56A0"/>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50" dirty="0">
                          <a:solidFill>
                            <a:srgbClr val="27314D"/>
                          </a:solidFill>
                          <a:latin typeface="Calibri" pitchFamily="34" charset="0"/>
                          <a:ea typeface="Calibri" pitchFamily="34" charset="-122"/>
                          <a:cs typeface="Calibri" pitchFamily="34" charset="-120"/>
                        </a:rPr>
                        <a:t>Better discovery supports retention and engagement (Gomez-Uribe and Hunt, 2015). But scaling it brings privacy, governance and bias risks (Mokoena and Obagbuwa, 2025).</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594360">
                <a:tc>
                  <a:txBody>
                    <a:bodyPr/>
                    <a:lstStyle/>
                    <a:p>
                      <a:pPr indent="0" marL="0">
                        <a:buNone/>
                      </a:pPr>
                      <a:r>
                        <a:rPr lang="en-US" sz="1250" b="1" dirty="0">
                          <a:solidFill>
                            <a:srgbClr val="27314D"/>
                          </a:solidFill>
                          <a:latin typeface="Calibri" pitchFamily="34" charset="0"/>
                          <a:ea typeface="Calibri" pitchFamily="34" charset="-122"/>
                          <a:cs typeface="Calibri" pitchFamily="34" charset="-120"/>
                        </a:rPr>
                        <a:t>Rare?</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algn="ctr" indent="0" marL="0">
                        <a:buNone/>
                      </a:pPr>
                      <a:r>
                        <a:rPr lang="en-US" sz="1250" b="1" dirty="0">
                          <a:solidFill>
                            <a:srgbClr val="C00000"/>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50" dirty="0">
                          <a:solidFill>
                            <a:srgbClr val="27314D"/>
                          </a:solidFill>
                          <a:latin typeface="Calibri" pitchFamily="34" charset="0"/>
                          <a:ea typeface="Calibri" pitchFamily="34" charset="-122"/>
                          <a:cs typeface="Calibri" pitchFamily="34" charset="-120"/>
                        </a:rPr>
                        <a:t>Streaming rivals already run recommenders; the technique is widely documented (Ricci, Rokach and Shapira, 2015).</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594360">
                <a:tc>
                  <a:txBody>
                    <a:bodyPr/>
                    <a:lstStyle/>
                    <a:p>
                      <a:pPr indent="0" marL="0">
                        <a:buNone/>
                      </a:pPr>
                      <a:r>
                        <a:rPr lang="en-US" sz="1250" b="1" dirty="0">
                          <a:solidFill>
                            <a:srgbClr val="27314D"/>
                          </a:solidFill>
                          <a:latin typeface="Calibri" pitchFamily="34" charset="0"/>
                          <a:ea typeface="Calibri" pitchFamily="34" charset="-122"/>
                          <a:cs typeface="Calibri" pitchFamily="34" charset="-120"/>
                        </a:rPr>
                        <a:t>Hard to imitate?</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algn="ctr" indent="0" marL="0">
                        <a:buNone/>
                      </a:pPr>
                      <a:r>
                        <a:rPr lang="en-US" sz="1250" b="1" dirty="0">
                          <a:solidFill>
                            <a:srgbClr val="B8860B"/>
                          </a:solidFill>
                          <a:latin typeface="Calibri" pitchFamily="34" charset="0"/>
                          <a:ea typeface="Calibri" pitchFamily="34" charset="-122"/>
                          <a:cs typeface="Calibri" pitchFamily="34" charset="-120"/>
                        </a:rPr>
                        <a:t>Partly</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50" dirty="0">
                          <a:solidFill>
                            <a:srgbClr val="27314D"/>
                          </a:solidFill>
                          <a:latin typeface="Calibri" pitchFamily="34" charset="0"/>
                          <a:ea typeface="Calibri" pitchFamily="34" charset="-122"/>
                          <a:cs typeface="Calibri" pitchFamily="34" charset="-120"/>
                        </a:rPr>
                        <a:t>Models are copyable. Apple’s ecosystem data and quality-focused catalogue are harder to copy.</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594360">
                <a:tc>
                  <a:txBody>
                    <a:bodyPr/>
                    <a:lstStyle/>
                    <a:p>
                      <a:pPr indent="0" marL="0">
                        <a:buNone/>
                      </a:pPr>
                      <a:r>
                        <a:rPr lang="en-US" sz="1250" b="1" dirty="0">
                          <a:solidFill>
                            <a:srgbClr val="27314D"/>
                          </a:solidFill>
                          <a:latin typeface="Calibri" pitchFamily="34" charset="0"/>
                          <a:ea typeface="Calibri" pitchFamily="34" charset="-122"/>
                          <a:cs typeface="Calibri" pitchFamily="34" charset="-120"/>
                        </a:rPr>
                        <a:t>Organised to exploit?</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algn="ctr" indent="0" marL="0">
                        <a:buNone/>
                      </a:pPr>
                      <a:r>
                        <a:rPr lang="en-US" sz="1250" b="1" dirty="0">
                          <a:solidFill>
                            <a:srgbClr val="B8860B"/>
                          </a:solidFill>
                          <a:latin typeface="Calibri" pitchFamily="34" charset="0"/>
                          <a:ea typeface="Calibri" pitchFamily="34" charset="-122"/>
                          <a:cs typeface="Calibri" pitchFamily="34" charset="-120"/>
                        </a:rPr>
                        <a:t>Not yet</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50" dirty="0">
                          <a:solidFill>
                            <a:srgbClr val="27314D"/>
                          </a:solidFill>
                          <a:latin typeface="Calibri" pitchFamily="34" charset="0"/>
                          <a:ea typeface="Calibri" pitchFamily="34" charset="-122"/>
                          <a:cs typeface="Calibri" pitchFamily="34" charset="-120"/>
                        </a:rPr>
                        <a:t>Creative and data teams are not yet aligned; no shared rules for how data shapes commissioning.</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bl>
          </a:graphicData>
        </a:graphic>
      </p:graphicFrame>
      <p:sp>
        <p:nvSpPr>
          <p:cNvPr id="5" name="Text 2"/>
          <p:cNvSpPr txBox="1"/>
          <p:nvPr/>
        </p:nvSpPr>
        <p:spPr>
          <a:xfrm>
            <a:off x="548640" y="6263640"/>
            <a:ext cx="11064240" cy="36576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Table 2: VRIO analysis of the recommendation engine (framework from Barney, 1991).</a:t>
            </a:r>
            <a:endParaRPr lang="en-US" sz="1100" dirty="0"/>
          </a:p>
        </p:txBody>
      </p:sp>
      <p:sp>
        <p:nvSpPr>
          <p:cNvPr id="6" name="Text 3"/>
          <p:cNvSpPr txBox="1"/>
          <p:nvPr/>
        </p:nvSpPr>
        <p:spPr>
          <a:xfrm>
            <a:off x="548640" y="4297680"/>
            <a:ext cx="11064240" cy="64008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Verdict: </a:t>
            </a:r>
            <a:pPr indent="0" marL="0">
              <a:buNone/>
            </a:pPr>
            <a:r>
              <a:rPr lang="en-US" sz="1400" dirty="0">
                <a:solidFill>
                  <a:srgbClr val="27314D"/>
                </a:solidFill>
                <a:latin typeface="Calibri" pitchFamily="34" charset="0"/>
                <a:ea typeface="Calibri" pitchFamily="34" charset="-122"/>
                <a:cs typeface="Calibri" pitchFamily="34" charset="-120"/>
              </a:rPr>
              <a:t>competitive parity, not sustained advantage. The recommender supports retention and agility but is only a baseline; advantage comes from pairing it with Apple’s ecosystem and creative judgement.</a:t>
            </a:r>
            <a:endParaRPr lang="en-US" sz="1400" dirty="0"/>
          </a:p>
        </p:txBody>
      </p:sp>
      <p:sp>
        <p:nvSpPr>
          <p:cNvPr id="7" name="Text 4"/>
          <p:cNvSpPr txBox="1"/>
          <p:nvPr/>
        </p:nvSpPr>
        <p:spPr>
          <a:xfrm>
            <a:off x="548640" y="4983480"/>
            <a:ext cx="10972800" cy="32004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Continuous improvement actions</a:t>
            </a:r>
            <a:endParaRPr lang="en-US" sz="1600" dirty="0"/>
          </a:p>
        </p:txBody>
      </p:sp>
      <p:sp>
        <p:nvSpPr>
          <p:cNvPr id="8" name="Shape 5"/>
          <p:cNvSpPr/>
          <p:nvPr/>
        </p:nvSpPr>
        <p:spPr>
          <a:xfrm>
            <a:off x="548640" y="5349240"/>
            <a:ext cx="2697480" cy="822960"/>
          </a:xfrm>
          <a:prstGeom prst="roundRect">
            <a:avLst>
              <a:gd name="adj" fmla="val 8889"/>
            </a:avLst>
          </a:prstGeom>
          <a:solidFill>
            <a:srgbClr val="F2F5FB"/>
          </a:solidFill>
          <a:ln w="12700">
            <a:solidFill>
              <a:srgbClr val="CADCFC"/>
            </a:solidFill>
            <a:prstDash val="solid"/>
          </a:ln>
        </p:spPr>
      </p:sp>
      <p:sp>
        <p:nvSpPr>
          <p:cNvPr id="9" name="Text 6"/>
          <p:cNvSpPr txBox="1"/>
          <p:nvPr/>
        </p:nvSpPr>
        <p:spPr>
          <a:xfrm>
            <a:off x="658368" y="5349240"/>
            <a:ext cx="2478024" cy="822960"/>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Test (agility): </a:t>
            </a:r>
            <a:pPr indent="0" marL="0">
              <a:buNone/>
            </a:pPr>
            <a:r>
              <a:rPr lang="en-US" sz="1200" dirty="0">
                <a:solidFill>
                  <a:srgbClr val="27314D"/>
                </a:solidFill>
                <a:latin typeface="Calibri" pitchFamily="34" charset="0"/>
                <a:ea typeface="Calibri" pitchFamily="34" charset="-122"/>
                <a:cs typeface="Calibri" pitchFamily="34" charset="-120"/>
              </a:rPr>
              <a:t>A/B test changes against retention</a:t>
            </a:r>
            <a:endParaRPr lang="en-US" sz="1200" dirty="0"/>
          </a:p>
        </p:txBody>
      </p:sp>
      <p:sp>
        <p:nvSpPr>
          <p:cNvPr id="10" name="Shape 7"/>
          <p:cNvSpPr/>
          <p:nvPr/>
        </p:nvSpPr>
        <p:spPr>
          <a:xfrm>
            <a:off x="3355848" y="5349240"/>
            <a:ext cx="2697480" cy="822960"/>
          </a:xfrm>
          <a:prstGeom prst="roundRect">
            <a:avLst>
              <a:gd name="adj" fmla="val 8889"/>
            </a:avLst>
          </a:prstGeom>
          <a:solidFill>
            <a:srgbClr val="F2F5FB"/>
          </a:solidFill>
          <a:ln w="12700">
            <a:solidFill>
              <a:srgbClr val="CADCFC"/>
            </a:solidFill>
            <a:prstDash val="solid"/>
          </a:ln>
        </p:spPr>
      </p:sp>
      <p:sp>
        <p:nvSpPr>
          <p:cNvPr id="11" name="Text 8"/>
          <p:cNvSpPr txBox="1"/>
          <p:nvPr/>
        </p:nvSpPr>
        <p:spPr>
          <a:xfrm>
            <a:off x="3465576" y="5349240"/>
            <a:ext cx="2478024" cy="822960"/>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Creative input (innovation): </a:t>
            </a:r>
            <a:pPr indent="0" marL="0">
              <a:buNone/>
            </a:pPr>
            <a:r>
              <a:rPr lang="en-US" sz="1200" dirty="0">
                <a:solidFill>
                  <a:srgbClr val="27314D"/>
                </a:solidFill>
                <a:latin typeface="Calibri" pitchFamily="34" charset="0"/>
                <a:ea typeface="Calibri" pitchFamily="34" charset="-122"/>
                <a:cs typeface="Calibri" pitchFamily="34" charset="-120"/>
              </a:rPr>
              <a:t>Creatives help set the goals the model optimises</a:t>
            </a:r>
            <a:endParaRPr lang="en-US" sz="1200" dirty="0"/>
          </a:p>
        </p:txBody>
      </p:sp>
      <p:sp>
        <p:nvSpPr>
          <p:cNvPr id="12" name="Shape 9"/>
          <p:cNvSpPr/>
          <p:nvPr/>
        </p:nvSpPr>
        <p:spPr>
          <a:xfrm>
            <a:off x="6163056" y="5349240"/>
            <a:ext cx="2697480" cy="822960"/>
          </a:xfrm>
          <a:prstGeom prst="roundRect">
            <a:avLst>
              <a:gd name="adj" fmla="val 8889"/>
            </a:avLst>
          </a:prstGeom>
          <a:solidFill>
            <a:srgbClr val="F2F5FB"/>
          </a:solidFill>
          <a:ln w="12700">
            <a:solidFill>
              <a:srgbClr val="CADCFC"/>
            </a:solidFill>
            <a:prstDash val="solid"/>
          </a:ln>
        </p:spPr>
      </p:sp>
      <p:sp>
        <p:nvSpPr>
          <p:cNvPr id="13" name="Text 10"/>
          <p:cNvSpPr txBox="1"/>
          <p:nvPr/>
        </p:nvSpPr>
        <p:spPr>
          <a:xfrm>
            <a:off x="6272784" y="5349240"/>
            <a:ext cx="2478024" cy="822960"/>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Refresh: </a:t>
            </a:r>
            <a:pPr indent="0" marL="0">
              <a:buNone/>
            </a:pPr>
            <a:r>
              <a:rPr lang="en-US" sz="1200" dirty="0">
                <a:solidFill>
                  <a:srgbClr val="27314D"/>
                </a:solidFill>
                <a:latin typeface="Calibri" pitchFamily="34" charset="0"/>
                <a:ea typeface="Calibri" pitchFamily="34" charset="-122"/>
                <a:cs typeface="Calibri" pitchFamily="34" charset="-120"/>
              </a:rPr>
              <a:t>Update data and models regularly</a:t>
            </a:r>
            <a:endParaRPr lang="en-US" sz="1200" dirty="0"/>
          </a:p>
        </p:txBody>
      </p:sp>
      <p:sp>
        <p:nvSpPr>
          <p:cNvPr id="14" name="Shape 11"/>
          <p:cNvSpPr/>
          <p:nvPr/>
        </p:nvSpPr>
        <p:spPr>
          <a:xfrm>
            <a:off x="8970264" y="5349240"/>
            <a:ext cx="2697480" cy="822960"/>
          </a:xfrm>
          <a:prstGeom prst="roundRect">
            <a:avLst>
              <a:gd name="adj" fmla="val 8889"/>
            </a:avLst>
          </a:prstGeom>
          <a:solidFill>
            <a:srgbClr val="F2F5FB"/>
          </a:solidFill>
          <a:ln w="12700">
            <a:solidFill>
              <a:srgbClr val="CADCFC"/>
            </a:solidFill>
            <a:prstDash val="solid"/>
          </a:ln>
        </p:spPr>
      </p:sp>
      <p:sp>
        <p:nvSpPr>
          <p:cNvPr id="15" name="Text 12"/>
          <p:cNvSpPr txBox="1"/>
          <p:nvPr/>
        </p:nvSpPr>
        <p:spPr>
          <a:xfrm>
            <a:off x="9079992" y="5349240"/>
            <a:ext cx="2478024" cy="822960"/>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Ansoff: </a:t>
            </a:r>
            <a:pPr indent="0" marL="0">
              <a:buNone/>
            </a:pPr>
            <a:r>
              <a:rPr lang="en-US" sz="1200" dirty="0">
                <a:solidFill>
                  <a:srgbClr val="27314D"/>
                </a:solidFill>
                <a:latin typeface="Calibri" pitchFamily="34" charset="0"/>
                <a:ea typeface="Calibri" pitchFamily="34" charset="-122"/>
                <a:cs typeface="Calibri" pitchFamily="34" charset="-120"/>
              </a:rPr>
              <a:t>Market penetration: deeper retention in existing markets (Ansoff, 1957)</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Ethical, Social and Risk Issues</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Strategy</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1828800"/>
                <a:gridCol w="3931920"/>
                <a:gridCol w="1371600"/>
                <a:gridCol w="3931920"/>
              </a:tblGrid>
              <a:tr h="36576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Issue</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Why it matters</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Principle</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Mitigation</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r>
              <a:tr h="914400">
                <a:tc>
                  <a:txBody>
                    <a:bodyPr/>
                    <a:lstStyle/>
                    <a:p>
                      <a:pPr indent="0" marL="0">
                        <a:buNone/>
                      </a:pPr>
                      <a:r>
                        <a:rPr lang="en-US" sz="1200" b="1" dirty="0">
                          <a:solidFill>
                            <a:srgbClr val="1E2761"/>
                          </a:solidFill>
                          <a:latin typeface="Calibri" pitchFamily="34" charset="0"/>
                          <a:ea typeface="Calibri" pitchFamily="34" charset="-122"/>
                          <a:cs typeface="Calibri" pitchFamily="34" charset="-120"/>
                        </a:rPr>
                        <a:t>Privacy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Data collected for recommendations could be reused for other purposes; GDPR Article 5 requires specified, explicit purposes (European Parliament and Council, 2016).</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b="1" dirty="0">
                          <a:solidFill>
                            <a:srgbClr val="1E56A0"/>
                          </a:solidFill>
                          <a:latin typeface="Calibri" pitchFamily="34" charset="0"/>
                          <a:ea typeface="Calibri" pitchFamily="34" charset="-122"/>
                          <a:cs typeface="Calibri" pitchFamily="34" charset="-120"/>
                        </a:rPr>
                        <a:t>Privacy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Document purpose limitation and review it regularly.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731520">
                <a:tc>
                  <a:txBody>
                    <a:bodyPr/>
                    <a:lstStyle/>
                    <a:p>
                      <a:pPr indent="0" marL="0">
                        <a:buNone/>
                      </a:pPr>
                      <a:r>
                        <a:rPr lang="en-US" sz="1200" b="1" dirty="0">
                          <a:solidFill>
                            <a:srgbClr val="1E2761"/>
                          </a:solidFill>
                          <a:latin typeface="Calibri" pitchFamily="34" charset="0"/>
                          <a:ea typeface="Calibri" pitchFamily="34" charset="-122"/>
                          <a:cs typeface="Calibri" pitchFamily="34" charset="-120"/>
                        </a:rPr>
                        <a:t>Bias and fairness</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Models trained on past viewing narrow what is shown (Ricci et al., 2015).</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b="1" dirty="0">
                          <a:solidFill>
                            <a:srgbClr val="1E56A0"/>
                          </a:solidFill>
                          <a:latin typeface="Calibri" pitchFamily="34" charset="0"/>
                          <a:ea typeface="Calibri" pitchFamily="34" charset="-122"/>
                          <a:cs typeface="Calibri" pitchFamily="34" charset="-120"/>
                        </a:rPr>
                        <a:t>Fairness</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Run regular diversity-of-recommendation audits.</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731520">
                <a:tc>
                  <a:txBody>
                    <a:bodyPr/>
                    <a:lstStyle/>
                    <a:p>
                      <a:pPr indent="0" marL="0">
                        <a:buNone/>
                      </a:pPr>
                      <a:r>
                        <a:rPr lang="en-US" sz="1200" b="1" dirty="0">
                          <a:solidFill>
                            <a:srgbClr val="1E2761"/>
                          </a:solidFill>
                          <a:latin typeface="Calibri" pitchFamily="34" charset="0"/>
                          <a:ea typeface="Calibri" pitchFamily="34" charset="-122"/>
                          <a:cs typeface="Calibri" pitchFamily="34" charset="-120"/>
                        </a:rPr>
                        <a:t>Transparency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Viewers and creatives cannot see why content is promoted.</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b="1" dirty="0">
                          <a:solidFill>
                            <a:srgbClr val="1E56A0"/>
                          </a:solidFill>
                          <a:latin typeface="Calibri" pitchFamily="34" charset="0"/>
                          <a:ea typeface="Calibri" pitchFamily="34" charset="-122"/>
                          <a:cs typeface="Calibri" pitchFamily="34" charset="-120"/>
                        </a:rPr>
                        <a:t>Transparency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Add “why am I seeing this” explanations for viewers and creatives.</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731520">
                <a:tc>
                  <a:txBody>
                    <a:bodyPr/>
                    <a:lstStyle/>
                    <a:p>
                      <a:pPr indent="0" marL="0">
                        <a:buNone/>
                      </a:pPr>
                      <a:r>
                        <a:rPr lang="en-US" sz="1200" b="1" dirty="0">
                          <a:solidFill>
                            <a:srgbClr val="1E2761"/>
                          </a:solidFill>
                          <a:latin typeface="Calibri" pitchFamily="34" charset="0"/>
                          <a:ea typeface="Calibri" pitchFamily="34" charset="-122"/>
                          <a:cs typeface="Calibri" pitchFamily="34" charset="-120"/>
                        </a:rPr>
                        <a:t>Creators’ autonomy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Algorithms can steer which projects are promoted and made (Napoli, 2014).</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b="1" dirty="0">
                          <a:solidFill>
                            <a:srgbClr val="1E56A0"/>
                          </a:solidFill>
                          <a:latin typeface="Calibri" pitchFamily="34" charset="0"/>
                          <a:ea typeface="Calibri" pitchFamily="34" charset="-122"/>
                          <a:cs typeface="Calibri" pitchFamily="34" charset="-120"/>
                        </a:rPr>
                        <a:t>Autonomy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Keep creative sign-off; use data to inform, not decide.</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731520">
                <a:tc>
                  <a:txBody>
                    <a:bodyPr/>
                    <a:lstStyle/>
                    <a:p>
                      <a:pPr indent="0" marL="0">
                        <a:buNone/>
                      </a:pPr>
                      <a:r>
                        <a:rPr lang="en-US" sz="1200" b="1" dirty="0">
                          <a:solidFill>
                            <a:srgbClr val="1E2761"/>
                          </a:solidFill>
                          <a:latin typeface="Calibri" pitchFamily="34" charset="0"/>
                          <a:ea typeface="Calibri" pitchFamily="34" charset="-122"/>
                          <a:cs typeface="Calibri" pitchFamily="34" charset="-120"/>
                        </a:rPr>
                        <a:t>Social: cultural diversity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Filter bubbles can reduce exposure to varied content (Pariser, 2011; Helberger, 2019).</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b="1" dirty="0">
                          <a:solidFill>
                            <a:srgbClr val="1E56A0"/>
                          </a:solidFill>
                          <a:latin typeface="Calibri" pitchFamily="34" charset="0"/>
                          <a:ea typeface="Calibri" pitchFamily="34" charset="-122"/>
                          <a:cs typeface="Calibri" pitchFamily="34" charset="-120"/>
                        </a:rPr>
                        <a:t>Diversity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Set minimum exposure for varied and local content.</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bl>
          </a:graphicData>
        </a:graphic>
      </p:graphicFrame>
      <p:sp>
        <p:nvSpPr>
          <p:cNvPr id="5" name="Text 2"/>
          <p:cNvSpPr txBox="1"/>
          <p:nvPr/>
        </p:nvSpPr>
        <p:spPr>
          <a:xfrm>
            <a:off x="548640" y="6263640"/>
            <a:ext cx="11064240" cy="36576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Table 3: Ethical, social and risk issues. Sources: European Parliament and Council (2016); Ricci et al. (2015); Floridi et al. (2018); Napoli (2014); Pariser (2011); Helberger (2019).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Three Recommendations</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Strategy</a:t>
            </a:r>
            <a:endParaRPr lang="en-US" sz="1100" dirty="0"/>
          </a:p>
        </p:txBody>
      </p:sp>
      <p:sp>
        <p:nvSpPr>
          <p:cNvPr id="4" name="Shape 2"/>
          <p:cNvSpPr/>
          <p:nvPr/>
        </p:nvSpPr>
        <p:spPr>
          <a:xfrm>
            <a:off x="548640" y="1371600"/>
            <a:ext cx="3611880" cy="4023360"/>
          </a:xfrm>
          <a:prstGeom prst="roundRect">
            <a:avLst>
              <a:gd name="adj" fmla="val 2025"/>
            </a:avLst>
          </a:prstGeom>
          <a:solidFill>
            <a:srgbClr val="F2F5FB"/>
          </a:solidFill>
          <a:ln w="12700">
            <a:solidFill>
              <a:srgbClr val="CADCFC"/>
            </a:solidFill>
            <a:prstDash val="solid"/>
          </a:ln>
        </p:spPr>
      </p:sp>
      <p:sp>
        <p:nvSpPr>
          <p:cNvPr id="5" name="Shape 3"/>
          <p:cNvSpPr/>
          <p:nvPr/>
        </p:nvSpPr>
        <p:spPr>
          <a:xfrm>
            <a:off x="731520" y="1554480"/>
            <a:ext cx="548640" cy="548640"/>
          </a:xfrm>
          <a:prstGeom prst="ellipse">
            <a:avLst/>
          </a:prstGeom>
          <a:solidFill>
            <a:srgbClr val="1E2761"/>
          </a:solidFill>
          <a:ln w="12700">
            <a:solidFill>
              <a:srgbClr val="1E2761"/>
            </a:solidFill>
            <a:prstDash val="solid"/>
          </a:ln>
        </p:spPr>
      </p:sp>
      <p:sp>
        <p:nvSpPr>
          <p:cNvPr id="6" name="Text 4"/>
          <p:cNvSpPr txBox="1"/>
          <p:nvPr/>
        </p:nvSpPr>
        <p:spPr>
          <a:xfrm>
            <a:off x="731520" y="15544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7" name="Text 5"/>
          <p:cNvSpPr txBox="1"/>
          <p:nvPr/>
        </p:nvSpPr>
        <p:spPr>
          <a:xfrm>
            <a:off x="731520" y="2240280"/>
            <a:ext cx="3246120" cy="1097280"/>
          </a:xfrm>
          <a:prstGeom prst="rect">
            <a:avLst/>
          </a:prstGeom>
          <a:noFill/>
          <a:ln/>
        </p:spPr>
        <p:txBody>
          <a:bodyPr wrap="square" lIns="0" tIns="0" rIns="0" bIns="0" rtlCol="0" anchor="t"/>
          <a:lstStyle/>
          <a:p>
            <a:pPr indent="0" marL="0">
              <a:buNone/>
            </a:pPr>
            <a:r>
              <a:rPr lang="en-US" sz="1700" b="1" dirty="0">
                <a:solidFill>
                  <a:srgbClr val="1E2761"/>
                </a:solidFill>
                <a:latin typeface="Cambria" pitchFamily="34" charset="0"/>
                <a:ea typeface="Cambria" pitchFamily="34" charset="-122"/>
                <a:cs typeface="Cambria" pitchFamily="34" charset="-120"/>
              </a:rPr>
              <a:t>Run a creative-team pilot in Kotter-style steps</a:t>
            </a:r>
            <a:endParaRPr lang="en-US" sz="1700" dirty="0"/>
          </a:p>
        </p:txBody>
      </p:sp>
      <p:sp>
        <p:nvSpPr>
          <p:cNvPr id="8" name="Text 6"/>
          <p:cNvSpPr txBox="1"/>
          <p:nvPr/>
        </p:nvSpPr>
        <p:spPr>
          <a:xfrm>
            <a:off x="731520" y="3383280"/>
            <a:ext cx="3246120" cy="1920240"/>
          </a:xfrm>
          <a:prstGeom prst="rect">
            <a:avLst/>
          </a:prstGeom>
          <a:noFill/>
          <a:ln/>
        </p:spPr>
        <p:txBody>
          <a:bodyPr wrap="square" lIns="0" tIns="0" rIns="0" bIns="0" rtlCol="0" anchor="t"/>
          <a:lstStyle/>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Owner: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Creative leadership (writers, producers, content developers), supported by the data team</a:t>
            </a:r>
            <a:endParaRPr lang="en-US" sz="1300" dirty="0"/>
          </a:p>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Evidence: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Kotter (1995); Napoli (2014)</a:t>
            </a:r>
            <a:endParaRPr lang="en-US" sz="1300" dirty="0"/>
          </a:p>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From: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Slides 6 and 7</a:t>
            </a:r>
            <a:endParaRPr lang="en-US" sz="1300" dirty="0"/>
          </a:p>
        </p:txBody>
      </p:sp>
      <p:sp>
        <p:nvSpPr>
          <p:cNvPr id="9" name="Shape 7"/>
          <p:cNvSpPr/>
          <p:nvPr/>
        </p:nvSpPr>
        <p:spPr>
          <a:xfrm>
            <a:off x="4297680" y="1371600"/>
            <a:ext cx="3611880" cy="4023360"/>
          </a:xfrm>
          <a:prstGeom prst="roundRect">
            <a:avLst>
              <a:gd name="adj" fmla="val 2025"/>
            </a:avLst>
          </a:prstGeom>
          <a:solidFill>
            <a:srgbClr val="F2F5FB"/>
          </a:solidFill>
          <a:ln w="12700">
            <a:solidFill>
              <a:srgbClr val="CADCFC"/>
            </a:solidFill>
            <a:prstDash val="solid"/>
          </a:ln>
        </p:spPr>
      </p:sp>
      <p:sp>
        <p:nvSpPr>
          <p:cNvPr id="10" name="Shape 8"/>
          <p:cNvSpPr/>
          <p:nvPr/>
        </p:nvSpPr>
        <p:spPr>
          <a:xfrm>
            <a:off x="4480560" y="1554480"/>
            <a:ext cx="548640" cy="548640"/>
          </a:xfrm>
          <a:prstGeom prst="ellipse">
            <a:avLst/>
          </a:prstGeom>
          <a:solidFill>
            <a:srgbClr val="1E2761"/>
          </a:solidFill>
          <a:ln w="12700">
            <a:solidFill>
              <a:srgbClr val="1E2761"/>
            </a:solidFill>
            <a:prstDash val="solid"/>
          </a:ln>
        </p:spPr>
      </p:sp>
      <p:sp>
        <p:nvSpPr>
          <p:cNvPr id="11" name="Text 9"/>
          <p:cNvSpPr txBox="1"/>
          <p:nvPr/>
        </p:nvSpPr>
        <p:spPr>
          <a:xfrm>
            <a:off x="4480560" y="15544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2" name="Text 10"/>
          <p:cNvSpPr txBox="1"/>
          <p:nvPr/>
        </p:nvSpPr>
        <p:spPr>
          <a:xfrm>
            <a:off x="4480560" y="2240280"/>
            <a:ext cx="3246120" cy="1097280"/>
          </a:xfrm>
          <a:prstGeom prst="rect">
            <a:avLst/>
          </a:prstGeom>
          <a:noFill/>
          <a:ln/>
        </p:spPr>
        <p:txBody>
          <a:bodyPr wrap="square" lIns="0" tIns="0" rIns="0" bIns="0" rtlCol="0" anchor="t"/>
          <a:lstStyle/>
          <a:p>
            <a:pPr indent="0" marL="0">
              <a:buNone/>
            </a:pPr>
            <a:r>
              <a:rPr lang="en-US" sz="1700" b="1" dirty="0">
                <a:solidFill>
                  <a:srgbClr val="1E2761"/>
                </a:solidFill>
                <a:latin typeface="Cambria" pitchFamily="34" charset="0"/>
                <a:ea typeface="Cambria" pitchFamily="34" charset="-122"/>
                <a:cs typeface="Cambria" pitchFamily="34" charset="-120"/>
              </a:rPr>
              <a:t>Add an explanation feature for recommendations</a:t>
            </a:r>
            <a:endParaRPr lang="en-US" sz="1700" dirty="0"/>
          </a:p>
        </p:txBody>
      </p:sp>
      <p:sp>
        <p:nvSpPr>
          <p:cNvPr id="13" name="Text 11"/>
          <p:cNvSpPr txBox="1"/>
          <p:nvPr/>
        </p:nvSpPr>
        <p:spPr>
          <a:xfrm>
            <a:off x="4480560" y="3383280"/>
            <a:ext cx="3246120" cy="1920240"/>
          </a:xfrm>
          <a:prstGeom prst="rect">
            <a:avLst/>
          </a:prstGeom>
          <a:noFill/>
          <a:ln/>
        </p:spPr>
        <p:txBody>
          <a:bodyPr wrap="square" lIns="0" tIns="0" rIns="0" bIns="0" rtlCol="0" anchor="t"/>
          <a:lstStyle/>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Owner: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Marketing, with the product and technology teams</a:t>
            </a:r>
            <a:endParaRPr lang="en-US" sz="1300" dirty="0"/>
          </a:p>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Evidence: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Floridi et al. (2018); Apple Inc. (2025)</a:t>
            </a:r>
            <a:endParaRPr lang="en-US" sz="1300" dirty="0"/>
          </a:p>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From: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Slides 4 and 9</a:t>
            </a:r>
            <a:endParaRPr lang="en-US" sz="1300" dirty="0"/>
          </a:p>
        </p:txBody>
      </p:sp>
      <p:sp>
        <p:nvSpPr>
          <p:cNvPr id="14" name="Shape 12"/>
          <p:cNvSpPr/>
          <p:nvPr/>
        </p:nvSpPr>
        <p:spPr>
          <a:xfrm>
            <a:off x="8046720" y="1371600"/>
            <a:ext cx="3611880" cy="4023360"/>
          </a:xfrm>
          <a:prstGeom prst="roundRect">
            <a:avLst>
              <a:gd name="adj" fmla="val 2025"/>
            </a:avLst>
          </a:prstGeom>
          <a:solidFill>
            <a:srgbClr val="F2F5FB"/>
          </a:solidFill>
          <a:ln w="12700">
            <a:solidFill>
              <a:srgbClr val="CADCFC"/>
            </a:solidFill>
            <a:prstDash val="solid"/>
          </a:ln>
        </p:spPr>
      </p:sp>
      <p:sp>
        <p:nvSpPr>
          <p:cNvPr id="15" name="Shape 13"/>
          <p:cNvSpPr/>
          <p:nvPr/>
        </p:nvSpPr>
        <p:spPr>
          <a:xfrm>
            <a:off x="8229600" y="1554480"/>
            <a:ext cx="548640" cy="548640"/>
          </a:xfrm>
          <a:prstGeom prst="ellipse">
            <a:avLst/>
          </a:prstGeom>
          <a:solidFill>
            <a:srgbClr val="1E2761"/>
          </a:solidFill>
          <a:ln w="12700">
            <a:solidFill>
              <a:srgbClr val="1E2761"/>
            </a:solidFill>
            <a:prstDash val="solid"/>
          </a:ln>
        </p:spPr>
      </p:sp>
      <p:sp>
        <p:nvSpPr>
          <p:cNvPr id="16" name="Text 14"/>
          <p:cNvSpPr txBox="1"/>
          <p:nvPr/>
        </p:nvSpPr>
        <p:spPr>
          <a:xfrm>
            <a:off x="8229600" y="15544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7" name="Text 15"/>
          <p:cNvSpPr txBox="1"/>
          <p:nvPr/>
        </p:nvSpPr>
        <p:spPr>
          <a:xfrm>
            <a:off x="8229600" y="2240280"/>
            <a:ext cx="3246120" cy="1097280"/>
          </a:xfrm>
          <a:prstGeom prst="rect">
            <a:avLst/>
          </a:prstGeom>
          <a:noFill/>
          <a:ln/>
        </p:spPr>
        <p:txBody>
          <a:bodyPr wrap="square" lIns="0" tIns="0" rIns="0" bIns="0" rtlCol="0" anchor="t"/>
          <a:lstStyle/>
          <a:p>
            <a:pPr indent="0" marL="0">
              <a:buNone/>
            </a:pPr>
            <a:r>
              <a:rPr lang="en-US" sz="1700" b="1" dirty="0">
                <a:solidFill>
                  <a:srgbClr val="1E2761"/>
                </a:solidFill>
                <a:latin typeface="Cambria" pitchFamily="34" charset="0"/>
                <a:ea typeface="Cambria" pitchFamily="34" charset="-122"/>
                <a:cs typeface="Cambria" pitchFamily="34" charset="-120"/>
              </a:rPr>
              <a:t>Set up a governance review for purpose limitation and diversity auditing</a:t>
            </a:r>
            <a:endParaRPr lang="en-US" sz="1700" dirty="0"/>
          </a:p>
        </p:txBody>
      </p:sp>
      <p:sp>
        <p:nvSpPr>
          <p:cNvPr id="18" name="Text 16"/>
          <p:cNvSpPr txBox="1"/>
          <p:nvPr/>
        </p:nvSpPr>
        <p:spPr>
          <a:xfrm>
            <a:off x="8229600" y="3383280"/>
            <a:ext cx="3246120" cy="1920240"/>
          </a:xfrm>
          <a:prstGeom prst="rect">
            <a:avLst/>
          </a:prstGeom>
          <a:noFill/>
          <a:ln/>
        </p:spPr>
        <p:txBody>
          <a:bodyPr wrap="square" lIns="0" tIns="0" rIns="0" bIns="0" rtlCol="0" anchor="t"/>
          <a:lstStyle/>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Owner: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Operations (legal, compliance and employee support)</a:t>
            </a:r>
            <a:endParaRPr lang="en-US" sz="1300" dirty="0"/>
          </a:p>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Evidence: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GDPR Art. 5 (European Parliament and Council, 2016); Ricci et al. (2015)</a:t>
            </a:r>
            <a:endParaRPr lang="en-US" sz="1300" dirty="0"/>
          </a:p>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From: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Slides 5 and 9</a:t>
            </a:r>
            <a:endParaRPr lang="en-US" sz="1300" dirty="0"/>
          </a:p>
        </p:txBody>
      </p:sp>
      <p:sp>
        <p:nvSpPr>
          <p:cNvPr id="19" name="Text 17"/>
          <p:cNvSpPr txBox="1"/>
          <p:nvPr/>
        </p:nvSpPr>
        <p:spPr>
          <a:xfrm>
            <a:off x="548640" y="5669280"/>
            <a:ext cx="11064240" cy="54864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Do first: </a:t>
            </a:r>
            <a:pPr indent="0" marL="0">
              <a:buNone/>
            </a:pPr>
            <a:r>
              <a:rPr lang="en-US" sz="1500" dirty="0">
                <a:solidFill>
                  <a:srgbClr val="27314D"/>
                </a:solidFill>
                <a:latin typeface="Calibri" pitchFamily="34" charset="0"/>
                <a:ea typeface="Calibri" pitchFamily="34" charset="-122"/>
                <a:cs typeface="Calibri" pitchFamily="34" charset="-120"/>
              </a:rPr>
              <a:t>the creative-team pilot, because it tackles the central challenge and builds the evidence the other two depend on.</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Conclusion</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Conclusion</a:t>
            </a:r>
            <a:endParaRPr lang="en-US" sz="1100" dirty="0"/>
          </a:p>
        </p:txBody>
      </p:sp>
      <p:sp>
        <p:nvSpPr>
          <p:cNvPr id="4" name="Text 2"/>
          <p:cNvSpPr txBox="1"/>
          <p:nvPr/>
        </p:nvSpPr>
        <p:spPr>
          <a:xfrm>
            <a:off x="548640" y="1325880"/>
            <a:ext cx="1097280" cy="68580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Technology</a:t>
            </a:r>
            <a:endParaRPr lang="en-US" sz="1500" dirty="0"/>
          </a:p>
        </p:txBody>
      </p:sp>
      <p:sp>
        <p:nvSpPr>
          <p:cNvPr id="5" name="Text 3"/>
          <p:cNvSpPr txBox="1"/>
          <p:nvPr/>
        </p:nvSpPr>
        <p:spPr>
          <a:xfrm>
            <a:off x="1645920" y="1325880"/>
            <a:ext cx="9966960" cy="685800"/>
          </a:xfrm>
          <a:prstGeom prst="rect">
            <a:avLst/>
          </a:prstGeom>
          <a:noFill/>
          <a:ln/>
        </p:spPr>
        <p:txBody>
          <a:bodyPr wrap="square" lIns="0" tIns="0" rIns="0" bIns="0" rtlCol="0" anchor="ctr"/>
          <a:lstStyle/>
          <a:p>
            <a:pPr indent="0" marL="0">
              <a:buNone/>
            </a:pPr>
            <a:r>
              <a:rPr lang="en-US" sz="1400" dirty="0">
                <a:solidFill>
                  <a:srgbClr val="27314D"/>
                </a:solidFill>
                <a:latin typeface="Calibri" pitchFamily="34" charset="0"/>
                <a:ea typeface="Calibri" pitchFamily="34" charset="-122"/>
                <a:cs typeface="Calibri" pitchFamily="34" charset="-120"/>
              </a:rPr>
              <a:t>A machine-learning recommendation engine helps match a small catalogue to many viewers, but it protects Apple TV+’s position rather than creating a lead.</a:t>
            </a:r>
            <a:endParaRPr lang="en-US" sz="1400" dirty="0"/>
          </a:p>
        </p:txBody>
      </p:sp>
      <p:sp>
        <p:nvSpPr>
          <p:cNvPr id="6" name="Text 4"/>
          <p:cNvSpPr txBox="1"/>
          <p:nvPr/>
        </p:nvSpPr>
        <p:spPr>
          <a:xfrm>
            <a:off x="548640" y="2103120"/>
            <a:ext cx="1097280" cy="68580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Task 2</a:t>
            </a:r>
            <a:endParaRPr lang="en-US" sz="1500" dirty="0"/>
          </a:p>
        </p:txBody>
      </p:sp>
      <p:sp>
        <p:nvSpPr>
          <p:cNvPr id="7" name="Text 5"/>
          <p:cNvSpPr txBox="1"/>
          <p:nvPr/>
        </p:nvSpPr>
        <p:spPr>
          <a:xfrm>
            <a:off x="1645920" y="2103120"/>
            <a:ext cx="9966960" cy="685800"/>
          </a:xfrm>
          <a:prstGeom prst="rect">
            <a:avLst/>
          </a:prstGeom>
          <a:noFill/>
          <a:ln/>
        </p:spPr>
        <p:txBody>
          <a:bodyPr wrap="square" lIns="0" tIns="0" rIns="0" bIns="0" rtlCol="0" anchor="ctr"/>
          <a:lstStyle/>
          <a:p>
            <a:pPr indent="0" marL="0">
              <a:buNone/>
            </a:pPr>
            <a:r>
              <a:rPr lang="en-US" sz="1400" dirty="0">
                <a:solidFill>
                  <a:srgbClr val="27314D"/>
                </a:solidFill>
                <a:latin typeface="Calibri" pitchFamily="34" charset="0"/>
                <a:ea typeface="Calibri" pitchFamily="34" charset="-122"/>
                <a:cs typeface="Calibri" pitchFamily="34" charset="-120"/>
              </a:rPr>
              <a:t>Creative teams, the group analysed, can protect originality while adopting data if a Kotter-style change plan is used.</a:t>
            </a:r>
            <a:endParaRPr lang="en-US" sz="1400" dirty="0"/>
          </a:p>
        </p:txBody>
      </p:sp>
      <p:sp>
        <p:nvSpPr>
          <p:cNvPr id="8" name="Text 6"/>
          <p:cNvSpPr txBox="1"/>
          <p:nvPr/>
        </p:nvSpPr>
        <p:spPr>
          <a:xfrm>
            <a:off x="548640" y="2880360"/>
            <a:ext cx="1097280" cy="68580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Task 3</a:t>
            </a:r>
            <a:endParaRPr lang="en-US" sz="1500" dirty="0"/>
          </a:p>
        </p:txBody>
      </p:sp>
      <p:sp>
        <p:nvSpPr>
          <p:cNvPr id="9" name="Text 7"/>
          <p:cNvSpPr txBox="1"/>
          <p:nvPr/>
        </p:nvSpPr>
        <p:spPr>
          <a:xfrm>
            <a:off x="1645920" y="2880360"/>
            <a:ext cx="9966960" cy="685800"/>
          </a:xfrm>
          <a:prstGeom prst="rect">
            <a:avLst/>
          </a:prstGeom>
          <a:noFill/>
          <a:ln/>
        </p:spPr>
        <p:txBody>
          <a:bodyPr wrap="square" lIns="0" tIns="0" rIns="0" bIns="0" rtlCol="0" anchor="ctr"/>
          <a:lstStyle/>
          <a:p>
            <a:pPr indent="0" marL="0">
              <a:buNone/>
            </a:pPr>
            <a:r>
              <a:rPr lang="en-US" sz="1400" dirty="0">
                <a:solidFill>
                  <a:srgbClr val="27314D"/>
                </a:solidFill>
                <a:latin typeface="Calibri" pitchFamily="34" charset="0"/>
                <a:ea typeface="Calibri" pitchFamily="34" charset="-122"/>
                <a:cs typeface="Calibri" pitchFamily="34" charset="-120"/>
              </a:rPr>
              <a:t>Rivals can copy the technology, so advantage depends on ecosystem, creative judgement and ethical safeguards.</a:t>
            </a:r>
            <a:endParaRPr lang="en-US" sz="1400" dirty="0"/>
          </a:p>
        </p:txBody>
      </p:sp>
      <p:sp>
        <p:nvSpPr>
          <p:cNvPr id="10" name="Text 8"/>
          <p:cNvSpPr txBox="1"/>
          <p:nvPr/>
        </p:nvSpPr>
        <p:spPr>
          <a:xfrm>
            <a:off x="548640" y="3749040"/>
            <a:ext cx="5486400" cy="365760"/>
          </a:xfrm>
          <a:prstGeom prst="rect">
            <a:avLst/>
          </a:prstGeom>
          <a:noFill/>
          <a:ln/>
        </p:spPr>
        <p:txBody>
          <a:bodyPr wrap="square" lIns="0" tIns="0" rIns="0" bIns="0" rtlCol="0" anchor="t"/>
          <a:lstStyle/>
          <a:p>
            <a:pPr indent="0" marL="0">
              <a:buNone/>
            </a:pPr>
            <a:r>
              <a:rPr lang="en-US" sz="1800" b="1" dirty="0">
                <a:solidFill>
                  <a:srgbClr val="1E2761"/>
                </a:solidFill>
                <a:latin typeface="Cambria" pitchFamily="34" charset="0"/>
                <a:ea typeface="Cambria" pitchFamily="34" charset="-122"/>
                <a:cs typeface="Cambria" pitchFamily="34" charset="-120"/>
              </a:rPr>
              <a:t>Recommendations</a:t>
            </a:r>
            <a:endParaRPr lang="en-US" sz="1800" dirty="0"/>
          </a:p>
        </p:txBody>
      </p:sp>
      <p:sp>
        <p:nvSpPr>
          <p:cNvPr id="11" name="Text 9"/>
          <p:cNvSpPr txBox="1"/>
          <p:nvPr/>
        </p:nvSpPr>
        <p:spPr>
          <a:xfrm>
            <a:off x="548640" y="4160520"/>
            <a:ext cx="11064240" cy="1188720"/>
          </a:xfrm>
          <a:prstGeom prst="rect">
            <a:avLst/>
          </a:prstGeom>
          <a:noFill/>
          <a:ln/>
        </p:spPr>
        <p:txBody>
          <a:bodyPr wrap="square" lIns="0" tIns="0" rIns="0" bIns="0" rtlCol="0" anchor="t"/>
          <a:lstStyle/>
          <a:p>
            <a:pPr marL="342900" indent="-342900">
              <a:spcAft>
                <a:spcPts val="400"/>
              </a:spcAft>
              <a:buSzPct val="100000"/>
              <a:buFont typeface="+mj-lt"/>
              <a:buAutoNum type="arabicPeriod" startAt="1"/>
            </a:pPr>
            <a:r>
              <a:rPr lang="en-US" sz="1500" dirty="0">
                <a:solidFill>
                  <a:srgbClr val="27314D"/>
                </a:solidFill>
                <a:latin typeface="Calibri" pitchFamily="34" charset="0"/>
                <a:ea typeface="Calibri" pitchFamily="34" charset="-122"/>
                <a:cs typeface="Calibri" pitchFamily="34" charset="-120"/>
              </a:rPr>
              <a:t>Pilot with creative teams, using Kotter-style steps.</a:t>
            </a:r>
            <a:endParaRPr lang="en-US" sz="1500" dirty="0"/>
          </a:p>
          <a:p>
            <a:pPr marL="342900" indent="-342900">
              <a:spcAft>
                <a:spcPts val="400"/>
              </a:spcAft>
              <a:buSzPct val="100000"/>
              <a:buFont typeface="+mj-lt"/>
              <a:buAutoNum type="arabicPeriod" startAt="1"/>
            </a:pPr>
            <a:r>
              <a:rPr lang="en-US" sz="1500" dirty="0">
                <a:solidFill>
                  <a:srgbClr val="27314D"/>
                </a:solidFill>
                <a:latin typeface="Calibri" pitchFamily="34" charset="0"/>
                <a:ea typeface="Calibri" pitchFamily="34" charset="-122"/>
                <a:cs typeface="Calibri" pitchFamily="34" charset="-120"/>
              </a:rPr>
              <a:t>Add explanations for why content is recommended.</a:t>
            </a:r>
            <a:endParaRPr lang="en-US" sz="1500" dirty="0"/>
          </a:p>
          <a:p>
            <a:pPr marL="342900" indent="-342900">
              <a:spcAft>
                <a:spcPts val="400"/>
              </a:spcAft>
              <a:buSzPct val="100000"/>
              <a:buFont typeface="+mj-lt"/>
              <a:buAutoNum type="arabicPeriod" startAt="1"/>
            </a:pPr>
            <a:r>
              <a:rPr lang="en-US" sz="1500" dirty="0">
                <a:solidFill>
                  <a:srgbClr val="27314D"/>
                </a:solidFill>
                <a:latin typeface="Calibri" pitchFamily="34" charset="0"/>
                <a:ea typeface="Calibri" pitchFamily="34" charset="-122"/>
                <a:cs typeface="Calibri" pitchFamily="34" charset="-120"/>
              </a:rPr>
              <a:t>Review purpose limitation and diversity audits regularly.</a:t>
            </a:r>
            <a:endParaRPr lang="en-US" sz="1500" dirty="0"/>
          </a:p>
        </p:txBody>
      </p:sp>
      <p:sp>
        <p:nvSpPr>
          <p:cNvPr id="12" name="Shape 10"/>
          <p:cNvSpPr/>
          <p:nvPr/>
        </p:nvSpPr>
        <p:spPr>
          <a:xfrm>
            <a:off x="548640" y="5440680"/>
            <a:ext cx="11064240" cy="777240"/>
          </a:xfrm>
          <a:prstGeom prst="roundRect">
            <a:avLst>
              <a:gd name="adj" fmla="val 9412"/>
            </a:avLst>
          </a:prstGeom>
          <a:solidFill>
            <a:srgbClr val="1E2761"/>
          </a:solidFill>
          <a:ln w="12700">
            <a:solidFill>
              <a:srgbClr val="1E2761"/>
            </a:solidFill>
            <a:prstDash val="solid"/>
          </a:ln>
        </p:spPr>
      </p:sp>
      <p:sp>
        <p:nvSpPr>
          <p:cNvPr id="13" name="Text 11"/>
          <p:cNvSpPr txBox="1"/>
          <p:nvPr/>
        </p:nvSpPr>
        <p:spPr>
          <a:xfrm>
            <a:off x="731520" y="5440680"/>
            <a:ext cx="10698480" cy="77724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Used with creative teams at its side, the recommendation engine can help Apple TV+ keep subscribers without giving up the originality it is known for.</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References</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References</a:t>
            </a:r>
            <a:endParaRPr lang="en-US" sz="1100" dirty="0"/>
          </a:p>
        </p:txBody>
      </p:sp>
      <p:sp>
        <p:nvSpPr>
          <p:cNvPr id="4" name="Text 2"/>
          <p:cNvSpPr txBox="1"/>
          <p:nvPr/>
        </p:nvSpPr>
        <p:spPr>
          <a:xfrm>
            <a:off x="548640" y="1234440"/>
            <a:ext cx="11064240" cy="5303520"/>
          </a:xfrm>
          <a:prstGeom prst="rect">
            <a:avLst/>
          </a:prstGeom>
          <a:noFill/>
          <a:ln/>
        </p:spPr>
        <p:txBody>
          <a:bodyPr wrap="square" lIns="0" tIns="0" rIns="0" bIns="0" rtlCol="0" anchor="t"/>
          <a:lstStyle/>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Antenna (2024) Domestic SVOD market data. Industry churn figures as reported in ‘Streaming services see rising churn as serial cancelers seek value for money’, ABC News.</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Ansoff, H.I. (1957) ‘Strategies for diversification’, Harvard Business Review, 35(5), pp.113–124.</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Apple Inc. (2025) Apple TV App &amp; Privacy. Cupertino: Apple Inc.</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Barney, J. (1991) ‘Firm resources and sustained competitive advantage’, Journal of Management, 17(1), pp.99–120.</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Davis, F.D. (1989) ‘Perceived usefulness, perceived ease of use, and user acceptance of information technology’, MIS Quarterly, 13(3), pp.319–340.</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European Parliament and Council (2016) Regulation (EU) 2016/679 (GDPR).</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Floridi, L. et al. (2018) ‘AI4People—an ethical framework for a good AI society’, Minds and Machines, 28(4), pp.689–707.</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Gomez-Uribe, C.A. and Hunt, N. (2015) ‘The Netflix recommender system’, ACM Transactions on Management Information Systems, 6(4), Article 13.</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Gracenote (2025) State of Play 2025. Gracenote, a Nielsen company. Released 5 November 2025.</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Helberger, N. (2019) ‘On the democratic role of news recommenders’, Digital Journalism, 7(8), pp.993–1012.</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Kotter, J.P. (1995) ‘Leading change: why transformation efforts fail’, Harvard Business Review, 73(2), pp.59–67.</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Mokoena, N. and Obagbuwa, I.C. (2025) ‘An analysis of artificial intelligence automation in digital music streaming platforms for improving consumer subscription responses: a review’, Frontiers in Artificial Intelligence, 7, Article 1515716.</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Napoli, P.M. (2014) ‘Automated media: an institutional theory perspective on algorithmic media production and consumption’, Communication Theory, 24(3), pp.340–360.</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Pariser, E. (2011) The Filter Bubble. New York: Penguin Press.</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Porter, M.E. (2008) ‘The five competitive forces that shape strategy’, Harvard Business Review, 86(1), pp.78–93.</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Reichheld, F.F. (2003) ‘The one number you need to grow’, Harvard Business Review, 81(12), pp.46–54.</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Resnick, P. and Varian, H.R. (1997) ‘Recommender systems’, Communications of the ACM, 40(3), pp.56–58.</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Ricci, F., Rokach, L. and Shapira, B. (2015) Recommender Systems Handbook. 2nd edn. New York: Springer.</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Vial, G. (2019) ‘Understanding digital transformation: a review and a research agenda’, Journal of Strategic Information Systems, 28(2), pp.118–144.</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2026-10-25T02:18:06Z</dcterms:created>
  <dcterms:modified xsi:type="dcterms:W3CDTF">2026-10-25T02:18:06Z</dcterms:modified>
</cp:coreProperties>
</file>