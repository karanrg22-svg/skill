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(2024) serial-churn figure for Apple TV+; industry churn via ABC News. Confirm both against the Antenna report before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49% likely to cancel over poor discovery (State of Play 2025, released 5 Nov 2025). Mokoena and Obagbuwa (2025) is a review of AI in music streaming, used here for its privacy, governance and bias risks. Conclusion: personalisation is necessary but not sufficient. Hype Cycle placement per Gartner (2024), Hype Cycle for Digital Marketing; confirm against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Scaling AI brings privacy, governance and bias risks (Mokoena and Obagbuwa, 2025). Ansoff placement: market penetration (Ansoff, 1957).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the Antenna/ABC News figure against the original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5"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6"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8" name="Text 15"/>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7"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8"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9"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10"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1"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2"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3"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4"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5"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6"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8"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9"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20"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1"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2"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3"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4"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5"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676656"/>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05456"/>
            <a:ext cx="5394960" cy="676656"/>
          </a:xfrm>
          <a:prstGeom prst="rect">
            <a:avLst/>
          </a:prstGeom>
          <a:solidFill>
            <a:srgbClr val="FFFFFF"/>
          </a:solidFill>
          <a:ln w="9525">
            <a:solidFill>
              <a:srgbClr val="CADCFC"/>
            </a:solidFill>
            <a:prstDash val="solid"/>
          </a:ln>
        </p:spPr>
      </p:sp>
      <p:sp>
        <p:nvSpPr>
          <p:cNvPr id="18" name="Text 15"/>
          <p:cNvSpPr txBox="1"/>
          <p:nvPr/>
        </p:nvSpPr>
        <p:spPr>
          <a:xfrm>
            <a:off x="6355080" y="2551176"/>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182112"/>
            <a:ext cx="5394960" cy="676656"/>
          </a:xfrm>
          <a:prstGeom prst="rect">
            <a:avLst/>
          </a:prstGeom>
          <a:solidFill>
            <a:srgbClr val="F2F5FB"/>
          </a:solidFill>
          <a:ln w="9525">
            <a:solidFill>
              <a:srgbClr val="CADCFC"/>
            </a:solidFill>
            <a:prstDash val="solid"/>
          </a:ln>
        </p:spPr>
      </p:sp>
      <p:sp>
        <p:nvSpPr>
          <p:cNvPr id="20" name="Text 17"/>
          <p:cNvSpPr txBox="1"/>
          <p:nvPr/>
        </p:nvSpPr>
        <p:spPr>
          <a:xfrm>
            <a:off x="6355080" y="3227832"/>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3858768"/>
            <a:ext cx="5394960" cy="676656"/>
          </a:xfrm>
          <a:prstGeom prst="rect">
            <a:avLst/>
          </a:prstGeom>
          <a:solidFill>
            <a:srgbClr val="FFFFFF"/>
          </a:solidFill>
          <a:ln w="9525">
            <a:solidFill>
              <a:srgbClr val="CADCFC"/>
            </a:solidFill>
            <a:prstDash val="solid"/>
          </a:ln>
        </p:spPr>
      </p:sp>
      <p:sp>
        <p:nvSpPr>
          <p:cNvPr id="22" name="Text 19"/>
          <p:cNvSpPr txBox="1"/>
          <p:nvPr/>
        </p:nvSpPr>
        <p:spPr>
          <a:xfrm>
            <a:off x="6355080" y="3904488"/>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535424"/>
            <a:ext cx="5394960" cy="676656"/>
          </a:xfrm>
          <a:prstGeom prst="rect">
            <a:avLst/>
          </a:prstGeom>
          <a:solidFill>
            <a:srgbClr val="F2F5FB"/>
          </a:solidFill>
          <a:ln w="9525">
            <a:solidFill>
              <a:srgbClr val="CADCFC"/>
            </a:solidFill>
            <a:prstDash val="solid"/>
          </a:ln>
        </p:spPr>
      </p:sp>
      <p:sp>
        <p:nvSpPr>
          <p:cNvPr id="24" name="Text 21"/>
          <p:cNvSpPr txBox="1"/>
          <p:nvPr/>
        </p:nvSpPr>
        <p:spPr>
          <a:xfrm>
            <a:off x="6355080" y="4581144"/>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5" name="Text 22"/>
          <p:cNvSpPr txBox="1"/>
          <p:nvPr/>
        </p:nvSpPr>
        <p:spPr>
          <a:xfrm>
            <a:off x="548640" y="5349240"/>
            <a:ext cx="11064240" cy="868680"/>
          </a:xfrm>
          <a:prstGeom prst="rect">
            <a:avLst/>
          </a:prstGeom>
          <a:noFill/>
          <a:ln/>
        </p:spPr>
        <p:txBody>
          <a:bodyPr wrap="square" lIns="0" tIns="0" rIns="0" bIns="0" rtlCol="0" anchor="t"/>
          <a:lstStyle/>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Maturity: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Gartner (2024) places personalization engines on the Slope of Enlightenment, so the technology is maturing and the harder task is using it well.</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9"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7"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8"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9"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10"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1"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2"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3"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4"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5"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6"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Gartner (2024) Hype Cycle for Digital Marketing, 2024. Stamford: Gartner. Available at: https://www.gartner.com/en/documents/5623191 (Accessed: 25 October 2026).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2026-10-25T01:39:18Z</dcterms:created>
  <dcterms:modified xsi:type="dcterms:W3CDTF">2026-10-25T01:39:18Z</dcterms:modified>
</cp:coreProperties>
</file>